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3.xml" ContentType="application/inkml+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ink/ink1.xml" ContentType="application/inkml+xml"/>
  <Override PartName="/ppt/ink/ink2.xml" ContentType="application/inkml+xml"/>
  <Override PartName="/ppt/ink/ink4.xml" ContentType="application/inkml+xml"/>
  <Override PartName="/ppt/ink/ink5.xml" ContentType="application/inkml+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35"/>
  </p:notesMasterIdLst>
  <p:sldIdLst>
    <p:sldId id="415" r:id="rId2"/>
    <p:sldId id="393" r:id="rId3"/>
    <p:sldId id="442" r:id="rId4"/>
    <p:sldId id="443" r:id="rId5"/>
    <p:sldId id="444" r:id="rId6"/>
    <p:sldId id="440" r:id="rId7"/>
    <p:sldId id="416" r:id="rId8"/>
    <p:sldId id="417" r:id="rId9"/>
    <p:sldId id="441" r:id="rId10"/>
    <p:sldId id="418" r:id="rId11"/>
    <p:sldId id="419" r:id="rId12"/>
    <p:sldId id="438" r:id="rId13"/>
    <p:sldId id="420" r:id="rId14"/>
    <p:sldId id="427" r:id="rId15"/>
    <p:sldId id="436" r:id="rId16"/>
    <p:sldId id="445" r:id="rId17"/>
    <p:sldId id="446" r:id="rId18"/>
    <p:sldId id="437" r:id="rId19"/>
    <p:sldId id="435" r:id="rId20"/>
    <p:sldId id="429" r:id="rId21"/>
    <p:sldId id="434" r:id="rId22"/>
    <p:sldId id="433" r:id="rId23"/>
    <p:sldId id="431" r:id="rId24"/>
    <p:sldId id="432" r:id="rId25"/>
    <p:sldId id="430" r:id="rId26"/>
    <p:sldId id="428" r:id="rId27"/>
    <p:sldId id="421" r:id="rId28"/>
    <p:sldId id="426" r:id="rId29"/>
    <p:sldId id="425" r:id="rId30"/>
    <p:sldId id="422" r:id="rId31"/>
    <p:sldId id="423" r:id="rId32"/>
    <p:sldId id="424" r:id="rId33"/>
    <p:sldId id="341" r:id="rId34"/>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9" roundtripDataSignature="AMtx7mgcQkl1Sy+AT9xRMILxH9y3jw2L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7CCD7B-D0D3-4D9A-99BF-0A9242C1EC5F}">
  <a:tblStyle styleId="{2E7CCD7B-D0D3-4D9A-99BF-0A9242C1EC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BF1CCE7F-B64E-461F-84A0-9DA757349CA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1546"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10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11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110" Type="http://schemas.openxmlformats.org/officeDocument/2006/relationships/presProps" Target="presProps.xml"/><Relationship Id="rId11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14"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11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116"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3:58:34.823"/>
    </inkml:context>
    <inkml:brush xml:id="br0">
      <inkml:brushProperty name="width" value="0.05" units="cm"/>
      <inkml:brushProperty name="height" value="0.05" units="cm"/>
    </inkml:brush>
  </inkml:definitions>
  <inkml:trace contextRef="#ctx0" brushRef="#br0">117 0 416 0 0,'0'0'2388'0'0,"2"5"635"0"0,6 19 9776 0 0,-7-21-10825 0 0,-30 3-9582 0 0,11-2 4954 0 0,-32-3-3638 0 0,20-5 3538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3:58:35.266"/>
    </inkml:context>
    <inkml:brush xml:id="br0">
      <inkml:brushProperty name="width" value="0.05" units="cm"/>
      <inkml:brushProperty name="height" value="0.05" units="cm"/>
    </inkml:brush>
  </inkml:definitions>
  <inkml:trace contextRef="#ctx0" brushRef="#br0">0 10 2784 0 0,'0'0'2456'0'0,"12"-5"1237"0"0,-3 0-921 0 0,14 11-2548 0 0,-15 0-432 0 0,8 4-4200 0 0,-9-4 1503 0 0,-1 0 269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4:34:42.062"/>
    </inkml:context>
    <inkml:brush xml:id="br0">
      <inkml:brushProperty name="width" value="0.05" units="cm"/>
      <inkml:brushProperty name="height" value="0.05" units="cm"/>
      <inkml:brushProperty name="color" value="#E71224"/>
    </inkml:brush>
  </inkml:definitions>
  <inkml:trace contextRef="#ctx0" brushRef="#br0">0 23 56 0 0,'0'0'3369'0'0,"7"-17"3960"0"0,0 12-7299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4:39:40.181"/>
    </inkml:context>
    <inkml:brush xml:id="br0">
      <inkml:brushProperty name="width" value="0.05" units="cm"/>
      <inkml:brushProperty name="height" value="0.05" units="cm"/>
      <inkml:brushProperty name="color" value="#E71224"/>
    </inkml:brush>
  </inkml:definitions>
  <inkml:trace contextRef="#ctx0" brushRef="#br0">15 65 728 0 0,'0'0'24799'0'0,"-2"-7"-27219"0"0,1 2 4966 0 0,-2-2-4271 0 0,-4-25-15502 0 0,6 21 13578 0 0,1 8 997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4:39:40.959"/>
    </inkml:context>
    <inkml:brush xml:id="br0">
      <inkml:brushProperty name="width" value="0.05" units="cm"/>
      <inkml:brushProperty name="height" value="0.05" units="cm"/>
      <inkml:brushProperty name="color" value="#E71224"/>
    </inkml:brush>
  </inkml:definitions>
  <inkml:trace contextRef="#ctx0" brushRef="#br0">1 1 268 0 0,'0'0'3604'0'0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4:39:41.410"/>
    </inkml:context>
    <inkml:brush xml:id="br0">
      <inkml:brushProperty name="width" value="0.05" units="cm"/>
      <inkml:brushProperty name="height" value="0.05" units="cm"/>
      <inkml:brushProperty name="color" value="#E71224"/>
    </inkml:brush>
  </inkml:definitions>
  <inkml:trace contextRef="#ctx0" brushRef="#br0">10 20 744 0 0,'0'0'3478'0'0,"2"1"-2365"0"0,12 4 9295 0 0,-5-1-9173 0 0,-5-3-2002 0 0,-17-11-5370 0 0,0 1 4801 0 0,0-3-2519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4:39:42.268"/>
    </inkml:context>
    <inkml:brush xml:id="br0">
      <inkml:brushProperty name="width" value="0.05" units="cm"/>
      <inkml:brushProperty name="height" value="0.05" units="cm"/>
      <inkml:brushProperty name="color" value="#E71224"/>
    </inkml:brush>
  </inkml:definitions>
  <inkml:trace contextRef="#ctx0" brushRef="#br0">43 133 816 0 0,'1'1'2537'0'0,"18"-1"8558"0"0,1-6-6285 0 0,-17 1-4558 0 0,-3 5-200 0 0,0 0-1 0 0,0 0 1 0 0,1-1 0 0 0,-1 1 0 0 0,0 0 0 0 0,0 0 0 0 0,1-1-1 0 0,-1 1 1 0 0,0 0 0 0 0,0-1 0 0 0,0 1 0 0 0,1 0 0 0 0,-1-1-1 0 0,0 1 1 0 0,0 0 0 0 0,0-1 0 0 0,0 1 0 0 0,0 0 0 0 0,0-1 0 0 0,0 1-1 0 0,0-1 1 0 0,0 1 0 0 0,0 0 0 0 0,0-1 0 0 0,0 1 0 0 0,0 0-1 0 0,0-1 1 0 0,0 1 0 0 0,0 0 0 0 0,0-1 0 0 0,-1 1 0 0 0,1 0-1 0 0,0-1 1 0 0,0 1 0 0 0,0 0 0 0 0,-1-1 0 0 0,1 1 0 0 0,0 0-1 0 0,-1-1 1 0 0,-12-27 63 0 0,-22 3 1356 0 0,33 23-1029 0 0,-1 1-398 0 0,1-1-1 0 0,-1 1 0 0 0,1-1 0 0 0,-1 1 0 0 0,1-1 0 0 0,-1 0 0 0 0,1 0 0 0 0,0 0 0 0 0,0 0 0 0 0,0-1 0 0 0,0 1 0 0 0,0 0 0 0 0,1-1 0 0 0,-2-2 0 0 0,2 3-109 0 0,24-15-20187 0 0,-18 14 17459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04T14:39:51.572"/>
    </inkml:context>
    <inkml:brush xml:id="br0">
      <inkml:brushProperty name="width" value="0.05" units="cm"/>
      <inkml:brushProperty name="height" value="0.05" units="cm"/>
      <inkml:brushProperty name="color" value="#E71224"/>
    </inkml:brush>
  </inkml:definitions>
  <inkml:trace contextRef="#ctx0" brushRef="#br0">0 66 1712 0 0,'16'5'28817'0'0,"-16"-10"-28883"0"0,0-17 6 0 0,0 17 192 0 0,31-22-25343 0 0,-20 15 22283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11990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f843ffe8a2_2_429:notes"/>
          <p:cNvSpPr txBox="1">
            <a:spLocks noGrp="1"/>
          </p:cNvSpPr>
          <p:nvPr>
            <p:ph type="body" idx="1"/>
          </p:nvPr>
        </p:nvSpPr>
        <p:spPr>
          <a:xfrm>
            <a:off x="914400" y="3300413"/>
            <a:ext cx="73152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gf843ffe8a2_2_4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8104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4910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5082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2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p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99471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bg>
      <p:bgPr>
        <a:solidFill>
          <a:schemeClr val="lt1"/>
        </a:solidFill>
        <a:effectLst/>
      </p:bgPr>
    </p:bg>
    <p:spTree>
      <p:nvGrpSpPr>
        <p:cNvPr id="1" name="Shape 194"/>
        <p:cNvGrpSpPr/>
        <p:nvPr/>
      </p:nvGrpSpPr>
      <p:grpSpPr>
        <a:xfrm>
          <a:off x="0" y="0"/>
          <a:ext cx="0" cy="0"/>
          <a:chOff x="0" y="0"/>
          <a:chExt cx="0" cy="0"/>
        </a:xfrm>
      </p:grpSpPr>
      <p:sp>
        <p:nvSpPr>
          <p:cNvPr id="195" name="Google Shape;195;gfcdc75d613_0_221"/>
          <p:cNvSpPr/>
          <p:nvPr/>
        </p:nvSpPr>
        <p:spPr>
          <a:xfrm>
            <a:off x="0" y="0"/>
            <a:ext cx="9144000" cy="6858000"/>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6" name="Google Shape;196;gfcdc75d613_0_221"/>
          <p:cNvSpPr/>
          <p:nvPr/>
        </p:nvSpPr>
        <p:spPr>
          <a:xfrm>
            <a:off x="0" y="3352800"/>
            <a:ext cx="8686800" cy="2743200"/>
          </a:xfrm>
          <a:custGeom>
            <a:avLst/>
            <a:gdLst/>
            <a:ahLst/>
            <a:cxnLst/>
            <a:rect l="l" t="t" r="r" b="b"/>
            <a:pathLst>
              <a:path w="8686800" h="2743200" extrusionOk="0">
                <a:moveTo>
                  <a:pt x="8686800" y="0"/>
                </a:moveTo>
                <a:lnTo>
                  <a:pt x="0" y="0"/>
                </a:lnTo>
                <a:lnTo>
                  <a:pt x="0" y="2743200"/>
                </a:lnTo>
                <a:lnTo>
                  <a:pt x="8686800" y="2743200"/>
                </a:lnTo>
                <a:lnTo>
                  <a:pt x="8686800" y="0"/>
                </a:lnTo>
                <a:close/>
              </a:path>
            </a:pathLst>
          </a:custGeom>
          <a:solidFill>
            <a:srgbClr val="0F114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7" name="Google Shape;197;gfcdc75d613_0_221"/>
          <p:cNvSpPr/>
          <p:nvPr/>
        </p:nvSpPr>
        <p:spPr>
          <a:xfrm>
            <a:off x="2895600" y="6096000"/>
            <a:ext cx="2895600" cy="76200"/>
          </a:xfrm>
          <a:custGeom>
            <a:avLst/>
            <a:gdLst/>
            <a:ahLst/>
            <a:cxnLst/>
            <a:rect l="l" t="t" r="r" b="b"/>
            <a:pathLst>
              <a:path w="2895600" h="76200" extrusionOk="0">
                <a:moveTo>
                  <a:pt x="2895600" y="0"/>
                </a:moveTo>
                <a:lnTo>
                  <a:pt x="0" y="0"/>
                </a:lnTo>
                <a:lnTo>
                  <a:pt x="0" y="76200"/>
                </a:lnTo>
                <a:lnTo>
                  <a:pt x="2895600" y="76200"/>
                </a:lnTo>
                <a:lnTo>
                  <a:pt x="2895600" y="0"/>
                </a:lnTo>
                <a:close/>
              </a:path>
            </a:pathLst>
          </a:custGeom>
          <a:solidFill>
            <a:srgbClr val="76C2E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8" name="Google Shape;198;gfcdc75d613_0_221"/>
          <p:cNvSpPr/>
          <p:nvPr/>
        </p:nvSpPr>
        <p:spPr>
          <a:xfrm>
            <a:off x="0" y="6096000"/>
            <a:ext cx="2895600" cy="76200"/>
          </a:xfrm>
          <a:custGeom>
            <a:avLst/>
            <a:gdLst/>
            <a:ahLst/>
            <a:cxnLst/>
            <a:rect l="l" t="t" r="r" b="b"/>
            <a:pathLst>
              <a:path w="2895600" h="76200" extrusionOk="0">
                <a:moveTo>
                  <a:pt x="2895600" y="0"/>
                </a:moveTo>
                <a:lnTo>
                  <a:pt x="0" y="0"/>
                </a:lnTo>
                <a:lnTo>
                  <a:pt x="0" y="76200"/>
                </a:lnTo>
                <a:lnTo>
                  <a:pt x="2895600" y="76200"/>
                </a:lnTo>
                <a:lnTo>
                  <a:pt x="2895600" y="0"/>
                </a:lnTo>
                <a:close/>
              </a:path>
            </a:pathLst>
          </a:custGeom>
          <a:solidFill>
            <a:srgbClr val="FBAF1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9" name="Google Shape;199;gfcdc75d613_0_221"/>
          <p:cNvSpPr/>
          <p:nvPr/>
        </p:nvSpPr>
        <p:spPr>
          <a:xfrm>
            <a:off x="5791200" y="6096000"/>
            <a:ext cx="2895600" cy="76200"/>
          </a:xfrm>
          <a:custGeom>
            <a:avLst/>
            <a:gdLst/>
            <a:ahLst/>
            <a:cxnLst/>
            <a:rect l="l" t="t" r="r" b="b"/>
            <a:pathLst>
              <a:path w="2895600" h="76200" extrusionOk="0">
                <a:moveTo>
                  <a:pt x="2895600" y="0"/>
                </a:moveTo>
                <a:lnTo>
                  <a:pt x="0" y="0"/>
                </a:lnTo>
                <a:lnTo>
                  <a:pt x="0" y="76200"/>
                </a:lnTo>
                <a:lnTo>
                  <a:pt x="2895600" y="76200"/>
                </a:lnTo>
                <a:lnTo>
                  <a:pt x="2895600"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0" name="Google Shape;200;gfcdc75d613_0_221"/>
          <p:cNvSpPr/>
          <p:nvPr/>
        </p:nvSpPr>
        <p:spPr>
          <a:xfrm>
            <a:off x="76200" y="3352800"/>
            <a:ext cx="2057400" cy="19797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1" name="Google Shape;201;gfcdc75d613_0_221"/>
          <p:cNvSpPr txBox="1">
            <a:spLocks noGrp="1"/>
          </p:cNvSpPr>
          <p:nvPr>
            <p:ph type="ftr" idx="11"/>
          </p:nvPr>
        </p:nvSpPr>
        <p:spPr>
          <a:xfrm>
            <a:off x="3108960" y="6377940"/>
            <a:ext cx="2926200" cy="342900"/>
          </a:xfrm>
          <a:prstGeom prst="rect">
            <a:avLst/>
          </a:prstGeom>
          <a:noFill/>
          <a:ln>
            <a:noFill/>
          </a:ln>
        </p:spPr>
        <p:txBody>
          <a:bodyPr spcFirstLastPara="1" wrap="square" lIns="0" tIns="0" rIns="0" bIns="0" anchor="t" anchorCtr="0">
            <a:spAutoFit/>
          </a:bodyPr>
          <a:lstStyle>
            <a:lvl1pPr lvl="0" algn="ctr"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2" name="Google Shape;202;gfcdc75d613_0_221"/>
          <p:cNvSpPr txBox="1">
            <a:spLocks noGrp="1"/>
          </p:cNvSpPr>
          <p:nvPr>
            <p:ph type="dt" idx="10"/>
          </p:nvPr>
        </p:nvSpPr>
        <p:spPr>
          <a:xfrm>
            <a:off x="457200" y="6377940"/>
            <a:ext cx="2103000" cy="3429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3" name="Google Shape;203;gfcdc75d613_0_221"/>
          <p:cNvSpPr txBox="1">
            <a:spLocks noGrp="1"/>
          </p:cNvSpPr>
          <p:nvPr>
            <p:ph type="sldNum" idx="12"/>
          </p:nvPr>
        </p:nvSpPr>
        <p:spPr>
          <a:xfrm>
            <a:off x="7358633" y="6311671"/>
            <a:ext cx="1706100" cy="540900"/>
          </a:xfrm>
          <a:prstGeom prst="rect">
            <a:avLst/>
          </a:prstGeom>
          <a:noFill/>
          <a:ln>
            <a:noFill/>
          </a:ln>
        </p:spPr>
        <p:txBody>
          <a:bodyPr spcFirstLastPara="1" wrap="square" lIns="0" tIns="0" rIns="0" bIns="0" anchor="t" anchorCtr="0">
            <a:spAutoFit/>
          </a:bodyPr>
          <a:lstStyle>
            <a:lvl1pPr marL="0" marR="328930" lvl="0"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1pPr>
            <a:lvl2pPr marL="0" marR="328930" lvl="1"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2pPr>
            <a:lvl3pPr marL="0" marR="328930" lvl="2"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3pPr>
            <a:lvl4pPr marL="0" marR="328930" lvl="3"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4pPr>
            <a:lvl5pPr marL="0" marR="328930" lvl="4"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5pPr>
            <a:lvl6pPr marL="0" marR="328930" lvl="5"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6pPr>
            <a:lvl7pPr marL="0" marR="328930" lvl="6"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7pPr>
            <a:lvl8pPr marL="0" marR="328930" lvl="7"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8pPr>
            <a:lvl9pPr marL="0" marR="328930" lvl="8"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a:p>
            <a:pPr marL="12700" marR="0" lvl="0" indent="0" algn="l" rtl="0">
              <a:lnSpc>
                <a:spcPct val="100000"/>
              </a:lnSpc>
              <a:spcBef>
                <a:spcPts val="960"/>
              </a:spcBef>
              <a:spcAft>
                <a:spcPts val="0"/>
              </a:spcAft>
              <a:buSzPts val="1100"/>
              <a:buNone/>
            </a:pPr>
            <a:r>
              <a:rPr lang="en-US" sz="1100">
                <a:solidFill>
                  <a:srgbClr val="0F1141"/>
                </a:solidFill>
              </a:rPr>
              <a:t>BITS </a:t>
            </a:r>
            <a:r>
              <a:rPr lang="en-US" sz="1100" b="0">
                <a:solidFill>
                  <a:srgbClr val="0F1141"/>
                </a:solidFill>
              </a:rPr>
              <a:t>Pilani, Pilani Campus</a:t>
            </a:r>
            <a:endParaRPr sz="11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45"/>
        <p:cNvGrpSpPr/>
        <p:nvPr/>
      </p:nvGrpSpPr>
      <p:grpSpPr>
        <a:xfrm>
          <a:off x="0" y="0"/>
          <a:ext cx="0" cy="0"/>
          <a:chOff x="0" y="0"/>
          <a:chExt cx="0" cy="0"/>
        </a:xfrm>
      </p:grpSpPr>
      <p:sp>
        <p:nvSpPr>
          <p:cNvPr id="246" name="Google Shape;246;gfcdc75d613_0_272"/>
          <p:cNvSpPr txBox="1"/>
          <p:nvPr/>
        </p:nvSpPr>
        <p:spPr>
          <a:xfrm>
            <a:off x="3276600" y="6596063"/>
            <a:ext cx="58674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247" name="Google Shape;247;gfcdc75d613_0_272"/>
          <p:cNvGrpSpPr/>
          <p:nvPr/>
        </p:nvGrpSpPr>
        <p:grpSpPr>
          <a:xfrm>
            <a:off x="2084327" y="6550283"/>
            <a:ext cx="7059348" cy="49149"/>
            <a:chOff x="2083888" y="6550671"/>
            <a:chExt cx="7060054" cy="48600"/>
          </a:xfrm>
        </p:grpSpPr>
        <p:sp>
          <p:nvSpPr>
            <p:cNvPr id="248" name="Google Shape;248;gfcdc75d613_0_272"/>
            <p:cNvSpPr/>
            <p:nvPr/>
          </p:nvSpPr>
          <p:spPr>
            <a:xfrm>
              <a:off x="4630418" y="6550671"/>
              <a:ext cx="23289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9" name="Google Shape;249;gfcdc75d613_0_272"/>
            <p:cNvSpPr/>
            <p:nvPr/>
          </p:nvSpPr>
          <p:spPr>
            <a:xfrm>
              <a:off x="6908642" y="6550671"/>
              <a:ext cx="22353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0" name="Google Shape;250;gfcdc75d613_0_272"/>
            <p:cNvSpPr/>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51" name="Google Shape;251;gfcdc75d613_0_272" descr="Picture 7.png"/>
          <p:cNvPicPr preferRelativeResize="0"/>
          <p:nvPr/>
        </p:nvPicPr>
        <p:blipFill rotWithShape="1">
          <a:blip r:embed="rId2">
            <a:alphaModFix/>
          </a:blip>
          <a:srcRect l="1922" b="5338"/>
          <a:stretch/>
        </p:blipFill>
        <p:spPr>
          <a:xfrm>
            <a:off x="6629400" y="0"/>
            <a:ext cx="2193925" cy="692150"/>
          </a:xfrm>
          <a:prstGeom prst="rect">
            <a:avLst/>
          </a:prstGeom>
          <a:noFill/>
          <a:ln>
            <a:noFill/>
          </a:ln>
        </p:spPr>
      </p:pic>
      <p:grpSp>
        <p:nvGrpSpPr>
          <p:cNvPr id="252" name="Google Shape;252;gfcdc75d613_0_272"/>
          <p:cNvGrpSpPr/>
          <p:nvPr/>
        </p:nvGrpSpPr>
        <p:grpSpPr>
          <a:xfrm>
            <a:off x="2133600" y="6553348"/>
            <a:ext cx="7010438" cy="45919"/>
            <a:chOff x="1905000" y="6553200"/>
            <a:chExt cx="7010438" cy="45600"/>
          </a:xfrm>
        </p:grpSpPr>
        <p:sp>
          <p:nvSpPr>
            <p:cNvPr id="253" name="Google Shape;253;gfcdc75d613_0_272"/>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4" name="Google Shape;254;gfcdc75d613_0_272"/>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5" name="Google Shape;255;gfcdc75d613_0_272"/>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56" name="Google Shape;256;gfcdc75d613_0_272"/>
          <p:cNvGrpSpPr/>
          <p:nvPr/>
        </p:nvGrpSpPr>
        <p:grpSpPr>
          <a:xfrm>
            <a:off x="0" y="1295548"/>
            <a:ext cx="7010438" cy="45919"/>
            <a:chOff x="1905000" y="6553200"/>
            <a:chExt cx="7010438" cy="45600"/>
          </a:xfrm>
        </p:grpSpPr>
        <p:sp>
          <p:nvSpPr>
            <p:cNvPr id="257" name="Google Shape;257;gfcdc75d613_0_272"/>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8" name="Google Shape;258;gfcdc75d613_0_272"/>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9" name="Google Shape;259;gfcdc75d613_0_272"/>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60" name="Google Shape;260;gfcdc75d613_0_272"/>
          <p:cNvSpPr txBox="1">
            <a:spLocks noGrp="1"/>
          </p:cNvSpPr>
          <p:nvPr>
            <p:ph type="body" idx="1"/>
          </p:nvPr>
        </p:nvSpPr>
        <p:spPr>
          <a:xfrm>
            <a:off x="304800" y="1493837"/>
            <a:ext cx="8229600" cy="4526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rtl="0">
              <a:lnSpc>
                <a:spcPct val="100000"/>
              </a:lnSpc>
              <a:spcBef>
                <a:spcPts val="320"/>
              </a:spcBef>
              <a:spcAft>
                <a:spcPts val="0"/>
              </a:spcAft>
              <a:buSzPts val="1600"/>
              <a:buFont typeface="Arial"/>
              <a:buChar char="–"/>
              <a:defRPr sz="1600">
                <a:latin typeface="Arial"/>
                <a:ea typeface="Arial"/>
                <a:cs typeface="Arial"/>
                <a:sym typeface="Arial"/>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261" name="Google Shape;261;gfcdc75d613_0_272"/>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Clr>
                <a:schemeClr val="dk1"/>
              </a:buClr>
              <a:buSzPts val="3600"/>
              <a:buFont typeface="Arial"/>
              <a:buNone/>
              <a:defRPr sz="3600" b="1">
                <a:latin typeface="Arial"/>
                <a:ea typeface="Arial"/>
                <a:cs typeface="Arial"/>
                <a:sym typeface="Arial"/>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262"/>
        <p:cNvGrpSpPr/>
        <p:nvPr/>
      </p:nvGrpSpPr>
      <p:grpSpPr>
        <a:xfrm>
          <a:off x="0" y="0"/>
          <a:ext cx="0" cy="0"/>
          <a:chOff x="0" y="0"/>
          <a:chExt cx="0" cy="0"/>
        </a:xfrm>
      </p:grpSpPr>
      <p:sp>
        <p:nvSpPr>
          <p:cNvPr id="263" name="Google Shape;263;gfcdc75d613_0_289"/>
          <p:cNvSpPr txBox="1"/>
          <p:nvPr/>
        </p:nvSpPr>
        <p:spPr>
          <a:xfrm>
            <a:off x="3276600" y="6596063"/>
            <a:ext cx="58674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264" name="Google Shape;264;gfcdc75d613_0_289"/>
          <p:cNvGrpSpPr/>
          <p:nvPr/>
        </p:nvGrpSpPr>
        <p:grpSpPr>
          <a:xfrm>
            <a:off x="2084327" y="6550283"/>
            <a:ext cx="7059348" cy="49149"/>
            <a:chOff x="2083888" y="6550671"/>
            <a:chExt cx="7060054" cy="48600"/>
          </a:xfrm>
        </p:grpSpPr>
        <p:sp>
          <p:nvSpPr>
            <p:cNvPr id="265" name="Google Shape;265;gfcdc75d613_0_289"/>
            <p:cNvSpPr/>
            <p:nvPr/>
          </p:nvSpPr>
          <p:spPr>
            <a:xfrm>
              <a:off x="4630418" y="6550671"/>
              <a:ext cx="23289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fcdc75d613_0_289"/>
            <p:cNvSpPr/>
            <p:nvPr/>
          </p:nvSpPr>
          <p:spPr>
            <a:xfrm>
              <a:off x="6908642" y="6550671"/>
              <a:ext cx="22353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fcdc75d613_0_289"/>
            <p:cNvSpPr/>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68" name="Google Shape;268;gfcdc75d613_0_289" descr="Picture 7.png"/>
          <p:cNvPicPr preferRelativeResize="0"/>
          <p:nvPr/>
        </p:nvPicPr>
        <p:blipFill rotWithShape="1">
          <a:blip r:embed="rId2">
            <a:alphaModFix/>
          </a:blip>
          <a:srcRect l="1922" b="5338"/>
          <a:stretch/>
        </p:blipFill>
        <p:spPr>
          <a:xfrm>
            <a:off x="6629400" y="0"/>
            <a:ext cx="2193925" cy="692150"/>
          </a:xfrm>
          <a:prstGeom prst="rect">
            <a:avLst/>
          </a:prstGeom>
          <a:noFill/>
          <a:ln>
            <a:noFill/>
          </a:ln>
        </p:spPr>
      </p:pic>
      <p:grpSp>
        <p:nvGrpSpPr>
          <p:cNvPr id="269" name="Google Shape;269;gfcdc75d613_0_289"/>
          <p:cNvGrpSpPr/>
          <p:nvPr/>
        </p:nvGrpSpPr>
        <p:grpSpPr>
          <a:xfrm>
            <a:off x="2133600" y="6553348"/>
            <a:ext cx="7010438" cy="45919"/>
            <a:chOff x="1905000" y="6553200"/>
            <a:chExt cx="7010438" cy="45600"/>
          </a:xfrm>
        </p:grpSpPr>
        <p:sp>
          <p:nvSpPr>
            <p:cNvPr id="270" name="Google Shape;270;gfcdc75d613_0_289"/>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fcdc75d613_0_289"/>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fcdc75d613_0_289"/>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73" name="Google Shape;273;gfcdc75d613_0_289"/>
          <p:cNvGrpSpPr/>
          <p:nvPr/>
        </p:nvGrpSpPr>
        <p:grpSpPr>
          <a:xfrm>
            <a:off x="0" y="1295548"/>
            <a:ext cx="7010438" cy="45919"/>
            <a:chOff x="1905000" y="6553200"/>
            <a:chExt cx="7010438" cy="45600"/>
          </a:xfrm>
        </p:grpSpPr>
        <p:sp>
          <p:nvSpPr>
            <p:cNvPr id="274" name="Google Shape;274;gfcdc75d613_0_289"/>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5" name="Google Shape;275;gfcdc75d613_0_289"/>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6" name="Google Shape;276;gfcdc75d613_0_289"/>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77" name="Google Shape;277;gfcdc75d613_0_289"/>
          <p:cNvSpPr txBox="1">
            <a:spLocks noGrp="1"/>
          </p:cNvSpPr>
          <p:nvPr>
            <p:ph type="body" idx="1"/>
          </p:nvPr>
        </p:nvSpPr>
        <p:spPr>
          <a:xfrm>
            <a:off x="304800" y="1493837"/>
            <a:ext cx="8229600" cy="4526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rtl="0">
              <a:lnSpc>
                <a:spcPct val="100000"/>
              </a:lnSpc>
              <a:spcBef>
                <a:spcPts val="320"/>
              </a:spcBef>
              <a:spcAft>
                <a:spcPts val="0"/>
              </a:spcAft>
              <a:buSzPts val="1600"/>
              <a:buFont typeface="Arial"/>
              <a:buChar char="–"/>
              <a:defRPr sz="1600">
                <a:latin typeface="Arial"/>
                <a:ea typeface="Arial"/>
                <a:cs typeface="Arial"/>
                <a:sym typeface="Arial"/>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278" name="Google Shape;278;gfcdc75d613_0_289"/>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Clr>
                <a:schemeClr val="dk1"/>
              </a:buClr>
              <a:buSzPts val="3600"/>
              <a:buFont typeface="Arial"/>
              <a:buNone/>
              <a:defRPr sz="3600" b="1">
                <a:latin typeface="Arial"/>
                <a:ea typeface="Arial"/>
                <a:cs typeface="Arial"/>
                <a:sym typeface="Arial"/>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79"/>
        <p:cNvGrpSpPr/>
        <p:nvPr/>
      </p:nvGrpSpPr>
      <p:grpSpPr>
        <a:xfrm>
          <a:off x="0" y="0"/>
          <a:ext cx="0" cy="0"/>
          <a:chOff x="0" y="0"/>
          <a:chExt cx="0" cy="0"/>
        </a:xfrm>
      </p:grpSpPr>
      <p:sp>
        <p:nvSpPr>
          <p:cNvPr id="280" name="Google Shape;280;gfcdc75d613_0_306"/>
          <p:cNvSpPr txBox="1"/>
          <p:nvPr/>
        </p:nvSpPr>
        <p:spPr>
          <a:xfrm>
            <a:off x="3276600" y="6596063"/>
            <a:ext cx="58674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281" name="Google Shape;281;gfcdc75d613_0_306"/>
          <p:cNvGrpSpPr/>
          <p:nvPr/>
        </p:nvGrpSpPr>
        <p:grpSpPr>
          <a:xfrm>
            <a:off x="2084327" y="6550283"/>
            <a:ext cx="7059348" cy="49149"/>
            <a:chOff x="2083888" y="6550671"/>
            <a:chExt cx="7060054" cy="48600"/>
          </a:xfrm>
        </p:grpSpPr>
        <p:sp>
          <p:nvSpPr>
            <p:cNvPr id="282" name="Google Shape;282;gfcdc75d613_0_306"/>
            <p:cNvSpPr/>
            <p:nvPr/>
          </p:nvSpPr>
          <p:spPr>
            <a:xfrm>
              <a:off x="4630418" y="6550671"/>
              <a:ext cx="23289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fcdc75d613_0_306"/>
            <p:cNvSpPr/>
            <p:nvPr/>
          </p:nvSpPr>
          <p:spPr>
            <a:xfrm>
              <a:off x="6908642" y="6550671"/>
              <a:ext cx="22353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fcdc75d613_0_306"/>
            <p:cNvSpPr/>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85" name="Google Shape;285;gfcdc75d613_0_306" descr="Picture 7.png"/>
          <p:cNvPicPr preferRelativeResize="0"/>
          <p:nvPr/>
        </p:nvPicPr>
        <p:blipFill rotWithShape="1">
          <a:blip r:embed="rId2">
            <a:alphaModFix/>
          </a:blip>
          <a:srcRect l="1922" b="5338"/>
          <a:stretch/>
        </p:blipFill>
        <p:spPr>
          <a:xfrm>
            <a:off x="6629400" y="0"/>
            <a:ext cx="2193925" cy="692150"/>
          </a:xfrm>
          <a:prstGeom prst="rect">
            <a:avLst/>
          </a:prstGeom>
          <a:noFill/>
          <a:ln>
            <a:noFill/>
          </a:ln>
        </p:spPr>
      </p:pic>
      <p:grpSp>
        <p:nvGrpSpPr>
          <p:cNvPr id="286" name="Google Shape;286;gfcdc75d613_0_306"/>
          <p:cNvGrpSpPr/>
          <p:nvPr/>
        </p:nvGrpSpPr>
        <p:grpSpPr>
          <a:xfrm>
            <a:off x="2133600" y="6553348"/>
            <a:ext cx="7010438" cy="45919"/>
            <a:chOff x="1905000" y="6553200"/>
            <a:chExt cx="7010438" cy="45600"/>
          </a:xfrm>
        </p:grpSpPr>
        <p:sp>
          <p:nvSpPr>
            <p:cNvPr id="287" name="Google Shape;287;gfcdc75d613_0_306"/>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 name="Google Shape;288;gfcdc75d613_0_306"/>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 name="Google Shape;289;gfcdc75d613_0_306"/>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90" name="Google Shape;290;gfcdc75d613_0_306"/>
          <p:cNvGrpSpPr/>
          <p:nvPr/>
        </p:nvGrpSpPr>
        <p:grpSpPr>
          <a:xfrm>
            <a:off x="0" y="1295548"/>
            <a:ext cx="7010438" cy="45919"/>
            <a:chOff x="1905000" y="6553200"/>
            <a:chExt cx="7010438" cy="45600"/>
          </a:xfrm>
        </p:grpSpPr>
        <p:sp>
          <p:nvSpPr>
            <p:cNvPr id="291" name="Google Shape;291;gfcdc75d613_0_306"/>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fcdc75d613_0_306"/>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fcdc75d613_0_306"/>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94" name="Google Shape;294;gfcdc75d613_0_306"/>
          <p:cNvSpPr txBox="1">
            <a:spLocks noGrp="1"/>
          </p:cNvSpPr>
          <p:nvPr>
            <p:ph type="body" idx="1"/>
          </p:nvPr>
        </p:nvSpPr>
        <p:spPr>
          <a:xfrm>
            <a:off x="304800" y="1493837"/>
            <a:ext cx="8229600" cy="4526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rtl="0">
              <a:lnSpc>
                <a:spcPct val="100000"/>
              </a:lnSpc>
              <a:spcBef>
                <a:spcPts val="320"/>
              </a:spcBef>
              <a:spcAft>
                <a:spcPts val="0"/>
              </a:spcAft>
              <a:buSzPts val="1600"/>
              <a:buFont typeface="Arial"/>
              <a:buChar char="–"/>
              <a:defRPr sz="1600">
                <a:latin typeface="Arial"/>
                <a:ea typeface="Arial"/>
                <a:cs typeface="Arial"/>
                <a:sym typeface="Arial"/>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295" name="Google Shape;295;gfcdc75d613_0_306"/>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Clr>
                <a:schemeClr val="dk1"/>
              </a:buClr>
              <a:buSzPts val="3600"/>
              <a:buFont typeface="Arial"/>
              <a:buNone/>
              <a:defRPr sz="3600" b="1">
                <a:latin typeface="Arial"/>
                <a:ea typeface="Arial"/>
                <a:cs typeface="Arial"/>
                <a:sym typeface="Arial"/>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296"/>
        <p:cNvGrpSpPr/>
        <p:nvPr/>
      </p:nvGrpSpPr>
      <p:grpSpPr>
        <a:xfrm>
          <a:off x="0" y="0"/>
          <a:ext cx="0" cy="0"/>
          <a:chOff x="0" y="0"/>
          <a:chExt cx="0" cy="0"/>
        </a:xfrm>
      </p:grpSpPr>
      <p:sp>
        <p:nvSpPr>
          <p:cNvPr id="297" name="Google Shape;297;gfcdc75d613_0_323"/>
          <p:cNvSpPr txBox="1"/>
          <p:nvPr/>
        </p:nvSpPr>
        <p:spPr>
          <a:xfrm>
            <a:off x="3276600" y="6596063"/>
            <a:ext cx="58674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298" name="Google Shape;298;gfcdc75d613_0_323"/>
          <p:cNvGrpSpPr/>
          <p:nvPr/>
        </p:nvGrpSpPr>
        <p:grpSpPr>
          <a:xfrm>
            <a:off x="2084327" y="6550283"/>
            <a:ext cx="7059348" cy="49149"/>
            <a:chOff x="2083888" y="6550671"/>
            <a:chExt cx="7060054" cy="48600"/>
          </a:xfrm>
        </p:grpSpPr>
        <p:sp>
          <p:nvSpPr>
            <p:cNvPr id="299" name="Google Shape;299;gfcdc75d613_0_323"/>
            <p:cNvSpPr/>
            <p:nvPr/>
          </p:nvSpPr>
          <p:spPr>
            <a:xfrm>
              <a:off x="4630418" y="6550671"/>
              <a:ext cx="23289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fcdc75d613_0_323"/>
            <p:cNvSpPr/>
            <p:nvPr/>
          </p:nvSpPr>
          <p:spPr>
            <a:xfrm>
              <a:off x="6908642" y="6550671"/>
              <a:ext cx="22353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fcdc75d613_0_323"/>
            <p:cNvSpPr/>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02" name="Google Shape;302;gfcdc75d613_0_323" descr="Picture 7.png"/>
          <p:cNvPicPr preferRelativeResize="0"/>
          <p:nvPr/>
        </p:nvPicPr>
        <p:blipFill rotWithShape="1">
          <a:blip r:embed="rId2">
            <a:alphaModFix/>
          </a:blip>
          <a:srcRect l="1922" b="5338"/>
          <a:stretch/>
        </p:blipFill>
        <p:spPr>
          <a:xfrm>
            <a:off x="6629400" y="0"/>
            <a:ext cx="2193925" cy="692150"/>
          </a:xfrm>
          <a:prstGeom prst="rect">
            <a:avLst/>
          </a:prstGeom>
          <a:noFill/>
          <a:ln>
            <a:noFill/>
          </a:ln>
        </p:spPr>
      </p:pic>
      <p:grpSp>
        <p:nvGrpSpPr>
          <p:cNvPr id="303" name="Google Shape;303;gfcdc75d613_0_323"/>
          <p:cNvGrpSpPr/>
          <p:nvPr/>
        </p:nvGrpSpPr>
        <p:grpSpPr>
          <a:xfrm>
            <a:off x="2133600" y="6553348"/>
            <a:ext cx="7010438" cy="45919"/>
            <a:chOff x="1905000" y="6553200"/>
            <a:chExt cx="7010438" cy="45600"/>
          </a:xfrm>
        </p:grpSpPr>
        <p:sp>
          <p:nvSpPr>
            <p:cNvPr id="304" name="Google Shape;304;gfcdc75d613_0_323"/>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 name="Google Shape;305;gfcdc75d613_0_323"/>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6" name="Google Shape;306;gfcdc75d613_0_323"/>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07" name="Google Shape;307;gfcdc75d613_0_323"/>
          <p:cNvGrpSpPr/>
          <p:nvPr/>
        </p:nvGrpSpPr>
        <p:grpSpPr>
          <a:xfrm>
            <a:off x="0" y="1295548"/>
            <a:ext cx="7010438" cy="45919"/>
            <a:chOff x="1905000" y="6553200"/>
            <a:chExt cx="7010438" cy="45600"/>
          </a:xfrm>
        </p:grpSpPr>
        <p:sp>
          <p:nvSpPr>
            <p:cNvPr id="308" name="Google Shape;308;gfcdc75d613_0_323"/>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 name="Google Shape;309;gfcdc75d613_0_323"/>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fcdc75d613_0_323"/>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1" name="Google Shape;311;gfcdc75d613_0_323"/>
          <p:cNvSpPr txBox="1">
            <a:spLocks noGrp="1"/>
          </p:cNvSpPr>
          <p:nvPr>
            <p:ph type="body" idx="1"/>
          </p:nvPr>
        </p:nvSpPr>
        <p:spPr>
          <a:xfrm>
            <a:off x="304800" y="1493837"/>
            <a:ext cx="8229600" cy="4526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rtl="0">
              <a:lnSpc>
                <a:spcPct val="100000"/>
              </a:lnSpc>
              <a:spcBef>
                <a:spcPts val="320"/>
              </a:spcBef>
              <a:spcAft>
                <a:spcPts val="0"/>
              </a:spcAft>
              <a:buSzPts val="1600"/>
              <a:buFont typeface="Arial"/>
              <a:buChar char="–"/>
              <a:defRPr sz="1600">
                <a:latin typeface="Arial"/>
                <a:ea typeface="Arial"/>
                <a:cs typeface="Arial"/>
                <a:sym typeface="Arial"/>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312" name="Google Shape;312;gfcdc75d613_0_323"/>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Clr>
                <a:schemeClr val="dk1"/>
              </a:buClr>
              <a:buSzPts val="3600"/>
              <a:buFont typeface="Arial"/>
              <a:buNone/>
              <a:defRPr sz="3600" b="1">
                <a:latin typeface="Arial"/>
                <a:ea typeface="Arial"/>
                <a:cs typeface="Arial"/>
                <a:sym typeface="Arial"/>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313"/>
        <p:cNvGrpSpPr/>
        <p:nvPr/>
      </p:nvGrpSpPr>
      <p:grpSpPr>
        <a:xfrm>
          <a:off x="0" y="0"/>
          <a:ext cx="0" cy="0"/>
          <a:chOff x="0" y="0"/>
          <a:chExt cx="0" cy="0"/>
        </a:xfrm>
      </p:grpSpPr>
      <p:sp>
        <p:nvSpPr>
          <p:cNvPr id="314" name="Google Shape;314;gfcdc75d613_0_340"/>
          <p:cNvSpPr txBox="1"/>
          <p:nvPr/>
        </p:nvSpPr>
        <p:spPr>
          <a:xfrm>
            <a:off x="3276600" y="6596063"/>
            <a:ext cx="58674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315" name="Google Shape;315;gfcdc75d613_0_340"/>
          <p:cNvGrpSpPr/>
          <p:nvPr/>
        </p:nvGrpSpPr>
        <p:grpSpPr>
          <a:xfrm>
            <a:off x="2084327" y="6550283"/>
            <a:ext cx="7059348" cy="49149"/>
            <a:chOff x="2083888" y="6550671"/>
            <a:chExt cx="7060054" cy="48600"/>
          </a:xfrm>
        </p:grpSpPr>
        <p:sp>
          <p:nvSpPr>
            <p:cNvPr id="316" name="Google Shape;316;gfcdc75d613_0_340"/>
            <p:cNvSpPr/>
            <p:nvPr/>
          </p:nvSpPr>
          <p:spPr>
            <a:xfrm>
              <a:off x="4630418" y="6550671"/>
              <a:ext cx="23289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 name="Google Shape;317;gfcdc75d613_0_340"/>
            <p:cNvSpPr/>
            <p:nvPr/>
          </p:nvSpPr>
          <p:spPr>
            <a:xfrm>
              <a:off x="6908642" y="6550671"/>
              <a:ext cx="22353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8" name="Google Shape;318;gfcdc75d613_0_340"/>
            <p:cNvSpPr/>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19" name="Google Shape;319;gfcdc75d613_0_340" descr="Picture 7.png"/>
          <p:cNvPicPr preferRelativeResize="0"/>
          <p:nvPr/>
        </p:nvPicPr>
        <p:blipFill rotWithShape="1">
          <a:blip r:embed="rId2">
            <a:alphaModFix/>
          </a:blip>
          <a:srcRect l="1922" b="5338"/>
          <a:stretch/>
        </p:blipFill>
        <p:spPr>
          <a:xfrm>
            <a:off x="6629400" y="0"/>
            <a:ext cx="2193925" cy="692150"/>
          </a:xfrm>
          <a:prstGeom prst="rect">
            <a:avLst/>
          </a:prstGeom>
          <a:noFill/>
          <a:ln>
            <a:noFill/>
          </a:ln>
        </p:spPr>
      </p:pic>
      <p:grpSp>
        <p:nvGrpSpPr>
          <p:cNvPr id="320" name="Google Shape;320;gfcdc75d613_0_340"/>
          <p:cNvGrpSpPr/>
          <p:nvPr/>
        </p:nvGrpSpPr>
        <p:grpSpPr>
          <a:xfrm>
            <a:off x="2133600" y="6553348"/>
            <a:ext cx="7010438" cy="45919"/>
            <a:chOff x="1905000" y="6553200"/>
            <a:chExt cx="7010438" cy="45600"/>
          </a:xfrm>
        </p:grpSpPr>
        <p:sp>
          <p:nvSpPr>
            <p:cNvPr id="321" name="Google Shape;321;gfcdc75d613_0_340"/>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 name="Google Shape;322;gfcdc75d613_0_340"/>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 name="Google Shape;323;gfcdc75d613_0_340"/>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24" name="Google Shape;324;gfcdc75d613_0_340"/>
          <p:cNvGrpSpPr/>
          <p:nvPr/>
        </p:nvGrpSpPr>
        <p:grpSpPr>
          <a:xfrm>
            <a:off x="0" y="1295548"/>
            <a:ext cx="7010438" cy="45919"/>
            <a:chOff x="1905000" y="6553200"/>
            <a:chExt cx="7010438" cy="45600"/>
          </a:xfrm>
        </p:grpSpPr>
        <p:sp>
          <p:nvSpPr>
            <p:cNvPr id="325" name="Google Shape;325;gfcdc75d613_0_340"/>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 name="Google Shape;326;gfcdc75d613_0_340"/>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 name="Google Shape;327;gfcdc75d613_0_340"/>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8" name="Google Shape;328;gfcdc75d613_0_340"/>
          <p:cNvSpPr txBox="1">
            <a:spLocks noGrp="1"/>
          </p:cNvSpPr>
          <p:nvPr>
            <p:ph type="body" idx="1"/>
          </p:nvPr>
        </p:nvSpPr>
        <p:spPr>
          <a:xfrm>
            <a:off x="304800" y="1493837"/>
            <a:ext cx="8229600" cy="4526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rtl="0">
              <a:lnSpc>
                <a:spcPct val="100000"/>
              </a:lnSpc>
              <a:spcBef>
                <a:spcPts val="320"/>
              </a:spcBef>
              <a:spcAft>
                <a:spcPts val="0"/>
              </a:spcAft>
              <a:buSzPts val="1600"/>
              <a:buFont typeface="Arial"/>
              <a:buChar char="–"/>
              <a:defRPr sz="1600">
                <a:latin typeface="Arial"/>
                <a:ea typeface="Arial"/>
                <a:cs typeface="Arial"/>
                <a:sym typeface="Arial"/>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329" name="Google Shape;329;gfcdc75d613_0_340"/>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Clr>
                <a:schemeClr val="dk1"/>
              </a:buClr>
              <a:buSzPts val="3600"/>
              <a:buFont typeface="Arial"/>
              <a:buNone/>
              <a:defRPr sz="3600" b="1">
                <a:latin typeface="Arial"/>
                <a:ea typeface="Arial"/>
                <a:cs typeface="Arial"/>
                <a:sym typeface="Arial"/>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Title and Content">
  <p:cSld name="7_Title and Content">
    <p:spTree>
      <p:nvGrpSpPr>
        <p:cNvPr id="1" name="Shape 330"/>
        <p:cNvGrpSpPr/>
        <p:nvPr/>
      </p:nvGrpSpPr>
      <p:grpSpPr>
        <a:xfrm>
          <a:off x="0" y="0"/>
          <a:ext cx="0" cy="0"/>
          <a:chOff x="0" y="0"/>
          <a:chExt cx="0" cy="0"/>
        </a:xfrm>
      </p:grpSpPr>
      <p:sp>
        <p:nvSpPr>
          <p:cNvPr id="331" name="Google Shape;331;gfcdc75d613_0_357"/>
          <p:cNvSpPr txBox="1"/>
          <p:nvPr/>
        </p:nvSpPr>
        <p:spPr>
          <a:xfrm>
            <a:off x="3276600" y="6596063"/>
            <a:ext cx="58674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332" name="Google Shape;332;gfcdc75d613_0_357"/>
          <p:cNvGrpSpPr/>
          <p:nvPr/>
        </p:nvGrpSpPr>
        <p:grpSpPr>
          <a:xfrm>
            <a:off x="2084327" y="6550283"/>
            <a:ext cx="7059348" cy="49149"/>
            <a:chOff x="2083888" y="6550671"/>
            <a:chExt cx="7060054" cy="48600"/>
          </a:xfrm>
        </p:grpSpPr>
        <p:sp>
          <p:nvSpPr>
            <p:cNvPr id="333" name="Google Shape;333;gfcdc75d613_0_357"/>
            <p:cNvSpPr/>
            <p:nvPr/>
          </p:nvSpPr>
          <p:spPr>
            <a:xfrm>
              <a:off x="4630418" y="6550671"/>
              <a:ext cx="23289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 name="Google Shape;334;gfcdc75d613_0_357"/>
            <p:cNvSpPr/>
            <p:nvPr/>
          </p:nvSpPr>
          <p:spPr>
            <a:xfrm>
              <a:off x="6908642" y="6550671"/>
              <a:ext cx="22353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 name="Google Shape;335;gfcdc75d613_0_357"/>
            <p:cNvSpPr/>
            <p:nvPr/>
          </p:nvSpPr>
          <p:spPr>
            <a:xfrm>
              <a:off x="2083888" y="6550671"/>
              <a:ext cx="25815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36" name="Google Shape;336;gfcdc75d613_0_357" descr="Picture 7.png"/>
          <p:cNvPicPr preferRelativeResize="0"/>
          <p:nvPr/>
        </p:nvPicPr>
        <p:blipFill rotWithShape="1">
          <a:blip r:embed="rId2">
            <a:alphaModFix/>
          </a:blip>
          <a:srcRect l="1922" b="5338"/>
          <a:stretch/>
        </p:blipFill>
        <p:spPr>
          <a:xfrm>
            <a:off x="6629400" y="0"/>
            <a:ext cx="2193925" cy="692150"/>
          </a:xfrm>
          <a:prstGeom prst="rect">
            <a:avLst/>
          </a:prstGeom>
          <a:noFill/>
          <a:ln>
            <a:noFill/>
          </a:ln>
        </p:spPr>
      </p:pic>
      <p:grpSp>
        <p:nvGrpSpPr>
          <p:cNvPr id="337" name="Google Shape;337;gfcdc75d613_0_357"/>
          <p:cNvGrpSpPr/>
          <p:nvPr/>
        </p:nvGrpSpPr>
        <p:grpSpPr>
          <a:xfrm>
            <a:off x="2133600" y="6553348"/>
            <a:ext cx="7010438" cy="45919"/>
            <a:chOff x="1905000" y="6553200"/>
            <a:chExt cx="7010438" cy="45600"/>
          </a:xfrm>
        </p:grpSpPr>
        <p:sp>
          <p:nvSpPr>
            <p:cNvPr id="338" name="Google Shape;338;gfcdc75d613_0_357"/>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 name="Google Shape;339;gfcdc75d613_0_357"/>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fcdc75d613_0_357"/>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41" name="Google Shape;341;gfcdc75d613_0_357"/>
          <p:cNvGrpSpPr/>
          <p:nvPr/>
        </p:nvGrpSpPr>
        <p:grpSpPr>
          <a:xfrm>
            <a:off x="0" y="1295548"/>
            <a:ext cx="7010438" cy="45919"/>
            <a:chOff x="1905000" y="6553200"/>
            <a:chExt cx="7010438" cy="45600"/>
          </a:xfrm>
        </p:grpSpPr>
        <p:sp>
          <p:nvSpPr>
            <p:cNvPr id="342" name="Google Shape;342;gfcdc75d613_0_357"/>
            <p:cNvSpPr/>
            <p:nvPr/>
          </p:nvSpPr>
          <p:spPr>
            <a:xfrm>
              <a:off x="4267200" y="6553200"/>
              <a:ext cx="23289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 name="Google Shape;343;gfcdc75d613_0_357"/>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4" name="Google Shape;344;gfcdc75d613_0_357"/>
            <p:cNvSpPr/>
            <p:nvPr/>
          </p:nvSpPr>
          <p:spPr>
            <a:xfrm>
              <a:off x="6586538" y="6553200"/>
              <a:ext cx="23289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45" name="Google Shape;345;gfcdc75d613_0_357"/>
          <p:cNvSpPr txBox="1">
            <a:spLocks noGrp="1"/>
          </p:cNvSpPr>
          <p:nvPr>
            <p:ph type="body" idx="1"/>
          </p:nvPr>
        </p:nvSpPr>
        <p:spPr>
          <a:xfrm>
            <a:off x="304800" y="1493837"/>
            <a:ext cx="8229600" cy="4526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rtl="0">
              <a:lnSpc>
                <a:spcPct val="100000"/>
              </a:lnSpc>
              <a:spcBef>
                <a:spcPts val="320"/>
              </a:spcBef>
              <a:spcAft>
                <a:spcPts val="0"/>
              </a:spcAft>
              <a:buSzPts val="1600"/>
              <a:buFont typeface="Arial"/>
              <a:buChar char="–"/>
              <a:defRPr sz="1600">
                <a:latin typeface="Arial"/>
                <a:ea typeface="Arial"/>
                <a:cs typeface="Arial"/>
                <a:sym typeface="Arial"/>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346" name="Google Shape;346;gfcdc75d613_0_357"/>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Clr>
                <a:schemeClr val="dk1"/>
              </a:buClr>
              <a:buSzPts val="3600"/>
              <a:buFont typeface="Arial"/>
              <a:buNone/>
              <a:defRPr sz="3600" b="1">
                <a:latin typeface="Arial"/>
                <a:ea typeface="Arial"/>
                <a:cs typeface="Arial"/>
                <a:sym typeface="Arial"/>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7"/>
        <p:cNvGrpSpPr/>
        <p:nvPr/>
      </p:nvGrpSpPr>
      <p:grpSpPr>
        <a:xfrm>
          <a:off x="0" y="0"/>
          <a:ext cx="0" cy="0"/>
          <a:chOff x="0" y="0"/>
          <a:chExt cx="0" cy="0"/>
        </a:xfrm>
      </p:grpSpPr>
      <p:sp>
        <p:nvSpPr>
          <p:cNvPr id="348" name="Google Shape;348;gfcdc75d613_0_374"/>
          <p:cNvSpPr txBox="1">
            <a:spLocks noGrp="1"/>
          </p:cNvSpPr>
          <p:nvPr>
            <p:ph type="title"/>
          </p:nvPr>
        </p:nvSpPr>
        <p:spPr>
          <a:xfrm>
            <a:off x="2931667" y="3328238"/>
            <a:ext cx="3280800" cy="7575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sz="4800" b="0" i="0">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49" name="Google Shape;349;gfcdc75d613_0_374"/>
          <p:cNvSpPr txBox="1">
            <a:spLocks noGrp="1"/>
          </p:cNvSpPr>
          <p:nvPr>
            <p:ph type="ftr" idx="11"/>
          </p:nvPr>
        </p:nvSpPr>
        <p:spPr>
          <a:xfrm>
            <a:off x="3108960" y="6377940"/>
            <a:ext cx="2926200" cy="342900"/>
          </a:xfrm>
          <a:prstGeom prst="rect">
            <a:avLst/>
          </a:prstGeom>
          <a:noFill/>
          <a:ln>
            <a:noFill/>
          </a:ln>
        </p:spPr>
        <p:txBody>
          <a:bodyPr spcFirstLastPara="1" wrap="square" lIns="0" tIns="0" rIns="0" bIns="0" anchor="t" anchorCtr="0">
            <a:spAutoFit/>
          </a:bodyPr>
          <a:lstStyle>
            <a:lvl1pPr lvl="0" algn="ctr"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0" name="Google Shape;350;gfcdc75d613_0_374"/>
          <p:cNvSpPr txBox="1">
            <a:spLocks noGrp="1"/>
          </p:cNvSpPr>
          <p:nvPr>
            <p:ph type="dt" idx="10"/>
          </p:nvPr>
        </p:nvSpPr>
        <p:spPr>
          <a:xfrm>
            <a:off x="457200" y="6377940"/>
            <a:ext cx="2103000" cy="3429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1" name="Google Shape;351;gfcdc75d613_0_374"/>
          <p:cNvSpPr txBox="1">
            <a:spLocks noGrp="1"/>
          </p:cNvSpPr>
          <p:nvPr>
            <p:ph type="sldNum" idx="12"/>
          </p:nvPr>
        </p:nvSpPr>
        <p:spPr>
          <a:xfrm>
            <a:off x="7358633" y="6311671"/>
            <a:ext cx="1706100" cy="540900"/>
          </a:xfrm>
          <a:prstGeom prst="rect">
            <a:avLst/>
          </a:prstGeom>
          <a:noFill/>
          <a:ln>
            <a:noFill/>
          </a:ln>
        </p:spPr>
        <p:txBody>
          <a:bodyPr spcFirstLastPara="1" wrap="square" lIns="0" tIns="0" rIns="0" bIns="0" anchor="t" anchorCtr="0">
            <a:spAutoFit/>
          </a:bodyPr>
          <a:lstStyle>
            <a:lvl1pPr marL="0" marR="328930" lvl="0"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1pPr>
            <a:lvl2pPr marL="0" marR="328930" lvl="1"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2pPr>
            <a:lvl3pPr marL="0" marR="328930" lvl="2"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3pPr>
            <a:lvl4pPr marL="0" marR="328930" lvl="3"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4pPr>
            <a:lvl5pPr marL="0" marR="328930" lvl="4"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5pPr>
            <a:lvl6pPr marL="0" marR="328930" lvl="5"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6pPr>
            <a:lvl7pPr marL="0" marR="328930" lvl="6"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7pPr>
            <a:lvl8pPr marL="0" marR="328930" lvl="7"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8pPr>
            <a:lvl9pPr marL="0" marR="328930" lvl="8"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a:p>
            <a:pPr marL="12700" marR="0" lvl="0" indent="0" algn="l" rtl="0">
              <a:lnSpc>
                <a:spcPct val="100000"/>
              </a:lnSpc>
              <a:spcBef>
                <a:spcPts val="960"/>
              </a:spcBef>
              <a:spcAft>
                <a:spcPts val="0"/>
              </a:spcAft>
              <a:buSzPts val="1100"/>
              <a:buNone/>
            </a:pPr>
            <a:r>
              <a:rPr lang="en-US" sz="1100">
                <a:solidFill>
                  <a:srgbClr val="0F1141"/>
                </a:solidFill>
              </a:rPr>
              <a:t>BITS </a:t>
            </a:r>
            <a:r>
              <a:rPr lang="en-US" sz="1100" b="0">
                <a:solidFill>
                  <a:srgbClr val="0F1141"/>
                </a:solidFill>
              </a:rPr>
              <a:t>Pilani, Pilani Campus</a:t>
            </a:r>
            <a:endParaRPr sz="11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2"/>
        <p:cNvGrpSpPr/>
        <p:nvPr/>
      </p:nvGrpSpPr>
      <p:grpSpPr>
        <a:xfrm>
          <a:off x="0" y="0"/>
          <a:ext cx="0" cy="0"/>
          <a:chOff x="0" y="0"/>
          <a:chExt cx="0" cy="0"/>
        </a:xfrm>
      </p:grpSpPr>
      <p:sp>
        <p:nvSpPr>
          <p:cNvPr id="353" name="Google Shape;353;gfcdc75d613_0_379"/>
          <p:cNvSpPr txBox="1">
            <a:spLocks noGrp="1"/>
          </p:cNvSpPr>
          <p:nvPr>
            <p:ph type="ctrTitle"/>
          </p:nvPr>
        </p:nvSpPr>
        <p:spPr>
          <a:xfrm>
            <a:off x="685800" y="2125980"/>
            <a:ext cx="7772400" cy="14403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4" name="Google Shape;354;gfcdc75d613_0_379"/>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5" name="Google Shape;355;gfcdc75d613_0_379"/>
          <p:cNvSpPr txBox="1">
            <a:spLocks noGrp="1"/>
          </p:cNvSpPr>
          <p:nvPr>
            <p:ph type="ftr" idx="11"/>
          </p:nvPr>
        </p:nvSpPr>
        <p:spPr>
          <a:xfrm>
            <a:off x="3108960" y="6377940"/>
            <a:ext cx="2926200" cy="342900"/>
          </a:xfrm>
          <a:prstGeom prst="rect">
            <a:avLst/>
          </a:prstGeom>
          <a:noFill/>
          <a:ln>
            <a:noFill/>
          </a:ln>
        </p:spPr>
        <p:txBody>
          <a:bodyPr spcFirstLastPara="1" wrap="square" lIns="0" tIns="0" rIns="0" bIns="0" anchor="t" anchorCtr="0">
            <a:spAutoFit/>
          </a:bodyPr>
          <a:lstStyle>
            <a:lvl1pPr lvl="0" algn="ctr"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6" name="Google Shape;356;gfcdc75d613_0_379"/>
          <p:cNvSpPr txBox="1">
            <a:spLocks noGrp="1"/>
          </p:cNvSpPr>
          <p:nvPr>
            <p:ph type="dt" idx="10"/>
          </p:nvPr>
        </p:nvSpPr>
        <p:spPr>
          <a:xfrm>
            <a:off x="457200" y="6377940"/>
            <a:ext cx="2103000" cy="3429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7" name="Google Shape;357;gfcdc75d613_0_379"/>
          <p:cNvSpPr txBox="1">
            <a:spLocks noGrp="1"/>
          </p:cNvSpPr>
          <p:nvPr>
            <p:ph type="sldNum" idx="12"/>
          </p:nvPr>
        </p:nvSpPr>
        <p:spPr>
          <a:xfrm>
            <a:off x="7358633" y="6311671"/>
            <a:ext cx="1706100" cy="540900"/>
          </a:xfrm>
          <a:prstGeom prst="rect">
            <a:avLst/>
          </a:prstGeom>
          <a:noFill/>
          <a:ln>
            <a:noFill/>
          </a:ln>
        </p:spPr>
        <p:txBody>
          <a:bodyPr spcFirstLastPara="1" wrap="square" lIns="0" tIns="0" rIns="0" bIns="0" anchor="t" anchorCtr="0">
            <a:spAutoFit/>
          </a:bodyPr>
          <a:lstStyle>
            <a:lvl1pPr marL="0" marR="328930" lvl="0"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1pPr>
            <a:lvl2pPr marL="0" marR="328930" lvl="1"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2pPr>
            <a:lvl3pPr marL="0" marR="328930" lvl="2"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3pPr>
            <a:lvl4pPr marL="0" marR="328930" lvl="3"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4pPr>
            <a:lvl5pPr marL="0" marR="328930" lvl="4"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5pPr>
            <a:lvl6pPr marL="0" marR="328930" lvl="5"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6pPr>
            <a:lvl7pPr marL="0" marR="328930" lvl="6"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7pPr>
            <a:lvl8pPr marL="0" marR="328930" lvl="7"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8pPr>
            <a:lvl9pPr marL="0" marR="328930" lvl="8"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a:p>
            <a:pPr marL="12700" marR="0" lvl="0" indent="0" algn="l" rtl="0">
              <a:lnSpc>
                <a:spcPct val="100000"/>
              </a:lnSpc>
              <a:spcBef>
                <a:spcPts val="960"/>
              </a:spcBef>
              <a:spcAft>
                <a:spcPts val="0"/>
              </a:spcAft>
              <a:buSzPts val="1100"/>
              <a:buNone/>
            </a:pPr>
            <a:r>
              <a:rPr lang="en-US" sz="1100">
                <a:solidFill>
                  <a:srgbClr val="0F1141"/>
                </a:solidFill>
              </a:rPr>
              <a:t>BITS </a:t>
            </a:r>
            <a:r>
              <a:rPr lang="en-US" sz="1100" b="0">
                <a:solidFill>
                  <a:srgbClr val="0F1141"/>
                </a:solidFill>
              </a:rPr>
              <a:t>Pilani, Pilani Campus</a:t>
            </a:r>
            <a:endParaRPr sz="11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8"/>
        <p:cNvGrpSpPr/>
        <p:nvPr/>
      </p:nvGrpSpPr>
      <p:grpSpPr>
        <a:xfrm>
          <a:off x="0" y="0"/>
          <a:ext cx="0" cy="0"/>
          <a:chOff x="0" y="0"/>
          <a:chExt cx="0" cy="0"/>
        </a:xfrm>
      </p:grpSpPr>
      <p:sp>
        <p:nvSpPr>
          <p:cNvPr id="359" name="Google Shape;359;gfcdc75d613_0_385"/>
          <p:cNvSpPr txBox="1">
            <a:spLocks noGrp="1"/>
          </p:cNvSpPr>
          <p:nvPr>
            <p:ph type="title"/>
          </p:nvPr>
        </p:nvSpPr>
        <p:spPr>
          <a:xfrm>
            <a:off x="2931667" y="3328238"/>
            <a:ext cx="3280800" cy="7575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sz="4800" b="0" i="0">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0" name="Google Shape;360;gfcdc75d613_0_385"/>
          <p:cNvSpPr txBox="1">
            <a:spLocks noGrp="1"/>
          </p:cNvSpPr>
          <p:nvPr>
            <p:ph type="body" idx="1"/>
          </p:nvPr>
        </p:nvSpPr>
        <p:spPr>
          <a:xfrm>
            <a:off x="457200" y="1577340"/>
            <a:ext cx="3977700" cy="4526400"/>
          </a:xfrm>
          <a:prstGeom prst="rect">
            <a:avLst/>
          </a:prstGeom>
          <a:noFill/>
          <a:ln>
            <a:noFill/>
          </a:ln>
        </p:spPr>
        <p:txBody>
          <a:bodyPr spcFirstLastPara="1" wrap="square" lIns="0" tIns="0" rIns="0" bIns="0" anchor="t" anchorCtr="0">
            <a:spAutoFit/>
          </a:bodyPr>
          <a:lstStyle>
            <a:lvl1pPr marL="457200" lvl="0" indent="-228600" algn="l" rtl="0">
              <a:lnSpc>
                <a:spcPct val="100000"/>
              </a:lnSpc>
              <a:spcBef>
                <a:spcPts val="0"/>
              </a:spcBef>
              <a:spcAft>
                <a:spcPts val="0"/>
              </a:spcAft>
              <a:buSzPts val="1400"/>
              <a:buNone/>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361" name="Google Shape;361;gfcdc75d613_0_385"/>
          <p:cNvSpPr txBox="1">
            <a:spLocks noGrp="1"/>
          </p:cNvSpPr>
          <p:nvPr>
            <p:ph type="body" idx="2"/>
          </p:nvPr>
        </p:nvSpPr>
        <p:spPr>
          <a:xfrm>
            <a:off x="4709160" y="1577340"/>
            <a:ext cx="3977700" cy="4526400"/>
          </a:xfrm>
          <a:prstGeom prst="rect">
            <a:avLst/>
          </a:prstGeom>
          <a:noFill/>
          <a:ln>
            <a:noFill/>
          </a:ln>
        </p:spPr>
        <p:txBody>
          <a:bodyPr spcFirstLastPara="1" wrap="square" lIns="0" tIns="0" rIns="0" bIns="0" anchor="t" anchorCtr="0">
            <a:spAutoFit/>
          </a:bodyPr>
          <a:lstStyle>
            <a:lvl1pPr marL="457200" lvl="0" indent="-228600" algn="l" rtl="0">
              <a:lnSpc>
                <a:spcPct val="100000"/>
              </a:lnSpc>
              <a:spcBef>
                <a:spcPts val="0"/>
              </a:spcBef>
              <a:spcAft>
                <a:spcPts val="0"/>
              </a:spcAft>
              <a:buSzPts val="1400"/>
              <a:buNone/>
              <a:defRPr/>
            </a:lvl1pPr>
            <a:lvl2pPr marL="914400" lvl="1" indent="-228600" algn="l" rtl="0">
              <a:lnSpc>
                <a:spcPct val="100000"/>
              </a:lnSpc>
              <a:spcBef>
                <a:spcPts val="0"/>
              </a:spcBef>
              <a:spcAft>
                <a:spcPts val="0"/>
              </a:spcAft>
              <a:buSzPts val="1400"/>
              <a:buNone/>
              <a:defRPr/>
            </a:lvl2pPr>
            <a:lvl3pPr marL="1371600" lvl="2" indent="-228600" algn="l" rtl="0">
              <a:lnSpc>
                <a:spcPct val="100000"/>
              </a:lnSpc>
              <a:spcBef>
                <a:spcPts val="0"/>
              </a:spcBef>
              <a:spcAft>
                <a:spcPts val="0"/>
              </a:spcAft>
              <a:buSzPts val="1400"/>
              <a:buNone/>
              <a:defRPr/>
            </a:lvl3pPr>
            <a:lvl4pPr marL="1828800" lvl="3" indent="-228600" algn="l" rtl="0">
              <a:lnSpc>
                <a:spcPct val="100000"/>
              </a:lnSpc>
              <a:spcBef>
                <a:spcPts val="0"/>
              </a:spcBef>
              <a:spcAft>
                <a:spcPts val="0"/>
              </a:spcAft>
              <a:buSzPts val="1400"/>
              <a:buNone/>
              <a:defRPr/>
            </a:lvl4pPr>
            <a:lvl5pPr marL="2286000" lvl="4" indent="-228600" algn="l" rtl="0">
              <a:lnSpc>
                <a:spcPct val="100000"/>
              </a:lnSpc>
              <a:spcBef>
                <a:spcPts val="0"/>
              </a:spcBef>
              <a:spcAft>
                <a:spcPts val="0"/>
              </a:spcAft>
              <a:buSzPts val="1400"/>
              <a:buNone/>
              <a:defRPr/>
            </a:lvl5pPr>
            <a:lvl6pPr marL="2743200" lvl="5" indent="-228600" algn="l" rtl="0">
              <a:lnSpc>
                <a:spcPct val="100000"/>
              </a:lnSpc>
              <a:spcBef>
                <a:spcPts val="0"/>
              </a:spcBef>
              <a:spcAft>
                <a:spcPts val="0"/>
              </a:spcAft>
              <a:buSzPts val="1400"/>
              <a:buNone/>
              <a:defRPr/>
            </a:lvl6pPr>
            <a:lvl7pPr marL="3200400" lvl="6" indent="-228600" algn="l" rtl="0">
              <a:lnSpc>
                <a:spcPct val="100000"/>
              </a:lnSpc>
              <a:spcBef>
                <a:spcPts val="0"/>
              </a:spcBef>
              <a:spcAft>
                <a:spcPts val="0"/>
              </a:spcAft>
              <a:buSzPts val="1400"/>
              <a:buNone/>
              <a:defRPr/>
            </a:lvl7pPr>
            <a:lvl8pPr marL="3657600" lvl="7" indent="-228600" algn="l" rtl="0">
              <a:lnSpc>
                <a:spcPct val="100000"/>
              </a:lnSpc>
              <a:spcBef>
                <a:spcPts val="0"/>
              </a:spcBef>
              <a:spcAft>
                <a:spcPts val="0"/>
              </a:spcAft>
              <a:buSzPts val="1400"/>
              <a:buNone/>
              <a:defRPr/>
            </a:lvl8pPr>
            <a:lvl9pPr marL="4114800" lvl="8" indent="-228600" algn="l" rtl="0">
              <a:lnSpc>
                <a:spcPct val="100000"/>
              </a:lnSpc>
              <a:spcBef>
                <a:spcPts val="0"/>
              </a:spcBef>
              <a:spcAft>
                <a:spcPts val="0"/>
              </a:spcAft>
              <a:buSzPts val="1400"/>
              <a:buNone/>
              <a:defRPr/>
            </a:lvl9pPr>
          </a:lstStyle>
          <a:p>
            <a:endParaRPr/>
          </a:p>
        </p:txBody>
      </p:sp>
      <p:sp>
        <p:nvSpPr>
          <p:cNvPr id="362" name="Google Shape;362;gfcdc75d613_0_385"/>
          <p:cNvSpPr txBox="1">
            <a:spLocks noGrp="1"/>
          </p:cNvSpPr>
          <p:nvPr>
            <p:ph type="ftr" idx="11"/>
          </p:nvPr>
        </p:nvSpPr>
        <p:spPr>
          <a:xfrm>
            <a:off x="3108960" y="6377940"/>
            <a:ext cx="2926200" cy="342900"/>
          </a:xfrm>
          <a:prstGeom prst="rect">
            <a:avLst/>
          </a:prstGeom>
          <a:noFill/>
          <a:ln>
            <a:noFill/>
          </a:ln>
        </p:spPr>
        <p:txBody>
          <a:bodyPr spcFirstLastPara="1" wrap="square" lIns="0" tIns="0" rIns="0" bIns="0" anchor="t" anchorCtr="0">
            <a:spAutoFit/>
          </a:bodyPr>
          <a:lstStyle>
            <a:lvl1pPr lvl="0" algn="ctr"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3" name="Google Shape;363;gfcdc75d613_0_385"/>
          <p:cNvSpPr txBox="1">
            <a:spLocks noGrp="1"/>
          </p:cNvSpPr>
          <p:nvPr>
            <p:ph type="dt" idx="10"/>
          </p:nvPr>
        </p:nvSpPr>
        <p:spPr>
          <a:xfrm>
            <a:off x="457200" y="6377940"/>
            <a:ext cx="2103000" cy="342900"/>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SzPts val="1400"/>
              <a:buNone/>
              <a:defRPr>
                <a:solidFill>
                  <a:srgbClr val="888888"/>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4" name="Google Shape;364;gfcdc75d613_0_385"/>
          <p:cNvSpPr txBox="1">
            <a:spLocks noGrp="1"/>
          </p:cNvSpPr>
          <p:nvPr>
            <p:ph type="sldNum" idx="12"/>
          </p:nvPr>
        </p:nvSpPr>
        <p:spPr>
          <a:xfrm>
            <a:off x="7358633" y="6311671"/>
            <a:ext cx="1706100" cy="540900"/>
          </a:xfrm>
          <a:prstGeom prst="rect">
            <a:avLst/>
          </a:prstGeom>
          <a:noFill/>
          <a:ln>
            <a:noFill/>
          </a:ln>
        </p:spPr>
        <p:txBody>
          <a:bodyPr spcFirstLastPara="1" wrap="square" lIns="0" tIns="0" rIns="0" bIns="0" anchor="t" anchorCtr="0">
            <a:spAutoFit/>
          </a:bodyPr>
          <a:lstStyle>
            <a:lvl1pPr marL="0" marR="328930" lvl="0"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1pPr>
            <a:lvl2pPr marL="0" marR="328930" lvl="1"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2pPr>
            <a:lvl3pPr marL="0" marR="328930" lvl="2"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3pPr>
            <a:lvl4pPr marL="0" marR="328930" lvl="3"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4pPr>
            <a:lvl5pPr marL="0" marR="328930" lvl="4"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5pPr>
            <a:lvl6pPr marL="0" marR="328930" lvl="5"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6pPr>
            <a:lvl7pPr marL="0" marR="328930" lvl="6"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7pPr>
            <a:lvl8pPr marL="0" marR="328930" lvl="7"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8pPr>
            <a:lvl9pPr marL="0" marR="328930" lvl="8"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a:p>
            <a:pPr marL="12700" marR="0" lvl="0" indent="0" algn="l" rtl="0">
              <a:lnSpc>
                <a:spcPct val="100000"/>
              </a:lnSpc>
              <a:spcBef>
                <a:spcPts val="960"/>
              </a:spcBef>
              <a:spcAft>
                <a:spcPts val="0"/>
              </a:spcAft>
              <a:buSzPts val="1100"/>
              <a:buNone/>
            </a:pPr>
            <a:r>
              <a:rPr lang="en-US" sz="1100">
                <a:solidFill>
                  <a:srgbClr val="0F1141"/>
                </a:solidFill>
              </a:rPr>
              <a:t>BITS </a:t>
            </a:r>
            <a:r>
              <a:rPr lang="en-US" sz="1100" b="0">
                <a:solidFill>
                  <a:srgbClr val="0F1141"/>
                </a:solidFill>
              </a:rPr>
              <a:t>Pilani, Pilani Campus</a:t>
            </a:r>
            <a:endParaRPr sz="11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0"/>
        <p:cNvGrpSpPr/>
        <p:nvPr/>
      </p:nvGrpSpPr>
      <p:grpSpPr>
        <a:xfrm>
          <a:off x="0" y="0"/>
          <a:ext cx="0" cy="0"/>
          <a:chOff x="0" y="0"/>
          <a:chExt cx="0" cy="0"/>
        </a:xfrm>
      </p:grpSpPr>
      <p:pic>
        <p:nvPicPr>
          <p:cNvPr id="21" name="Google Shape;21;p7" descr="BITS Pilani logo"/>
          <p:cNvPicPr preferRelativeResize="0"/>
          <p:nvPr/>
        </p:nvPicPr>
        <p:blipFill rotWithShape="1">
          <a:blip r:embed="rId2">
            <a:alphaModFix/>
          </a:blip>
          <a:srcRect/>
          <a:stretch/>
        </p:blipFill>
        <p:spPr>
          <a:xfrm>
            <a:off x="288132" y="288929"/>
            <a:ext cx="2504054" cy="865907"/>
          </a:xfrm>
          <a:prstGeom prst="rect">
            <a:avLst/>
          </a:prstGeom>
          <a:noFill/>
          <a:ln>
            <a:noFill/>
          </a:ln>
        </p:spPr>
      </p:pic>
      <p:sp>
        <p:nvSpPr>
          <p:cNvPr id="22" name="Google Shape;22;p7"/>
          <p:cNvSpPr txBox="1">
            <a:spLocks noGrp="1"/>
          </p:cNvSpPr>
          <p:nvPr>
            <p:ph type="title"/>
          </p:nvPr>
        </p:nvSpPr>
        <p:spPr>
          <a:xfrm>
            <a:off x="351337" y="1671639"/>
            <a:ext cx="4504032" cy="6531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cap="none">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7"/>
          <p:cNvSpPr txBox="1">
            <a:spLocks noGrp="1"/>
          </p:cNvSpPr>
          <p:nvPr>
            <p:ph type="body" idx="1"/>
          </p:nvPr>
        </p:nvSpPr>
        <p:spPr>
          <a:xfrm>
            <a:off x="1021556" y="2586447"/>
            <a:ext cx="4504032" cy="3304902"/>
          </a:xfrm>
          <a:prstGeom prst="rect">
            <a:avLst/>
          </a:prstGeom>
          <a:noFill/>
          <a:ln>
            <a:noFill/>
          </a:ln>
        </p:spPr>
        <p:txBody>
          <a:bodyPr spcFirstLastPara="1" wrap="square" lIns="91425" tIns="45700" rIns="91425" bIns="45700" anchor="t" anchorCtr="0">
            <a:normAutofit/>
          </a:bodyPr>
          <a:lstStyle>
            <a:lvl1pPr marL="342900" lvl="0" indent="-285750" algn="l">
              <a:lnSpc>
                <a:spcPct val="100000"/>
              </a:lnSpc>
              <a:spcBef>
                <a:spcPts val="750"/>
              </a:spcBef>
              <a:spcAft>
                <a:spcPts val="0"/>
              </a:spcAft>
              <a:buClr>
                <a:schemeClr val="dk1"/>
              </a:buClr>
              <a:buSzPts val="2400"/>
              <a:buFont typeface="Calibri"/>
              <a:buAutoNum type="arabicPeriod"/>
              <a:defRPr sz="1800">
                <a:solidFill>
                  <a:schemeClr val="dk1"/>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24" name="Google Shape;24;p7"/>
          <p:cNvSpPr txBox="1">
            <a:spLocks noGrp="1"/>
          </p:cNvSpPr>
          <p:nvPr>
            <p:ph type="ftr" idx="11"/>
          </p:nvPr>
        </p:nvSpPr>
        <p:spPr>
          <a:xfrm>
            <a:off x="1847850" y="6356351"/>
            <a:ext cx="260985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675"/>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675" b="0" i="0" u="none" strike="noStrike" cap="none">
                <a:solidFill>
                  <a:srgbClr val="888888"/>
                </a:solidFill>
                <a:latin typeface="Calibri"/>
                <a:ea typeface="Calibri"/>
                <a:cs typeface="Calibri"/>
                <a:sym typeface="Calibri"/>
              </a:defRPr>
            </a:lvl1pPr>
            <a:lvl2pPr marL="0" lvl="1" indent="0" algn="r">
              <a:spcBef>
                <a:spcPts val="0"/>
              </a:spcBef>
              <a:buNone/>
              <a:defRPr sz="675" b="0" i="0" u="none" strike="noStrike" cap="none">
                <a:solidFill>
                  <a:srgbClr val="888888"/>
                </a:solidFill>
                <a:latin typeface="Calibri"/>
                <a:ea typeface="Calibri"/>
                <a:cs typeface="Calibri"/>
                <a:sym typeface="Calibri"/>
              </a:defRPr>
            </a:lvl2pPr>
            <a:lvl3pPr marL="0" lvl="2" indent="0" algn="r">
              <a:spcBef>
                <a:spcPts val="0"/>
              </a:spcBef>
              <a:buNone/>
              <a:defRPr sz="675" b="0" i="0" u="none" strike="noStrike" cap="none">
                <a:solidFill>
                  <a:srgbClr val="888888"/>
                </a:solidFill>
                <a:latin typeface="Calibri"/>
                <a:ea typeface="Calibri"/>
                <a:cs typeface="Calibri"/>
                <a:sym typeface="Calibri"/>
              </a:defRPr>
            </a:lvl3pPr>
            <a:lvl4pPr marL="0" lvl="3" indent="0" algn="r">
              <a:spcBef>
                <a:spcPts val="0"/>
              </a:spcBef>
              <a:buNone/>
              <a:defRPr sz="675" b="0" i="0" u="none" strike="noStrike" cap="none">
                <a:solidFill>
                  <a:srgbClr val="888888"/>
                </a:solidFill>
                <a:latin typeface="Calibri"/>
                <a:ea typeface="Calibri"/>
                <a:cs typeface="Calibri"/>
                <a:sym typeface="Calibri"/>
              </a:defRPr>
            </a:lvl4pPr>
            <a:lvl5pPr marL="0" lvl="4" indent="0" algn="r">
              <a:spcBef>
                <a:spcPts val="0"/>
              </a:spcBef>
              <a:buNone/>
              <a:defRPr sz="675" b="0" i="0" u="none" strike="noStrike" cap="none">
                <a:solidFill>
                  <a:srgbClr val="888888"/>
                </a:solidFill>
                <a:latin typeface="Calibri"/>
                <a:ea typeface="Calibri"/>
                <a:cs typeface="Calibri"/>
                <a:sym typeface="Calibri"/>
              </a:defRPr>
            </a:lvl5pPr>
            <a:lvl6pPr marL="0" lvl="5" indent="0" algn="r">
              <a:spcBef>
                <a:spcPts val="0"/>
              </a:spcBef>
              <a:buNone/>
              <a:defRPr sz="675" b="0" i="0" u="none" strike="noStrike" cap="none">
                <a:solidFill>
                  <a:srgbClr val="888888"/>
                </a:solidFill>
                <a:latin typeface="Calibri"/>
                <a:ea typeface="Calibri"/>
                <a:cs typeface="Calibri"/>
                <a:sym typeface="Calibri"/>
              </a:defRPr>
            </a:lvl6pPr>
            <a:lvl7pPr marL="0" lvl="6" indent="0" algn="r">
              <a:spcBef>
                <a:spcPts val="0"/>
              </a:spcBef>
              <a:buNone/>
              <a:defRPr sz="675" b="0" i="0" u="none" strike="noStrike" cap="none">
                <a:solidFill>
                  <a:srgbClr val="888888"/>
                </a:solidFill>
                <a:latin typeface="Calibri"/>
                <a:ea typeface="Calibri"/>
                <a:cs typeface="Calibri"/>
                <a:sym typeface="Calibri"/>
              </a:defRPr>
            </a:lvl7pPr>
            <a:lvl8pPr marL="0" lvl="7" indent="0" algn="r">
              <a:spcBef>
                <a:spcPts val="0"/>
              </a:spcBef>
              <a:buNone/>
              <a:defRPr sz="675" b="0" i="0" u="none" strike="noStrike" cap="none">
                <a:solidFill>
                  <a:srgbClr val="888888"/>
                </a:solidFill>
                <a:latin typeface="Calibri"/>
                <a:ea typeface="Calibri"/>
                <a:cs typeface="Calibri"/>
                <a:sym typeface="Calibri"/>
              </a:defRPr>
            </a:lvl8pPr>
            <a:lvl9pPr marL="0" lvl="8" indent="0" algn="r">
              <a:spcBef>
                <a:spcPts val="0"/>
              </a:spcBef>
              <a:buNone/>
              <a:defRPr sz="675"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75071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gfcdc75d613_0_208"/>
          <p:cNvSpPr/>
          <p:nvPr/>
        </p:nvSpPr>
        <p:spPr>
          <a:xfrm>
            <a:off x="6629400" y="0"/>
            <a:ext cx="2193000" cy="691800"/>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3" name="Google Shape;183;gfcdc75d613_0_208"/>
          <p:cNvSpPr/>
          <p:nvPr/>
        </p:nvSpPr>
        <p:spPr>
          <a:xfrm>
            <a:off x="4495800" y="6553200"/>
            <a:ext cx="2329179" cy="45720"/>
          </a:xfrm>
          <a:custGeom>
            <a:avLst/>
            <a:gdLst/>
            <a:ahLst/>
            <a:cxnLst/>
            <a:rect l="l" t="t" r="r" b="b"/>
            <a:pathLst>
              <a:path w="2329179" h="45720" extrusionOk="0">
                <a:moveTo>
                  <a:pt x="2328672" y="0"/>
                </a:moveTo>
                <a:lnTo>
                  <a:pt x="0" y="0"/>
                </a:lnTo>
                <a:lnTo>
                  <a:pt x="0" y="45720"/>
                </a:lnTo>
                <a:lnTo>
                  <a:pt x="2328672" y="45720"/>
                </a:lnTo>
                <a:lnTo>
                  <a:pt x="2328672" y="0"/>
                </a:lnTo>
                <a:close/>
              </a:path>
            </a:pathLst>
          </a:custGeom>
          <a:solidFill>
            <a:srgbClr val="76C2E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4" name="Google Shape;184;gfcdc75d613_0_208"/>
          <p:cNvSpPr/>
          <p:nvPr/>
        </p:nvSpPr>
        <p:spPr>
          <a:xfrm>
            <a:off x="2133600" y="6553200"/>
            <a:ext cx="2362200" cy="45720"/>
          </a:xfrm>
          <a:custGeom>
            <a:avLst/>
            <a:gdLst/>
            <a:ahLst/>
            <a:cxnLst/>
            <a:rect l="l" t="t" r="r" b="b"/>
            <a:pathLst>
              <a:path w="2362200" h="45720" extrusionOk="0">
                <a:moveTo>
                  <a:pt x="2362200" y="0"/>
                </a:moveTo>
                <a:lnTo>
                  <a:pt x="0" y="0"/>
                </a:lnTo>
                <a:lnTo>
                  <a:pt x="0" y="45720"/>
                </a:lnTo>
                <a:lnTo>
                  <a:pt x="2362200" y="45720"/>
                </a:lnTo>
                <a:lnTo>
                  <a:pt x="2362200" y="0"/>
                </a:lnTo>
                <a:close/>
              </a:path>
            </a:pathLst>
          </a:custGeom>
          <a:solidFill>
            <a:srgbClr val="FBAF1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5" name="Google Shape;185;gfcdc75d613_0_208"/>
          <p:cNvSpPr/>
          <p:nvPr/>
        </p:nvSpPr>
        <p:spPr>
          <a:xfrm>
            <a:off x="6815328" y="6553200"/>
            <a:ext cx="2329179" cy="45720"/>
          </a:xfrm>
          <a:custGeom>
            <a:avLst/>
            <a:gdLst/>
            <a:ahLst/>
            <a:cxnLst/>
            <a:rect l="l" t="t" r="r" b="b"/>
            <a:pathLst>
              <a:path w="2329179" h="45720" extrusionOk="0">
                <a:moveTo>
                  <a:pt x="2328672" y="0"/>
                </a:moveTo>
                <a:lnTo>
                  <a:pt x="0" y="0"/>
                </a:lnTo>
                <a:lnTo>
                  <a:pt x="0" y="45720"/>
                </a:lnTo>
                <a:lnTo>
                  <a:pt x="2328672" y="45720"/>
                </a:lnTo>
                <a:lnTo>
                  <a:pt x="2328672"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6" name="Google Shape;186;gfcdc75d613_0_208"/>
          <p:cNvSpPr/>
          <p:nvPr/>
        </p:nvSpPr>
        <p:spPr>
          <a:xfrm>
            <a:off x="2362200" y="1295400"/>
            <a:ext cx="2329179" cy="45719"/>
          </a:xfrm>
          <a:custGeom>
            <a:avLst/>
            <a:gdLst/>
            <a:ahLst/>
            <a:cxnLst/>
            <a:rect l="l" t="t" r="r" b="b"/>
            <a:pathLst>
              <a:path w="2329179" h="45719" extrusionOk="0">
                <a:moveTo>
                  <a:pt x="2328672" y="0"/>
                </a:moveTo>
                <a:lnTo>
                  <a:pt x="0" y="0"/>
                </a:lnTo>
                <a:lnTo>
                  <a:pt x="0" y="45720"/>
                </a:lnTo>
                <a:lnTo>
                  <a:pt x="2328672" y="45720"/>
                </a:lnTo>
                <a:lnTo>
                  <a:pt x="2328672" y="0"/>
                </a:lnTo>
                <a:close/>
              </a:path>
            </a:pathLst>
          </a:custGeom>
          <a:solidFill>
            <a:srgbClr val="76C2E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7" name="Google Shape;187;gfcdc75d613_0_208"/>
          <p:cNvSpPr/>
          <p:nvPr/>
        </p:nvSpPr>
        <p:spPr>
          <a:xfrm>
            <a:off x="0" y="1295400"/>
            <a:ext cx="2362200" cy="45719"/>
          </a:xfrm>
          <a:custGeom>
            <a:avLst/>
            <a:gdLst/>
            <a:ahLst/>
            <a:cxnLst/>
            <a:rect l="l" t="t" r="r" b="b"/>
            <a:pathLst>
              <a:path w="2362200" h="45719" extrusionOk="0">
                <a:moveTo>
                  <a:pt x="2362200" y="0"/>
                </a:moveTo>
                <a:lnTo>
                  <a:pt x="0" y="0"/>
                </a:lnTo>
                <a:lnTo>
                  <a:pt x="0" y="45720"/>
                </a:lnTo>
                <a:lnTo>
                  <a:pt x="2362200" y="45720"/>
                </a:lnTo>
                <a:lnTo>
                  <a:pt x="2362200" y="0"/>
                </a:lnTo>
                <a:close/>
              </a:path>
            </a:pathLst>
          </a:custGeom>
          <a:solidFill>
            <a:srgbClr val="FBAF1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8" name="Google Shape;188;gfcdc75d613_0_208"/>
          <p:cNvSpPr/>
          <p:nvPr/>
        </p:nvSpPr>
        <p:spPr>
          <a:xfrm>
            <a:off x="4681728" y="1295400"/>
            <a:ext cx="2329179" cy="45719"/>
          </a:xfrm>
          <a:custGeom>
            <a:avLst/>
            <a:gdLst/>
            <a:ahLst/>
            <a:cxnLst/>
            <a:rect l="l" t="t" r="r" b="b"/>
            <a:pathLst>
              <a:path w="2329179" h="45719" extrusionOk="0">
                <a:moveTo>
                  <a:pt x="2328672" y="0"/>
                </a:moveTo>
                <a:lnTo>
                  <a:pt x="0" y="0"/>
                </a:lnTo>
                <a:lnTo>
                  <a:pt x="0" y="45720"/>
                </a:lnTo>
                <a:lnTo>
                  <a:pt x="2328672" y="45720"/>
                </a:lnTo>
                <a:lnTo>
                  <a:pt x="2328672"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9" name="Google Shape;189;gfcdc75d613_0_208"/>
          <p:cNvSpPr txBox="1">
            <a:spLocks noGrp="1"/>
          </p:cNvSpPr>
          <p:nvPr>
            <p:ph type="title"/>
          </p:nvPr>
        </p:nvSpPr>
        <p:spPr>
          <a:xfrm>
            <a:off x="2931667" y="3328238"/>
            <a:ext cx="3280800" cy="7575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0" name="Google Shape;190;gfcdc75d613_0_208"/>
          <p:cNvSpPr txBox="1">
            <a:spLocks noGrp="1"/>
          </p:cNvSpPr>
          <p:nvPr>
            <p:ph type="body" idx="1"/>
          </p:nvPr>
        </p:nvSpPr>
        <p:spPr>
          <a:xfrm>
            <a:off x="612140" y="2831719"/>
            <a:ext cx="8098200" cy="24327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91" name="Google Shape;191;gfcdc75d613_0_208"/>
          <p:cNvSpPr txBox="1">
            <a:spLocks noGrp="1"/>
          </p:cNvSpPr>
          <p:nvPr>
            <p:ph type="ftr" idx="11"/>
          </p:nvPr>
        </p:nvSpPr>
        <p:spPr>
          <a:xfrm>
            <a:off x="3108960" y="6377940"/>
            <a:ext cx="292620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2" name="Google Shape;192;gfcdc75d613_0_208"/>
          <p:cNvSpPr txBox="1">
            <a:spLocks noGrp="1"/>
          </p:cNvSpPr>
          <p:nvPr>
            <p:ph type="dt" idx="10"/>
          </p:nvPr>
        </p:nvSpPr>
        <p:spPr>
          <a:xfrm>
            <a:off x="457200" y="6377940"/>
            <a:ext cx="210300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gfcdc75d613_0_208"/>
          <p:cNvSpPr txBox="1">
            <a:spLocks noGrp="1"/>
          </p:cNvSpPr>
          <p:nvPr>
            <p:ph type="sldNum" idx="12"/>
          </p:nvPr>
        </p:nvSpPr>
        <p:spPr>
          <a:xfrm>
            <a:off x="7358633" y="6311671"/>
            <a:ext cx="1706100" cy="540900"/>
          </a:xfrm>
          <a:prstGeom prst="rect">
            <a:avLst/>
          </a:prstGeom>
          <a:noFill/>
          <a:ln>
            <a:noFill/>
          </a:ln>
        </p:spPr>
        <p:txBody>
          <a:bodyPr spcFirstLastPara="1" wrap="square" lIns="0" tIns="0" rIns="0" bIns="0" anchor="t" anchorCtr="0">
            <a:spAutoFit/>
          </a:bodyPr>
          <a:lstStyle>
            <a:lvl1pPr marL="0" marR="328930" lvl="0"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1pPr>
            <a:lvl2pPr marL="0" marR="328930" lvl="1"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2pPr>
            <a:lvl3pPr marL="0" marR="328930" lvl="2"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3pPr>
            <a:lvl4pPr marL="0" marR="328930" lvl="3"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4pPr>
            <a:lvl5pPr marL="0" marR="328930" lvl="4"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5pPr>
            <a:lvl6pPr marL="0" marR="328930" lvl="5"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6pPr>
            <a:lvl7pPr marL="0" marR="328930" lvl="6"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7pPr>
            <a:lvl8pPr marL="0" marR="328930" lvl="7"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8pPr>
            <a:lvl9pPr marL="0" marR="328930" lvl="8" indent="0" algn="r" rtl="0">
              <a:lnSpc>
                <a:spcPct val="100875"/>
              </a:lnSpc>
              <a:spcBef>
                <a:spcPts val="0"/>
              </a:spcBef>
              <a:spcAft>
                <a:spcPts val="0"/>
              </a:spcAft>
              <a:buClr>
                <a:srgbClr val="000000"/>
              </a:buClr>
              <a:buSzPts val="1600"/>
              <a:buFont typeface="Arial"/>
              <a:buNone/>
              <a:defRPr sz="16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a:p>
            <a:pPr marL="12700" marR="0" lvl="0" indent="0" algn="l" rtl="0">
              <a:lnSpc>
                <a:spcPct val="100000"/>
              </a:lnSpc>
              <a:spcBef>
                <a:spcPts val="960"/>
              </a:spcBef>
              <a:spcAft>
                <a:spcPts val="0"/>
              </a:spcAft>
              <a:buSzPts val="1100"/>
              <a:buNone/>
            </a:pPr>
            <a:r>
              <a:rPr lang="en-US" sz="1100">
                <a:solidFill>
                  <a:srgbClr val="0F1141"/>
                </a:solidFill>
              </a:rPr>
              <a:t>BITS </a:t>
            </a:r>
            <a:r>
              <a:rPr lang="en-US" sz="1100" b="0">
                <a:solidFill>
                  <a:srgbClr val="0F1141"/>
                </a:solidFill>
              </a:rPr>
              <a:t>Pilani, Pilani Campus</a:t>
            </a:r>
            <a:endParaRPr sz="1100"/>
          </a:p>
        </p:txBody>
      </p:sp>
    </p:spTree>
  </p:cSld>
  <p:clrMap bg1="lt1" tx1="dk1" bg2="dk2" tx2="lt2" accent1="accent1" accent2="accent2" accent3="accent3" accent4="accent4" accent5="accent5" accent6="accent6" hlink="hlink" folHlink="folHlink"/>
  <p:sldLayoutIdLst>
    <p:sldLayoutId id="2147483665"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71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customXml" Target="../ink/ink3.xml"/><Relationship Id="rId1" Type="http://schemas.openxmlformats.org/officeDocument/2006/relationships/slideLayout" Target="../slideLayouts/slideLayout11.xml"/><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customXml" Target="../ink/ink7.xml"/><Relationship Id="rId21" Type="http://schemas.openxmlformats.org/officeDocument/2006/relationships/image" Target="../media/image38.png"/><Relationship Id="rId17" Type="http://schemas.openxmlformats.org/officeDocument/2006/relationships/image" Target="../media/image36.png"/><Relationship Id="rId2" Type="http://schemas.openxmlformats.org/officeDocument/2006/relationships/customXml" Target="../ink/ink4.xml"/><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11.xml"/><Relationship Id="rId15" Type="http://schemas.openxmlformats.org/officeDocument/2006/relationships/image" Target="../media/image35.png"/><Relationship Id="rId19" Type="http://schemas.openxmlformats.org/officeDocument/2006/relationships/image" Target="../media/image37.png"/><Relationship Id="rId14" Type="http://schemas.openxmlformats.org/officeDocument/2006/relationships/customXml" Target="../ink/ink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gf843ffe8a2_2_429"/>
          <p:cNvSpPr txBox="1"/>
          <p:nvPr/>
        </p:nvSpPr>
        <p:spPr>
          <a:xfrm>
            <a:off x="92760" y="5281371"/>
            <a:ext cx="1870200" cy="716400"/>
          </a:xfrm>
          <a:prstGeom prst="rect">
            <a:avLst/>
          </a:prstGeom>
          <a:noFill/>
          <a:ln>
            <a:noFill/>
          </a:ln>
        </p:spPr>
        <p:txBody>
          <a:bodyPr spcFirstLastPara="1" wrap="square" lIns="0" tIns="12700" rIns="0" bIns="0" anchor="t" anchorCtr="0">
            <a:spAutoFit/>
          </a:bodyPr>
          <a:lstStyle/>
          <a:p>
            <a:pPr marL="12700" marR="0" lvl="0" indent="0" algn="l" rtl="0">
              <a:lnSpc>
                <a:spcPct val="116206"/>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 </a:t>
            </a:r>
            <a:r>
              <a:rPr lang="en-US" sz="2900" b="0" i="0" u="none" strike="noStrike" cap="none">
                <a:solidFill>
                  <a:srgbClr val="FFFFFF"/>
                </a:solidFill>
                <a:latin typeface="Arial"/>
                <a:ea typeface="Arial"/>
                <a:cs typeface="Arial"/>
                <a:sym typeface="Arial"/>
              </a:rPr>
              <a:t>Pilani</a:t>
            </a:r>
            <a:endParaRPr sz="2900" b="0" i="0" u="none" strike="noStrike" cap="none">
              <a:solidFill>
                <a:schemeClr val="dk1"/>
              </a:solidFill>
              <a:latin typeface="Arial"/>
              <a:ea typeface="Arial"/>
              <a:cs typeface="Arial"/>
              <a:sym typeface="Arial"/>
            </a:endParaRPr>
          </a:p>
          <a:p>
            <a:pPr marL="150495" marR="0" lvl="0" indent="0" algn="l" rtl="0">
              <a:lnSpc>
                <a:spcPct val="110833"/>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200" b="0" i="0" u="none" strike="noStrike" cap="none">
              <a:solidFill>
                <a:schemeClr val="dk1"/>
              </a:solidFill>
              <a:latin typeface="Arial"/>
              <a:ea typeface="Arial"/>
              <a:cs typeface="Arial"/>
              <a:sym typeface="Arial"/>
            </a:endParaRPr>
          </a:p>
        </p:txBody>
      </p:sp>
      <p:sp>
        <p:nvSpPr>
          <p:cNvPr id="571" name="Google Shape;571;gf843ffe8a2_2_429"/>
          <p:cNvSpPr txBox="1"/>
          <p:nvPr/>
        </p:nvSpPr>
        <p:spPr>
          <a:xfrm>
            <a:off x="2210936" y="4006037"/>
            <a:ext cx="7175111" cy="1046297"/>
          </a:xfrm>
          <a:prstGeom prst="rect">
            <a:avLst/>
          </a:prstGeom>
          <a:noFill/>
          <a:ln>
            <a:noFill/>
          </a:ln>
        </p:spPr>
        <p:txBody>
          <a:bodyPr spcFirstLastPara="1" wrap="square" lIns="0" tIns="12050" rIns="0" bIns="0" anchor="t" anchorCtr="0">
            <a:spAutoFit/>
          </a:bodyPr>
          <a:lstStyle/>
          <a:p>
            <a:pPr marL="12700">
              <a:lnSpc>
                <a:spcPct val="119545"/>
              </a:lnSpc>
              <a:buSzPts val="2200"/>
            </a:pPr>
            <a:r>
              <a:rPr lang="en-IN" sz="3600" spc="-1" dirty="0">
                <a:solidFill>
                  <a:srgbClr val="FFFFFF"/>
                </a:solidFill>
              </a:rPr>
              <a:t>Deep Neural Networks</a:t>
            </a:r>
            <a:endParaRPr lang="en-IN" sz="3600" spc="-1" dirty="0"/>
          </a:p>
          <a:p>
            <a:pPr marL="12700" marR="0" lvl="0" indent="0" algn="l" rtl="0">
              <a:lnSpc>
                <a:spcPct val="119545"/>
              </a:lnSpc>
              <a:spcBef>
                <a:spcPts val="0"/>
              </a:spcBef>
              <a:spcAft>
                <a:spcPts val="0"/>
              </a:spcAft>
              <a:buClr>
                <a:srgbClr val="000000"/>
              </a:buClr>
              <a:buSzPts val="2200"/>
              <a:buFont typeface="Arial"/>
              <a:buNone/>
            </a:pPr>
            <a:endParaRPr sz="2000" b="1" i="0" u="none" strike="noStrike" cap="none" dirty="0">
              <a:solidFill>
                <a:srgbClr val="FFC000"/>
              </a:solidFill>
              <a:latin typeface="Calibri" panose="020F0502020204030204" pitchFamily="34" charset="0"/>
              <a:ea typeface="Times New Roman"/>
              <a:cs typeface="Calibri" panose="020F0502020204030204" pitchFamily="34" charset="0"/>
              <a:sym typeface="Times New Roman"/>
            </a:endParaRPr>
          </a:p>
        </p:txBody>
      </p:sp>
      <p:sp>
        <p:nvSpPr>
          <p:cNvPr id="572" name="Google Shape;572;gf843ffe8a2_2_429"/>
          <p:cNvSpPr txBox="1"/>
          <p:nvPr/>
        </p:nvSpPr>
        <p:spPr>
          <a:xfrm>
            <a:off x="2426090" y="5153319"/>
            <a:ext cx="6244020" cy="290454"/>
          </a:xfrm>
          <a:prstGeom prst="rect">
            <a:avLst/>
          </a:prstGeom>
          <a:noFill/>
          <a:ln>
            <a:noFill/>
          </a:ln>
        </p:spPr>
        <p:txBody>
          <a:bodyPr spcFirstLastPara="1" wrap="square" lIns="0" tIns="13325" rIns="0" bIns="0" anchor="t" anchorCtr="0">
            <a:spAutoFit/>
          </a:bodyPr>
          <a:lstStyle/>
          <a:p>
            <a:pPr marL="12700">
              <a:buSzPts val="2000"/>
            </a:pPr>
            <a:r>
              <a:rPr lang="en-IN" sz="1800" spc="-1" dirty="0">
                <a:solidFill>
                  <a:srgbClr val="FFFFFF"/>
                </a:solidFill>
              </a:rPr>
              <a:t>Instructor in charge: S. Vishali</a:t>
            </a:r>
            <a:endParaRPr sz="1800" b="0" i="0" u="none" strike="noStrike" cap="none" dirty="0">
              <a:solidFill>
                <a:srgbClr val="FF9900"/>
              </a:solidFill>
              <a:latin typeface="+mn-lt"/>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9AEDC2E-0A2A-4B7A-BF95-0C9B95E007F6}"/>
                  </a:ext>
                </a:extLst>
              </p14:cNvPr>
              <p14:cNvContentPartPr/>
              <p14:nvPr/>
            </p14:nvContentPartPr>
            <p14:xfrm>
              <a:off x="10615320" y="1204012"/>
              <a:ext cx="46080" cy="15840"/>
            </p14:xfrm>
          </p:contentPart>
        </mc:Choice>
        <mc:Fallback xmlns="">
          <p:pic>
            <p:nvPicPr>
              <p:cNvPr id="2" name="Ink 1">
                <a:extLst>
                  <a:ext uri="{FF2B5EF4-FFF2-40B4-BE49-F238E27FC236}">
                    <a16:creationId xmlns:a16="http://schemas.microsoft.com/office/drawing/2014/main" id="{19AEDC2E-0A2A-4B7A-BF95-0C9B95E007F6}"/>
                  </a:ext>
                </a:extLst>
              </p:cNvPr>
              <p:cNvPicPr/>
              <p:nvPr/>
            </p:nvPicPr>
            <p:blipFill>
              <a:blip r:embed="rId4"/>
              <a:stretch>
                <a:fillRect/>
              </a:stretch>
            </p:blipFill>
            <p:spPr>
              <a:xfrm>
                <a:off x="10606680" y="1195012"/>
                <a:ext cx="637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0773883-073C-32A6-8CED-CF4FD4FCD108}"/>
                  </a:ext>
                </a:extLst>
              </p14:cNvPr>
              <p14:cNvContentPartPr/>
              <p14:nvPr/>
            </p14:nvContentPartPr>
            <p14:xfrm>
              <a:off x="10624680" y="1743652"/>
              <a:ext cx="29520" cy="12600"/>
            </p14:xfrm>
          </p:contentPart>
        </mc:Choice>
        <mc:Fallback xmlns="">
          <p:pic>
            <p:nvPicPr>
              <p:cNvPr id="3" name="Ink 2">
                <a:extLst>
                  <a:ext uri="{FF2B5EF4-FFF2-40B4-BE49-F238E27FC236}">
                    <a16:creationId xmlns:a16="http://schemas.microsoft.com/office/drawing/2014/main" id="{10773883-073C-32A6-8CED-CF4FD4FCD108}"/>
                  </a:ext>
                </a:extLst>
              </p:cNvPr>
              <p:cNvPicPr/>
              <p:nvPr/>
            </p:nvPicPr>
            <p:blipFill>
              <a:blip r:embed="rId6"/>
              <a:stretch>
                <a:fillRect/>
              </a:stretch>
            </p:blipFill>
            <p:spPr>
              <a:xfrm>
                <a:off x="10615680" y="1734652"/>
                <a:ext cx="47160" cy="30240"/>
              </a:xfrm>
              <a:prstGeom prst="rect">
                <a:avLst/>
              </a:prstGeom>
            </p:spPr>
          </p:pic>
        </mc:Fallback>
      </mc:AlternateContent>
    </p:spTree>
    <p:extLst>
      <p:ext uri="{BB962C8B-B14F-4D97-AF65-F5344CB8AC3E}">
        <p14:creationId xmlns:p14="http://schemas.microsoft.com/office/powerpoint/2010/main" val="2102179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
          <p:cNvSpPr txBox="1">
            <a:spLocks noGrp="1"/>
          </p:cNvSpPr>
          <p:nvPr>
            <p:ph type="title"/>
          </p:nvPr>
        </p:nvSpPr>
        <p:spPr>
          <a:xfrm>
            <a:off x="532199" y="1423390"/>
            <a:ext cx="4504032" cy="489888"/>
          </a:xfrm>
          <a:prstGeom prst="rect">
            <a:avLst/>
          </a:prstGeom>
          <a:noFill/>
          <a:ln>
            <a:noFill/>
          </a:ln>
        </p:spPr>
        <p:txBody>
          <a:bodyPr spcFirstLastPara="1" wrap="square" lIns="68569" tIns="34275" rIns="68569" bIns="34275" anchor="b" anchorCtr="0">
            <a:normAutofit/>
          </a:bodyPr>
          <a:lstStyle/>
          <a:p>
            <a:r>
              <a:rPr lang="en-US" b="1" dirty="0"/>
              <a:t>Time Series Forecasting</a:t>
            </a:r>
            <a:endParaRPr b="1" dirty="0"/>
          </a:p>
        </p:txBody>
      </p:sp>
      <p:sp>
        <p:nvSpPr>
          <p:cNvPr id="179" name="Google Shape;179;p2"/>
          <p:cNvSpPr txBox="1">
            <a:spLocks noGrp="1"/>
          </p:cNvSpPr>
          <p:nvPr>
            <p:ph type="body" idx="1"/>
          </p:nvPr>
        </p:nvSpPr>
        <p:spPr>
          <a:xfrm>
            <a:off x="436728" y="2019869"/>
            <a:ext cx="8078621" cy="4121624"/>
          </a:xfrm>
          <a:prstGeom prst="rect">
            <a:avLst/>
          </a:prstGeom>
          <a:noFill/>
          <a:ln>
            <a:noFill/>
          </a:ln>
        </p:spPr>
        <p:txBody>
          <a:bodyPr spcFirstLastPara="1" wrap="square" lIns="68569" tIns="34275" rIns="68569" bIns="34275" anchor="t" anchorCtr="0">
            <a:normAutofit/>
          </a:bodyPr>
          <a:lstStyle/>
          <a:p>
            <a:pPr marL="257175" indent="-142875">
              <a:spcBef>
                <a:spcPts val="0"/>
              </a:spcBef>
              <a:buNone/>
            </a:pPr>
            <a:r>
              <a:rPr lang="en-US" dirty="0">
                <a:latin typeface="+mn-lt"/>
              </a:rPr>
              <a:t>It involves predicting future values of a sequence based on its historical data. </a:t>
            </a:r>
          </a:p>
          <a:p>
            <a:pPr marL="257175" indent="-142875">
              <a:spcBef>
                <a:spcPts val="0"/>
              </a:spcBef>
              <a:buNone/>
            </a:pPr>
            <a:r>
              <a:rPr lang="en-US" b="0" i="0" dirty="0">
                <a:solidFill>
                  <a:srgbClr val="242424"/>
                </a:solidFill>
                <a:effectLst/>
                <a:latin typeface="+mn-lt"/>
              </a:rPr>
              <a:t>A statistical technique that analyzes sequential data to predict future events or trends. </a:t>
            </a:r>
            <a:r>
              <a:rPr lang="en-US" dirty="0">
                <a:latin typeface="+mn-lt"/>
              </a:rPr>
              <a:t>.</a:t>
            </a:r>
          </a:p>
          <a:p>
            <a:pPr marL="257175" indent="-142875">
              <a:spcBef>
                <a:spcPts val="0"/>
              </a:spcBef>
              <a:buNone/>
            </a:pPr>
            <a:r>
              <a:rPr lang="en-US" b="0" i="0" dirty="0">
                <a:solidFill>
                  <a:srgbClr val="242424"/>
                </a:solidFill>
                <a:effectLst/>
                <a:latin typeface="+mn-lt"/>
              </a:rPr>
              <a:t>This data is characterized by its chronological order, with each data point associated with a specific time interval.</a:t>
            </a:r>
          </a:p>
          <a:p>
            <a:pPr marL="257175" indent="-142875">
              <a:spcBef>
                <a:spcPts val="0"/>
              </a:spcBef>
              <a:buNone/>
            </a:pPr>
            <a:r>
              <a:rPr lang="en-US" b="0" i="0" dirty="0">
                <a:solidFill>
                  <a:srgbClr val="242424"/>
                </a:solidFill>
                <a:effectLst/>
                <a:latin typeface="+mn-lt"/>
              </a:rPr>
              <a:t>Its essence lies in understanding and leveraging the patterns found in historical data to foresee future occurrences.</a:t>
            </a:r>
            <a:endParaRPr lang="en-US" dirty="0">
              <a:latin typeface="+mn-lt"/>
            </a:endParaRPr>
          </a:p>
          <a:p>
            <a:pPr marL="257175" indent="-142875">
              <a:spcBef>
                <a:spcPts val="0"/>
              </a:spcBef>
              <a:buNone/>
            </a:pPr>
            <a:r>
              <a:rPr lang="en-US" dirty="0">
                <a:latin typeface="+mn-lt"/>
              </a:rPr>
              <a:t>It's used in various domains like finance, weather forecasting, sales prediction, </a:t>
            </a:r>
            <a:r>
              <a:rPr lang="en-IN" b="0" i="0" dirty="0">
                <a:solidFill>
                  <a:srgbClr val="242424"/>
                </a:solidFill>
                <a:effectLst/>
                <a:latin typeface="+mn-lt"/>
              </a:rPr>
              <a:t>meteorology, economics, healthcare </a:t>
            </a:r>
            <a:r>
              <a:rPr lang="en-US" dirty="0">
                <a:latin typeface="+mn-lt"/>
              </a:rPr>
              <a:t>and more.</a:t>
            </a:r>
          </a:p>
          <a:p>
            <a:pPr marL="257175" indent="-142875">
              <a:spcBef>
                <a:spcPts val="0"/>
              </a:spcBef>
              <a:buNone/>
            </a:pPr>
            <a:r>
              <a:rPr lang="en-US" b="0" i="0" dirty="0">
                <a:solidFill>
                  <a:srgbClr val="242424"/>
                </a:solidFill>
                <a:effectLst/>
                <a:latin typeface="+mn-lt"/>
              </a:rPr>
              <a:t>It </a:t>
            </a:r>
            <a:r>
              <a:rPr lang="en-US" dirty="0">
                <a:solidFill>
                  <a:srgbClr val="242424"/>
                </a:solidFill>
                <a:latin typeface="+mn-lt"/>
              </a:rPr>
              <a:t>i</a:t>
            </a:r>
            <a:r>
              <a:rPr lang="en-US" b="0" i="0" dirty="0">
                <a:solidFill>
                  <a:srgbClr val="242424"/>
                </a:solidFill>
                <a:effectLst/>
                <a:latin typeface="+mn-lt"/>
              </a:rPr>
              <a:t>s a linear extrapolation of past data. It involves identifying various underlying factors such as seasonality, trends, and cycles. </a:t>
            </a:r>
          </a:p>
          <a:p>
            <a:pPr marL="257175" indent="-142875">
              <a:spcBef>
                <a:spcPts val="0"/>
              </a:spcBef>
              <a:buNone/>
            </a:pPr>
            <a:endParaRPr lang="en-US" dirty="0">
              <a:latin typeface="+mn-lt"/>
            </a:endParaRPr>
          </a:p>
          <a:p>
            <a:pPr marL="257175" indent="-142875">
              <a:spcBef>
                <a:spcPts val="0"/>
              </a:spcBef>
              <a:buNone/>
            </a:pPr>
            <a:endParaRPr lang="en-US" dirty="0">
              <a:latin typeface="+mn-lt"/>
            </a:endParaRPr>
          </a:p>
          <a:p>
            <a:pPr marL="257175" indent="-142875">
              <a:spcBef>
                <a:spcPts val="0"/>
              </a:spcBef>
              <a:buNone/>
            </a:pPr>
            <a:endParaRPr lang="en-US" dirty="0">
              <a:latin typeface="+mn-lt"/>
            </a:endParaRPr>
          </a:p>
          <a:p>
            <a:pPr marL="257175" indent="-142875">
              <a:spcBef>
                <a:spcPts val="0"/>
              </a:spcBef>
              <a:buNone/>
            </a:pPr>
            <a:endParaRPr dirty="0">
              <a:latin typeface="+mn-lt"/>
            </a:endParaRPr>
          </a:p>
        </p:txBody>
      </p:sp>
      <p:sp>
        <p:nvSpPr>
          <p:cNvPr id="180" name="Google Shape;180;p2"/>
          <p:cNvSpPr txBox="1">
            <a:spLocks noGrp="1"/>
          </p:cNvSpPr>
          <p:nvPr>
            <p:ph type="sldNum" idx="12"/>
          </p:nvPr>
        </p:nvSpPr>
        <p:spPr>
          <a:xfrm>
            <a:off x="6457950" y="5624513"/>
            <a:ext cx="2057400" cy="273844"/>
          </a:xfrm>
          <a:prstGeom prst="rect">
            <a:avLst/>
          </a:prstGeom>
          <a:noFill/>
          <a:ln>
            <a:noFill/>
          </a:ln>
        </p:spPr>
        <p:txBody>
          <a:bodyPr spcFirstLastPara="1" wrap="square" lIns="68569" tIns="34275" rIns="68569" bIns="34275" anchor="ctr" anchorCtr="0">
            <a:noAutofit/>
          </a:bodyPr>
          <a:lstStyle/>
          <a:p>
            <a:fld id="{00000000-1234-1234-1234-123412341234}" type="slidenum">
              <a:rPr lang="en-US"/>
              <a:pPr/>
              <a:t>2</a:t>
            </a:fld>
            <a:endParaRPr/>
          </a:p>
        </p:txBody>
      </p:sp>
    </p:spTree>
    <p:extLst>
      <p:ext uri="{BB962C8B-B14F-4D97-AF65-F5344CB8AC3E}">
        <p14:creationId xmlns:p14="http://schemas.microsoft.com/office/powerpoint/2010/main" val="3858397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52E68A-F00E-3CA2-7614-5D1BB6FB4425}"/>
              </a:ext>
            </a:extLst>
          </p:cNvPr>
          <p:cNvSpPr>
            <a:spLocks noGrp="1"/>
          </p:cNvSpPr>
          <p:nvPr>
            <p:ph type="body" idx="1"/>
          </p:nvPr>
        </p:nvSpPr>
        <p:spPr>
          <a:xfrm>
            <a:off x="477078" y="1580322"/>
            <a:ext cx="8120270" cy="4790661"/>
          </a:xfrm>
        </p:spPr>
        <p:txBody>
          <a:bodyPr>
            <a:normAutofit fontScale="92500" lnSpcReduction="10000"/>
          </a:bodyPr>
          <a:lstStyle/>
          <a:p>
            <a:pPr marL="57150" indent="0">
              <a:buNone/>
            </a:pPr>
            <a:r>
              <a:rPr lang="en-IN" b="1" i="0" dirty="0">
                <a:solidFill>
                  <a:srgbClr val="242424"/>
                </a:solidFill>
                <a:effectLst/>
                <a:latin typeface="+mn-lt"/>
              </a:rPr>
              <a:t>Case Studies</a:t>
            </a:r>
          </a:p>
          <a:p>
            <a:pPr marL="57150" indent="0">
              <a:buNone/>
            </a:pPr>
            <a:r>
              <a:rPr lang="en-IN" b="1" i="0" dirty="0">
                <a:solidFill>
                  <a:srgbClr val="242424"/>
                </a:solidFill>
                <a:effectLst/>
                <a:latin typeface="+mn-lt"/>
              </a:rPr>
              <a:t>Stock Market Prediction:</a:t>
            </a:r>
            <a:r>
              <a:rPr lang="en-US" b="0" i="0" dirty="0">
                <a:solidFill>
                  <a:srgbClr val="242424"/>
                </a:solidFill>
                <a:effectLst/>
                <a:latin typeface="+mn-lt"/>
              </a:rPr>
              <a:t>By analyzing historical stock data, these models can identify patterns and trends that are not immediately apparent, enabling investors to make informed decisions.</a:t>
            </a:r>
          </a:p>
          <a:p>
            <a:pPr marL="57150" indent="0">
              <a:buNone/>
            </a:pPr>
            <a:r>
              <a:rPr lang="en-US" b="1" i="0" dirty="0">
                <a:solidFill>
                  <a:srgbClr val="242424"/>
                </a:solidFill>
                <a:effectLst/>
                <a:latin typeface="+mn-lt"/>
              </a:rPr>
              <a:t>Weather Forecasting: </a:t>
            </a:r>
            <a:r>
              <a:rPr lang="en-US" b="0" i="0" dirty="0">
                <a:solidFill>
                  <a:srgbClr val="242424"/>
                </a:solidFill>
                <a:effectLst/>
                <a:latin typeface="+mn-lt"/>
              </a:rPr>
              <a:t>In meteorology, deep learning models like CNNs and GRUs have been instrumental in forecasting weather conditions. These models analyze vast datasets, including historical temperature, humidity, and pressure readings, to predict future weather patterns with remarkable accuracy.</a:t>
            </a:r>
            <a:endParaRPr lang="en-US" dirty="0">
              <a:solidFill>
                <a:srgbClr val="242424"/>
              </a:solidFill>
              <a:latin typeface="+mn-lt"/>
            </a:endParaRPr>
          </a:p>
          <a:p>
            <a:pPr marL="57150" indent="0">
              <a:buNone/>
            </a:pPr>
            <a:r>
              <a:rPr lang="en-US" b="1" i="0" dirty="0">
                <a:solidFill>
                  <a:srgbClr val="242424"/>
                </a:solidFill>
                <a:effectLst/>
                <a:latin typeface="+mn-lt"/>
              </a:rPr>
              <a:t>Healthcare Monitoring:</a:t>
            </a:r>
            <a:r>
              <a:rPr lang="en-US" b="0" i="0" dirty="0">
                <a:solidFill>
                  <a:srgbClr val="242424"/>
                </a:solidFill>
                <a:effectLst/>
                <a:latin typeface="+mn-lt"/>
              </a:rPr>
              <a:t> The healthcare industry has also benefitted from deep learning in time series analysis, especially in patient monitoring and disease progression. For instance, LSTMs have been used to analyze continuous data streams from medical devices, helping in early detection of potential health issues.</a:t>
            </a:r>
          </a:p>
          <a:p>
            <a:pPr marL="57150" indent="0">
              <a:buNone/>
            </a:pPr>
            <a:r>
              <a:rPr lang="en-US" b="1" i="0" dirty="0">
                <a:solidFill>
                  <a:srgbClr val="242424"/>
                </a:solidFill>
                <a:effectLst/>
                <a:latin typeface="+mn-lt"/>
              </a:rPr>
              <a:t>Energy Demand Forecasting:</a:t>
            </a:r>
            <a:r>
              <a:rPr lang="en-US" b="0" i="0" dirty="0">
                <a:solidFill>
                  <a:srgbClr val="242424"/>
                </a:solidFill>
                <a:effectLst/>
                <a:latin typeface="+mn-lt"/>
              </a:rPr>
              <a:t> Deep learning models are increasingly being used in the energy sector to predict demand and consumption patterns. This not only helps in optimizing energy distribution but also aids in planning renewable energy usage.</a:t>
            </a:r>
            <a:endParaRPr lang="en-IN" dirty="0">
              <a:latin typeface="+mn-lt"/>
            </a:endParaRPr>
          </a:p>
        </p:txBody>
      </p:sp>
    </p:spTree>
    <p:extLst>
      <p:ext uri="{BB962C8B-B14F-4D97-AF65-F5344CB8AC3E}">
        <p14:creationId xmlns:p14="http://schemas.microsoft.com/office/powerpoint/2010/main" val="374914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D21BED-7402-3DAC-9DE7-F8A121E83010}"/>
              </a:ext>
            </a:extLst>
          </p:cNvPr>
          <p:cNvSpPr>
            <a:spLocks noGrp="1"/>
          </p:cNvSpPr>
          <p:nvPr>
            <p:ph type="body" idx="1"/>
          </p:nvPr>
        </p:nvSpPr>
        <p:spPr>
          <a:xfrm>
            <a:off x="347869" y="1590260"/>
            <a:ext cx="8418443" cy="4701209"/>
          </a:xfrm>
        </p:spPr>
        <p:txBody>
          <a:bodyPr>
            <a:normAutofit lnSpcReduction="10000"/>
          </a:bodyPr>
          <a:lstStyle/>
          <a:p>
            <a:pPr marL="57150" indent="0" algn="l">
              <a:buNone/>
            </a:pPr>
            <a:r>
              <a:rPr lang="en-US" b="1" i="0" dirty="0">
                <a:solidFill>
                  <a:srgbClr val="242424"/>
                </a:solidFill>
                <a:effectLst/>
                <a:latin typeface="+mn-lt"/>
              </a:rPr>
              <a:t>Challenges and Best Practices in Implementing Deep Learning for Time Series Data</a:t>
            </a:r>
          </a:p>
          <a:p>
            <a:pPr marL="57150" indent="0" algn="l">
              <a:buNone/>
            </a:pPr>
            <a:r>
              <a:rPr lang="en-US" b="0" i="0" dirty="0">
                <a:solidFill>
                  <a:srgbClr val="242424"/>
                </a:solidFill>
                <a:effectLst/>
                <a:latin typeface="+mn-lt"/>
              </a:rPr>
              <a:t>Implementing deep learning techniques for time series forecasting can be challenging, but understanding these challenges and adhering to best practices can lead to successful outcomes.</a:t>
            </a:r>
          </a:p>
          <a:p>
            <a:pPr marL="57150" indent="0" algn="l">
              <a:buNone/>
            </a:pPr>
            <a:r>
              <a:rPr lang="en-US" b="1" i="0" dirty="0">
                <a:solidFill>
                  <a:srgbClr val="242424"/>
                </a:solidFill>
                <a:effectLst/>
                <a:latin typeface="+mn-lt"/>
              </a:rPr>
              <a:t>Data Preprocessing:</a:t>
            </a:r>
            <a:r>
              <a:rPr lang="en-US" b="0" i="0" dirty="0">
                <a:solidFill>
                  <a:srgbClr val="242424"/>
                </a:solidFill>
                <a:effectLst/>
                <a:latin typeface="+mn-lt"/>
              </a:rPr>
              <a:t> Time series data often requires extensive preprocessing, including dealing with missing values, noise reduction, and normalization. Effective preprocessing is crucial for the model to learn meaningful patterns.</a:t>
            </a:r>
          </a:p>
          <a:p>
            <a:pPr marL="57150" indent="0" algn="l">
              <a:buNone/>
            </a:pPr>
            <a:r>
              <a:rPr lang="en-US" b="1" i="0" dirty="0">
                <a:solidFill>
                  <a:srgbClr val="242424"/>
                </a:solidFill>
                <a:effectLst/>
                <a:latin typeface="+mn-lt"/>
              </a:rPr>
              <a:t>Model Complexity:</a:t>
            </a:r>
            <a:r>
              <a:rPr lang="en-US" b="0" i="0" dirty="0">
                <a:solidFill>
                  <a:srgbClr val="242424"/>
                </a:solidFill>
                <a:effectLst/>
                <a:latin typeface="+mn-lt"/>
              </a:rPr>
              <a:t> Choosing the right model architecture and tuning its parameters can be daunting. It’s important to strike a balance between model complexity and computational efficiency. Simpler models like GRUs might be more suitable for certain tasks, whereas complex models like LSTMs might be necessary for others.</a:t>
            </a:r>
          </a:p>
          <a:p>
            <a:pPr marL="57150" indent="0" algn="l">
              <a:buNone/>
            </a:pPr>
            <a:r>
              <a:rPr lang="en-US" b="1" i="0" dirty="0">
                <a:solidFill>
                  <a:srgbClr val="242424"/>
                </a:solidFill>
                <a:effectLst/>
                <a:latin typeface="+mn-lt"/>
              </a:rPr>
              <a:t>Overfitting:</a:t>
            </a:r>
            <a:r>
              <a:rPr lang="en-US" b="0" i="0" dirty="0">
                <a:solidFill>
                  <a:srgbClr val="242424"/>
                </a:solidFill>
                <a:effectLst/>
                <a:latin typeface="+mn-lt"/>
              </a:rPr>
              <a:t> Deep learning models are prone to overfitting, especially when dealing with large datasets. Regularization techniques, such as dropout and early stopping, can help mitigate this issue.</a:t>
            </a:r>
          </a:p>
          <a:p>
            <a:pPr marL="57150" indent="0">
              <a:buNone/>
            </a:pPr>
            <a:endParaRPr lang="en-IN" dirty="0">
              <a:latin typeface="+mn-lt"/>
            </a:endParaRPr>
          </a:p>
        </p:txBody>
      </p:sp>
    </p:spTree>
    <p:extLst>
      <p:ext uri="{BB962C8B-B14F-4D97-AF65-F5344CB8AC3E}">
        <p14:creationId xmlns:p14="http://schemas.microsoft.com/office/powerpoint/2010/main" val="3720907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63BE8A-6D94-439F-916B-C332EB0D9D74}"/>
              </a:ext>
            </a:extLst>
          </p:cNvPr>
          <p:cNvSpPr>
            <a:spLocks noGrp="1"/>
          </p:cNvSpPr>
          <p:nvPr>
            <p:ph type="body" idx="1"/>
          </p:nvPr>
        </p:nvSpPr>
        <p:spPr>
          <a:xfrm>
            <a:off x="367747" y="1630016"/>
            <a:ext cx="8358809" cy="4661453"/>
          </a:xfrm>
        </p:spPr>
        <p:txBody>
          <a:bodyPr/>
          <a:lstStyle/>
          <a:p>
            <a:pPr marL="57150" indent="0" algn="l">
              <a:buNone/>
            </a:pPr>
            <a:r>
              <a:rPr lang="en-US" b="1" i="0" dirty="0">
                <a:solidFill>
                  <a:srgbClr val="242424"/>
                </a:solidFill>
                <a:effectLst/>
                <a:latin typeface="+mn-lt"/>
              </a:rPr>
              <a:t>Best Practices:</a:t>
            </a:r>
          </a:p>
          <a:p>
            <a:pPr marL="57150" indent="0" algn="l">
              <a:buNone/>
            </a:pPr>
            <a:r>
              <a:rPr lang="en-US" b="1" i="0" dirty="0">
                <a:solidFill>
                  <a:srgbClr val="242424"/>
                </a:solidFill>
                <a:effectLst/>
                <a:latin typeface="+mn-lt"/>
              </a:rPr>
              <a:t>Start with Simple Models:</a:t>
            </a:r>
            <a:r>
              <a:rPr lang="en-US" b="0" i="0" dirty="0">
                <a:solidFill>
                  <a:srgbClr val="242424"/>
                </a:solidFill>
                <a:effectLst/>
                <a:latin typeface="+mn-lt"/>
              </a:rPr>
              <a:t> Begin with simpler models and gradually move to more complex ones as needed. This approach helps in understanding the data and the problem better.</a:t>
            </a:r>
          </a:p>
          <a:p>
            <a:pPr marL="57150" indent="0" algn="l">
              <a:buNone/>
            </a:pPr>
            <a:r>
              <a:rPr lang="en-US" b="1" i="0" dirty="0">
                <a:solidFill>
                  <a:srgbClr val="242424"/>
                </a:solidFill>
                <a:effectLst/>
                <a:latin typeface="+mn-lt"/>
              </a:rPr>
              <a:t>Hyperparameter Tuning:</a:t>
            </a:r>
            <a:r>
              <a:rPr lang="en-US" b="0" i="0" dirty="0">
                <a:solidFill>
                  <a:srgbClr val="242424"/>
                </a:solidFill>
                <a:effectLst/>
                <a:latin typeface="+mn-lt"/>
              </a:rPr>
              <a:t> Experiment with different hyperparameters to find the optimal configuration for your model.</a:t>
            </a:r>
          </a:p>
          <a:p>
            <a:pPr marL="57150" indent="0" algn="l">
              <a:buNone/>
            </a:pPr>
            <a:r>
              <a:rPr lang="en-US" b="1" i="0" dirty="0">
                <a:solidFill>
                  <a:srgbClr val="242424"/>
                </a:solidFill>
                <a:effectLst/>
                <a:latin typeface="+mn-lt"/>
              </a:rPr>
              <a:t>Cross-Validation:</a:t>
            </a:r>
            <a:r>
              <a:rPr lang="en-US" b="0" i="0" dirty="0">
                <a:solidFill>
                  <a:srgbClr val="242424"/>
                </a:solidFill>
                <a:effectLst/>
                <a:latin typeface="+mn-lt"/>
              </a:rPr>
              <a:t> Use techniques like time series cross-validation to evaluate the model’s performance reliably.</a:t>
            </a:r>
          </a:p>
          <a:p>
            <a:pPr marL="57150" indent="0" algn="l">
              <a:buNone/>
            </a:pPr>
            <a:r>
              <a:rPr lang="en-US" b="1" i="0" dirty="0">
                <a:solidFill>
                  <a:srgbClr val="242424"/>
                </a:solidFill>
                <a:effectLst/>
                <a:latin typeface="+mn-lt"/>
              </a:rPr>
              <a:t>Continuous Monitoring:</a:t>
            </a:r>
            <a:r>
              <a:rPr lang="en-US" b="0" i="0" dirty="0">
                <a:solidFill>
                  <a:srgbClr val="242424"/>
                </a:solidFill>
                <a:effectLst/>
                <a:latin typeface="+mn-lt"/>
              </a:rPr>
              <a:t> Once deployed, continuously monitor the model’s performance and update it as necessary to adapt to new data.</a:t>
            </a:r>
          </a:p>
          <a:p>
            <a:pPr marL="57150" indent="0">
              <a:buNone/>
            </a:pPr>
            <a:endParaRPr lang="en-IN" dirty="0">
              <a:latin typeface="+mn-lt"/>
            </a:endParaRPr>
          </a:p>
        </p:txBody>
      </p:sp>
    </p:spTree>
    <p:extLst>
      <p:ext uri="{BB962C8B-B14F-4D97-AF65-F5344CB8AC3E}">
        <p14:creationId xmlns:p14="http://schemas.microsoft.com/office/powerpoint/2010/main" val="897003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CE6ECFA-4131-1419-1F55-989A922FAA82}"/>
              </a:ext>
            </a:extLst>
          </p:cNvPr>
          <p:cNvSpPr>
            <a:spLocks noGrp="1"/>
          </p:cNvSpPr>
          <p:nvPr>
            <p:ph type="body" idx="1"/>
          </p:nvPr>
        </p:nvSpPr>
        <p:spPr>
          <a:xfrm>
            <a:off x="457201" y="1685924"/>
            <a:ext cx="8201024" cy="4557713"/>
          </a:xfrm>
        </p:spPr>
        <p:txBody>
          <a:bodyPr>
            <a:normAutofit/>
          </a:bodyPr>
          <a:lstStyle/>
          <a:p>
            <a:pPr marL="257175" indent="-142875">
              <a:spcBef>
                <a:spcPts val="0"/>
              </a:spcBef>
              <a:buNone/>
            </a:pPr>
            <a:r>
              <a:rPr lang="en-US" b="1" dirty="0">
                <a:latin typeface="+mn-lt"/>
              </a:rPr>
              <a:t>Key methods and approaches for time series forecasting</a:t>
            </a:r>
          </a:p>
          <a:p>
            <a:pPr marL="57150" indent="0">
              <a:buNone/>
            </a:pPr>
            <a:r>
              <a:rPr lang="en-US" b="1" dirty="0">
                <a:latin typeface="+mn-lt"/>
              </a:rPr>
              <a:t>Classical Methods</a:t>
            </a:r>
          </a:p>
          <a:p>
            <a:pPr>
              <a:buFont typeface="Arial" panose="020B0604020202020204" pitchFamily="34" charset="0"/>
              <a:buChar char="•"/>
            </a:pPr>
            <a:r>
              <a:rPr lang="en-US" b="1" dirty="0">
                <a:solidFill>
                  <a:schemeClr val="tx1"/>
                </a:solidFill>
                <a:latin typeface="+mn-lt"/>
              </a:rPr>
              <a:t>Autoregressive Integrated Moving Average (ARIMA):</a:t>
            </a:r>
            <a:endParaRPr lang="en-US" dirty="0">
              <a:solidFill>
                <a:schemeClr val="tx1"/>
              </a:solidFill>
              <a:latin typeface="+mn-lt"/>
            </a:endParaRPr>
          </a:p>
          <a:p>
            <a:pPr marL="742950" lvl="1" indent="-285750">
              <a:buFont typeface="Arial" panose="020B0604020202020204" pitchFamily="34" charset="0"/>
              <a:buChar char="•"/>
            </a:pPr>
            <a:r>
              <a:rPr lang="en-US" sz="1800" b="1" dirty="0">
                <a:solidFill>
                  <a:schemeClr val="tx1"/>
                </a:solidFill>
                <a:latin typeface="+mn-lt"/>
              </a:rPr>
              <a:t>AR (Autoregressive):</a:t>
            </a:r>
            <a:r>
              <a:rPr lang="en-US" sz="1800" dirty="0">
                <a:solidFill>
                  <a:schemeClr val="tx1"/>
                </a:solidFill>
                <a:latin typeface="+mn-lt"/>
              </a:rPr>
              <a:t> Uses past values of the series.</a:t>
            </a:r>
          </a:p>
          <a:p>
            <a:pPr marL="742950" lvl="1" indent="-285750">
              <a:buFont typeface="Arial" panose="020B0604020202020204" pitchFamily="34" charset="0"/>
              <a:buChar char="•"/>
            </a:pPr>
            <a:endParaRPr lang="en-US" sz="1800" b="1" dirty="0">
              <a:solidFill>
                <a:schemeClr val="tx1"/>
              </a:solidFill>
              <a:latin typeface="+mn-lt"/>
            </a:endParaRPr>
          </a:p>
          <a:p>
            <a:pPr marL="742950" lvl="1" indent="-285750">
              <a:buFont typeface="Arial" panose="020B0604020202020204" pitchFamily="34" charset="0"/>
              <a:buChar char="•"/>
            </a:pPr>
            <a:r>
              <a:rPr lang="en-US" sz="1800" b="1" dirty="0">
                <a:solidFill>
                  <a:schemeClr val="tx1"/>
                </a:solidFill>
                <a:latin typeface="+mn-lt"/>
              </a:rPr>
              <a:t>I (Integrated):</a:t>
            </a:r>
            <a:r>
              <a:rPr lang="en-US" sz="1800" dirty="0">
                <a:solidFill>
                  <a:schemeClr val="tx1"/>
                </a:solidFill>
                <a:latin typeface="+mn-lt"/>
              </a:rPr>
              <a:t> Differencing the data to make it stationary.</a:t>
            </a:r>
          </a:p>
          <a:p>
            <a:pPr marL="742950" lvl="1" indent="-285750">
              <a:buFont typeface="Arial" panose="020B0604020202020204" pitchFamily="34" charset="0"/>
              <a:buChar char="•"/>
            </a:pPr>
            <a:endParaRPr lang="en-US" sz="1800" b="1" dirty="0">
              <a:solidFill>
                <a:schemeClr val="tx1"/>
              </a:solidFill>
              <a:latin typeface="+mn-lt"/>
            </a:endParaRPr>
          </a:p>
          <a:p>
            <a:pPr marL="742950" lvl="1" indent="-285750">
              <a:buFont typeface="Arial" panose="020B0604020202020204" pitchFamily="34" charset="0"/>
              <a:buChar char="•"/>
            </a:pPr>
            <a:r>
              <a:rPr lang="en-US" sz="1800" b="1" dirty="0">
                <a:solidFill>
                  <a:schemeClr val="tx1"/>
                </a:solidFill>
                <a:latin typeface="+mn-lt"/>
              </a:rPr>
              <a:t>MA (Moving Average):</a:t>
            </a:r>
            <a:r>
              <a:rPr lang="en-US" sz="1800" dirty="0">
                <a:solidFill>
                  <a:schemeClr val="tx1"/>
                </a:solidFill>
                <a:latin typeface="+mn-lt"/>
              </a:rPr>
              <a:t> Uses past forecast errors.</a:t>
            </a:r>
          </a:p>
          <a:p>
            <a:pPr marL="742950" lvl="1" indent="-285750">
              <a:buFont typeface="Arial" panose="020B0604020202020204" pitchFamily="34" charset="0"/>
              <a:buChar char="•"/>
            </a:pPr>
            <a:endParaRPr lang="en-US" sz="1800" dirty="0">
              <a:solidFill>
                <a:schemeClr val="tx1"/>
              </a:solidFill>
              <a:latin typeface="+mn-lt"/>
            </a:endParaRPr>
          </a:p>
          <a:p>
            <a:pPr marL="742950" lvl="1" indent="-285750">
              <a:buFont typeface="Arial" panose="020B0604020202020204" pitchFamily="34" charset="0"/>
              <a:buChar char="•"/>
            </a:pPr>
            <a:r>
              <a:rPr lang="en-US" sz="1800" dirty="0">
                <a:solidFill>
                  <a:schemeClr val="tx1"/>
                </a:solidFill>
                <a:latin typeface="+mn-lt"/>
              </a:rPr>
              <a:t>ARIMA is widely used for univariate time series and is effective when the series is linear and exhibits no seasonality</a:t>
            </a:r>
            <a:r>
              <a:rPr lang="en-US" sz="1800" dirty="0">
                <a:latin typeface="+mn-lt"/>
              </a:rPr>
              <a:t>.</a:t>
            </a:r>
          </a:p>
          <a:p>
            <a:pPr marL="457200" lvl="1" indent="0"/>
            <a:r>
              <a:rPr lang="en-US" sz="1800" b="1" dirty="0">
                <a:solidFill>
                  <a:schemeClr val="tx1"/>
                </a:solidFill>
                <a:latin typeface="+mn-lt"/>
              </a:rPr>
              <a:t>Seasonal ARIMA (SARIMA):</a:t>
            </a:r>
            <a:r>
              <a:rPr lang="en-US" sz="1800" dirty="0">
                <a:solidFill>
                  <a:schemeClr val="tx1"/>
                </a:solidFill>
                <a:latin typeface="+mn-lt"/>
              </a:rPr>
              <a:t> Extends ARIMA to handle seasonality by including seasonal terms in the model</a:t>
            </a:r>
            <a:r>
              <a:rPr lang="en-US" sz="1800" dirty="0">
                <a:latin typeface="+mn-lt"/>
              </a:rPr>
              <a:t>.</a:t>
            </a:r>
          </a:p>
          <a:p>
            <a:pPr marL="57150" indent="0">
              <a:buNone/>
            </a:pPr>
            <a:endParaRPr lang="en-IN" dirty="0">
              <a:latin typeface="+mn-lt"/>
            </a:endParaRPr>
          </a:p>
        </p:txBody>
      </p:sp>
    </p:spTree>
    <p:extLst>
      <p:ext uri="{BB962C8B-B14F-4D97-AF65-F5344CB8AC3E}">
        <p14:creationId xmlns:p14="http://schemas.microsoft.com/office/powerpoint/2010/main" val="3719632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9" name="Google Shape;179;p2"/>
          <p:cNvSpPr txBox="1">
            <a:spLocks noGrp="1"/>
          </p:cNvSpPr>
          <p:nvPr>
            <p:ph type="body" idx="1"/>
          </p:nvPr>
        </p:nvSpPr>
        <p:spPr>
          <a:xfrm>
            <a:off x="477672" y="1596788"/>
            <a:ext cx="8229599" cy="4626591"/>
          </a:xfrm>
          <a:prstGeom prst="rect">
            <a:avLst/>
          </a:prstGeom>
          <a:noFill/>
          <a:ln>
            <a:noFill/>
          </a:ln>
        </p:spPr>
        <p:txBody>
          <a:bodyPr spcFirstLastPara="1" wrap="square" lIns="68569" tIns="34275" rIns="68569" bIns="34275" anchor="t" anchorCtr="0">
            <a:normAutofit/>
          </a:bodyPr>
          <a:lstStyle/>
          <a:p>
            <a:pPr marL="257175" indent="-142875">
              <a:spcBef>
                <a:spcPts val="0"/>
              </a:spcBef>
              <a:buNone/>
            </a:pPr>
            <a:r>
              <a:rPr lang="en-US" b="1" dirty="0">
                <a:latin typeface="+mn-lt"/>
              </a:rPr>
              <a:t>Exponential Smoothing (ETS):</a:t>
            </a:r>
            <a:r>
              <a:rPr lang="en-US" dirty="0">
                <a:latin typeface="+mn-lt"/>
              </a:rPr>
              <a:t> Uses weighted averages of past observations, giving more weight to recent observations. Variants include:</a:t>
            </a:r>
          </a:p>
          <a:p>
            <a:pPr marL="257175" indent="-142875">
              <a:spcBef>
                <a:spcPts val="0"/>
              </a:spcBef>
              <a:buNone/>
            </a:pPr>
            <a:endParaRPr lang="en-US" b="1" dirty="0">
              <a:latin typeface="+mn-lt"/>
            </a:endParaRPr>
          </a:p>
          <a:p>
            <a:pPr marL="257175" indent="-142875">
              <a:spcBef>
                <a:spcPts val="0"/>
              </a:spcBef>
              <a:buNone/>
            </a:pPr>
            <a:r>
              <a:rPr lang="en-US" b="1" dirty="0">
                <a:latin typeface="+mn-lt"/>
              </a:rPr>
              <a:t>Simple Exponential Smoothing (SES): </a:t>
            </a:r>
            <a:r>
              <a:rPr lang="en-US" dirty="0">
                <a:latin typeface="+mn-lt"/>
              </a:rPr>
              <a:t>For data with no trend or seasonality.</a:t>
            </a:r>
          </a:p>
          <a:p>
            <a:pPr marL="257175" indent="-142875">
              <a:spcBef>
                <a:spcPts val="0"/>
              </a:spcBef>
              <a:buNone/>
            </a:pPr>
            <a:endParaRPr lang="en-US" b="1" dirty="0">
              <a:latin typeface="+mn-lt"/>
            </a:endParaRPr>
          </a:p>
          <a:p>
            <a:pPr marL="257175" indent="-142875">
              <a:spcBef>
                <a:spcPts val="0"/>
              </a:spcBef>
              <a:buNone/>
            </a:pPr>
            <a:r>
              <a:rPr lang="en-US" b="1" dirty="0">
                <a:latin typeface="+mn-lt"/>
              </a:rPr>
              <a:t>Holt’s Linear Trend Model:</a:t>
            </a:r>
            <a:r>
              <a:rPr lang="en-US" dirty="0">
                <a:latin typeface="+mn-lt"/>
              </a:rPr>
              <a:t> For data with a trend but no seasonality.</a:t>
            </a:r>
          </a:p>
          <a:p>
            <a:pPr marL="257175" indent="-142875">
              <a:spcBef>
                <a:spcPts val="0"/>
              </a:spcBef>
              <a:buNone/>
            </a:pPr>
            <a:endParaRPr lang="en-US" b="1" dirty="0">
              <a:latin typeface="+mn-lt"/>
            </a:endParaRPr>
          </a:p>
          <a:p>
            <a:pPr marL="257175" indent="-142875">
              <a:spcBef>
                <a:spcPts val="0"/>
              </a:spcBef>
              <a:buNone/>
            </a:pPr>
            <a:r>
              <a:rPr lang="en-US" b="1" dirty="0">
                <a:latin typeface="+mn-lt"/>
              </a:rPr>
              <a:t>Holt-Winters Seasonal Model: </a:t>
            </a:r>
            <a:r>
              <a:rPr lang="en-US" dirty="0">
                <a:latin typeface="+mn-lt"/>
              </a:rPr>
              <a:t>For data with both trend and seasonality.</a:t>
            </a:r>
          </a:p>
          <a:p>
            <a:pPr marL="257175" indent="-142875">
              <a:spcBef>
                <a:spcPts val="0"/>
              </a:spcBef>
              <a:buNone/>
            </a:pPr>
            <a:endParaRPr lang="en-US" b="1" dirty="0">
              <a:latin typeface="+mn-lt"/>
            </a:endParaRPr>
          </a:p>
          <a:p>
            <a:pPr marL="257175" indent="-142875">
              <a:spcBef>
                <a:spcPts val="0"/>
              </a:spcBef>
              <a:buNone/>
            </a:pPr>
            <a:r>
              <a:rPr lang="en-US" b="1" dirty="0">
                <a:latin typeface="+mn-lt"/>
              </a:rPr>
              <a:t>Vector Autoregression (VAR): </a:t>
            </a:r>
            <a:r>
              <a:rPr lang="en-US" dirty="0">
                <a:latin typeface="+mn-lt"/>
              </a:rPr>
              <a:t>A multivariate model that captures the relationships between multiple time series. It’s an extension of ARIMA for multiple variables.</a:t>
            </a:r>
          </a:p>
          <a:p>
            <a:pPr marL="257175" indent="-142875">
              <a:spcBef>
                <a:spcPts val="0"/>
              </a:spcBef>
              <a:buNone/>
            </a:pPr>
            <a:endParaRPr dirty="0">
              <a:latin typeface="+mn-lt"/>
            </a:endParaRPr>
          </a:p>
        </p:txBody>
      </p:sp>
      <p:sp>
        <p:nvSpPr>
          <p:cNvPr id="180" name="Google Shape;180;p2"/>
          <p:cNvSpPr txBox="1">
            <a:spLocks noGrp="1"/>
          </p:cNvSpPr>
          <p:nvPr>
            <p:ph type="sldNum" idx="12"/>
          </p:nvPr>
        </p:nvSpPr>
        <p:spPr>
          <a:xfrm>
            <a:off x="6457950" y="5624513"/>
            <a:ext cx="2057400" cy="273844"/>
          </a:xfrm>
          <a:prstGeom prst="rect">
            <a:avLst/>
          </a:prstGeom>
          <a:noFill/>
          <a:ln>
            <a:noFill/>
          </a:ln>
        </p:spPr>
        <p:txBody>
          <a:bodyPr spcFirstLastPara="1" wrap="square" lIns="68569" tIns="34275" rIns="68569" bIns="34275" anchor="ctr" anchorCtr="0">
            <a:noAutofit/>
          </a:bodyPr>
          <a:lstStyle/>
          <a:p>
            <a:fld id="{00000000-1234-1234-1234-123412341234}" type="slidenum">
              <a:rPr lang="en-US">
                <a:latin typeface="+mn-lt"/>
              </a:rPr>
              <a:pPr/>
              <a:t>7</a:t>
            </a:fld>
            <a:endParaRPr>
              <a:latin typeface="+mn-lt"/>
            </a:endParaRPr>
          </a:p>
        </p:txBody>
      </p:sp>
    </p:spTree>
    <p:extLst>
      <p:ext uri="{BB962C8B-B14F-4D97-AF65-F5344CB8AC3E}">
        <p14:creationId xmlns:p14="http://schemas.microsoft.com/office/powerpoint/2010/main" val="50610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57186E-B0C6-2D97-E383-E6BEBE8A3FCD}"/>
              </a:ext>
            </a:extLst>
          </p:cNvPr>
          <p:cNvSpPr>
            <a:spLocks noGrp="1"/>
          </p:cNvSpPr>
          <p:nvPr>
            <p:ph type="body" idx="1"/>
          </p:nvPr>
        </p:nvSpPr>
        <p:spPr>
          <a:xfrm>
            <a:off x="464023" y="1719618"/>
            <a:ext cx="8161361" cy="4421875"/>
          </a:xfrm>
        </p:spPr>
        <p:txBody>
          <a:bodyPr/>
          <a:lstStyle/>
          <a:p>
            <a:pPr marL="57150" indent="0">
              <a:buNone/>
            </a:pPr>
            <a:r>
              <a:rPr lang="en-US" b="1" dirty="0">
                <a:latin typeface="+mn-lt"/>
              </a:rPr>
              <a:t>Machine Learning Approaches</a:t>
            </a:r>
          </a:p>
          <a:p>
            <a:pPr>
              <a:buFont typeface="Arial" panose="020B0604020202020204" pitchFamily="34" charset="0"/>
              <a:buChar char="•"/>
            </a:pPr>
            <a:r>
              <a:rPr lang="en-US" b="1" dirty="0">
                <a:latin typeface="+mn-lt"/>
              </a:rPr>
              <a:t>Regression Models:</a:t>
            </a:r>
            <a:endParaRPr lang="en-US" dirty="0">
              <a:latin typeface="+mn-lt"/>
            </a:endParaRPr>
          </a:p>
          <a:p>
            <a:pPr marL="742950" lvl="1" indent="-285750">
              <a:buFont typeface="Arial" panose="020B0604020202020204" pitchFamily="34" charset="0"/>
              <a:buChar char="•"/>
            </a:pPr>
            <a:r>
              <a:rPr lang="en-US" b="1" dirty="0">
                <a:solidFill>
                  <a:schemeClr val="tx1"/>
                </a:solidFill>
                <a:latin typeface="+mn-lt"/>
              </a:rPr>
              <a:t>Linear Regression:</a:t>
            </a:r>
            <a:r>
              <a:rPr lang="en-US" dirty="0">
                <a:solidFill>
                  <a:schemeClr val="tx1"/>
                </a:solidFill>
                <a:latin typeface="+mn-lt"/>
              </a:rPr>
              <a:t> Can be used with lag features (past values) as inputs for predicting future values.</a:t>
            </a:r>
          </a:p>
          <a:p>
            <a:pPr marL="742950" lvl="1" indent="-285750">
              <a:buFont typeface="Arial" panose="020B0604020202020204" pitchFamily="34" charset="0"/>
              <a:buChar char="•"/>
            </a:pPr>
            <a:r>
              <a:rPr lang="en-US" b="1" dirty="0">
                <a:solidFill>
                  <a:schemeClr val="tx1"/>
                </a:solidFill>
                <a:latin typeface="+mn-lt"/>
              </a:rPr>
              <a:t>Decision Trees and Random Forests:</a:t>
            </a:r>
            <a:r>
              <a:rPr lang="en-US" dirty="0">
                <a:solidFill>
                  <a:schemeClr val="tx1"/>
                </a:solidFill>
                <a:latin typeface="+mn-lt"/>
              </a:rPr>
              <a:t> Can capture non-linear relationships in time series data.</a:t>
            </a:r>
          </a:p>
          <a:p>
            <a:pPr marL="57150" indent="0">
              <a:buNone/>
            </a:pPr>
            <a:r>
              <a:rPr lang="en-US" b="1" dirty="0">
                <a:latin typeface="+mn-lt"/>
              </a:rPr>
              <a:t>Support Vector Machines (SVM): </a:t>
            </a:r>
            <a:r>
              <a:rPr lang="en-US" dirty="0">
                <a:latin typeface="+mn-lt"/>
              </a:rPr>
              <a:t>Applied to time series with appropriate feature engineering.</a:t>
            </a:r>
          </a:p>
          <a:p>
            <a:pPr marL="57150" indent="0">
              <a:buNone/>
            </a:pPr>
            <a:r>
              <a:rPr lang="en-US" b="1" dirty="0">
                <a:latin typeface="+mn-lt"/>
              </a:rPr>
              <a:t>k-Nearest Neighbors (k-NN): </a:t>
            </a:r>
            <a:r>
              <a:rPr lang="en-US" dirty="0">
                <a:latin typeface="+mn-lt"/>
              </a:rPr>
              <a:t>Used for time series prediction by finding similar patterns in historical data.</a:t>
            </a:r>
          </a:p>
          <a:p>
            <a:pPr marL="57150" indent="0">
              <a:buNone/>
            </a:pPr>
            <a:r>
              <a:rPr lang="en-US" b="1" dirty="0">
                <a:latin typeface="+mn-lt"/>
              </a:rPr>
              <a:t>Gradient Boosting Models (e.g., </a:t>
            </a:r>
            <a:r>
              <a:rPr lang="en-US" b="1" dirty="0" err="1">
                <a:latin typeface="+mn-lt"/>
              </a:rPr>
              <a:t>XGBoost</a:t>
            </a:r>
            <a:r>
              <a:rPr lang="en-US" b="1" dirty="0">
                <a:latin typeface="+mn-lt"/>
              </a:rPr>
              <a:t>, </a:t>
            </a:r>
            <a:r>
              <a:rPr lang="en-US" b="1" dirty="0" err="1">
                <a:latin typeface="+mn-lt"/>
              </a:rPr>
              <a:t>LightGBM</a:t>
            </a:r>
            <a:r>
              <a:rPr lang="en-US" b="1" dirty="0">
                <a:latin typeface="+mn-lt"/>
              </a:rPr>
              <a:t>): </a:t>
            </a:r>
            <a:r>
              <a:rPr lang="en-US" dirty="0">
                <a:latin typeface="+mn-lt"/>
              </a:rPr>
              <a:t>Popular for forecasting tasks, especially with feature engineering. They handle non-linearities and interactions well.</a:t>
            </a:r>
          </a:p>
          <a:p>
            <a:pPr marL="57150" indent="0">
              <a:buNone/>
            </a:pPr>
            <a:endParaRPr lang="en-IN" dirty="0">
              <a:latin typeface="+mn-lt"/>
            </a:endParaRPr>
          </a:p>
        </p:txBody>
      </p:sp>
    </p:spTree>
    <p:extLst>
      <p:ext uri="{BB962C8B-B14F-4D97-AF65-F5344CB8AC3E}">
        <p14:creationId xmlns:p14="http://schemas.microsoft.com/office/powerpoint/2010/main" val="3939155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03B9C1-7132-1A3C-E25E-E4BB1FC3772A}"/>
              </a:ext>
            </a:extLst>
          </p:cNvPr>
          <p:cNvSpPr>
            <a:spLocks noGrp="1"/>
          </p:cNvSpPr>
          <p:nvPr>
            <p:ph type="body" idx="1"/>
          </p:nvPr>
        </p:nvSpPr>
        <p:spPr>
          <a:xfrm>
            <a:off x="477078" y="1659834"/>
            <a:ext cx="8160026" cy="4621695"/>
          </a:xfrm>
        </p:spPr>
        <p:txBody>
          <a:bodyPr/>
          <a:lstStyle/>
          <a:p>
            <a:pPr marL="57150" indent="0">
              <a:buNone/>
            </a:pPr>
            <a:r>
              <a:rPr lang="en-US" b="1" i="0" dirty="0">
                <a:solidFill>
                  <a:schemeClr val="tx1"/>
                </a:solidFill>
                <a:effectLst/>
                <a:latin typeface="+mn-lt"/>
              </a:rPr>
              <a:t>Why Use Deep Learning for Time Series Forecasting</a:t>
            </a:r>
          </a:p>
          <a:p>
            <a:pPr marL="57150" indent="0">
              <a:buNone/>
            </a:pPr>
            <a:r>
              <a:rPr lang="en-US" dirty="0">
                <a:solidFill>
                  <a:schemeClr val="tx1"/>
                </a:solidFill>
                <a:latin typeface="+mn-lt"/>
              </a:rPr>
              <a:t>D</a:t>
            </a:r>
            <a:r>
              <a:rPr lang="en-US" b="0" i="0" dirty="0">
                <a:solidFill>
                  <a:schemeClr val="tx1"/>
                </a:solidFill>
                <a:effectLst/>
                <a:latin typeface="+mn-lt"/>
              </a:rPr>
              <a:t>eep learning doesn’t require explicit programming to recognize patterns.</a:t>
            </a:r>
          </a:p>
          <a:p>
            <a:pPr marL="57150" indent="0">
              <a:buNone/>
            </a:pPr>
            <a:r>
              <a:rPr lang="en-US" dirty="0">
                <a:solidFill>
                  <a:schemeClr val="tx1"/>
                </a:solidFill>
                <a:latin typeface="+mn-lt"/>
              </a:rPr>
              <a:t>I</a:t>
            </a:r>
            <a:r>
              <a:rPr lang="en-US" b="0" i="0" dirty="0">
                <a:solidFill>
                  <a:schemeClr val="tx1"/>
                </a:solidFill>
                <a:effectLst/>
                <a:latin typeface="+mn-lt"/>
              </a:rPr>
              <a:t>t learns these patterns directly from the data, making it particularly adept at handling the intricacies of time series data.</a:t>
            </a:r>
            <a:endParaRPr lang="en-US" dirty="0">
              <a:solidFill>
                <a:schemeClr val="tx1"/>
              </a:solidFill>
              <a:latin typeface="+mn-lt"/>
            </a:endParaRPr>
          </a:p>
          <a:p>
            <a:pPr marL="57150" indent="0">
              <a:buNone/>
            </a:pPr>
            <a:r>
              <a:rPr lang="en-US" dirty="0">
                <a:solidFill>
                  <a:schemeClr val="tx1"/>
                </a:solidFill>
                <a:latin typeface="+mn-lt"/>
              </a:rPr>
              <a:t>D</a:t>
            </a:r>
            <a:r>
              <a:rPr lang="en-US" b="0" i="0" dirty="0">
                <a:solidFill>
                  <a:schemeClr val="tx1"/>
                </a:solidFill>
                <a:effectLst/>
                <a:latin typeface="+mn-lt"/>
              </a:rPr>
              <a:t>eep learning models can handle large volumes of high-dimensional data, a common characteristic of time series datasets. </a:t>
            </a:r>
          </a:p>
          <a:p>
            <a:pPr marL="57150" indent="0">
              <a:buNone/>
            </a:pPr>
            <a:endParaRPr lang="en-IN" dirty="0"/>
          </a:p>
        </p:txBody>
      </p:sp>
    </p:spTree>
    <p:extLst>
      <p:ext uri="{BB962C8B-B14F-4D97-AF65-F5344CB8AC3E}">
        <p14:creationId xmlns:p14="http://schemas.microsoft.com/office/powerpoint/2010/main" val="4262682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24C37F-76B3-4194-B534-6E2D1B6DA881}"/>
              </a:ext>
            </a:extLst>
          </p:cNvPr>
          <p:cNvSpPr>
            <a:spLocks noGrp="1"/>
          </p:cNvSpPr>
          <p:nvPr>
            <p:ph type="body" idx="1"/>
          </p:nvPr>
        </p:nvSpPr>
        <p:spPr>
          <a:xfrm>
            <a:off x="600501" y="1719618"/>
            <a:ext cx="8065827" cy="4462818"/>
          </a:xfrm>
        </p:spPr>
        <p:txBody>
          <a:bodyPr>
            <a:normAutofit/>
          </a:bodyPr>
          <a:lstStyle/>
          <a:p>
            <a:pPr marL="57150" indent="0">
              <a:buNone/>
            </a:pPr>
            <a:r>
              <a:rPr lang="en-US" b="1" dirty="0">
                <a:latin typeface="+mn-lt"/>
              </a:rPr>
              <a:t>Deep Learning Approaches</a:t>
            </a:r>
          </a:p>
          <a:p>
            <a:pPr>
              <a:buFont typeface="Arial" panose="020B0604020202020204" pitchFamily="34" charset="0"/>
              <a:buChar char="•"/>
            </a:pPr>
            <a:r>
              <a:rPr lang="en-US" b="1" dirty="0">
                <a:latin typeface="+mn-lt"/>
              </a:rPr>
              <a:t>Recurrent Neural Networks (RNNs):</a:t>
            </a:r>
            <a:r>
              <a:rPr lang="en-US" dirty="0">
                <a:latin typeface="+mn-lt"/>
              </a:rPr>
              <a:t> Designed to handle sequential data. Useful for capturing temporal dependencies in time series. However, they may struggle with long-term dependencies.</a:t>
            </a:r>
          </a:p>
          <a:p>
            <a:pPr marL="742950" lvl="1" indent="-285750">
              <a:buFont typeface="Arial" panose="020B0604020202020204" pitchFamily="34" charset="0"/>
              <a:buChar char="•"/>
            </a:pPr>
            <a:r>
              <a:rPr lang="en-US" b="1" dirty="0">
                <a:solidFill>
                  <a:schemeClr val="tx1"/>
                </a:solidFill>
                <a:latin typeface="+mn-lt"/>
              </a:rPr>
              <a:t>Long Short-Term Memory (LSTM):</a:t>
            </a:r>
            <a:r>
              <a:rPr lang="en-US" dirty="0">
                <a:solidFill>
                  <a:schemeClr val="tx1"/>
                </a:solidFill>
                <a:latin typeface="+mn-lt"/>
              </a:rPr>
              <a:t> A type of RNN that can capture long-term dependencies by addressing the vanishing gradient problem.</a:t>
            </a:r>
          </a:p>
          <a:p>
            <a:pPr marL="742950" lvl="1" indent="-285750">
              <a:buFont typeface="Arial" panose="020B0604020202020204" pitchFamily="34" charset="0"/>
              <a:buChar char="•"/>
            </a:pPr>
            <a:r>
              <a:rPr lang="en-US" b="1" dirty="0">
                <a:solidFill>
                  <a:schemeClr val="tx1"/>
                </a:solidFill>
                <a:latin typeface="+mn-lt"/>
              </a:rPr>
              <a:t>Gated Recurrent Units (GRU):</a:t>
            </a:r>
            <a:r>
              <a:rPr lang="en-US" dirty="0">
                <a:solidFill>
                  <a:schemeClr val="tx1"/>
                </a:solidFill>
                <a:latin typeface="+mn-lt"/>
              </a:rPr>
              <a:t> Similar to LSTMs but with fewer parameters, making them faster to train.</a:t>
            </a:r>
          </a:p>
          <a:p>
            <a:pPr>
              <a:buFont typeface="Arial" panose="020B0604020202020204" pitchFamily="34" charset="0"/>
              <a:buChar char="•"/>
            </a:pPr>
            <a:r>
              <a:rPr lang="en-US" b="1" dirty="0">
                <a:latin typeface="+mn-lt"/>
              </a:rPr>
              <a:t>Convolutional Neural Networks (CNNs):</a:t>
            </a:r>
            <a:r>
              <a:rPr lang="en-US" dirty="0">
                <a:latin typeface="+mn-lt"/>
              </a:rPr>
              <a:t> Although originally designed for image data, CNNs can be adapted for time series forecasting by treating the data as a 1D input. They are effective at capturing local temporal patterns.</a:t>
            </a:r>
          </a:p>
          <a:p>
            <a:pPr>
              <a:buFont typeface="Arial" panose="020B0604020202020204" pitchFamily="34" charset="0"/>
              <a:buChar char="•"/>
            </a:pPr>
            <a:r>
              <a:rPr lang="en-US" b="1" dirty="0">
                <a:latin typeface="+mn-lt"/>
              </a:rPr>
              <a:t>Temporal Convolutional Networks (TCNs):</a:t>
            </a:r>
            <a:r>
              <a:rPr lang="en-US" dirty="0">
                <a:latin typeface="+mn-lt"/>
              </a:rPr>
              <a:t> A specialized form of CNNs that are particularly effective for time series forecasting. They use dilated convolutions to capture long-term dependencies.</a:t>
            </a:r>
          </a:p>
          <a:p>
            <a:pPr marL="57150" indent="0">
              <a:buNone/>
            </a:pPr>
            <a:endParaRPr lang="en-IN" dirty="0">
              <a:latin typeface="+mn-lt"/>
            </a:endParaRPr>
          </a:p>
        </p:txBody>
      </p:sp>
    </p:spTree>
    <p:extLst>
      <p:ext uri="{BB962C8B-B14F-4D97-AF65-F5344CB8AC3E}">
        <p14:creationId xmlns:p14="http://schemas.microsoft.com/office/powerpoint/2010/main" val="3681545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E9EA55-E0D2-8FDD-89A1-22C0C8D4FDB9}"/>
              </a:ext>
            </a:extLst>
          </p:cNvPr>
          <p:cNvSpPr>
            <a:spLocks noGrp="1"/>
          </p:cNvSpPr>
          <p:nvPr>
            <p:ph type="body" idx="1"/>
          </p:nvPr>
        </p:nvSpPr>
        <p:spPr>
          <a:xfrm>
            <a:off x="423081" y="1665027"/>
            <a:ext cx="8284191" cy="4558352"/>
          </a:xfrm>
        </p:spPr>
        <p:txBody>
          <a:bodyPr/>
          <a:lstStyle/>
          <a:p>
            <a:pPr marL="57150" indent="0">
              <a:buNone/>
            </a:pPr>
            <a:r>
              <a:rPr lang="en-US" b="1" dirty="0"/>
              <a:t>Transformers:</a:t>
            </a:r>
            <a:r>
              <a:rPr lang="en-US" dirty="0"/>
              <a:t> Originally developed for NLP tasks, transformers are now used for time series forecasting. They use self-attention mechanisms to capture dependencies between different time steps.</a:t>
            </a:r>
          </a:p>
          <a:p>
            <a:pPr marL="57150" indent="0">
              <a:buNone/>
            </a:pPr>
            <a:r>
              <a:rPr lang="en-US" b="1" dirty="0"/>
              <a:t>Temporal Fusion Transformer (TFT</a:t>
            </a:r>
            <a:r>
              <a:rPr lang="en-US" dirty="0"/>
              <a:t>): A specialized transformer model for multi-horizon time series forecasting.</a:t>
            </a:r>
          </a:p>
          <a:p>
            <a:pPr marL="57150" indent="0">
              <a:buNone/>
            </a:pPr>
            <a:r>
              <a:rPr lang="en-US" b="1" dirty="0"/>
              <a:t>Informer/</a:t>
            </a:r>
            <a:r>
              <a:rPr lang="en-US" b="1" dirty="0" err="1"/>
              <a:t>Autoformer</a:t>
            </a:r>
            <a:r>
              <a:rPr lang="en-US" b="1" dirty="0"/>
              <a:t>: </a:t>
            </a:r>
            <a:r>
              <a:rPr lang="en-US" dirty="0"/>
              <a:t>Optimized for long-term time series forecasting.</a:t>
            </a:r>
          </a:p>
          <a:p>
            <a:pPr marL="57150" indent="0">
              <a:buNone/>
            </a:pPr>
            <a:r>
              <a:rPr lang="en-US" b="1" dirty="0"/>
              <a:t>Autoencoders:</a:t>
            </a:r>
            <a:r>
              <a:rPr lang="en-US" dirty="0"/>
              <a:t> These are used for dimensionality reduction or anomaly detection in time series. Variants like Recurrent Autoencoders can be used for sequence prediction.</a:t>
            </a:r>
          </a:p>
          <a:p>
            <a:pPr marL="57150" indent="0">
              <a:buNone/>
            </a:pPr>
            <a:r>
              <a:rPr lang="en-US" b="1" dirty="0" err="1"/>
              <a:t>DeepAR</a:t>
            </a:r>
            <a:r>
              <a:rPr lang="en-US" b="1" dirty="0"/>
              <a:t> (Amazon): </a:t>
            </a:r>
            <a:r>
              <a:rPr lang="en-US" dirty="0"/>
              <a:t>A probabilistic forecasting model that uses RNNs (LSTM/GRU) and is trained on multiple time series simultaneously.</a:t>
            </a:r>
          </a:p>
          <a:p>
            <a:pPr marL="57150" indent="0">
              <a:buNone/>
            </a:pPr>
            <a:r>
              <a:rPr lang="en-US" b="1" dirty="0" err="1"/>
              <a:t>WaveNet</a:t>
            </a:r>
            <a:r>
              <a:rPr lang="en-US" b="1" dirty="0"/>
              <a:t>:</a:t>
            </a:r>
            <a:r>
              <a:rPr lang="en-US" dirty="0"/>
              <a:t> Uses dilated convolutions for sequence modeling and has been adapted for time series forecasting.</a:t>
            </a:r>
          </a:p>
        </p:txBody>
      </p:sp>
    </p:spTree>
    <p:extLst>
      <p:ext uri="{BB962C8B-B14F-4D97-AF65-F5344CB8AC3E}">
        <p14:creationId xmlns:p14="http://schemas.microsoft.com/office/powerpoint/2010/main" val="187814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F8E2D9-3BF7-7115-586E-09698B51B30D}"/>
              </a:ext>
            </a:extLst>
          </p:cNvPr>
          <p:cNvSpPr>
            <a:spLocks noGrp="1"/>
          </p:cNvSpPr>
          <p:nvPr>
            <p:ph type="body" idx="1"/>
          </p:nvPr>
        </p:nvSpPr>
        <p:spPr>
          <a:xfrm>
            <a:off x="342899" y="1585912"/>
            <a:ext cx="8329613" cy="4700587"/>
          </a:xfrm>
        </p:spPr>
        <p:txBody>
          <a:bodyPr>
            <a:normAutofit fontScale="92500" lnSpcReduction="10000"/>
          </a:bodyPr>
          <a:lstStyle/>
          <a:p>
            <a:pPr marL="57150" indent="0">
              <a:buNone/>
            </a:pPr>
            <a:r>
              <a:rPr lang="en-IN" b="1" dirty="0"/>
              <a:t>Hybrid Models</a:t>
            </a:r>
          </a:p>
          <a:p>
            <a:pPr>
              <a:buFont typeface="Arial" panose="020B0604020202020204" pitchFamily="34" charset="0"/>
              <a:buChar char="•"/>
            </a:pPr>
            <a:r>
              <a:rPr lang="en-IN" b="1" dirty="0"/>
              <a:t>ARIMA + Neural Networks:</a:t>
            </a:r>
            <a:r>
              <a:rPr lang="en-IN" dirty="0"/>
              <a:t> Combining ARIMA (for linear components) and neural networks (for non-linear components) can improve forecasting performance.</a:t>
            </a:r>
          </a:p>
          <a:p>
            <a:pPr>
              <a:buFont typeface="Arial" panose="020B0604020202020204" pitchFamily="34" charset="0"/>
              <a:buChar char="•"/>
            </a:pPr>
            <a:r>
              <a:rPr lang="en-IN" b="1" dirty="0"/>
              <a:t>CNN-LSTM:</a:t>
            </a:r>
            <a:r>
              <a:rPr lang="en-IN" dirty="0"/>
              <a:t> Combines CNN layers to extract local features and LSTM layers to capture long-term dependencies.</a:t>
            </a:r>
          </a:p>
          <a:p>
            <a:pPr>
              <a:buFont typeface="Arial" panose="020B0604020202020204" pitchFamily="34" charset="0"/>
              <a:buChar char="•"/>
            </a:pPr>
            <a:r>
              <a:rPr lang="en-IN" b="1" dirty="0"/>
              <a:t>Ensemble Models:</a:t>
            </a:r>
            <a:r>
              <a:rPr lang="en-IN" dirty="0"/>
              <a:t> Combining predictions from different models can reduce variance and improve accuracy.</a:t>
            </a:r>
          </a:p>
          <a:p>
            <a:pPr marL="57150" indent="0">
              <a:buNone/>
            </a:pPr>
            <a:r>
              <a:rPr lang="en-US" b="1" dirty="0"/>
              <a:t>Probabilistic Forecasting</a:t>
            </a:r>
          </a:p>
          <a:p>
            <a:pPr>
              <a:buFont typeface="Arial" panose="020B0604020202020204" pitchFamily="34" charset="0"/>
              <a:buChar char="•"/>
            </a:pPr>
            <a:r>
              <a:rPr lang="en-US" b="1" dirty="0"/>
              <a:t>Quantile Regression:</a:t>
            </a:r>
            <a:r>
              <a:rPr lang="en-US" dirty="0"/>
              <a:t> Predicts a range of possible future values rather than a single point estimate. Useful for uncertainty estimation.</a:t>
            </a:r>
          </a:p>
          <a:p>
            <a:pPr>
              <a:buFont typeface="Arial" panose="020B0604020202020204" pitchFamily="34" charset="0"/>
              <a:buChar char="•"/>
            </a:pPr>
            <a:r>
              <a:rPr lang="en-US" b="1" dirty="0"/>
              <a:t>Bayesian Methods:</a:t>
            </a:r>
            <a:r>
              <a:rPr lang="en-US" dirty="0"/>
              <a:t> Incorporates uncertainty in the model parameters and makes probabilistic predictions.</a:t>
            </a:r>
          </a:p>
          <a:p>
            <a:pPr>
              <a:buFont typeface="Arial" panose="020B0604020202020204" pitchFamily="34" charset="0"/>
              <a:buChar char="•"/>
            </a:pPr>
            <a:r>
              <a:rPr lang="en-US" b="1" dirty="0" err="1"/>
              <a:t>DeepAR</a:t>
            </a:r>
            <a:r>
              <a:rPr lang="en-US" b="1" dirty="0"/>
              <a:t>:</a:t>
            </a:r>
            <a:r>
              <a:rPr lang="en-US" dirty="0"/>
              <a:t> A deep learning approach for probabilistic forecasting, predicting entire probability distributions for future time steps.</a:t>
            </a:r>
          </a:p>
          <a:p>
            <a:pPr marL="57150" indent="0">
              <a:buNone/>
            </a:pPr>
            <a:endParaRPr lang="en-IN" dirty="0"/>
          </a:p>
        </p:txBody>
      </p:sp>
    </p:spTree>
    <p:extLst>
      <p:ext uri="{BB962C8B-B14F-4D97-AF65-F5344CB8AC3E}">
        <p14:creationId xmlns:p14="http://schemas.microsoft.com/office/powerpoint/2010/main" val="105864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455F3A-7014-907F-E5C5-C07AB1C8E955}"/>
              </a:ext>
            </a:extLst>
          </p:cNvPr>
          <p:cNvSpPr>
            <a:spLocks noGrp="1"/>
          </p:cNvSpPr>
          <p:nvPr>
            <p:ph type="body" idx="1"/>
          </p:nvPr>
        </p:nvSpPr>
        <p:spPr>
          <a:xfrm>
            <a:off x="214313" y="1457325"/>
            <a:ext cx="8558212" cy="4857750"/>
          </a:xfrm>
        </p:spPr>
        <p:txBody>
          <a:bodyPr>
            <a:normAutofit fontScale="92500" lnSpcReduction="20000"/>
          </a:bodyPr>
          <a:lstStyle/>
          <a:p>
            <a:pPr marL="57150" indent="0">
              <a:buNone/>
            </a:pPr>
            <a:r>
              <a:rPr lang="en-US" b="1" dirty="0"/>
              <a:t>Feature Engineering for Time Series</a:t>
            </a:r>
          </a:p>
          <a:p>
            <a:pPr>
              <a:buFont typeface="Arial" panose="020B0604020202020204" pitchFamily="34" charset="0"/>
              <a:buChar char="•"/>
            </a:pPr>
            <a:r>
              <a:rPr lang="en-US" b="1" dirty="0"/>
              <a:t>Lag Features:</a:t>
            </a:r>
            <a:r>
              <a:rPr lang="en-US" dirty="0"/>
              <a:t> Using previous values as inputs for forecasting future values.</a:t>
            </a:r>
          </a:p>
          <a:p>
            <a:pPr>
              <a:buFont typeface="Arial" panose="020B0604020202020204" pitchFamily="34" charset="0"/>
              <a:buChar char="•"/>
            </a:pPr>
            <a:r>
              <a:rPr lang="en-US" b="1" dirty="0"/>
              <a:t>Rolling Statistics:</a:t>
            </a:r>
            <a:r>
              <a:rPr lang="en-US" dirty="0"/>
              <a:t> Mean, variance, and other statistics computed over a rolling window.</a:t>
            </a:r>
          </a:p>
          <a:p>
            <a:pPr>
              <a:buFont typeface="Arial" panose="020B0604020202020204" pitchFamily="34" charset="0"/>
              <a:buChar char="•"/>
            </a:pPr>
            <a:r>
              <a:rPr lang="en-US" b="1" dirty="0"/>
              <a:t>Time-Based Features:</a:t>
            </a:r>
            <a:r>
              <a:rPr lang="en-US" dirty="0"/>
              <a:t> Day of the week, month, hour, etc., can be important for capturing seasonality or trends.</a:t>
            </a:r>
          </a:p>
          <a:p>
            <a:pPr>
              <a:buFont typeface="Arial" panose="020B0604020202020204" pitchFamily="34" charset="0"/>
              <a:buChar char="•"/>
            </a:pPr>
            <a:r>
              <a:rPr lang="en-US" b="1" dirty="0"/>
              <a:t>Exogenous Variables:</a:t>
            </a:r>
            <a:r>
              <a:rPr lang="en-US" dirty="0"/>
              <a:t> Incorporating additional related time series or external factors (e.g., weather data, economic indicators).</a:t>
            </a:r>
          </a:p>
          <a:p>
            <a:pPr marL="57150" indent="0">
              <a:buNone/>
            </a:pPr>
            <a:r>
              <a:rPr lang="en-US" b="1" dirty="0"/>
              <a:t>Evaluation Metrics</a:t>
            </a:r>
          </a:p>
          <a:p>
            <a:pPr>
              <a:buFont typeface="Arial" panose="020B0604020202020204" pitchFamily="34" charset="0"/>
              <a:buChar char="•"/>
            </a:pPr>
            <a:r>
              <a:rPr lang="en-US" b="1" dirty="0"/>
              <a:t>Mean Absolute Error (MAE):</a:t>
            </a:r>
            <a:r>
              <a:rPr lang="en-US" dirty="0"/>
              <a:t> Measures the average magnitude of errors.</a:t>
            </a:r>
          </a:p>
          <a:p>
            <a:pPr>
              <a:buFont typeface="Arial" panose="020B0604020202020204" pitchFamily="34" charset="0"/>
              <a:buChar char="•"/>
            </a:pPr>
            <a:r>
              <a:rPr lang="en-US" b="1" dirty="0"/>
              <a:t>Mean Squared Error (MSE) / Root Mean Squared Error (RMSE):</a:t>
            </a:r>
            <a:r>
              <a:rPr lang="en-US" dirty="0"/>
              <a:t> Penalizes larger errors more heavily.</a:t>
            </a:r>
          </a:p>
          <a:p>
            <a:pPr>
              <a:buFont typeface="Arial" panose="020B0604020202020204" pitchFamily="34" charset="0"/>
              <a:buChar char="•"/>
            </a:pPr>
            <a:r>
              <a:rPr lang="en-US" b="1" dirty="0"/>
              <a:t>Mean Absolute Percentage Error (MAPE):</a:t>
            </a:r>
            <a:r>
              <a:rPr lang="en-US" dirty="0"/>
              <a:t> Represents the error as a percentage, making it easier to interpret.</a:t>
            </a:r>
          </a:p>
          <a:p>
            <a:pPr>
              <a:buFont typeface="Arial" panose="020B0604020202020204" pitchFamily="34" charset="0"/>
              <a:buChar char="•"/>
            </a:pPr>
            <a:r>
              <a:rPr lang="en-US" b="1" dirty="0"/>
              <a:t>Symmetric Mean Absolute Percentage Error (SMAPE):</a:t>
            </a:r>
            <a:r>
              <a:rPr lang="en-US" dirty="0"/>
              <a:t> An alternative to MAPE that avoids division by zero.</a:t>
            </a:r>
          </a:p>
          <a:p>
            <a:pPr>
              <a:buFont typeface="Arial" panose="020B0604020202020204" pitchFamily="34" charset="0"/>
              <a:buChar char="•"/>
            </a:pPr>
            <a:r>
              <a:rPr lang="en-US" b="1" dirty="0"/>
              <a:t>R-Squared (R²):</a:t>
            </a:r>
            <a:r>
              <a:rPr lang="en-US" dirty="0"/>
              <a:t> Measures the proportion of variance explained by the model.</a:t>
            </a:r>
          </a:p>
          <a:p>
            <a:pPr marL="57150" indent="0">
              <a:buNone/>
            </a:pPr>
            <a:endParaRPr lang="en-IN" dirty="0"/>
          </a:p>
        </p:txBody>
      </p:sp>
    </p:spTree>
    <p:extLst>
      <p:ext uri="{BB962C8B-B14F-4D97-AF65-F5344CB8AC3E}">
        <p14:creationId xmlns:p14="http://schemas.microsoft.com/office/powerpoint/2010/main" val="1678114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B7FF5F2-1557-CFBB-4AE2-D533C4A96AA8}"/>
              </a:ext>
            </a:extLst>
          </p:cNvPr>
          <p:cNvSpPr>
            <a:spLocks noGrp="1"/>
          </p:cNvSpPr>
          <p:nvPr>
            <p:ph type="body" idx="1"/>
          </p:nvPr>
        </p:nvSpPr>
        <p:spPr>
          <a:xfrm>
            <a:off x="300037" y="1514475"/>
            <a:ext cx="8372475" cy="4814888"/>
          </a:xfrm>
        </p:spPr>
        <p:txBody>
          <a:bodyPr/>
          <a:lstStyle/>
          <a:p>
            <a:pPr marL="57150" indent="0">
              <a:buNone/>
            </a:pPr>
            <a:r>
              <a:rPr lang="en-US" b="1" dirty="0"/>
              <a:t>Advanced Techniques</a:t>
            </a:r>
          </a:p>
          <a:p>
            <a:pPr>
              <a:buFont typeface="Arial" panose="020B0604020202020204" pitchFamily="34" charset="0"/>
              <a:buChar char="•"/>
            </a:pPr>
            <a:r>
              <a:rPr lang="en-US" b="1" dirty="0"/>
              <a:t>Multivariate Time Series Forecasting:</a:t>
            </a:r>
            <a:r>
              <a:rPr lang="en-US" dirty="0"/>
              <a:t> Predicting multiple related time series simultaneously. Requires more complex models to capture interdependencies.</a:t>
            </a:r>
          </a:p>
          <a:p>
            <a:pPr>
              <a:buFont typeface="Arial" panose="020B0604020202020204" pitchFamily="34" charset="0"/>
              <a:buChar char="•"/>
            </a:pPr>
            <a:r>
              <a:rPr lang="en-US" b="1" dirty="0"/>
              <a:t>Anomaly Detection:</a:t>
            </a:r>
            <a:r>
              <a:rPr lang="en-US" dirty="0"/>
              <a:t> Detecting unusual patterns or outliers in time series data using forecasting models.</a:t>
            </a:r>
          </a:p>
          <a:p>
            <a:pPr>
              <a:buFont typeface="Arial" panose="020B0604020202020204" pitchFamily="34" charset="0"/>
              <a:buChar char="•"/>
            </a:pPr>
            <a:r>
              <a:rPr lang="en-US" b="1" dirty="0"/>
              <a:t>Transfer Learning:</a:t>
            </a:r>
            <a:r>
              <a:rPr lang="en-US" dirty="0"/>
              <a:t> Pre-training a model on one dataset and fine-tuning it on another can be useful for time series with limited data.</a:t>
            </a:r>
          </a:p>
          <a:p>
            <a:pPr>
              <a:buFont typeface="Arial" panose="020B0604020202020204" pitchFamily="34" charset="0"/>
              <a:buChar char="•"/>
            </a:pPr>
            <a:r>
              <a:rPr lang="en-US" b="1" dirty="0"/>
              <a:t>Meta-Learning:</a:t>
            </a:r>
            <a:r>
              <a:rPr lang="en-US" dirty="0"/>
              <a:t> Learning how to adapt models to new time series tasks efficiently.</a:t>
            </a:r>
          </a:p>
          <a:p>
            <a:pPr marL="57150" indent="0">
              <a:buNone/>
            </a:pPr>
            <a:endParaRPr lang="en-IN" dirty="0"/>
          </a:p>
        </p:txBody>
      </p:sp>
    </p:spTree>
    <p:extLst>
      <p:ext uri="{BB962C8B-B14F-4D97-AF65-F5344CB8AC3E}">
        <p14:creationId xmlns:p14="http://schemas.microsoft.com/office/powerpoint/2010/main" val="1129587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8F8980-0262-A50A-44B5-2EBA8D52DC71}"/>
              </a:ext>
            </a:extLst>
          </p:cNvPr>
          <p:cNvSpPr>
            <a:spLocks noGrp="1"/>
          </p:cNvSpPr>
          <p:nvPr>
            <p:ph type="body" idx="1"/>
          </p:nvPr>
        </p:nvSpPr>
        <p:spPr>
          <a:xfrm>
            <a:off x="371475" y="1614488"/>
            <a:ext cx="8301038" cy="4657725"/>
          </a:xfrm>
        </p:spPr>
        <p:txBody>
          <a:bodyPr>
            <a:normAutofit/>
          </a:bodyPr>
          <a:lstStyle/>
          <a:p>
            <a:pPr marL="57150" indent="0">
              <a:buNone/>
            </a:pPr>
            <a:r>
              <a:rPr lang="en-IN" b="1" dirty="0">
                <a:solidFill>
                  <a:schemeClr val="tx1"/>
                </a:solidFill>
                <a:latin typeface="+mn-lt"/>
              </a:rPr>
              <a:t>Tools and Frameworks</a:t>
            </a:r>
          </a:p>
          <a:p>
            <a:pPr>
              <a:buFont typeface="Arial" panose="020B0604020202020204" pitchFamily="34" charset="0"/>
              <a:buChar char="•"/>
            </a:pPr>
            <a:r>
              <a:rPr lang="en-IN" b="1" dirty="0">
                <a:solidFill>
                  <a:schemeClr val="tx1"/>
                </a:solidFill>
                <a:latin typeface="+mn-lt"/>
              </a:rPr>
              <a:t>Python Libraries:</a:t>
            </a:r>
            <a:endParaRPr lang="en-IN" dirty="0">
              <a:solidFill>
                <a:schemeClr val="tx1"/>
              </a:solidFill>
              <a:latin typeface="+mn-lt"/>
            </a:endParaRPr>
          </a:p>
          <a:p>
            <a:pPr marL="742950" lvl="1" indent="-285750">
              <a:buFont typeface="Arial" panose="020B0604020202020204" pitchFamily="34" charset="0"/>
              <a:buChar char="•"/>
            </a:pPr>
            <a:r>
              <a:rPr lang="en-IN" sz="1800" b="1" dirty="0" err="1">
                <a:solidFill>
                  <a:schemeClr val="tx1"/>
                </a:solidFill>
                <a:latin typeface="+mn-lt"/>
              </a:rPr>
              <a:t>Statsmodels</a:t>
            </a:r>
            <a:r>
              <a:rPr lang="en-IN" sz="1800" b="1" dirty="0">
                <a:solidFill>
                  <a:schemeClr val="tx1"/>
                </a:solidFill>
                <a:latin typeface="+mn-lt"/>
              </a:rPr>
              <a:t>:</a:t>
            </a:r>
            <a:r>
              <a:rPr lang="en-IN" sz="1800" dirty="0">
                <a:solidFill>
                  <a:schemeClr val="tx1"/>
                </a:solidFill>
                <a:latin typeface="+mn-lt"/>
              </a:rPr>
              <a:t> For classical models like ARIMA, SARIMA.</a:t>
            </a:r>
          </a:p>
          <a:p>
            <a:pPr marL="742950" lvl="1" indent="-285750">
              <a:buFont typeface="Arial" panose="020B0604020202020204" pitchFamily="34" charset="0"/>
              <a:buChar char="•"/>
            </a:pPr>
            <a:r>
              <a:rPr lang="en-IN" sz="1800" b="1" dirty="0">
                <a:solidFill>
                  <a:schemeClr val="tx1"/>
                </a:solidFill>
                <a:latin typeface="+mn-lt"/>
              </a:rPr>
              <a:t>Prophet:</a:t>
            </a:r>
            <a:r>
              <a:rPr lang="en-IN" sz="1800" dirty="0">
                <a:solidFill>
                  <a:schemeClr val="tx1"/>
                </a:solidFill>
                <a:latin typeface="+mn-lt"/>
              </a:rPr>
              <a:t> A library by Facebook for forecasting with an emphasis on seasonality.</a:t>
            </a:r>
          </a:p>
          <a:p>
            <a:pPr marL="742950" lvl="1" indent="-285750">
              <a:buFont typeface="Arial" panose="020B0604020202020204" pitchFamily="34" charset="0"/>
              <a:buChar char="•"/>
            </a:pPr>
            <a:r>
              <a:rPr lang="en-IN" sz="1800" b="1" dirty="0">
                <a:solidFill>
                  <a:schemeClr val="tx1"/>
                </a:solidFill>
                <a:latin typeface="+mn-lt"/>
              </a:rPr>
              <a:t>TensorFlow/</a:t>
            </a:r>
            <a:r>
              <a:rPr lang="en-IN" sz="1800" b="1" dirty="0" err="1">
                <a:solidFill>
                  <a:schemeClr val="tx1"/>
                </a:solidFill>
                <a:latin typeface="+mn-lt"/>
              </a:rPr>
              <a:t>Keras</a:t>
            </a:r>
            <a:r>
              <a:rPr lang="en-IN" sz="1800" b="1" dirty="0">
                <a:solidFill>
                  <a:schemeClr val="tx1"/>
                </a:solidFill>
                <a:latin typeface="+mn-lt"/>
              </a:rPr>
              <a:t>/</a:t>
            </a:r>
            <a:r>
              <a:rPr lang="en-IN" sz="1800" b="1" dirty="0" err="1">
                <a:solidFill>
                  <a:schemeClr val="tx1"/>
                </a:solidFill>
                <a:latin typeface="+mn-lt"/>
              </a:rPr>
              <a:t>PyTorch</a:t>
            </a:r>
            <a:r>
              <a:rPr lang="en-IN" sz="1800" b="1" dirty="0">
                <a:solidFill>
                  <a:schemeClr val="tx1"/>
                </a:solidFill>
                <a:latin typeface="+mn-lt"/>
              </a:rPr>
              <a:t>:</a:t>
            </a:r>
            <a:r>
              <a:rPr lang="en-IN" sz="1800" dirty="0">
                <a:solidFill>
                  <a:schemeClr val="tx1"/>
                </a:solidFill>
                <a:latin typeface="+mn-lt"/>
              </a:rPr>
              <a:t> For building deep learning models.</a:t>
            </a:r>
          </a:p>
          <a:p>
            <a:pPr marL="742950" lvl="1" indent="-285750">
              <a:buFont typeface="Arial" panose="020B0604020202020204" pitchFamily="34" charset="0"/>
              <a:buChar char="•"/>
            </a:pPr>
            <a:r>
              <a:rPr lang="en-IN" sz="1800" b="1" dirty="0">
                <a:solidFill>
                  <a:schemeClr val="tx1"/>
                </a:solidFill>
                <a:latin typeface="+mn-lt"/>
              </a:rPr>
              <a:t>scikit-learn:</a:t>
            </a:r>
            <a:r>
              <a:rPr lang="en-IN" sz="1800" dirty="0">
                <a:solidFill>
                  <a:schemeClr val="tx1"/>
                </a:solidFill>
                <a:latin typeface="+mn-lt"/>
              </a:rPr>
              <a:t> For machine learning models and preprocessing.</a:t>
            </a:r>
          </a:p>
          <a:p>
            <a:pPr marL="742950" lvl="1" indent="-285750">
              <a:buFont typeface="Arial" panose="020B0604020202020204" pitchFamily="34" charset="0"/>
              <a:buChar char="•"/>
            </a:pPr>
            <a:r>
              <a:rPr lang="en-IN" sz="1800" b="1" dirty="0" err="1">
                <a:solidFill>
                  <a:schemeClr val="tx1"/>
                </a:solidFill>
                <a:latin typeface="+mn-lt"/>
              </a:rPr>
              <a:t>GluonTS</a:t>
            </a:r>
            <a:r>
              <a:rPr lang="en-IN" sz="1800" b="1" dirty="0">
                <a:solidFill>
                  <a:schemeClr val="tx1"/>
                </a:solidFill>
                <a:latin typeface="+mn-lt"/>
              </a:rPr>
              <a:t>:</a:t>
            </a:r>
            <a:r>
              <a:rPr lang="en-IN" sz="1800" dirty="0">
                <a:solidFill>
                  <a:schemeClr val="tx1"/>
                </a:solidFill>
                <a:latin typeface="+mn-lt"/>
              </a:rPr>
              <a:t> A toolkit for probabilistic time series </a:t>
            </a:r>
            <a:r>
              <a:rPr lang="en-IN" sz="1800" dirty="0" err="1">
                <a:solidFill>
                  <a:schemeClr val="tx1"/>
                </a:solidFill>
                <a:latin typeface="+mn-lt"/>
              </a:rPr>
              <a:t>modeling</a:t>
            </a:r>
            <a:r>
              <a:rPr lang="en-IN" sz="1800" dirty="0">
                <a:solidFill>
                  <a:schemeClr val="tx1"/>
                </a:solidFill>
                <a:latin typeface="+mn-lt"/>
              </a:rPr>
              <a:t>.</a:t>
            </a:r>
          </a:p>
          <a:p>
            <a:pPr>
              <a:buFont typeface="Arial" panose="020B0604020202020204" pitchFamily="34" charset="0"/>
              <a:buChar char="•"/>
            </a:pPr>
            <a:r>
              <a:rPr lang="en-IN" b="1" dirty="0">
                <a:solidFill>
                  <a:schemeClr val="tx1"/>
                </a:solidFill>
                <a:latin typeface="+mn-lt"/>
              </a:rPr>
              <a:t>R Libraries:</a:t>
            </a:r>
            <a:endParaRPr lang="en-IN" dirty="0">
              <a:solidFill>
                <a:schemeClr val="tx1"/>
              </a:solidFill>
              <a:latin typeface="+mn-lt"/>
            </a:endParaRPr>
          </a:p>
          <a:p>
            <a:pPr marL="742950" lvl="1" indent="-285750">
              <a:buFont typeface="Arial" panose="020B0604020202020204" pitchFamily="34" charset="0"/>
              <a:buChar char="•"/>
            </a:pPr>
            <a:r>
              <a:rPr lang="en-IN" sz="1800" b="1" dirty="0">
                <a:solidFill>
                  <a:schemeClr val="tx1"/>
                </a:solidFill>
                <a:latin typeface="+mn-lt"/>
              </a:rPr>
              <a:t>forecast:</a:t>
            </a:r>
            <a:r>
              <a:rPr lang="en-IN" sz="1800" dirty="0">
                <a:solidFill>
                  <a:schemeClr val="tx1"/>
                </a:solidFill>
                <a:latin typeface="+mn-lt"/>
              </a:rPr>
              <a:t> For ARIMA, ETS, and other classical models.</a:t>
            </a:r>
          </a:p>
          <a:p>
            <a:pPr marL="742950" lvl="1" indent="-285750">
              <a:buFont typeface="Arial" panose="020B0604020202020204" pitchFamily="34" charset="0"/>
              <a:buChar char="•"/>
            </a:pPr>
            <a:r>
              <a:rPr lang="en-IN" sz="1800" b="1" dirty="0" err="1">
                <a:solidFill>
                  <a:schemeClr val="tx1"/>
                </a:solidFill>
                <a:latin typeface="+mn-lt"/>
              </a:rPr>
              <a:t>Tidyverts</a:t>
            </a:r>
            <a:r>
              <a:rPr lang="en-IN" sz="1800" b="1" dirty="0">
                <a:solidFill>
                  <a:schemeClr val="tx1"/>
                </a:solidFill>
                <a:latin typeface="+mn-lt"/>
              </a:rPr>
              <a:t>:</a:t>
            </a:r>
            <a:r>
              <a:rPr lang="en-IN" sz="1800" dirty="0">
                <a:solidFill>
                  <a:schemeClr val="tx1"/>
                </a:solidFill>
                <a:latin typeface="+mn-lt"/>
              </a:rPr>
              <a:t> A modern framework for time series forecasting in R.</a:t>
            </a:r>
          </a:p>
          <a:p>
            <a:pPr marL="57150" indent="0">
              <a:buNone/>
            </a:pPr>
            <a:endParaRPr lang="en-IN" dirty="0">
              <a:latin typeface="+mn-lt"/>
            </a:endParaRPr>
          </a:p>
        </p:txBody>
      </p:sp>
    </p:spTree>
    <p:extLst>
      <p:ext uri="{BB962C8B-B14F-4D97-AF65-F5344CB8AC3E}">
        <p14:creationId xmlns:p14="http://schemas.microsoft.com/office/powerpoint/2010/main" val="4229884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F374A53-3EF5-1FF1-25A4-AAF4702F9992}"/>
              </a:ext>
            </a:extLst>
          </p:cNvPr>
          <p:cNvSpPr>
            <a:spLocks noGrp="1"/>
          </p:cNvSpPr>
          <p:nvPr>
            <p:ph type="body" idx="1"/>
          </p:nvPr>
        </p:nvSpPr>
        <p:spPr>
          <a:xfrm>
            <a:off x="258417" y="1490870"/>
            <a:ext cx="8517835" cy="4989443"/>
          </a:xfrm>
        </p:spPr>
        <p:txBody>
          <a:bodyPr>
            <a:normAutofit fontScale="32500" lnSpcReduction="20000"/>
          </a:bodyPr>
          <a:lstStyle/>
          <a:p>
            <a:pPr marL="57150" indent="0" algn="l">
              <a:buNone/>
            </a:pPr>
            <a:r>
              <a:rPr lang="en-US" sz="4800" b="1" i="0" dirty="0">
                <a:solidFill>
                  <a:schemeClr val="tx1"/>
                </a:solidFill>
                <a:effectLst/>
                <a:latin typeface="+mn-lt"/>
              </a:rPr>
              <a:t>Time Series Networks</a:t>
            </a:r>
          </a:p>
          <a:p>
            <a:pPr marL="57150" indent="0" algn="l">
              <a:buNone/>
            </a:pPr>
            <a:r>
              <a:rPr lang="en-US" sz="4800" dirty="0">
                <a:solidFill>
                  <a:schemeClr val="tx1"/>
                </a:solidFill>
                <a:latin typeface="+mn-lt"/>
              </a:rPr>
              <a:t>Can </a:t>
            </a:r>
            <a:r>
              <a:rPr lang="en-US" sz="4800" b="0" i="0" dirty="0">
                <a:solidFill>
                  <a:schemeClr val="tx1"/>
                </a:solidFill>
                <a:effectLst/>
                <a:latin typeface="+mn-lt"/>
              </a:rPr>
              <a:t>train a neural network to solve three types of time series problems.</a:t>
            </a:r>
          </a:p>
          <a:p>
            <a:pPr marL="57150" indent="0">
              <a:buNone/>
            </a:pPr>
            <a:r>
              <a:rPr lang="en-US" sz="4800" b="1" i="0" dirty="0">
                <a:solidFill>
                  <a:schemeClr val="tx1"/>
                </a:solidFill>
                <a:effectLst/>
                <a:latin typeface="+mn-lt"/>
              </a:rPr>
              <a:t>NARX Network</a:t>
            </a:r>
          </a:p>
          <a:p>
            <a:pPr marL="57150" indent="0">
              <a:buNone/>
            </a:pPr>
            <a:r>
              <a:rPr lang="en-US" sz="4800" dirty="0">
                <a:solidFill>
                  <a:schemeClr val="tx1"/>
                </a:solidFill>
                <a:effectLst/>
                <a:latin typeface="+mn-lt"/>
              </a:rPr>
              <a:t>predict future values of a time series </a:t>
            </a: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from past values of that time series and past values of a second time series </a:t>
            </a:r>
            <a:r>
              <a:rPr lang="en-US" sz="4800" i="1" dirty="0">
                <a:solidFill>
                  <a:schemeClr val="tx1"/>
                </a:solidFill>
                <a:effectLst/>
                <a:latin typeface="+mn-lt"/>
              </a:rPr>
              <a:t>x</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This form of prediction is called nonlinear autoregressive with exogenous (external) input, or NARX and can be written as follows:</a:t>
            </a:r>
          </a:p>
          <a:p>
            <a:pPr marL="57150" indent="0">
              <a:buNone/>
            </a:pP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 </a:t>
            </a:r>
            <a:r>
              <a:rPr lang="en-US" sz="4800" i="1" dirty="0">
                <a:solidFill>
                  <a:schemeClr val="tx1"/>
                </a:solidFill>
                <a:effectLst/>
                <a:latin typeface="+mn-lt"/>
              </a:rPr>
              <a:t>f</a:t>
            </a:r>
            <a:r>
              <a:rPr lang="en-US" sz="4800" dirty="0">
                <a:solidFill>
                  <a:schemeClr val="tx1"/>
                </a:solidFill>
                <a:effectLst/>
                <a:latin typeface="+mn-lt"/>
              </a:rPr>
              <a:t>(</a:t>
            </a: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 1), ..., </a:t>
            </a: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 </a:t>
            </a:r>
            <a:r>
              <a:rPr lang="en-US" sz="4800" i="1" dirty="0">
                <a:solidFill>
                  <a:schemeClr val="tx1"/>
                </a:solidFill>
                <a:effectLst/>
                <a:latin typeface="+mn-lt"/>
              </a:rPr>
              <a:t>d</a:t>
            </a:r>
            <a:r>
              <a:rPr lang="en-US" sz="4800" dirty="0">
                <a:solidFill>
                  <a:schemeClr val="tx1"/>
                </a:solidFill>
                <a:effectLst/>
                <a:latin typeface="+mn-lt"/>
              </a:rPr>
              <a:t>), </a:t>
            </a:r>
            <a:r>
              <a:rPr lang="en-US" sz="4800" i="1" dirty="0">
                <a:solidFill>
                  <a:schemeClr val="tx1"/>
                </a:solidFill>
                <a:effectLst/>
                <a:latin typeface="+mn-lt"/>
              </a:rPr>
              <a:t>x</a:t>
            </a:r>
            <a:r>
              <a:rPr lang="en-US" sz="4800" dirty="0">
                <a:solidFill>
                  <a:schemeClr val="tx1"/>
                </a:solidFill>
                <a:effectLst/>
                <a:latin typeface="+mn-lt"/>
              </a:rPr>
              <a:t>(</a:t>
            </a:r>
            <a:r>
              <a:rPr lang="en-US" sz="4800" i="1" dirty="0">
                <a:solidFill>
                  <a:schemeClr val="tx1"/>
                </a:solidFill>
                <a:effectLst/>
                <a:latin typeface="+mn-lt"/>
              </a:rPr>
              <a:t>t </a:t>
            </a:r>
            <a:r>
              <a:rPr lang="en-US" sz="4800" dirty="0">
                <a:solidFill>
                  <a:schemeClr val="tx1"/>
                </a:solidFill>
                <a:effectLst/>
                <a:latin typeface="+mn-lt"/>
              </a:rPr>
              <a:t>– 1), ..., (</a:t>
            </a:r>
            <a:r>
              <a:rPr lang="en-US" sz="4800" i="1" dirty="0">
                <a:solidFill>
                  <a:schemeClr val="tx1"/>
                </a:solidFill>
                <a:effectLst/>
                <a:latin typeface="+mn-lt"/>
              </a:rPr>
              <a:t>t</a:t>
            </a:r>
            <a:r>
              <a:rPr lang="en-US" sz="4800" dirty="0">
                <a:solidFill>
                  <a:schemeClr val="tx1"/>
                </a:solidFill>
                <a:effectLst/>
                <a:latin typeface="+mn-lt"/>
              </a:rPr>
              <a:t> – </a:t>
            </a:r>
            <a:r>
              <a:rPr lang="en-US" sz="4800" i="1" dirty="0">
                <a:solidFill>
                  <a:schemeClr val="tx1"/>
                </a:solidFill>
                <a:effectLst/>
                <a:latin typeface="+mn-lt"/>
              </a:rPr>
              <a:t>d</a:t>
            </a:r>
            <a:r>
              <a:rPr lang="en-US" sz="4800" dirty="0">
                <a:solidFill>
                  <a:schemeClr val="tx1"/>
                </a:solidFill>
                <a:effectLst/>
                <a:latin typeface="+mn-lt"/>
              </a:rPr>
              <a:t>))</a:t>
            </a:r>
          </a:p>
          <a:p>
            <a:pPr marL="57150" indent="0">
              <a:buNone/>
            </a:pPr>
            <a:r>
              <a:rPr lang="en-US" sz="4800" dirty="0">
                <a:solidFill>
                  <a:schemeClr val="tx1"/>
                </a:solidFill>
                <a:effectLst/>
                <a:latin typeface="+mn-lt"/>
              </a:rPr>
              <a:t>Use this model to predict future values of a stock or bond, based on such economic variables as unemployment rates, GDP, etc. can also use this model for system identification, in which models are developed to represent dynamic systems, such as chemical processes, manufacturing systems, robotics, aerospace vehicles, etc.</a:t>
            </a:r>
          </a:p>
          <a:p>
            <a:pPr marL="57150" indent="0">
              <a:buNone/>
            </a:pPr>
            <a:r>
              <a:rPr lang="en-US" sz="4800" b="1" i="0" dirty="0">
                <a:solidFill>
                  <a:schemeClr val="tx1"/>
                </a:solidFill>
                <a:effectLst/>
                <a:latin typeface="+mn-lt"/>
              </a:rPr>
              <a:t>NAR Network</a:t>
            </a:r>
          </a:p>
          <a:p>
            <a:pPr marL="57150" indent="0">
              <a:buNone/>
            </a:pPr>
            <a:r>
              <a:rPr lang="en-US" sz="4800" dirty="0">
                <a:solidFill>
                  <a:schemeClr val="tx1"/>
                </a:solidFill>
                <a:latin typeface="+mn-lt"/>
              </a:rPr>
              <a:t>T</a:t>
            </a:r>
            <a:r>
              <a:rPr lang="en-US" sz="4800" dirty="0">
                <a:solidFill>
                  <a:schemeClr val="tx1"/>
                </a:solidFill>
                <a:effectLst/>
                <a:latin typeface="+mn-lt"/>
              </a:rPr>
              <a:t>here is only one series involved. The future values of a time series </a:t>
            </a: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are predicted only from past values of that series. This form of prediction is called nonlinear autoregressive, or NAR, and can be written as follows:</a:t>
            </a:r>
          </a:p>
          <a:p>
            <a:pPr marL="57150" indent="0">
              <a:buNone/>
            </a:pP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 </a:t>
            </a:r>
            <a:r>
              <a:rPr lang="en-US" sz="4800" i="1" dirty="0">
                <a:solidFill>
                  <a:schemeClr val="tx1"/>
                </a:solidFill>
                <a:effectLst/>
                <a:latin typeface="+mn-lt"/>
              </a:rPr>
              <a:t>f</a:t>
            </a:r>
            <a:r>
              <a:rPr lang="en-US" sz="4800" dirty="0">
                <a:solidFill>
                  <a:schemeClr val="tx1"/>
                </a:solidFill>
                <a:effectLst/>
                <a:latin typeface="+mn-lt"/>
              </a:rPr>
              <a:t>(</a:t>
            </a: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 1), ..., </a:t>
            </a:r>
            <a:r>
              <a:rPr lang="en-US" sz="4800" i="1" dirty="0">
                <a:solidFill>
                  <a:schemeClr val="tx1"/>
                </a:solidFill>
                <a:effectLst/>
                <a:latin typeface="+mn-lt"/>
              </a:rPr>
              <a:t>y</a:t>
            </a:r>
            <a:r>
              <a:rPr lang="en-US" sz="4800" dirty="0">
                <a:solidFill>
                  <a:schemeClr val="tx1"/>
                </a:solidFill>
                <a:effectLst/>
                <a:latin typeface="+mn-lt"/>
              </a:rPr>
              <a:t>(</a:t>
            </a:r>
            <a:r>
              <a:rPr lang="en-US" sz="4800" i="1" dirty="0">
                <a:solidFill>
                  <a:schemeClr val="tx1"/>
                </a:solidFill>
                <a:effectLst/>
                <a:latin typeface="+mn-lt"/>
              </a:rPr>
              <a:t>t</a:t>
            </a:r>
            <a:r>
              <a:rPr lang="en-US" sz="4800" dirty="0">
                <a:solidFill>
                  <a:schemeClr val="tx1"/>
                </a:solidFill>
                <a:effectLst/>
                <a:latin typeface="+mn-lt"/>
              </a:rPr>
              <a:t> – </a:t>
            </a:r>
            <a:r>
              <a:rPr lang="en-US" sz="4800" i="1" dirty="0">
                <a:solidFill>
                  <a:schemeClr val="tx1"/>
                </a:solidFill>
                <a:effectLst/>
                <a:latin typeface="+mn-lt"/>
              </a:rPr>
              <a:t>d</a:t>
            </a:r>
            <a:r>
              <a:rPr lang="en-US" sz="4800" dirty="0">
                <a:solidFill>
                  <a:schemeClr val="tx1"/>
                </a:solidFill>
                <a:effectLst/>
                <a:latin typeface="+mn-lt"/>
              </a:rPr>
              <a:t>))</a:t>
            </a:r>
          </a:p>
          <a:p>
            <a:pPr marL="57150" indent="0">
              <a:buNone/>
            </a:pPr>
            <a:r>
              <a:rPr lang="en-US" sz="4800" dirty="0">
                <a:solidFill>
                  <a:schemeClr val="tx1"/>
                </a:solidFill>
                <a:latin typeface="+mn-lt"/>
              </a:rPr>
              <a:t>C</a:t>
            </a:r>
            <a:r>
              <a:rPr lang="en-US" sz="4800" dirty="0">
                <a:solidFill>
                  <a:schemeClr val="tx1"/>
                </a:solidFill>
                <a:effectLst/>
                <a:latin typeface="+mn-lt"/>
              </a:rPr>
              <a:t>an use this model to predict financial instruments, but without the use of a companion series.</a:t>
            </a:r>
          </a:p>
          <a:p>
            <a:pPr marL="5715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A8D1577-0681-46BC-EA2C-87145602D168}"/>
                  </a:ext>
                </a:extLst>
              </p14:cNvPr>
              <p14:cNvContentPartPr/>
              <p14:nvPr/>
            </p14:nvContentPartPr>
            <p14:xfrm>
              <a:off x="4670640" y="3340612"/>
              <a:ext cx="5400" cy="8280"/>
            </p14:xfrm>
          </p:contentPart>
        </mc:Choice>
        <mc:Fallback xmlns="">
          <p:pic>
            <p:nvPicPr>
              <p:cNvPr id="5" name="Ink 4">
                <a:extLst>
                  <a:ext uri="{FF2B5EF4-FFF2-40B4-BE49-F238E27FC236}">
                    <a16:creationId xmlns:a16="http://schemas.microsoft.com/office/drawing/2014/main" id="{CA8D1577-0681-46BC-EA2C-87145602D168}"/>
                  </a:ext>
                </a:extLst>
              </p:cNvPr>
              <p:cNvPicPr/>
              <p:nvPr/>
            </p:nvPicPr>
            <p:blipFill>
              <a:blip r:embed="rId5"/>
              <a:stretch>
                <a:fillRect/>
              </a:stretch>
            </p:blipFill>
            <p:spPr>
              <a:xfrm>
                <a:off x="4661640" y="3331972"/>
                <a:ext cx="23040" cy="25920"/>
              </a:xfrm>
              <a:prstGeom prst="rect">
                <a:avLst/>
              </a:prstGeom>
            </p:spPr>
          </p:pic>
        </mc:Fallback>
      </mc:AlternateContent>
    </p:spTree>
    <p:extLst>
      <p:ext uri="{BB962C8B-B14F-4D97-AF65-F5344CB8AC3E}">
        <p14:creationId xmlns:p14="http://schemas.microsoft.com/office/powerpoint/2010/main" val="214654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6B148F-ED8D-E7AA-6B8D-80D77B2A70C1}"/>
              </a:ext>
            </a:extLst>
          </p:cNvPr>
          <p:cNvSpPr>
            <a:spLocks noGrp="1"/>
          </p:cNvSpPr>
          <p:nvPr>
            <p:ph type="body" idx="1"/>
          </p:nvPr>
        </p:nvSpPr>
        <p:spPr>
          <a:xfrm>
            <a:off x="407505" y="1699591"/>
            <a:ext cx="8289234" cy="4641574"/>
          </a:xfrm>
        </p:spPr>
        <p:txBody>
          <a:bodyPr/>
          <a:lstStyle/>
          <a:p>
            <a:pPr marL="57150" indent="0">
              <a:buNone/>
            </a:pPr>
            <a:r>
              <a:rPr lang="en-US" sz="1800" b="1" i="0" dirty="0">
                <a:solidFill>
                  <a:schemeClr val="tx1"/>
                </a:solidFill>
                <a:effectLst/>
                <a:latin typeface="+mn-lt"/>
              </a:rPr>
              <a:t>Nonlinear Input-Output Network</a:t>
            </a:r>
          </a:p>
          <a:p>
            <a:pPr marL="57150" indent="0">
              <a:buNone/>
            </a:pPr>
            <a:r>
              <a:rPr lang="en-US" sz="1800" dirty="0">
                <a:solidFill>
                  <a:schemeClr val="tx1"/>
                </a:solidFill>
                <a:latin typeface="+mn-lt"/>
              </a:rPr>
              <a:t>S</a:t>
            </a:r>
            <a:r>
              <a:rPr lang="en-US" sz="1800" dirty="0">
                <a:solidFill>
                  <a:schemeClr val="tx1"/>
                </a:solidFill>
                <a:effectLst/>
                <a:latin typeface="+mn-lt"/>
              </a:rPr>
              <a:t>imilar to the first type, in that two series are involved, an input series </a:t>
            </a:r>
            <a:r>
              <a:rPr lang="en-US" sz="1800" i="1" dirty="0">
                <a:solidFill>
                  <a:schemeClr val="tx1"/>
                </a:solidFill>
                <a:effectLst/>
                <a:latin typeface="+mn-lt"/>
              </a:rPr>
              <a:t>x</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and an output series </a:t>
            </a:r>
            <a:r>
              <a:rPr lang="en-US" sz="1800" i="1" dirty="0">
                <a:solidFill>
                  <a:schemeClr val="tx1"/>
                </a:solidFill>
                <a:effectLst/>
                <a:latin typeface="+mn-lt"/>
              </a:rPr>
              <a:t>y</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Here, can predict values of </a:t>
            </a:r>
            <a:r>
              <a:rPr lang="en-US" sz="1800" i="1" dirty="0">
                <a:solidFill>
                  <a:schemeClr val="tx1"/>
                </a:solidFill>
                <a:effectLst/>
                <a:latin typeface="+mn-lt"/>
              </a:rPr>
              <a:t>y</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from previous values of </a:t>
            </a:r>
            <a:r>
              <a:rPr lang="en-US" sz="1800" i="1" dirty="0">
                <a:solidFill>
                  <a:schemeClr val="tx1"/>
                </a:solidFill>
                <a:effectLst/>
                <a:latin typeface="+mn-lt"/>
              </a:rPr>
              <a:t>x</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but without knowledge of previous values of </a:t>
            </a:r>
            <a:r>
              <a:rPr lang="en-US" sz="1800" i="1" dirty="0">
                <a:solidFill>
                  <a:schemeClr val="tx1"/>
                </a:solidFill>
                <a:effectLst/>
                <a:latin typeface="+mn-lt"/>
              </a:rPr>
              <a:t>y</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This input/output model can be written as follows:</a:t>
            </a:r>
          </a:p>
          <a:p>
            <a:pPr marL="57150" indent="0">
              <a:buNone/>
            </a:pPr>
            <a:r>
              <a:rPr lang="en-US" sz="1800" i="1" dirty="0">
                <a:solidFill>
                  <a:schemeClr val="tx1"/>
                </a:solidFill>
                <a:effectLst/>
                <a:latin typeface="+mn-lt"/>
              </a:rPr>
              <a:t>y</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 </a:t>
            </a:r>
            <a:r>
              <a:rPr lang="en-US" sz="1800" i="1" dirty="0">
                <a:solidFill>
                  <a:schemeClr val="tx1"/>
                </a:solidFill>
                <a:effectLst/>
                <a:latin typeface="+mn-lt"/>
              </a:rPr>
              <a:t>f</a:t>
            </a:r>
            <a:r>
              <a:rPr lang="en-US" sz="1800" dirty="0">
                <a:solidFill>
                  <a:schemeClr val="tx1"/>
                </a:solidFill>
                <a:effectLst/>
                <a:latin typeface="+mn-lt"/>
              </a:rPr>
              <a:t>(</a:t>
            </a:r>
            <a:r>
              <a:rPr lang="en-US" sz="1800" i="1" dirty="0">
                <a:solidFill>
                  <a:schemeClr val="tx1"/>
                </a:solidFill>
                <a:effectLst/>
                <a:latin typeface="+mn-lt"/>
              </a:rPr>
              <a:t>x</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 1), ..., </a:t>
            </a:r>
            <a:r>
              <a:rPr lang="en-US" sz="1800" i="1" dirty="0">
                <a:solidFill>
                  <a:schemeClr val="tx1"/>
                </a:solidFill>
                <a:effectLst/>
                <a:latin typeface="+mn-lt"/>
              </a:rPr>
              <a:t>x</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 </a:t>
            </a:r>
            <a:r>
              <a:rPr lang="en-US" sz="1800" i="1" dirty="0">
                <a:solidFill>
                  <a:schemeClr val="tx1"/>
                </a:solidFill>
                <a:effectLst/>
                <a:latin typeface="+mn-lt"/>
              </a:rPr>
              <a:t>d</a:t>
            </a:r>
            <a:r>
              <a:rPr lang="en-US" sz="1800" dirty="0">
                <a:solidFill>
                  <a:schemeClr val="tx1"/>
                </a:solidFill>
                <a:effectLst/>
                <a:latin typeface="+mn-lt"/>
              </a:rPr>
              <a:t>))</a:t>
            </a:r>
          </a:p>
          <a:p>
            <a:pPr marL="57150" indent="0">
              <a:buNone/>
            </a:pPr>
            <a:r>
              <a:rPr lang="en-US" sz="1800" dirty="0">
                <a:solidFill>
                  <a:schemeClr val="tx1"/>
                </a:solidFill>
                <a:effectLst/>
                <a:latin typeface="+mn-lt"/>
              </a:rPr>
              <a:t>The NARX model will provide better predictions than this input-output model, because it uses the additional information contained in the previous values of </a:t>
            </a:r>
            <a:r>
              <a:rPr lang="en-US" sz="1800" i="1" dirty="0">
                <a:solidFill>
                  <a:schemeClr val="tx1"/>
                </a:solidFill>
                <a:effectLst/>
                <a:latin typeface="+mn-lt"/>
              </a:rPr>
              <a:t>y</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However, there may be some applications in which the previous values of </a:t>
            </a:r>
            <a:r>
              <a:rPr lang="en-US" sz="1800" i="1" dirty="0">
                <a:solidFill>
                  <a:schemeClr val="tx1"/>
                </a:solidFill>
                <a:effectLst/>
                <a:latin typeface="+mn-lt"/>
              </a:rPr>
              <a:t>y</a:t>
            </a:r>
            <a:r>
              <a:rPr lang="en-US" sz="1800" dirty="0">
                <a:solidFill>
                  <a:schemeClr val="tx1"/>
                </a:solidFill>
                <a:effectLst/>
                <a:latin typeface="+mn-lt"/>
              </a:rPr>
              <a:t>(</a:t>
            </a:r>
            <a:r>
              <a:rPr lang="en-US" sz="1800" i="1" dirty="0">
                <a:solidFill>
                  <a:schemeClr val="tx1"/>
                </a:solidFill>
                <a:effectLst/>
                <a:latin typeface="+mn-lt"/>
              </a:rPr>
              <a:t>t</a:t>
            </a:r>
            <a:r>
              <a:rPr lang="en-US" sz="1800" dirty="0">
                <a:solidFill>
                  <a:schemeClr val="tx1"/>
                </a:solidFill>
                <a:effectLst/>
                <a:latin typeface="+mn-lt"/>
              </a:rPr>
              <a:t>) would not be available. Those are the only cases where you would want to use the input-output model instead of the NARX model.</a:t>
            </a:r>
          </a:p>
          <a:p>
            <a:pPr marL="57150" indent="0">
              <a:buNone/>
            </a:pPr>
            <a:endParaRPr lang="en-IN" dirty="0"/>
          </a:p>
        </p:txBody>
      </p:sp>
    </p:spTree>
    <p:extLst>
      <p:ext uri="{BB962C8B-B14F-4D97-AF65-F5344CB8AC3E}">
        <p14:creationId xmlns:p14="http://schemas.microsoft.com/office/powerpoint/2010/main" val="1116789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F23234-457E-B06C-2EE4-7C5E52A584C4}"/>
              </a:ext>
            </a:extLst>
          </p:cNvPr>
          <p:cNvSpPr>
            <a:spLocks noGrp="1"/>
          </p:cNvSpPr>
          <p:nvPr>
            <p:ph type="body" idx="1"/>
          </p:nvPr>
        </p:nvSpPr>
        <p:spPr>
          <a:xfrm>
            <a:off x="447261" y="1649896"/>
            <a:ext cx="8189843" cy="4651513"/>
          </a:xfrm>
        </p:spPr>
        <p:txBody>
          <a:bodyPr>
            <a:noAutofit/>
          </a:bodyPr>
          <a:lstStyle/>
          <a:p>
            <a:pPr marL="57150" indent="0">
              <a:buNone/>
            </a:pPr>
            <a:r>
              <a:rPr lang="en-IN" b="1" dirty="0"/>
              <a:t>Multilayer </a:t>
            </a:r>
            <a:r>
              <a:rPr lang="en-IN" b="1" dirty="0" err="1"/>
              <a:t>Perceptrons</a:t>
            </a:r>
            <a:r>
              <a:rPr lang="en-IN" b="1" dirty="0"/>
              <a:t> (MLPs)</a:t>
            </a:r>
          </a:p>
          <a:p>
            <a:pPr marL="57150" indent="0">
              <a:buNone/>
            </a:pPr>
            <a:r>
              <a:rPr lang="en-US" dirty="0"/>
              <a:t>applied to time series forecasting by structuring the data appropriately. </a:t>
            </a:r>
          </a:p>
          <a:p>
            <a:pPr marL="57150" indent="0">
              <a:buNone/>
            </a:pPr>
            <a:r>
              <a:rPr lang="en-US" dirty="0"/>
              <a:t>MLPs are used in time series forecasting as follows:</a:t>
            </a:r>
          </a:p>
          <a:p>
            <a:pPr marL="57150" indent="0">
              <a:buNone/>
            </a:pPr>
            <a:r>
              <a:rPr lang="en-US" b="1" dirty="0"/>
              <a:t>Input Representation: Sliding Window Approach</a:t>
            </a:r>
          </a:p>
          <a:p>
            <a:pPr marL="57150" indent="0">
              <a:buNone/>
            </a:pPr>
            <a:r>
              <a:rPr lang="en-US" dirty="0"/>
              <a:t>The key to using MLPs for time series forecasting lies in transforming the sequential data into a format that an MLP can handle. This is usually done through a sliding window approach:</a:t>
            </a:r>
          </a:p>
          <a:p>
            <a:pPr marL="57150" indent="0">
              <a:buNone/>
            </a:pPr>
            <a:r>
              <a:rPr lang="en-US" b="1" dirty="0"/>
              <a:t>Sliding Window: </a:t>
            </a:r>
            <a:r>
              <a:rPr lang="en-US" dirty="0"/>
              <a:t>Convert the time series data into input-output pairs by using a fixed-size window of past observations as input (features) and the subsequent observation as the output (target).</a:t>
            </a:r>
          </a:p>
          <a:p>
            <a:pPr marL="57150" indent="0">
              <a:buNone/>
            </a:pPr>
            <a:r>
              <a:rPr lang="en-US" dirty="0"/>
              <a:t>For example, if you're forecasting stock prices, and you choose a window size of 5, the input would be the prices of the last 5 days, and the output would be the price of the next day.</a:t>
            </a:r>
          </a:p>
          <a:p>
            <a:pPr marL="57150" indent="0">
              <a:buNone/>
            </a:pPr>
            <a:r>
              <a:rPr lang="en-US" dirty="0"/>
              <a:t> </a:t>
            </a:r>
            <a:endParaRPr lang="en-IN" b="1" dirty="0"/>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0DA6CF21-1B52-A51B-8E7D-C8230DA2B68A}"/>
                  </a:ext>
                </a:extLst>
              </p14:cNvPr>
              <p14:cNvContentPartPr/>
              <p14:nvPr/>
            </p14:nvContentPartPr>
            <p14:xfrm>
              <a:off x="3251160" y="4172932"/>
              <a:ext cx="5760" cy="23760"/>
            </p14:xfrm>
          </p:contentPart>
        </mc:Choice>
        <mc:Fallback xmlns="">
          <p:pic>
            <p:nvPicPr>
              <p:cNvPr id="9" name="Ink 8">
                <a:extLst>
                  <a:ext uri="{FF2B5EF4-FFF2-40B4-BE49-F238E27FC236}">
                    <a16:creationId xmlns:a16="http://schemas.microsoft.com/office/drawing/2014/main" id="{0DA6CF21-1B52-A51B-8E7D-C8230DA2B68A}"/>
                  </a:ext>
                </a:extLst>
              </p:cNvPr>
              <p:cNvPicPr/>
              <p:nvPr/>
            </p:nvPicPr>
            <p:blipFill>
              <a:blip r:embed="rId13"/>
              <a:stretch>
                <a:fillRect/>
              </a:stretch>
            </p:blipFill>
            <p:spPr>
              <a:xfrm>
                <a:off x="3242520" y="4163932"/>
                <a:ext cx="234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206F31C0-4F5C-5CC2-1361-3FFB0F5DFC26}"/>
                  </a:ext>
                </a:extLst>
              </p14:cNvPr>
              <p14:cNvContentPartPr/>
              <p14:nvPr/>
            </p14:nvContentPartPr>
            <p14:xfrm>
              <a:off x="3013560" y="4201012"/>
              <a:ext cx="360" cy="360"/>
            </p14:xfrm>
          </p:contentPart>
        </mc:Choice>
        <mc:Fallback xmlns="">
          <p:pic>
            <p:nvPicPr>
              <p:cNvPr id="10" name="Ink 9">
                <a:extLst>
                  <a:ext uri="{FF2B5EF4-FFF2-40B4-BE49-F238E27FC236}">
                    <a16:creationId xmlns:a16="http://schemas.microsoft.com/office/drawing/2014/main" id="{206F31C0-4F5C-5CC2-1361-3FFB0F5DFC26}"/>
                  </a:ext>
                </a:extLst>
              </p:cNvPr>
              <p:cNvPicPr/>
              <p:nvPr/>
            </p:nvPicPr>
            <p:blipFill>
              <a:blip r:embed="rId15"/>
              <a:stretch>
                <a:fillRect/>
              </a:stretch>
            </p:blipFill>
            <p:spPr>
              <a:xfrm>
                <a:off x="3004920" y="4192372"/>
                <a:ext cx="18000" cy="18000"/>
              </a:xfrm>
              <a:prstGeom prst="rect">
                <a:avLst/>
              </a:prstGeom>
            </p:spPr>
          </p:pic>
        </mc:Fallback>
      </mc:AlternateContent>
      <p:grpSp>
        <p:nvGrpSpPr>
          <p:cNvPr id="13" name="Group 12">
            <a:extLst>
              <a:ext uri="{FF2B5EF4-FFF2-40B4-BE49-F238E27FC236}">
                <a16:creationId xmlns:a16="http://schemas.microsoft.com/office/drawing/2014/main" id="{753EE073-F0A7-8079-3E8A-584ABCA6E26E}"/>
              </a:ext>
            </a:extLst>
          </p:cNvPr>
          <p:cNvGrpSpPr/>
          <p:nvPr/>
        </p:nvGrpSpPr>
        <p:grpSpPr>
          <a:xfrm>
            <a:off x="3471480" y="4121452"/>
            <a:ext cx="126720" cy="48240"/>
            <a:chOff x="3471480" y="4121452"/>
            <a:chExt cx="126720" cy="4824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F4D9DEBB-D0D7-753A-E9BF-D6551B82E530}"/>
                    </a:ext>
                  </a:extLst>
                </p14:cNvPr>
                <p14:cNvContentPartPr/>
                <p14:nvPr/>
              </p14:nvContentPartPr>
              <p14:xfrm>
                <a:off x="3471480" y="4150972"/>
                <a:ext cx="14040" cy="11520"/>
              </p14:xfrm>
            </p:contentPart>
          </mc:Choice>
          <mc:Fallback xmlns="">
            <p:pic>
              <p:nvPicPr>
                <p:cNvPr id="11" name="Ink 10">
                  <a:extLst>
                    <a:ext uri="{FF2B5EF4-FFF2-40B4-BE49-F238E27FC236}">
                      <a16:creationId xmlns:a16="http://schemas.microsoft.com/office/drawing/2014/main" id="{F4D9DEBB-D0D7-753A-E9BF-D6551B82E530}"/>
                    </a:ext>
                  </a:extLst>
                </p:cNvPr>
                <p:cNvPicPr/>
                <p:nvPr/>
              </p:nvPicPr>
              <p:blipFill>
                <a:blip r:embed="rId17"/>
                <a:stretch>
                  <a:fillRect/>
                </a:stretch>
              </p:blipFill>
              <p:spPr>
                <a:xfrm>
                  <a:off x="3462480" y="4141972"/>
                  <a:ext cx="316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26C9F1D5-9C92-8EC7-49A7-377074C28DE2}"/>
                    </a:ext>
                  </a:extLst>
                </p14:cNvPr>
                <p14:cNvContentPartPr/>
                <p14:nvPr/>
              </p14:nvContentPartPr>
              <p14:xfrm>
                <a:off x="3565800" y="4121452"/>
                <a:ext cx="32400" cy="48240"/>
              </p14:xfrm>
            </p:contentPart>
          </mc:Choice>
          <mc:Fallback xmlns="">
            <p:pic>
              <p:nvPicPr>
                <p:cNvPr id="12" name="Ink 11">
                  <a:extLst>
                    <a:ext uri="{FF2B5EF4-FFF2-40B4-BE49-F238E27FC236}">
                      <a16:creationId xmlns:a16="http://schemas.microsoft.com/office/drawing/2014/main" id="{26C9F1D5-9C92-8EC7-49A7-377074C28DE2}"/>
                    </a:ext>
                  </a:extLst>
                </p:cNvPr>
                <p:cNvPicPr/>
                <p:nvPr/>
              </p:nvPicPr>
              <p:blipFill>
                <a:blip r:embed="rId19"/>
                <a:stretch>
                  <a:fillRect/>
                </a:stretch>
              </p:blipFill>
              <p:spPr>
                <a:xfrm>
                  <a:off x="3557160" y="4112812"/>
                  <a:ext cx="50040" cy="6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38C7247B-73A4-6A2C-6505-9E8E163B9118}"/>
                  </a:ext>
                </a:extLst>
              </p14:cNvPr>
              <p14:cNvContentPartPr/>
              <p14:nvPr/>
            </p14:nvContentPartPr>
            <p14:xfrm>
              <a:off x="6730560" y="4450492"/>
              <a:ext cx="21240" cy="25920"/>
            </p14:xfrm>
          </p:contentPart>
        </mc:Choice>
        <mc:Fallback xmlns="">
          <p:pic>
            <p:nvPicPr>
              <p:cNvPr id="14" name="Ink 13">
                <a:extLst>
                  <a:ext uri="{FF2B5EF4-FFF2-40B4-BE49-F238E27FC236}">
                    <a16:creationId xmlns:a16="http://schemas.microsoft.com/office/drawing/2014/main" id="{38C7247B-73A4-6A2C-6505-9E8E163B9118}"/>
                  </a:ext>
                </a:extLst>
              </p:cNvPr>
              <p:cNvPicPr/>
              <p:nvPr/>
            </p:nvPicPr>
            <p:blipFill>
              <a:blip r:embed="rId21"/>
              <a:stretch>
                <a:fillRect/>
              </a:stretch>
            </p:blipFill>
            <p:spPr>
              <a:xfrm>
                <a:off x="6721560" y="4441492"/>
                <a:ext cx="38880" cy="43560"/>
              </a:xfrm>
              <a:prstGeom prst="rect">
                <a:avLst/>
              </a:prstGeom>
            </p:spPr>
          </p:pic>
        </mc:Fallback>
      </mc:AlternateContent>
    </p:spTree>
    <p:extLst>
      <p:ext uri="{BB962C8B-B14F-4D97-AF65-F5344CB8AC3E}">
        <p14:creationId xmlns:p14="http://schemas.microsoft.com/office/powerpoint/2010/main" val="519648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0DDF833-8341-E5A2-F1DB-F402459154DA}"/>
              </a:ext>
            </a:extLst>
          </p:cNvPr>
          <p:cNvSpPr>
            <a:spLocks noGrp="1"/>
          </p:cNvSpPr>
          <p:nvPr>
            <p:ph type="body" idx="1"/>
          </p:nvPr>
        </p:nvSpPr>
        <p:spPr>
          <a:xfrm>
            <a:off x="496957" y="1560444"/>
            <a:ext cx="8110329" cy="4731026"/>
          </a:xfrm>
        </p:spPr>
        <p:txBody>
          <a:bodyPr>
            <a:normAutofit fontScale="92500" lnSpcReduction="20000"/>
          </a:bodyPr>
          <a:lstStyle/>
          <a:p>
            <a:pPr marL="57150" indent="0">
              <a:buNone/>
            </a:pPr>
            <a:r>
              <a:rPr lang="en-US" sz="1800" b="1" dirty="0"/>
              <a:t>Preprocessing the Data</a:t>
            </a:r>
          </a:p>
          <a:p>
            <a:pPr marL="57150" indent="0">
              <a:buNone/>
            </a:pPr>
            <a:r>
              <a:rPr lang="en-US" sz="1800" dirty="0"/>
              <a:t>Once the sliding windows are created, the data is reshaped into a 2D format that MLPs can process. The input data would have the shape (samples, features), where samples is the number of sliding windows, and features is the number of time steps in each window.</a:t>
            </a:r>
          </a:p>
          <a:p>
            <a:pPr marL="57150" indent="0">
              <a:buNone/>
            </a:pPr>
            <a:r>
              <a:rPr lang="en-US" b="1" dirty="0"/>
              <a:t>Model Architecture</a:t>
            </a:r>
          </a:p>
          <a:p>
            <a:pPr marL="57150" indent="0">
              <a:buNone/>
            </a:pPr>
            <a:r>
              <a:rPr lang="en-US" dirty="0"/>
              <a:t>An MLP used for time series forecasting consists of:</a:t>
            </a:r>
          </a:p>
          <a:p>
            <a:pPr>
              <a:buFont typeface="Arial" panose="020B0604020202020204" pitchFamily="34" charset="0"/>
              <a:buChar char="•"/>
            </a:pPr>
            <a:r>
              <a:rPr lang="en-US" b="1" dirty="0"/>
              <a:t>Input Layer:</a:t>
            </a:r>
            <a:r>
              <a:rPr lang="en-US" dirty="0"/>
              <a:t> Takes in the sliding window of past observations.</a:t>
            </a:r>
          </a:p>
          <a:p>
            <a:pPr>
              <a:buFont typeface="Arial" panose="020B0604020202020204" pitchFamily="34" charset="0"/>
              <a:buChar char="•"/>
            </a:pPr>
            <a:r>
              <a:rPr lang="en-US" b="1" dirty="0"/>
              <a:t>Hidden Layers:</a:t>
            </a:r>
            <a:r>
              <a:rPr lang="en-US" dirty="0"/>
              <a:t> Fully connected (dense) layers with activation functions like </a:t>
            </a:r>
            <a:r>
              <a:rPr lang="en-US" dirty="0" err="1"/>
              <a:t>ReLU</a:t>
            </a:r>
            <a:r>
              <a:rPr lang="en-US" dirty="0"/>
              <a:t>. Additional layers and neurons help capture complex relationships.</a:t>
            </a:r>
          </a:p>
          <a:p>
            <a:pPr>
              <a:buFont typeface="Arial" panose="020B0604020202020204" pitchFamily="34" charset="0"/>
              <a:buChar char="•"/>
            </a:pPr>
            <a:r>
              <a:rPr lang="en-US" b="1" dirty="0"/>
              <a:t>Output Layer:</a:t>
            </a:r>
            <a:r>
              <a:rPr lang="en-US" dirty="0"/>
              <a:t> Single node for predicting the next time step (regression), or multiple nodes for multi-step forecasting.</a:t>
            </a:r>
          </a:p>
          <a:p>
            <a:pPr marL="57150" indent="0">
              <a:buNone/>
            </a:pPr>
            <a:r>
              <a:rPr lang="en-US" b="1" dirty="0"/>
              <a:t>Training the Model</a:t>
            </a:r>
          </a:p>
          <a:p>
            <a:pPr marL="57150" indent="0">
              <a:buNone/>
            </a:pPr>
            <a:r>
              <a:rPr lang="en-US" dirty="0"/>
              <a:t>The model is trained using a supervised learning approach, with the input being the sliding windows and the target being the corresponding next time step. The training process involves minimizing a loss function, typically Mean Squared Error (MSE) for regression tasks.</a:t>
            </a:r>
          </a:p>
          <a:p>
            <a:pPr marL="57150" indent="0">
              <a:buNone/>
            </a:pPr>
            <a:endParaRPr lang="en-IN" dirty="0"/>
          </a:p>
        </p:txBody>
      </p:sp>
    </p:spTree>
    <p:extLst>
      <p:ext uri="{BB962C8B-B14F-4D97-AF65-F5344CB8AC3E}">
        <p14:creationId xmlns:p14="http://schemas.microsoft.com/office/powerpoint/2010/main" val="3643771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858346-B51D-EB5B-59C2-43C6B3905C58}"/>
              </a:ext>
            </a:extLst>
          </p:cNvPr>
          <p:cNvSpPr>
            <a:spLocks noGrp="1"/>
          </p:cNvSpPr>
          <p:nvPr>
            <p:ph type="body" idx="1"/>
          </p:nvPr>
        </p:nvSpPr>
        <p:spPr>
          <a:xfrm>
            <a:off x="437322" y="1510747"/>
            <a:ext cx="8319052" cy="4919869"/>
          </a:xfrm>
        </p:spPr>
        <p:txBody>
          <a:bodyPr>
            <a:normAutofit fontScale="85000" lnSpcReduction="20000"/>
          </a:bodyPr>
          <a:lstStyle/>
          <a:p>
            <a:pPr marL="57150" indent="0">
              <a:buNone/>
            </a:pPr>
            <a:r>
              <a:rPr lang="en-US" b="1" dirty="0"/>
              <a:t>Making Predictions</a:t>
            </a:r>
          </a:p>
          <a:p>
            <a:pPr marL="57150" indent="0">
              <a:buNone/>
            </a:pPr>
            <a:r>
              <a:rPr lang="en-US" dirty="0"/>
              <a:t>Once trained, the MLP model can be used to make predictions:</a:t>
            </a:r>
          </a:p>
          <a:p>
            <a:pPr>
              <a:buFont typeface="Arial" panose="020B0604020202020204" pitchFamily="34" charset="0"/>
              <a:buChar char="•"/>
            </a:pPr>
            <a:r>
              <a:rPr lang="en-US" b="1" dirty="0"/>
              <a:t>Single-Step Prediction:</a:t>
            </a:r>
            <a:r>
              <a:rPr lang="en-US" dirty="0"/>
              <a:t> The model predicts the next value based on the latest sliding window of past values.</a:t>
            </a:r>
          </a:p>
          <a:p>
            <a:pPr>
              <a:buFont typeface="Arial" panose="020B0604020202020204" pitchFamily="34" charset="0"/>
              <a:buChar char="•"/>
            </a:pPr>
            <a:r>
              <a:rPr lang="en-US" b="1" dirty="0"/>
              <a:t>Multi-Step Prediction:</a:t>
            </a:r>
            <a:r>
              <a:rPr lang="en-US" dirty="0"/>
              <a:t> For multiple future time steps, predictions are made recursively. For example, after predicting the next time step, that prediction is added to the sliding window for predicting the subsequent time step.</a:t>
            </a:r>
          </a:p>
          <a:p>
            <a:pPr marL="57150" indent="0">
              <a:buNone/>
            </a:pPr>
            <a:r>
              <a:rPr lang="en-US" b="1" dirty="0"/>
              <a:t>Pros and Cons of Using MLPs for Time Series Forecasting</a:t>
            </a:r>
          </a:p>
          <a:p>
            <a:pPr marL="57150" indent="0">
              <a:buNone/>
            </a:pPr>
            <a:r>
              <a:rPr lang="en-US" b="1" dirty="0"/>
              <a:t>Pros:</a:t>
            </a:r>
          </a:p>
          <a:p>
            <a:pPr>
              <a:buFont typeface="Arial" panose="020B0604020202020204" pitchFamily="34" charset="0"/>
              <a:buChar char="•"/>
            </a:pPr>
            <a:r>
              <a:rPr lang="en-US" b="1" dirty="0"/>
              <a:t>Simplicity:</a:t>
            </a:r>
            <a:r>
              <a:rPr lang="en-US" dirty="0"/>
              <a:t> MLPs are easier to implement compared to recurrent architectures.</a:t>
            </a:r>
          </a:p>
          <a:p>
            <a:pPr>
              <a:buFont typeface="Arial" panose="020B0604020202020204" pitchFamily="34" charset="0"/>
              <a:buChar char="•"/>
            </a:pPr>
            <a:r>
              <a:rPr lang="en-US" b="1" dirty="0"/>
              <a:t>Versatility:</a:t>
            </a:r>
            <a:r>
              <a:rPr lang="en-US" dirty="0"/>
              <a:t> Can be used for both single-step and multi-step forecasting.</a:t>
            </a:r>
          </a:p>
          <a:p>
            <a:pPr>
              <a:buFont typeface="Arial" panose="020B0604020202020204" pitchFamily="34" charset="0"/>
              <a:buChar char="•"/>
            </a:pPr>
            <a:r>
              <a:rPr lang="en-US" b="1" dirty="0"/>
              <a:t>Scalability:</a:t>
            </a:r>
            <a:r>
              <a:rPr lang="en-US" dirty="0"/>
              <a:t> Works well with large datasets and can be extended by adding more layers/neurons.</a:t>
            </a:r>
          </a:p>
          <a:p>
            <a:pPr marL="57150" indent="0">
              <a:buNone/>
            </a:pPr>
            <a:r>
              <a:rPr lang="en-US" b="1" dirty="0"/>
              <a:t>Cons:</a:t>
            </a:r>
          </a:p>
          <a:p>
            <a:pPr>
              <a:buFont typeface="Arial" panose="020B0604020202020204" pitchFamily="34" charset="0"/>
              <a:buChar char="•"/>
            </a:pPr>
            <a:r>
              <a:rPr lang="en-US" b="1" dirty="0"/>
              <a:t>No Sequential Memory:</a:t>
            </a:r>
            <a:r>
              <a:rPr lang="en-US" dirty="0"/>
              <a:t> MLPs lack the ability to remember long-term dependencies, which is essential in some time series data. This is where LSTMs and GRUs perform better.</a:t>
            </a:r>
          </a:p>
          <a:p>
            <a:pPr>
              <a:buFont typeface="Arial" panose="020B0604020202020204" pitchFamily="34" charset="0"/>
              <a:buChar char="•"/>
            </a:pPr>
            <a:r>
              <a:rPr lang="en-US" b="1" dirty="0"/>
              <a:t>Feature Engineering:</a:t>
            </a:r>
            <a:r>
              <a:rPr lang="en-US" dirty="0"/>
              <a:t> Often requires manual feature engineering, such as adding lagged variables or using sliding windows.</a:t>
            </a:r>
          </a:p>
          <a:p>
            <a:pPr>
              <a:buFont typeface="Arial" panose="020B0604020202020204" pitchFamily="34" charset="0"/>
              <a:buChar char="•"/>
            </a:pPr>
            <a:endParaRPr lang="en-US" dirty="0"/>
          </a:p>
          <a:p>
            <a:pPr marL="57150" indent="0">
              <a:buNone/>
            </a:pPr>
            <a:endParaRPr lang="en-IN" dirty="0"/>
          </a:p>
        </p:txBody>
      </p:sp>
    </p:spTree>
    <p:extLst>
      <p:ext uri="{BB962C8B-B14F-4D97-AF65-F5344CB8AC3E}">
        <p14:creationId xmlns:p14="http://schemas.microsoft.com/office/powerpoint/2010/main" val="1383883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679179-DD5A-86C5-2143-017BB6B2B689}"/>
              </a:ext>
            </a:extLst>
          </p:cNvPr>
          <p:cNvSpPr>
            <a:spLocks noGrp="1"/>
          </p:cNvSpPr>
          <p:nvPr>
            <p:ph type="body" idx="1"/>
          </p:nvPr>
        </p:nvSpPr>
        <p:spPr>
          <a:xfrm>
            <a:off x="467139" y="1530626"/>
            <a:ext cx="8130209" cy="4850296"/>
          </a:xfrm>
        </p:spPr>
        <p:txBody>
          <a:bodyPr>
            <a:normAutofit fontScale="25000" lnSpcReduction="20000"/>
          </a:bodyPr>
          <a:lstStyle/>
          <a:p>
            <a:pPr marL="57150" indent="0">
              <a:buNone/>
            </a:pPr>
            <a:r>
              <a:rPr lang="en-IN" sz="5600" b="1" dirty="0"/>
              <a:t>Long Short-Term Memory (LSTM)</a:t>
            </a:r>
          </a:p>
          <a:p>
            <a:pPr marL="57150" indent="0">
              <a:buNone/>
            </a:pPr>
            <a:r>
              <a:rPr lang="en-US" sz="5600" dirty="0"/>
              <a:t>These networks are a type of Recurrent Neural Network (RNN) designed to learn and remember long-term dependencies in sequential data, making them well-suited for time series forecasting. </a:t>
            </a:r>
          </a:p>
          <a:p>
            <a:pPr marL="57150" indent="0">
              <a:buNone/>
            </a:pPr>
            <a:r>
              <a:rPr lang="en-US" sz="5600" dirty="0"/>
              <a:t>LSTMs are capable of capturing patterns in time series data over long periods, which is crucial for many forecasting tasks.</a:t>
            </a:r>
          </a:p>
          <a:p>
            <a:pPr marL="57150" indent="0">
              <a:buNone/>
            </a:pPr>
            <a:r>
              <a:rPr lang="en-US" sz="5600" b="1" dirty="0"/>
              <a:t>Pros and Cons of LSTM for Time Series Forecasting</a:t>
            </a:r>
          </a:p>
          <a:p>
            <a:pPr marL="57150" indent="0">
              <a:buNone/>
            </a:pPr>
            <a:r>
              <a:rPr lang="en-US" sz="5600" b="1" dirty="0"/>
              <a:t>Pros:</a:t>
            </a:r>
          </a:p>
          <a:p>
            <a:pPr marL="57150" indent="0">
              <a:buNone/>
            </a:pPr>
            <a:r>
              <a:rPr lang="en-US" sz="5600" b="1" dirty="0"/>
              <a:t>Handles Long-Term Dependencies:</a:t>
            </a:r>
            <a:r>
              <a:rPr lang="en-US" sz="5600" dirty="0"/>
              <a:t> LSTMs are designed to capture long-term dependencies in sequential data.</a:t>
            </a:r>
          </a:p>
          <a:p>
            <a:pPr marL="57150" indent="0">
              <a:buNone/>
            </a:pPr>
            <a:r>
              <a:rPr lang="en-US" sz="5600" b="1" dirty="0"/>
              <a:t>Flexible:</a:t>
            </a:r>
            <a:r>
              <a:rPr lang="en-US" sz="5600" dirty="0"/>
              <a:t> Can model complex patterns and trends in time series data.</a:t>
            </a:r>
          </a:p>
          <a:p>
            <a:pPr marL="57150" indent="0">
              <a:buNone/>
            </a:pPr>
            <a:r>
              <a:rPr lang="en-US" sz="5600" b="1" dirty="0"/>
              <a:t>Good Performance:</a:t>
            </a:r>
            <a:r>
              <a:rPr lang="en-US" sz="5600" dirty="0"/>
              <a:t> Often outperforms traditional methods on complex time series forecasting tasks.</a:t>
            </a:r>
          </a:p>
          <a:p>
            <a:pPr marL="57150" indent="0">
              <a:buNone/>
            </a:pPr>
            <a:r>
              <a:rPr lang="en-US" sz="5600" b="1" dirty="0"/>
              <a:t>Cons:</a:t>
            </a:r>
          </a:p>
          <a:p>
            <a:pPr marL="57150" indent="0">
              <a:buNone/>
            </a:pPr>
            <a:r>
              <a:rPr lang="en-US" sz="5600" b="1" dirty="0"/>
              <a:t>Computationally Intensive:</a:t>
            </a:r>
            <a:r>
              <a:rPr lang="en-US" sz="5600" dirty="0"/>
              <a:t> Training LSTMs can be resource-intensive and time-consuming.</a:t>
            </a:r>
          </a:p>
          <a:p>
            <a:pPr marL="57150" indent="0">
              <a:buNone/>
            </a:pPr>
            <a:r>
              <a:rPr lang="en-US" sz="5600" b="1" dirty="0"/>
              <a:t>Requires Tuning:</a:t>
            </a:r>
            <a:r>
              <a:rPr lang="en-US" sz="5600" dirty="0"/>
              <a:t> Hyperparameter tuning is essential for optimal performance.</a:t>
            </a:r>
          </a:p>
          <a:p>
            <a:pPr marL="57150" indent="0">
              <a:buNone/>
            </a:pPr>
            <a:r>
              <a:rPr lang="en-US" sz="5600" b="1" dirty="0"/>
              <a:t>Complexity:</a:t>
            </a:r>
            <a:r>
              <a:rPr lang="en-US" sz="5600" dirty="0"/>
              <a:t> More complex to implement and understand compared to simpler models.</a:t>
            </a:r>
          </a:p>
          <a:p>
            <a:pPr marL="57150" indent="0">
              <a:buNone/>
            </a:pPr>
            <a:r>
              <a:rPr lang="en-US" sz="5600" dirty="0"/>
              <a:t>Using LSTMs for time series forecasting can provide accurate and robust predictions, especially when dealing with complex patterns and long-term dependencies.</a:t>
            </a:r>
          </a:p>
          <a:p>
            <a:pPr marL="57150" indent="0">
              <a:buNone/>
            </a:pPr>
            <a:endParaRPr lang="en-US" sz="5600"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r>
              <a:rPr lang="en-US" dirty="0"/>
              <a:t>Code in python</a:t>
            </a:r>
            <a:endParaRPr lang="en-IN" dirty="0"/>
          </a:p>
        </p:txBody>
      </p:sp>
    </p:spTree>
    <p:extLst>
      <p:ext uri="{BB962C8B-B14F-4D97-AF65-F5344CB8AC3E}">
        <p14:creationId xmlns:p14="http://schemas.microsoft.com/office/powerpoint/2010/main" val="1528555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7D335A6-9ADD-38FF-E571-8C7EB6AA4EC5}"/>
              </a:ext>
            </a:extLst>
          </p:cNvPr>
          <p:cNvSpPr>
            <a:spLocks noGrp="1"/>
          </p:cNvSpPr>
          <p:nvPr>
            <p:ph type="body" idx="1"/>
          </p:nvPr>
        </p:nvSpPr>
        <p:spPr>
          <a:xfrm>
            <a:off x="367749" y="1590261"/>
            <a:ext cx="8468138" cy="4780722"/>
          </a:xfrm>
        </p:spPr>
        <p:txBody>
          <a:bodyPr>
            <a:normAutofit/>
          </a:bodyPr>
          <a:lstStyle/>
          <a:p>
            <a:pPr marL="57150" indent="0">
              <a:buNone/>
            </a:pPr>
            <a:r>
              <a:rPr lang="en-US" sz="1600" b="1" dirty="0">
                <a:solidFill>
                  <a:schemeClr val="tx1"/>
                </a:solidFill>
                <a:latin typeface="+mn-lt"/>
              </a:rPr>
              <a:t>Recurrent Neural Networks (RNNs)</a:t>
            </a:r>
          </a:p>
          <a:p>
            <a:pPr>
              <a:buFont typeface="Arial" panose="020B0604020202020204" pitchFamily="34" charset="0"/>
              <a:buChar char="•"/>
            </a:pPr>
            <a:r>
              <a:rPr lang="en-US" sz="1600" b="1" dirty="0">
                <a:solidFill>
                  <a:schemeClr val="tx1"/>
                </a:solidFill>
                <a:latin typeface="+mn-lt"/>
              </a:rPr>
              <a:t>Overview:</a:t>
            </a:r>
            <a:r>
              <a:rPr lang="en-US" sz="1600" dirty="0">
                <a:solidFill>
                  <a:schemeClr val="tx1"/>
                </a:solidFill>
                <a:latin typeface="+mn-lt"/>
              </a:rPr>
              <a:t> RNNs are specifically designed to handle sequential data, making them a natural choice for time series. They have loops that allow information to persist, enabling the network to capture dependencies across time steps.</a:t>
            </a:r>
          </a:p>
          <a:p>
            <a:pPr>
              <a:buFont typeface="Arial" panose="020B0604020202020204" pitchFamily="34" charset="0"/>
              <a:buChar char="•"/>
            </a:pPr>
            <a:r>
              <a:rPr lang="en-US" sz="1600" b="1" dirty="0">
                <a:solidFill>
                  <a:schemeClr val="tx1"/>
                </a:solidFill>
                <a:latin typeface="+mn-lt"/>
              </a:rPr>
              <a:t>Use Cases:</a:t>
            </a:r>
            <a:r>
              <a:rPr lang="en-US" sz="1600" dirty="0">
                <a:solidFill>
                  <a:schemeClr val="tx1"/>
                </a:solidFill>
                <a:latin typeface="+mn-lt"/>
              </a:rPr>
              <a:t> RNNs are useful for univariate and multivariate time series forecasting, sequence generation, and anomaly detection.</a:t>
            </a:r>
          </a:p>
          <a:p>
            <a:pPr>
              <a:buFont typeface="Arial" panose="020B0604020202020204" pitchFamily="34" charset="0"/>
              <a:buChar char="•"/>
            </a:pPr>
            <a:r>
              <a:rPr lang="en-US" sz="1600" b="1" dirty="0">
                <a:solidFill>
                  <a:schemeClr val="tx1"/>
                </a:solidFill>
                <a:latin typeface="+mn-lt"/>
              </a:rPr>
              <a:t>Challenges:</a:t>
            </a:r>
            <a:r>
              <a:rPr lang="en-US" sz="1600" dirty="0">
                <a:solidFill>
                  <a:schemeClr val="tx1"/>
                </a:solidFill>
                <a:latin typeface="+mn-lt"/>
              </a:rPr>
              <a:t> Standard RNNs can struggle with long-term dependencies due to the vanishing gradient problem.</a:t>
            </a:r>
          </a:p>
          <a:p>
            <a:pPr>
              <a:buFont typeface="Arial" panose="020B0604020202020204" pitchFamily="34" charset="0"/>
              <a:buChar char="•"/>
            </a:pPr>
            <a:r>
              <a:rPr lang="en-US" sz="1600" b="1" dirty="0">
                <a:solidFill>
                  <a:schemeClr val="tx1"/>
                </a:solidFill>
                <a:latin typeface="+mn-lt"/>
              </a:rPr>
              <a:t>Variants:</a:t>
            </a:r>
            <a:endParaRPr lang="en-US" sz="1600" dirty="0">
              <a:solidFill>
                <a:schemeClr val="tx1"/>
              </a:solidFill>
              <a:latin typeface="+mn-lt"/>
            </a:endParaRPr>
          </a:p>
          <a:p>
            <a:pPr marL="742950" lvl="1" indent="-285750">
              <a:buFont typeface="Arial" panose="020B0604020202020204" pitchFamily="34" charset="0"/>
              <a:buChar char="•"/>
            </a:pPr>
            <a:r>
              <a:rPr lang="en-US" sz="1600" b="1" dirty="0">
                <a:solidFill>
                  <a:schemeClr val="tx1"/>
                </a:solidFill>
                <a:latin typeface="+mn-lt"/>
              </a:rPr>
              <a:t>Long Short-Term Memory (LSTM):</a:t>
            </a:r>
            <a:r>
              <a:rPr lang="en-US" sz="1600" dirty="0">
                <a:solidFill>
                  <a:schemeClr val="tx1"/>
                </a:solidFill>
                <a:latin typeface="+mn-lt"/>
              </a:rPr>
              <a:t> An advanced type of RNN designed to address the vanishing gradient problem. LSTMs have memory cells that store information over long sequences, making them effective for capturing long-term dependencies in time series.</a:t>
            </a:r>
          </a:p>
          <a:p>
            <a:pPr marL="742950" lvl="1" indent="-285750">
              <a:buFont typeface="Arial" panose="020B0604020202020204" pitchFamily="34" charset="0"/>
              <a:buChar char="•"/>
            </a:pPr>
            <a:r>
              <a:rPr lang="en-US" sz="1600" b="1" dirty="0">
                <a:solidFill>
                  <a:schemeClr val="tx1"/>
                </a:solidFill>
                <a:latin typeface="+mn-lt"/>
              </a:rPr>
              <a:t>Gated Recurrent Units (GRU):</a:t>
            </a:r>
            <a:r>
              <a:rPr lang="en-US" sz="1600" dirty="0">
                <a:solidFill>
                  <a:schemeClr val="tx1"/>
                </a:solidFill>
                <a:latin typeface="+mn-lt"/>
              </a:rPr>
              <a:t> A simpler variant of LSTM, with fewer parameters, but often performs equally well in practice. GRUs are faster to train and are widely used in time series forecasting.</a:t>
            </a:r>
          </a:p>
          <a:p>
            <a:pPr marL="57150" indent="0">
              <a:buNone/>
            </a:pPr>
            <a:endParaRPr lang="en-IN" dirty="0"/>
          </a:p>
        </p:txBody>
      </p:sp>
    </p:spTree>
    <p:extLst>
      <p:ext uri="{BB962C8B-B14F-4D97-AF65-F5344CB8AC3E}">
        <p14:creationId xmlns:p14="http://schemas.microsoft.com/office/powerpoint/2010/main" val="3730267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9F61E5-AAFD-EABB-2C86-2C9D3AAEAF5C}"/>
              </a:ext>
            </a:extLst>
          </p:cNvPr>
          <p:cNvSpPr>
            <a:spLocks noGrp="1"/>
          </p:cNvSpPr>
          <p:nvPr>
            <p:ph type="body" idx="1"/>
          </p:nvPr>
        </p:nvSpPr>
        <p:spPr>
          <a:xfrm>
            <a:off x="417443" y="1639957"/>
            <a:ext cx="8348870" cy="4721086"/>
          </a:xfrm>
        </p:spPr>
        <p:txBody>
          <a:bodyPr>
            <a:normAutofit fontScale="85000" lnSpcReduction="10000"/>
          </a:bodyPr>
          <a:lstStyle/>
          <a:p>
            <a:pPr marL="57150" indent="0">
              <a:buNone/>
            </a:pPr>
            <a:r>
              <a:rPr lang="en-US" sz="2200" b="1" dirty="0"/>
              <a:t>Architecture</a:t>
            </a:r>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r>
              <a:rPr lang="en-US" b="1" dirty="0"/>
              <a:t>Weights </a:t>
            </a:r>
            <a:r>
              <a:rPr lang="en-US" dirty="0"/>
              <a:t>- In the RNNs, the input vector at time t is connected to the hidden layer neurons of time t by a weight matrix U, the hidden layer neurons are connected to the neurons of time t-1 and t+1 by a weight matrix W, and the hidden layer neurons are connected to the output vector of time t by a weight matrix V; all the weight matrices are constant for each time step</a:t>
            </a:r>
          </a:p>
          <a:p>
            <a:pPr marL="57150" indent="0">
              <a:buNone/>
            </a:pPr>
            <a:r>
              <a:rPr lang="en-US" b="1" dirty="0"/>
              <a:t>Input - </a:t>
            </a:r>
            <a:r>
              <a:rPr lang="en-US" dirty="0"/>
              <a:t>The vector x(t)​ is the </a:t>
            </a:r>
            <a:r>
              <a:rPr lang="en-US" dirty="0" err="1"/>
              <a:t>intput</a:t>
            </a:r>
            <a:r>
              <a:rPr lang="en-US" dirty="0"/>
              <a:t> of the network at time step t.</a:t>
            </a:r>
          </a:p>
          <a:p>
            <a:pPr marL="57150" indent="0">
              <a:buNone/>
            </a:pPr>
            <a:r>
              <a:rPr lang="en-US" b="1" dirty="0"/>
              <a:t>Hidden state </a:t>
            </a:r>
            <a:r>
              <a:rPr lang="en-US" dirty="0"/>
              <a:t>- The vector h(t)​ is the a hidden state at time t, and is a sort of memory of the network; it is calculated based on the current input and the previous time step’s hidden state:</a:t>
            </a:r>
          </a:p>
          <a:p>
            <a:pPr marL="57150" indent="0">
              <a:buNone/>
            </a:pPr>
            <a:r>
              <a:rPr lang="en-US" b="1" dirty="0"/>
              <a:t>Output — </a:t>
            </a:r>
            <a:r>
              <a:rPr lang="en-US" dirty="0"/>
              <a:t>The vector y^(t) ​is the output of the network at time t:</a:t>
            </a:r>
          </a:p>
          <a:p>
            <a:pPr marL="57150" indent="0">
              <a:buNone/>
            </a:pPr>
            <a:endParaRPr lang="en-US" dirty="0"/>
          </a:p>
          <a:p>
            <a:pPr marL="57150" indent="0">
              <a:buNone/>
            </a:pPr>
            <a:endParaRPr lang="en-IN" dirty="0"/>
          </a:p>
        </p:txBody>
      </p:sp>
      <p:pic>
        <p:nvPicPr>
          <p:cNvPr id="4" name="Picture 3">
            <a:extLst>
              <a:ext uri="{FF2B5EF4-FFF2-40B4-BE49-F238E27FC236}">
                <a16:creationId xmlns:a16="http://schemas.microsoft.com/office/drawing/2014/main" id="{22E83B78-A258-843A-1D57-5CD10037DFB1}"/>
              </a:ext>
            </a:extLst>
          </p:cNvPr>
          <p:cNvPicPr>
            <a:picLocks noChangeAspect="1"/>
          </p:cNvPicPr>
          <p:nvPr/>
        </p:nvPicPr>
        <p:blipFill>
          <a:blip r:embed="rId2"/>
          <a:stretch>
            <a:fillRect/>
          </a:stretch>
        </p:blipFill>
        <p:spPr>
          <a:xfrm>
            <a:off x="2404585" y="1838324"/>
            <a:ext cx="3519137" cy="1928605"/>
          </a:xfrm>
          <a:prstGeom prst="rect">
            <a:avLst/>
          </a:prstGeom>
        </p:spPr>
      </p:pic>
    </p:spTree>
    <p:extLst>
      <p:ext uri="{BB962C8B-B14F-4D97-AF65-F5344CB8AC3E}">
        <p14:creationId xmlns:p14="http://schemas.microsoft.com/office/powerpoint/2010/main" val="43713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783EE4-9313-69C8-0DEB-D115B0DC6D18}"/>
              </a:ext>
            </a:extLst>
          </p:cNvPr>
          <p:cNvSpPr>
            <a:spLocks noGrp="1"/>
          </p:cNvSpPr>
          <p:nvPr>
            <p:ph type="body" idx="1"/>
          </p:nvPr>
        </p:nvSpPr>
        <p:spPr>
          <a:xfrm>
            <a:off x="417443" y="1610139"/>
            <a:ext cx="8189843" cy="4760844"/>
          </a:xfrm>
        </p:spPr>
        <p:txBody>
          <a:bodyPr/>
          <a:lstStyle/>
          <a:p>
            <a:pPr marL="57150" indent="0">
              <a:buNone/>
            </a:pPr>
            <a:r>
              <a:rPr lang="en-US" b="1" dirty="0"/>
              <a:t>Long Short-Term Memory (LSTM)</a:t>
            </a:r>
          </a:p>
          <a:p>
            <a:pPr marL="57150" indent="0">
              <a:buNone/>
            </a:pPr>
            <a:r>
              <a:rPr lang="en-US" dirty="0"/>
              <a:t>Long Short-Term Memory Networks (LSTM) have been developed to overcome the vanishing gradient problem in the standard RNN by improving the gradient flow within the network. This is achieved using a LSTM unit in place of the hidden layer. As shown in the Figure below, a LSTM unit is composed of:</a:t>
            </a:r>
          </a:p>
          <a:p>
            <a:pPr marL="57150" indent="0">
              <a:buNone/>
            </a:pPr>
            <a:r>
              <a:rPr lang="en-US" dirty="0"/>
              <a:t>a cell state, that brings information along the entire sequence and represents the memory of the network;</a:t>
            </a:r>
          </a:p>
          <a:p>
            <a:pPr marL="57150" indent="0">
              <a:buNone/>
            </a:pPr>
            <a:r>
              <a:rPr lang="en-US" dirty="0"/>
              <a:t>a forget gate, that decides what is relevant to keep from previous time steps;</a:t>
            </a:r>
          </a:p>
          <a:p>
            <a:pPr marL="57150" indent="0">
              <a:buNone/>
            </a:pPr>
            <a:r>
              <a:rPr lang="en-US" dirty="0"/>
              <a:t>an input gate, that decides what information is relevant to add from the current time step;</a:t>
            </a:r>
          </a:p>
          <a:p>
            <a:pPr marL="57150" indent="0">
              <a:buNone/>
            </a:pPr>
            <a:r>
              <a:rPr lang="en-US" dirty="0"/>
              <a:t>an output gate, that decides the value of the output at current time step.</a:t>
            </a:r>
            <a:endParaRPr lang="en-IN" dirty="0"/>
          </a:p>
        </p:txBody>
      </p:sp>
    </p:spTree>
    <p:extLst>
      <p:ext uri="{BB962C8B-B14F-4D97-AF65-F5344CB8AC3E}">
        <p14:creationId xmlns:p14="http://schemas.microsoft.com/office/powerpoint/2010/main" val="1893876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5DDC904-BB8C-1D6E-3770-A894480FD94D}"/>
              </a:ext>
            </a:extLst>
          </p:cNvPr>
          <p:cNvSpPr>
            <a:spLocks noGrp="1"/>
          </p:cNvSpPr>
          <p:nvPr>
            <p:ph type="body" idx="1"/>
          </p:nvPr>
        </p:nvSpPr>
        <p:spPr>
          <a:xfrm>
            <a:off x="327991" y="1530626"/>
            <a:ext cx="8348869" cy="4870174"/>
          </a:xfrm>
        </p:spPr>
        <p:txBody>
          <a:bodyPr>
            <a:normAutofit lnSpcReduction="10000"/>
          </a:bodyPr>
          <a:lstStyle/>
          <a:p>
            <a:pPr marL="57150" indent="0">
              <a:buNone/>
            </a:pPr>
            <a:r>
              <a:rPr lang="en-US" b="1" dirty="0"/>
              <a:t>Architecture</a:t>
            </a:r>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endParaRPr lang="en-US" dirty="0"/>
          </a:p>
          <a:p>
            <a:pPr marL="57150" indent="0">
              <a:buNone/>
            </a:pPr>
            <a:r>
              <a:rPr lang="en-US" b="0" i="0" dirty="0">
                <a:solidFill>
                  <a:srgbClr val="242424"/>
                </a:solidFill>
                <a:effectLst/>
                <a:latin typeface="+mn-lt"/>
              </a:rPr>
              <a:t>The cell state transfers the relevant information during processing, so that also the information from the previous time steps arrives at each time step, reducing the effects of short-term memory. </a:t>
            </a:r>
          </a:p>
          <a:p>
            <a:pPr marL="57150" indent="0">
              <a:buNone/>
            </a:pPr>
            <a:r>
              <a:rPr lang="en-US" b="0" i="0" dirty="0">
                <a:solidFill>
                  <a:srgbClr val="242424"/>
                </a:solidFill>
                <a:effectLst/>
                <a:latin typeface="+mn-lt"/>
              </a:rPr>
              <a:t>During training over all the time steps, the gates learn which information is important to keep or to forget, and add them to the cell state, or remove them from it.</a:t>
            </a:r>
            <a:endParaRPr lang="en-US" dirty="0">
              <a:latin typeface="+mn-lt"/>
            </a:endParaRPr>
          </a:p>
          <a:p>
            <a:pPr marL="57150" indent="0">
              <a:buNone/>
            </a:pPr>
            <a:endParaRPr lang="en-US" dirty="0"/>
          </a:p>
          <a:p>
            <a:pPr marL="57150" indent="0">
              <a:buNone/>
            </a:pPr>
            <a:endParaRPr lang="en-IN" dirty="0"/>
          </a:p>
        </p:txBody>
      </p:sp>
      <p:pic>
        <p:nvPicPr>
          <p:cNvPr id="4" name="Picture 3">
            <a:extLst>
              <a:ext uri="{FF2B5EF4-FFF2-40B4-BE49-F238E27FC236}">
                <a16:creationId xmlns:a16="http://schemas.microsoft.com/office/drawing/2014/main" id="{410F59C1-E067-1D83-CE63-7F16A3B76A5C}"/>
              </a:ext>
            </a:extLst>
          </p:cNvPr>
          <p:cNvPicPr>
            <a:picLocks noChangeAspect="1"/>
          </p:cNvPicPr>
          <p:nvPr/>
        </p:nvPicPr>
        <p:blipFill>
          <a:blip r:embed="rId2"/>
          <a:stretch>
            <a:fillRect/>
          </a:stretch>
        </p:blipFill>
        <p:spPr>
          <a:xfrm>
            <a:off x="2613991" y="1818429"/>
            <a:ext cx="4248316" cy="2498707"/>
          </a:xfrm>
          <a:prstGeom prst="rect">
            <a:avLst/>
          </a:prstGeom>
        </p:spPr>
      </p:pic>
    </p:spTree>
    <p:extLst>
      <p:ext uri="{BB962C8B-B14F-4D97-AF65-F5344CB8AC3E}">
        <p14:creationId xmlns:p14="http://schemas.microsoft.com/office/powerpoint/2010/main" val="309307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FC07D1-8FCF-4EDD-7C60-4938B9861200}"/>
              </a:ext>
            </a:extLst>
          </p:cNvPr>
          <p:cNvSpPr>
            <a:spLocks noGrp="1"/>
          </p:cNvSpPr>
          <p:nvPr>
            <p:ph type="body" idx="1"/>
          </p:nvPr>
        </p:nvSpPr>
        <p:spPr>
          <a:xfrm>
            <a:off x="397565" y="1659835"/>
            <a:ext cx="8279295" cy="4641574"/>
          </a:xfrm>
        </p:spPr>
        <p:txBody>
          <a:bodyPr>
            <a:normAutofit fontScale="85000" lnSpcReduction="10000"/>
          </a:bodyPr>
          <a:lstStyle/>
          <a:p>
            <a:pPr marL="57150" indent="0" algn="l">
              <a:buNone/>
            </a:pPr>
            <a:r>
              <a:rPr lang="en-US" b="1" i="0" dirty="0">
                <a:solidFill>
                  <a:srgbClr val="242424"/>
                </a:solidFill>
                <a:effectLst/>
                <a:latin typeface="+mn-lt"/>
              </a:rPr>
              <a:t>Forget Gate</a:t>
            </a:r>
          </a:p>
          <a:p>
            <a:pPr marL="57150" indent="0" algn="l">
              <a:buNone/>
            </a:pPr>
            <a:r>
              <a:rPr lang="en-US" b="0" i="0" dirty="0">
                <a:solidFill>
                  <a:srgbClr val="242424"/>
                </a:solidFill>
                <a:effectLst/>
                <a:latin typeface="+mn-lt"/>
              </a:rPr>
              <a:t>The first gate is the forget gate. This gate decides which information should be deleted or saved. The information from the previous hidden state and the information from the current input are passed through the sigmoid function. </a:t>
            </a:r>
          </a:p>
          <a:p>
            <a:pPr marL="57150" indent="0" algn="l">
              <a:buNone/>
            </a:pPr>
            <a:r>
              <a:rPr lang="en-US" b="0" i="0" dirty="0">
                <a:solidFill>
                  <a:srgbClr val="242424"/>
                </a:solidFill>
                <a:effectLst/>
                <a:latin typeface="+mn-lt"/>
              </a:rPr>
              <a:t>An output is close to 0 it means that the information can be forgotten, while an output close to 1 means that the information must be saved.</a:t>
            </a:r>
          </a:p>
          <a:p>
            <a:pPr marL="57150" indent="0">
              <a:buNone/>
            </a:pPr>
            <a:endParaRPr lang="en-IN" dirty="0">
              <a:latin typeface="+mn-lt"/>
            </a:endParaRPr>
          </a:p>
          <a:p>
            <a:pPr marL="57150" indent="0" algn="l">
              <a:buNone/>
            </a:pPr>
            <a:r>
              <a:rPr lang="en-US" b="1" i="0" dirty="0">
                <a:solidFill>
                  <a:srgbClr val="242424"/>
                </a:solidFill>
                <a:effectLst/>
                <a:latin typeface="+mn-lt"/>
              </a:rPr>
              <a:t>Input Gate</a:t>
            </a:r>
          </a:p>
          <a:p>
            <a:pPr marL="57150" indent="0" algn="l">
              <a:buNone/>
            </a:pPr>
            <a:r>
              <a:rPr lang="en-US" b="0" i="0" dirty="0">
                <a:solidFill>
                  <a:srgbClr val="242424"/>
                </a:solidFill>
                <a:effectLst/>
                <a:latin typeface="+mn-lt"/>
              </a:rPr>
              <a:t>The second gate is the input gate. This is used to update the cell state. Initially the previous hidden state and the current input are given as inputs to a sigmoid function (the closer the output is to 1, the more important the information). </a:t>
            </a:r>
          </a:p>
          <a:p>
            <a:pPr marL="57150" indent="0" algn="l">
              <a:buNone/>
            </a:pPr>
            <a:r>
              <a:rPr lang="en-US" b="0" i="0" dirty="0">
                <a:solidFill>
                  <a:srgbClr val="242424"/>
                </a:solidFill>
                <a:effectLst/>
                <a:latin typeface="+mn-lt"/>
              </a:rPr>
              <a:t>It also passes the hidden state and current input to a </a:t>
            </a:r>
            <a:r>
              <a:rPr lang="en-US" b="0" i="1" dirty="0">
                <a:solidFill>
                  <a:srgbClr val="242424"/>
                </a:solidFill>
                <a:effectLst/>
                <a:latin typeface="+mn-lt"/>
              </a:rPr>
              <a:t>tanh</a:t>
            </a:r>
            <a:r>
              <a:rPr lang="en-US" b="0" i="0" dirty="0">
                <a:solidFill>
                  <a:srgbClr val="242424"/>
                </a:solidFill>
                <a:effectLst/>
                <a:latin typeface="+mn-lt"/>
              </a:rPr>
              <a:t> function to squeeze values ​​between -1 and 1, in order to improve the tuning of the network. </a:t>
            </a:r>
          </a:p>
          <a:p>
            <a:pPr marL="57150" indent="0" algn="l">
              <a:buNone/>
            </a:pPr>
            <a:r>
              <a:rPr lang="en-US" b="0" i="0" dirty="0">
                <a:solidFill>
                  <a:srgbClr val="242424"/>
                </a:solidFill>
                <a:effectLst/>
                <a:latin typeface="+mn-lt"/>
              </a:rPr>
              <a:t>Then the output of the </a:t>
            </a:r>
            <a:r>
              <a:rPr lang="en-US" b="0" i="1" dirty="0">
                <a:solidFill>
                  <a:srgbClr val="242424"/>
                </a:solidFill>
                <a:effectLst/>
                <a:latin typeface="+mn-lt"/>
              </a:rPr>
              <a:t>tanh </a:t>
            </a:r>
            <a:r>
              <a:rPr lang="en-US" b="0" i="0" dirty="0">
                <a:solidFill>
                  <a:srgbClr val="242424"/>
                </a:solidFill>
                <a:effectLst/>
                <a:latin typeface="+mn-lt"/>
              </a:rPr>
              <a:t>and of the </a:t>
            </a:r>
            <a:r>
              <a:rPr lang="en-US" b="0" i="1" dirty="0">
                <a:solidFill>
                  <a:srgbClr val="242424"/>
                </a:solidFill>
                <a:effectLst/>
                <a:latin typeface="+mn-lt"/>
              </a:rPr>
              <a:t>sigmoid</a:t>
            </a:r>
            <a:r>
              <a:rPr lang="en-US" b="0" i="0" dirty="0">
                <a:solidFill>
                  <a:srgbClr val="242424"/>
                </a:solidFill>
                <a:effectLst/>
                <a:latin typeface="+mn-lt"/>
              </a:rPr>
              <a:t> are multiplied element by element (in the formula below the symbol * indicates the multiplication element by element of two matrices). </a:t>
            </a:r>
          </a:p>
          <a:p>
            <a:pPr marL="57150" indent="0" algn="l">
              <a:buNone/>
            </a:pPr>
            <a:r>
              <a:rPr lang="en-US" b="0" i="0" dirty="0">
                <a:solidFill>
                  <a:srgbClr val="242424"/>
                </a:solidFill>
                <a:effectLst/>
                <a:latin typeface="+mn-lt"/>
              </a:rPr>
              <a:t>The </a:t>
            </a:r>
            <a:r>
              <a:rPr lang="en-US" b="0" i="1" dirty="0">
                <a:solidFill>
                  <a:srgbClr val="242424"/>
                </a:solidFill>
                <a:effectLst/>
                <a:latin typeface="+mn-lt"/>
              </a:rPr>
              <a:t>sigmoid</a:t>
            </a:r>
            <a:r>
              <a:rPr lang="en-US" b="0" i="0" dirty="0">
                <a:solidFill>
                  <a:srgbClr val="242424"/>
                </a:solidFill>
                <a:effectLst/>
                <a:latin typeface="+mn-lt"/>
              </a:rPr>
              <a:t> output decides what information is important to keep from the </a:t>
            </a:r>
            <a:r>
              <a:rPr lang="en-US" b="0" i="1" dirty="0">
                <a:solidFill>
                  <a:srgbClr val="242424"/>
                </a:solidFill>
                <a:effectLst/>
                <a:latin typeface="+mn-lt"/>
              </a:rPr>
              <a:t>tanh</a:t>
            </a:r>
            <a:r>
              <a:rPr lang="en-US" b="0" i="0" dirty="0">
                <a:solidFill>
                  <a:srgbClr val="242424"/>
                </a:solidFill>
                <a:effectLst/>
                <a:latin typeface="+mn-lt"/>
              </a:rPr>
              <a:t> output.</a:t>
            </a:r>
          </a:p>
          <a:p>
            <a:pPr marL="57150" indent="0">
              <a:buNone/>
            </a:pPr>
            <a:endParaRPr lang="en-IN" dirty="0">
              <a:latin typeface="+mn-lt"/>
            </a:endParaRPr>
          </a:p>
        </p:txBody>
      </p:sp>
      <p:pic>
        <p:nvPicPr>
          <p:cNvPr id="5" name="Picture 4">
            <a:extLst>
              <a:ext uri="{FF2B5EF4-FFF2-40B4-BE49-F238E27FC236}">
                <a16:creationId xmlns:a16="http://schemas.microsoft.com/office/drawing/2014/main" id="{47AFB69C-8329-8821-C44F-7E315132B3AA}"/>
              </a:ext>
            </a:extLst>
          </p:cNvPr>
          <p:cNvPicPr>
            <a:picLocks noChangeAspect="1"/>
          </p:cNvPicPr>
          <p:nvPr/>
        </p:nvPicPr>
        <p:blipFill>
          <a:blip r:embed="rId2"/>
          <a:stretch>
            <a:fillRect/>
          </a:stretch>
        </p:blipFill>
        <p:spPr>
          <a:xfrm>
            <a:off x="2546578" y="3215621"/>
            <a:ext cx="3673158" cy="426757"/>
          </a:xfrm>
          <a:prstGeom prst="rect">
            <a:avLst/>
          </a:prstGeom>
        </p:spPr>
      </p:pic>
    </p:spTree>
    <p:extLst>
      <p:ext uri="{BB962C8B-B14F-4D97-AF65-F5344CB8AC3E}">
        <p14:creationId xmlns:p14="http://schemas.microsoft.com/office/powerpoint/2010/main" val="1757307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8B9ED0-B881-5448-722C-454923C70FE5}"/>
              </a:ext>
            </a:extLst>
          </p:cNvPr>
          <p:cNvSpPr>
            <a:spLocks noGrp="1"/>
          </p:cNvSpPr>
          <p:nvPr>
            <p:ph type="body" idx="1"/>
          </p:nvPr>
        </p:nvSpPr>
        <p:spPr>
          <a:xfrm>
            <a:off x="467138" y="1719469"/>
            <a:ext cx="8299174" cy="4572000"/>
          </a:xfrm>
        </p:spPr>
        <p:txBody>
          <a:bodyPr/>
          <a:lstStyle/>
          <a:p>
            <a:pPr marL="57150" indent="0">
              <a:buNone/>
            </a:pPr>
            <a:endParaRPr lang="en-US" dirty="0">
              <a:latin typeface="+mn-lt"/>
            </a:endParaRPr>
          </a:p>
          <a:p>
            <a:pPr marL="57150" indent="0">
              <a:buNone/>
            </a:pPr>
            <a:endParaRPr lang="en-US" dirty="0">
              <a:latin typeface="+mn-lt"/>
            </a:endParaRPr>
          </a:p>
          <a:p>
            <a:pPr marL="57150" indent="0">
              <a:buNone/>
            </a:pPr>
            <a:endParaRPr lang="en-US" dirty="0">
              <a:latin typeface="+mn-lt"/>
            </a:endParaRPr>
          </a:p>
          <a:p>
            <a:pPr marL="57150" indent="0">
              <a:buNone/>
            </a:pPr>
            <a:endParaRPr lang="en-US" dirty="0">
              <a:latin typeface="+mn-lt"/>
            </a:endParaRPr>
          </a:p>
          <a:p>
            <a:pPr marL="57150" indent="0" algn="l">
              <a:buNone/>
            </a:pPr>
            <a:r>
              <a:rPr lang="en-US" b="1" i="0" dirty="0">
                <a:solidFill>
                  <a:srgbClr val="242424"/>
                </a:solidFill>
                <a:effectLst/>
                <a:latin typeface="+mn-lt"/>
              </a:rPr>
              <a:t>Cell State</a:t>
            </a:r>
          </a:p>
          <a:p>
            <a:pPr marL="57150" indent="0" algn="l">
              <a:buNone/>
            </a:pPr>
            <a:r>
              <a:rPr lang="en-US" b="0" i="0" dirty="0">
                <a:solidFill>
                  <a:srgbClr val="242424"/>
                </a:solidFill>
                <a:effectLst/>
                <a:latin typeface="+mn-lt"/>
              </a:rPr>
              <a:t>After the activation of the input gate, the cell state can be calculated. First, the cell state of the previous time step gets element-wise multiplied by the output of the forget gate. </a:t>
            </a:r>
          </a:p>
          <a:p>
            <a:pPr marL="57150" indent="0" algn="l">
              <a:buNone/>
            </a:pPr>
            <a:r>
              <a:rPr lang="en-US" b="0" i="0" dirty="0">
                <a:solidFill>
                  <a:srgbClr val="242424"/>
                </a:solidFill>
                <a:effectLst/>
                <a:latin typeface="+mn-lt"/>
              </a:rPr>
              <a:t>This gives the possibility to ignore values in the cell state when they are multiplied by values close to 0. </a:t>
            </a:r>
          </a:p>
          <a:p>
            <a:pPr marL="57150" indent="0" algn="l">
              <a:buNone/>
            </a:pPr>
            <a:r>
              <a:rPr lang="en-US" b="0" i="0" dirty="0">
                <a:solidFill>
                  <a:srgbClr val="242424"/>
                </a:solidFill>
                <a:effectLst/>
                <a:latin typeface="+mn-lt"/>
              </a:rPr>
              <a:t>Then the output of the input gate is element-wise added to the cell state. The output is the new cell state.</a:t>
            </a:r>
          </a:p>
          <a:p>
            <a:pPr marL="57150" indent="0">
              <a:buNone/>
            </a:pPr>
            <a:endParaRPr lang="en-US" dirty="0">
              <a:latin typeface="+mn-lt"/>
            </a:endParaRPr>
          </a:p>
          <a:p>
            <a:pPr marL="57150" indent="0">
              <a:buNone/>
            </a:pPr>
            <a:endParaRPr lang="en-IN" dirty="0">
              <a:latin typeface="+mn-lt"/>
            </a:endParaRPr>
          </a:p>
        </p:txBody>
      </p:sp>
      <p:pic>
        <p:nvPicPr>
          <p:cNvPr id="3074" name="Picture 2">
            <a:extLst>
              <a:ext uri="{FF2B5EF4-FFF2-40B4-BE49-F238E27FC236}">
                <a16:creationId xmlns:a16="http://schemas.microsoft.com/office/drawing/2014/main" id="{A37C3CCE-C247-16DC-EB3C-652A132DD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2028617"/>
            <a:ext cx="4229100" cy="11906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2FEBCF7B-E87C-80CF-1946-05E61FABA1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0812" y="5881894"/>
            <a:ext cx="3762375" cy="40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115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B283592-AE21-C409-EAA5-7B369E6893FF}"/>
              </a:ext>
            </a:extLst>
          </p:cNvPr>
          <p:cNvSpPr>
            <a:spLocks noGrp="1"/>
          </p:cNvSpPr>
          <p:nvPr>
            <p:ph type="body" idx="1"/>
          </p:nvPr>
        </p:nvSpPr>
        <p:spPr>
          <a:xfrm>
            <a:off x="586409" y="1679712"/>
            <a:ext cx="8090452" cy="4542183"/>
          </a:xfrm>
        </p:spPr>
        <p:txBody>
          <a:bodyPr/>
          <a:lstStyle/>
          <a:p>
            <a:pPr marL="57150" indent="0" algn="l">
              <a:buNone/>
            </a:pPr>
            <a:r>
              <a:rPr lang="en-US" b="1" i="0" dirty="0">
                <a:solidFill>
                  <a:srgbClr val="242424"/>
                </a:solidFill>
                <a:effectLst/>
                <a:latin typeface="+mn-lt"/>
              </a:rPr>
              <a:t>Output Gate</a:t>
            </a:r>
          </a:p>
          <a:p>
            <a:pPr marL="57150" indent="0" algn="l">
              <a:buNone/>
            </a:pPr>
            <a:r>
              <a:rPr lang="en-US" b="0" i="0" dirty="0">
                <a:solidFill>
                  <a:srgbClr val="242424"/>
                </a:solidFill>
                <a:effectLst/>
                <a:latin typeface="+mn-lt"/>
              </a:rPr>
              <a:t>The third and final gate is the output gate, that decides the value of the next hidden state, which contains information about previous inputs. </a:t>
            </a:r>
          </a:p>
          <a:p>
            <a:pPr marL="57150" indent="0" algn="l">
              <a:buNone/>
            </a:pPr>
            <a:r>
              <a:rPr lang="en-US" b="0" i="0" dirty="0">
                <a:solidFill>
                  <a:srgbClr val="242424"/>
                </a:solidFill>
                <a:effectLst/>
                <a:latin typeface="+mn-lt"/>
              </a:rPr>
              <a:t>First, the previous hidden state and current input are summed and passed to a sigmoid function. Then the new cell state is passed to the </a:t>
            </a:r>
            <a:r>
              <a:rPr lang="en-US" b="0" i="1" dirty="0">
                <a:solidFill>
                  <a:srgbClr val="242424"/>
                </a:solidFill>
                <a:effectLst/>
                <a:latin typeface="+mn-lt"/>
              </a:rPr>
              <a:t>tanh </a:t>
            </a:r>
            <a:r>
              <a:rPr lang="en-US" b="0" i="0" dirty="0">
                <a:solidFill>
                  <a:srgbClr val="242424"/>
                </a:solidFill>
                <a:effectLst/>
                <a:latin typeface="+mn-lt"/>
              </a:rPr>
              <a:t>function. </a:t>
            </a:r>
          </a:p>
          <a:p>
            <a:pPr marL="57150" indent="0" algn="l">
              <a:buNone/>
            </a:pPr>
            <a:r>
              <a:rPr lang="en-US" b="0" i="0" dirty="0">
                <a:solidFill>
                  <a:srgbClr val="242424"/>
                </a:solidFill>
                <a:effectLst/>
                <a:latin typeface="+mn-lt"/>
              </a:rPr>
              <a:t>At the end the </a:t>
            </a:r>
            <a:r>
              <a:rPr lang="en-US" b="0" i="1" dirty="0">
                <a:solidFill>
                  <a:srgbClr val="242424"/>
                </a:solidFill>
                <a:effectLst/>
                <a:latin typeface="+mn-lt"/>
              </a:rPr>
              <a:t>tanh</a:t>
            </a:r>
            <a:r>
              <a:rPr lang="en-US" b="0" i="0" dirty="0">
                <a:solidFill>
                  <a:srgbClr val="242424"/>
                </a:solidFill>
                <a:effectLst/>
                <a:latin typeface="+mn-lt"/>
              </a:rPr>
              <a:t> output with the sigmoid output are multiplied to decide what information the hidden state should contain. </a:t>
            </a:r>
          </a:p>
          <a:p>
            <a:pPr marL="57150" indent="0" algn="l">
              <a:buNone/>
            </a:pPr>
            <a:r>
              <a:rPr lang="en-US" b="0" i="0" dirty="0">
                <a:solidFill>
                  <a:srgbClr val="242424"/>
                </a:solidFill>
                <a:effectLst/>
                <a:latin typeface="+mn-lt"/>
              </a:rPr>
              <a:t>The output is the new hidden state. The new cell state and the new hidden state are then carried over to the next time step.</a:t>
            </a:r>
          </a:p>
          <a:p>
            <a:pPr marL="57150" indent="0">
              <a:buNone/>
            </a:pPr>
            <a:endParaRPr lang="en-IN" dirty="0">
              <a:latin typeface="+mn-lt"/>
            </a:endParaRPr>
          </a:p>
        </p:txBody>
      </p:sp>
      <p:pic>
        <p:nvPicPr>
          <p:cNvPr id="4098" name="Picture 2">
            <a:extLst>
              <a:ext uri="{FF2B5EF4-FFF2-40B4-BE49-F238E27FC236}">
                <a16:creationId xmlns:a16="http://schemas.microsoft.com/office/drawing/2014/main" id="{67F7BC35-5B56-BC1C-795F-7412D8D6A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268" y="4768713"/>
            <a:ext cx="3714750" cy="81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481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586176-2596-A332-D8B9-309578A0A18C}"/>
              </a:ext>
            </a:extLst>
          </p:cNvPr>
          <p:cNvSpPr>
            <a:spLocks noGrp="1"/>
          </p:cNvSpPr>
          <p:nvPr>
            <p:ph type="body" idx="1"/>
          </p:nvPr>
        </p:nvSpPr>
        <p:spPr>
          <a:xfrm>
            <a:off x="467139" y="1659834"/>
            <a:ext cx="8010939" cy="4532243"/>
          </a:xfrm>
        </p:spPr>
        <p:txBody>
          <a:bodyPr>
            <a:normAutofit fontScale="92500" lnSpcReduction="20000"/>
          </a:bodyPr>
          <a:lstStyle/>
          <a:p>
            <a:pPr marL="57150" indent="0" algn="l">
              <a:buNone/>
            </a:pPr>
            <a:r>
              <a:rPr lang="en-US" b="1" i="0" dirty="0">
                <a:solidFill>
                  <a:srgbClr val="242424"/>
                </a:solidFill>
                <a:effectLst/>
                <a:latin typeface="+mn-lt"/>
              </a:rPr>
              <a:t>Gated Recurrent Unit (GRU)</a:t>
            </a:r>
          </a:p>
          <a:p>
            <a:pPr marL="57150" indent="0" algn="l">
              <a:buNone/>
            </a:pPr>
            <a:r>
              <a:rPr lang="en-US" b="0" i="0" dirty="0">
                <a:solidFill>
                  <a:srgbClr val="242424"/>
                </a:solidFill>
                <a:effectLst/>
                <a:latin typeface="+mn-lt"/>
              </a:rPr>
              <a:t>The GRU is a new generation of Recurrent Neural Networks and is very similar to an LSTM. </a:t>
            </a:r>
          </a:p>
          <a:p>
            <a:pPr marL="57150" indent="0" algn="l">
              <a:buNone/>
            </a:pPr>
            <a:r>
              <a:rPr lang="en-US" b="0" i="0" dirty="0">
                <a:solidFill>
                  <a:srgbClr val="242424"/>
                </a:solidFill>
                <a:effectLst/>
                <a:latin typeface="+mn-lt"/>
              </a:rPr>
              <a:t>To solve the vanishing gradient problem of a standard RNN, GRU uses the </a:t>
            </a:r>
            <a:r>
              <a:rPr lang="en-US" b="0" i="1" dirty="0">
                <a:solidFill>
                  <a:srgbClr val="242424"/>
                </a:solidFill>
                <a:effectLst/>
                <a:latin typeface="+mn-lt"/>
              </a:rPr>
              <a:t>update gate</a:t>
            </a:r>
            <a:r>
              <a:rPr lang="en-US" b="0" i="0" dirty="0">
                <a:solidFill>
                  <a:srgbClr val="242424"/>
                </a:solidFill>
                <a:effectLst/>
                <a:latin typeface="+mn-lt"/>
              </a:rPr>
              <a:t> and </a:t>
            </a:r>
            <a:r>
              <a:rPr lang="en-US" b="0" i="1" dirty="0">
                <a:solidFill>
                  <a:srgbClr val="242424"/>
                </a:solidFill>
                <a:effectLst/>
                <a:latin typeface="+mn-lt"/>
              </a:rPr>
              <a:t>reset gate</a:t>
            </a:r>
            <a:r>
              <a:rPr lang="en-US" b="0" i="0" dirty="0">
                <a:solidFill>
                  <a:srgbClr val="242424"/>
                </a:solidFill>
                <a:effectLst/>
                <a:latin typeface="+mn-lt"/>
              </a:rPr>
              <a:t>. </a:t>
            </a:r>
          </a:p>
          <a:p>
            <a:pPr marL="57150" indent="0" algn="l">
              <a:buNone/>
            </a:pPr>
            <a:r>
              <a:rPr lang="en-US" b="0" i="0" dirty="0">
                <a:solidFill>
                  <a:srgbClr val="242424"/>
                </a:solidFill>
                <a:effectLst/>
                <a:latin typeface="+mn-lt"/>
              </a:rPr>
              <a:t>These are two gates decide what information should be passed to the output. These two gates can be trained to keep information from many time steps before the actual time step, without washing it through time, or to remove information which is irrelevant for the prediction. </a:t>
            </a:r>
          </a:p>
          <a:p>
            <a:pPr marL="57150" indent="0" algn="l">
              <a:buNone/>
            </a:pPr>
            <a:r>
              <a:rPr lang="en-US" b="0" i="0" dirty="0">
                <a:solidFill>
                  <a:srgbClr val="242424"/>
                </a:solidFill>
                <a:effectLst/>
                <a:latin typeface="+mn-lt"/>
              </a:rPr>
              <a:t>If carefully trained, GRU can perform extremely well even in complex scenarios.</a:t>
            </a:r>
          </a:p>
          <a:p>
            <a:pPr marL="57150" indent="0" algn="l">
              <a:buNone/>
            </a:pPr>
            <a:r>
              <a:rPr lang="en-US" b="0" i="0" dirty="0">
                <a:solidFill>
                  <a:srgbClr val="242424"/>
                </a:solidFill>
                <a:effectLst/>
                <a:latin typeface="+mn-lt"/>
              </a:rPr>
              <a:t> GRU unit is composed of the following and shown in below figure</a:t>
            </a:r>
          </a:p>
          <a:p>
            <a:pPr algn="l">
              <a:buFont typeface="Arial" panose="020B0604020202020204" pitchFamily="34" charset="0"/>
              <a:buChar char="•"/>
            </a:pPr>
            <a:r>
              <a:rPr lang="en-US" b="0" i="0" dirty="0">
                <a:solidFill>
                  <a:srgbClr val="242424"/>
                </a:solidFill>
                <a:effectLst/>
                <a:latin typeface="+mn-lt"/>
              </a:rPr>
              <a:t>a </a:t>
            </a:r>
            <a:r>
              <a:rPr lang="en-US" b="0" i="1" dirty="0">
                <a:solidFill>
                  <a:srgbClr val="242424"/>
                </a:solidFill>
                <a:effectLst/>
                <a:latin typeface="+mn-lt"/>
              </a:rPr>
              <a:t>reset gate, </a:t>
            </a:r>
            <a:r>
              <a:rPr lang="en-US" b="0" i="0" dirty="0">
                <a:solidFill>
                  <a:srgbClr val="242424"/>
                </a:solidFill>
                <a:effectLst/>
                <a:latin typeface="+mn-lt"/>
              </a:rPr>
              <a:t>that decides how much of the information from the previous time steps can be forgotten;</a:t>
            </a:r>
          </a:p>
          <a:p>
            <a:pPr algn="l">
              <a:buFont typeface="Arial" panose="020B0604020202020204" pitchFamily="34" charset="0"/>
              <a:buChar char="•"/>
            </a:pPr>
            <a:r>
              <a:rPr lang="en-US" b="0" i="0" dirty="0">
                <a:solidFill>
                  <a:srgbClr val="242424"/>
                </a:solidFill>
                <a:effectLst/>
                <a:latin typeface="+mn-lt"/>
              </a:rPr>
              <a:t>an </a:t>
            </a:r>
            <a:r>
              <a:rPr lang="en-US" b="0" i="1" dirty="0">
                <a:solidFill>
                  <a:srgbClr val="242424"/>
                </a:solidFill>
                <a:effectLst/>
                <a:latin typeface="+mn-lt"/>
              </a:rPr>
              <a:t>update gate</a:t>
            </a:r>
            <a:r>
              <a:rPr lang="en-US" b="0" i="0" dirty="0">
                <a:solidFill>
                  <a:srgbClr val="242424"/>
                </a:solidFill>
                <a:effectLst/>
                <a:latin typeface="+mn-lt"/>
              </a:rPr>
              <a:t>, that decides how much of the information from the previous time steps must be saved;</a:t>
            </a:r>
          </a:p>
          <a:p>
            <a:pPr algn="l">
              <a:buFont typeface="Arial" panose="020B0604020202020204" pitchFamily="34" charset="0"/>
              <a:buChar char="•"/>
            </a:pPr>
            <a:r>
              <a:rPr lang="en-US" b="0" i="0" dirty="0">
                <a:solidFill>
                  <a:srgbClr val="242424"/>
                </a:solidFill>
                <a:effectLst/>
                <a:latin typeface="+mn-lt"/>
              </a:rPr>
              <a:t>a </a:t>
            </a:r>
            <a:r>
              <a:rPr lang="en-US" b="0" i="1" dirty="0">
                <a:solidFill>
                  <a:srgbClr val="242424"/>
                </a:solidFill>
                <a:effectLst/>
                <a:latin typeface="+mn-lt"/>
              </a:rPr>
              <a:t>memory</a:t>
            </a:r>
            <a:r>
              <a:rPr lang="en-US" b="0" i="0" dirty="0">
                <a:solidFill>
                  <a:srgbClr val="242424"/>
                </a:solidFill>
                <a:effectLst/>
                <a:latin typeface="+mn-lt"/>
              </a:rPr>
              <a:t>, that brings </a:t>
            </a:r>
            <a:r>
              <a:rPr lang="en-US" b="0" i="0" dirty="0" err="1">
                <a:solidFill>
                  <a:srgbClr val="242424"/>
                </a:solidFill>
                <a:effectLst/>
                <a:latin typeface="+mn-lt"/>
              </a:rPr>
              <a:t>informations</a:t>
            </a:r>
            <a:r>
              <a:rPr lang="en-US" b="0" i="0" dirty="0">
                <a:solidFill>
                  <a:srgbClr val="242424"/>
                </a:solidFill>
                <a:effectLst/>
                <a:latin typeface="+mn-lt"/>
              </a:rPr>
              <a:t> along the entire sequence and represents the memory of the network.</a:t>
            </a:r>
          </a:p>
          <a:p>
            <a:pPr marL="57150" indent="0">
              <a:buNone/>
            </a:pPr>
            <a:endParaRPr lang="en-IN" dirty="0">
              <a:latin typeface="+mn-lt"/>
            </a:endParaRPr>
          </a:p>
        </p:txBody>
      </p:sp>
    </p:spTree>
    <p:extLst>
      <p:ext uri="{BB962C8B-B14F-4D97-AF65-F5344CB8AC3E}">
        <p14:creationId xmlns:p14="http://schemas.microsoft.com/office/powerpoint/2010/main" val="3312460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5DB2BFD-5E44-16EB-B5CE-4AFC0AC0003C}"/>
              </a:ext>
            </a:extLst>
          </p:cNvPr>
          <p:cNvSpPr>
            <a:spLocks noGrp="1"/>
          </p:cNvSpPr>
          <p:nvPr>
            <p:ph type="body" idx="1"/>
          </p:nvPr>
        </p:nvSpPr>
        <p:spPr>
          <a:xfrm>
            <a:off x="556591" y="1461052"/>
            <a:ext cx="8299173" cy="4919870"/>
          </a:xfrm>
        </p:spPr>
        <p:txBody>
          <a:bodyPr>
            <a:normAutofit lnSpcReduction="10000"/>
          </a:bodyPr>
          <a:lstStyle/>
          <a:p>
            <a:pPr marL="57150" indent="0">
              <a:buNone/>
            </a:pPr>
            <a:r>
              <a:rPr lang="en-US" b="1" dirty="0">
                <a:latin typeface="+mn-lt"/>
              </a:rPr>
              <a:t>Architecture</a:t>
            </a:r>
          </a:p>
          <a:p>
            <a:pPr marL="57150" indent="0">
              <a:buNone/>
            </a:pPr>
            <a:endParaRPr lang="en-IN" dirty="0">
              <a:latin typeface="+mn-lt"/>
            </a:endParaRPr>
          </a:p>
          <a:p>
            <a:pPr marL="57150" indent="0">
              <a:buNone/>
            </a:pPr>
            <a:endParaRPr lang="en-IN" dirty="0">
              <a:latin typeface="+mn-lt"/>
            </a:endParaRPr>
          </a:p>
          <a:p>
            <a:pPr marL="57150" indent="0">
              <a:buNone/>
            </a:pPr>
            <a:endParaRPr lang="en-IN" dirty="0">
              <a:latin typeface="+mn-lt"/>
            </a:endParaRPr>
          </a:p>
          <a:p>
            <a:pPr marL="57150" indent="0">
              <a:buNone/>
            </a:pPr>
            <a:endParaRPr lang="en-IN" dirty="0">
              <a:latin typeface="+mn-lt"/>
            </a:endParaRPr>
          </a:p>
          <a:p>
            <a:pPr marL="57150" indent="0">
              <a:buNone/>
            </a:pPr>
            <a:endParaRPr lang="en-IN" dirty="0">
              <a:latin typeface="+mn-lt"/>
            </a:endParaRPr>
          </a:p>
          <a:p>
            <a:pPr marL="57150" indent="0">
              <a:buNone/>
            </a:pPr>
            <a:endParaRPr lang="en-IN" dirty="0">
              <a:latin typeface="+mn-lt"/>
            </a:endParaRPr>
          </a:p>
          <a:p>
            <a:pPr marL="57150" indent="0" algn="l">
              <a:buNone/>
            </a:pPr>
            <a:r>
              <a:rPr lang="en-US" b="1" i="0" dirty="0">
                <a:solidFill>
                  <a:srgbClr val="242424"/>
                </a:solidFill>
                <a:effectLst/>
                <a:latin typeface="+mn-lt"/>
              </a:rPr>
              <a:t>Reset Gate</a:t>
            </a:r>
          </a:p>
          <a:p>
            <a:pPr marL="57150" indent="0" algn="l">
              <a:buNone/>
            </a:pPr>
            <a:r>
              <a:rPr lang="en-US" b="0" i="0" dirty="0">
                <a:solidFill>
                  <a:srgbClr val="242424"/>
                </a:solidFill>
                <a:effectLst/>
                <a:latin typeface="+mn-lt"/>
              </a:rPr>
              <a:t>The first gate is the reset gate. It determines how to combine the new input with the previous memory, deciding how much of the information from previous time steps can be forgotten. </a:t>
            </a:r>
          </a:p>
          <a:p>
            <a:pPr marL="57150" indent="0" algn="l">
              <a:buNone/>
            </a:pPr>
            <a:r>
              <a:rPr lang="en-US" b="0" i="0" dirty="0">
                <a:solidFill>
                  <a:srgbClr val="242424"/>
                </a:solidFill>
                <a:effectLst/>
                <a:latin typeface="+mn-lt"/>
              </a:rPr>
              <a:t>First the weighted sum between the input </a:t>
            </a:r>
            <a:r>
              <a:rPr lang="en-US" b="0" i="1" dirty="0">
                <a:solidFill>
                  <a:srgbClr val="242424"/>
                </a:solidFill>
                <a:effectLst/>
                <a:latin typeface="+mn-lt"/>
              </a:rPr>
              <a:t>x(t)</a:t>
            </a:r>
            <a:r>
              <a:rPr lang="en-US" b="0" i="0" dirty="0">
                <a:solidFill>
                  <a:srgbClr val="242424"/>
                </a:solidFill>
                <a:effectLst/>
                <a:latin typeface="+mn-lt"/>
              </a:rPr>
              <a:t> and the memory </a:t>
            </a:r>
            <a:r>
              <a:rPr lang="en-US" b="0" i="1" dirty="0">
                <a:solidFill>
                  <a:srgbClr val="242424"/>
                </a:solidFill>
                <a:effectLst/>
                <a:latin typeface="+mn-lt"/>
              </a:rPr>
              <a:t>h(t-1), </a:t>
            </a:r>
            <a:r>
              <a:rPr lang="en-US" b="0" i="0" dirty="0">
                <a:solidFill>
                  <a:srgbClr val="242424"/>
                </a:solidFill>
                <a:effectLst/>
                <a:latin typeface="+mn-lt"/>
              </a:rPr>
              <a:t>which holds the information for the previous </a:t>
            </a:r>
            <a:r>
              <a:rPr lang="en-US" b="0" i="1" dirty="0">
                <a:solidFill>
                  <a:srgbClr val="242424"/>
                </a:solidFill>
                <a:effectLst/>
                <a:latin typeface="+mn-lt"/>
              </a:rPr>
              <a:t>t-1</a:t>
            </a:r>
            <a:r>
              <a:rPr lang="en-US" b="0" i="0" dirty="0">
                <a:solidFill>
                  <a:srgbClr val="242424"/>
                </a:solidFill>
                <a:effectLst/>
                <a:latin typeface="+mn-lt"/>
              </a:rPr>
              <a:t> steps, is performed. Then a sigmoid activation function is applied to squash the result between 0 and 1.</a:t>
            </a:r>
          </a:p>
          <a:p>
            <a:pPr algn="l"/>
            <a:endParaRPr lang="en-US" b="0" i="0" dirty="0">
              <a:solidFill>
                <a:srgbClr val="242424"/>
              </a:solidFill>
              <a:effectLst/>
              <a:latin typeface="+mn-lt"/>
            </a:endParaRPr>
          </a:p>
          <a:p>
            <a:pPr marL="57150" indent="0">
              <a:buNone/>
            </a:pPr>
            <a:endParaRPr lang="en-IN" dirty="0">
              <a:latin typeface="+mn-lt"/>
            </a:endParaRPr>
          </a:p>
          <a:p>
            <a:pPr marL="57150" indent="0">
              <a:buNone/>
            </a:pPr>
            <a:endParaRPr lang="en-IN" dirty="0">
              <a:latin typeface="+mn-lt"/>
            </a:endParaRPr>
          </a:p>
        </p:txBody>
      </p:sp>
      <p:pic>
        <p:nvPicPr>
          <p:cNvPr id="5124" name="Picture 4">
            <a:extLst>
              <a:ext uri="{FF2B5EF4-FFF2-40B4-BE49-F238E27FC236}">
                <a16:creationId xmlns:a16="http://schemas.microsoft.com/office/drawing/2014/main" id="{68083792-670D-BCBC-140F-16B067CAD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6" y="1600201"/>
            <a:ext cx="3446633" cy="273593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4337E2CF-CF7B-98B5-DD8E-2E5A1D478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7487" y="6018972"/>
            <a:ext cx="3629025" cy="36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704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2707BA-D2D6-373B-489D-216F9CA6DAA5}"/>
              </a:ext>
            </a:extLst>
          </p:cNvPr>
          <p:cNvSpPr>
            <a:spLocks noGrp="1"/>
          </p:cNvSpPr>
          <p:nvPr>
            <p:ph type="body" idx="1"/>
          </p:nvPr>
        </p:nvSpPr>
        <p:spPr>
          <a:xfrm>
            <a:off x="407505" y="1540565"/>
            <a:ext cx="8428382" cy="4939747"/>
          </a:xfrm>
        </p:spPr>
        <p:txBody>
          <a:bodyPr>
            <a:normAutofit/>
          </a:bodyPr>
          <a:lstStyle/>
          <a:p>
            <a:pPr marL="57150" indent="0" algn="l">
              <a:buNone/>
            </a:pPr>
            <a:r>
              <a:rPr lang="en-US" sz="1600" b="1" i="0" dirty="0">
                <a:solidFill>
                  <a:srgbClr val="242424"/>
                </a:solidFill>
                <a:effectLst/>
                <a:latin typeface="+mn-lt"/>
              </a:rPr>
              <a:t>Update Gate</a:t>
            </a:r>
          </a:p>
          <a:p>
            <a:pPr marL="57150" indent="0" algn="l">
              <a:buNone/>
            </a:pPr>
            <a:r>
              <a:rPr lang="en-US" sz="1600" b="0" i="0" dirty="0">
                <a:solidFill>
                  <a:srgbClr val="242424"/>
                </a:solidFill>
                <a:effectLst/>
                <a:latin typeface="+mn-lt"/>
              </a:rPr>
              <a:t>The second gate is the update gate. It helps the model to determine how much of the information from previous time steps needs to be passed along to the future.</a:t>
            </a:r>
            <a:r>
              <a:rPr lang="en-US" sz="1600" b="1" i="0" dirty="0">
                <a:solidFill>
                  <a:srgbClr val="242424"/>
                </a:solidFill>
                <a:effectLst/>
                <a:latin typeface="+mn-lt"/>
              </a:rPr>
              <a:t> </a:t>
            </a:r>
          </a:p>
          <a:p>
            <a:pPr marL="57150" indent="0" algn="l">
              <a:buNone/>
            </a:pPr>
            <a:r>
              <a:rPr lang="en-US" sz="1600" b="0" i="0" dirty="0">
                <a:solidFill>
                  <a:srgbClr val="242424"/>
                </a:solidFill>
                <a:effectLst/>
                <a:latin typeface="+mn-lt"/>
              </a:rPr>
              <a:t>That is really powerful because the model can decide to copy all the information from the past and eliminate the risk of vanishing gradient problem. </a:t>
            </a:r>
          </a:p>
          <a:p>
            <a:pPr marL="57150" indent="0" algn="l">
              <a:buNone/>
            </a:pPr>
            <a:r>
              <a:rPr lang="en-US" sz="1600" b="0" i="0" dirty="0">
                <a:solidFill>
                  <a:srgbClr val="242424"/>
                </a:solidFill>
                <a:effectLst/>
                <a:latin typeface="+mn-lt"/>
              </a:rPr>
              <a:t>The formula to calculate it is the analogous to the one for the reset gate, but the difference comes in the weights and the gate’s usage (it will be clear in the calculation of the memory).</a:t>
            </a:r>
          </a:p>
          <a:p>
            <a:pPr marL="57150" indent="0" algn="l">
              <a:buNone/>
            </a:pPr>
            <a:r>
              <a:rPr lang="en-US" sz="1600" b="1" i="0" dirty="0">
                <a:solidFill>
                  <a:srgbClr val="242424"/>
                </a:solidFill>
                <a:effectLst/>
                <a:latin typeface="+mn-lt"/>
              </a:rPr>
              <a:t>Current memory</a:t>
            </a:r>
          </a:p>
          <a:p>
            <a:pPr marL="57150" indent="0" algn="l">
              <a:buNone/>
            </a:pPr>
            <a:r>
              <a:rPr lang="en-US" sz="1600" b="0" i="0" dirty="0">
                <a:solidFill>
                  <a:srgbClr val="242424"/>
                </a:solidFill>
                <a:effectLst/>
                <a:latin typeface="+mn-lt"/>
              </a:rPr>
              <a:t>The memory content uses the reset gate to store the relevant information from the past. </a:t>
            </a:r>
          </a:p>
          <a:p>
            <a:pPr marL="57150" indent="0" algn="l">
              <a:buNone/>
            </a:pPr>
            <a:r>
              <a:rPr lang="en-US" sz="1600" b="0" i="0" dirty="0">
                <a:solidFill>
                  <a:srgbClr val="242424"/>
                </a:solidFill>
                <a:effectLst/>
                <a:latin typeface="+mn-lt"/>
              </a:rPr>
              <a:t>To obtain it, first the multiplication element by element between the output of the reset gate </a:t>
            </a:r>
            <a:r>
              <a:rPr lang="en-US" sz="1600" b="0" i="1" dirty="0">
                <a:solidFill>
                  <a:srgbClr val="242424"/>
                </a:solidFill>
                <a:effectLst/>
                <a:latin typeface="+mn-lt"/>
              </a:rPr>
              <a:t>r(t)</a:t>
            </a:r>
            <a:r>
              <a:rPr lang="en-US" sz="1600" b="0" i="0" dirty="0">
                <a:solidFill>
                  <a:srgbClr val="242424"/>
                </a:solidFill>
                <a:effectLst/>
                <a:latin typeface="+mn-lt"/>
              </a:rPr>
              <a:t> and the final memory at the previous time step </a:t>
            </a:r>
            <a:r>
              <a:rPr lang="en-US" sz="1600" b="0" i="1" dirty="0">
                <a:solidFill>
                  <a:srgbClr val="242424"/>
                </a:solidFill>
                <a:effectLst/>
                <a:latin typeface="+mn-lt"/>
              </a:rPr>
              <a:t>h(t-1) </a:t>
            </a:r>
            <a:r>
              <a:rPr lang="en-US" sz="1600" b="0" i="0" dirty="0">
                <a:solidFill>
                  <a:srgbClr val="242424"/>
                </a:solidFill>
                <a:effectLst/>
                <a:latin typeface="+mn-lt"/>
              </a:rPr>
              <a:t>is computed, then the weighted sum between the result and the input </a:t>
            </a:r>
            <a:r>
              <a:rPr lang="en-US" sz="1600" b="0" i="1" dirty="0">
                <a:solidFill>
                  <a:srgbClr val="242424"/>
                </a:solidFill>
                <a:effectLst/>
                <a:latin typeface="+mn-lt"/>
              </a:rPr>
              <a:t>x(t)</a:t>
            </a:r>
            <a:r>
              <a:rPr lang="en-US" sz="1600" b="0" i="0" dirty="0">
                <a:solidFill>
                  <a:srgbClr val="242424"/>
                </a:solidFill>
                <a:effectLst/>
                <a:latin typeface="+mn-lt"/>
              </a:rPr>
              <a:t> is performed. </a:t>
            </a:r>
          </a:p>
          <a:p>
            <a:pPr marL="57150" indent="0" algn="l">
              <a:buNone/>
            </a:pPr>
            <a:r>
              <a:rPr lang="en-US" sz="1600" b="0" i="0" dirty="0">
                <a:solidFill>
                  <a:srgbClr val="242424"/>
                </a:solidFill>
                <a:effectLst/>
                <a:latin typeface="+mn-lt"/>
              </a:rPr>
              <a:t>Finally, the nonlinear activation function </a:t>
            </a:r>
            <a:r>
              <a:rPr lang="en-US" sz="1600" b="0" i="1" dirty="0">
                <a:solidFill>
                  <a:srgbClr val="242424"/>
                </a:solidFill>
                <a:effectLst/>
                <a:latin typeface="+mn-lt"/>
              </a:rPr>
              <a:t>tanh </a:t>
            </a:r>
            <a:r>
              <a:rPr lang="en-US" sz="1600" b="0" i="0" dirty="0">
                <a:solidFill>
                  <a:srgbClr val="242424"/>
                </a:solidFill>
                <a:effectLst/>
                <a:latin typeface="+mn-lt"/>
              </a:rPr>
              <a:t>is applied.</a:t>
            </a:r>
          </a:p>
          <a:p>
            <a:pPr algn="l"/>
            <a:endParaRPr lang="en-US" sz="1600" b="0" i="0" dirty="0">
              <a:solidFill>
                <a:srgbClr val="242424"/>
              </a:solidFill>
              <a:effectLst/>
              <a:latin typeface="+mn-lt"/>
            </a:endParaRPr>
          </a:p>
          <a:p>
            <a:pPr marL="57150" indent="0">
              <a:buNone/>
            </a:pPr>
            <a:endParaRPr lang="en-IN" sz="1600" dirty="0">
              <a:latin typeface="+mn-lt"/>
            </a:endParaRPr>
          </a:p>
        </p:txBody>
      </p:sp>
      <p:pic>
        <p:nvPicPr>
          <p:cNvPr id="6146" name="Picture 2">
            <a:extLst>
              <a:ext uri="{FF2B5EF4-FFF2-40B4-BE49-F238E27FC236}">
                <a16:creationId xmlns:a16="http://schemas.microsoft.com/office/drawing/2014/main" id="{E85263A9-3E64-0F0E-5944-5A239D80D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3019" y="3742082"/>
            <a:ext cx="3705225" cy="381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6EC1FA42-D3A3-1366-1FAC-2A0079849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3685" y="5853318"/>
            <a:ext cx="4933950" cy="43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389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9786DA-E50E-C352-7AE9-5C7987FCFF36}"/>
              </a:ext>
            </a:extLst>
          </p:cNvPr>
          <p:cNvSpPr>
            <a:spLocks noGrp="1"/>
          </p:cNvSpPr>
          <p:nvPr>
            <p:ph type="body" idx="1"/>
          </p:nvPr>
        </p:nvSpPr>
        <p:spPr>
          <a:xfrm>
            <a:off x="377687" y="1600200"/>
            <a:ext cx="8299173" cy="4780722"/>
          </a:xfrm>
        </p:spPr>
        <p:txBody>
          <a:bodyPr/>
          <a:lstStyle/>
          <a:p>
            <a:pPr marL="57150" indent="0" algn="l">
              <a:buNone/>
            </a:pPr>
            <a:r>
              <a:rPr lang="en-US" b="1" i="0" dirty="0">
                <a:solidFill>
                  <a:srgbClr val="242424"/>
                </a:solidFill>
                <a:effectLst/>
                <a:latin typeface="+mn-lt"/>
              </a:rPr>
              <a:t>Final Memory</a:t>
            </a:r>
          </a:p>
          <a:p>
            <a:pPr marL="57150" indent="0" algn="l">
              <a:buNone/>
            </a:pPr>
            <a:r>
              <a:rPr lang="en-US" b="0" i="0" dirty="0">
                <a:solidFill>
                  <a:srgbClr val="242424"/>
                </a:solidFill>
                <a:effectLst/>
                <a:latin typeface="+mn-lt"/>
              </a:rPr>
              <a:t>As the last step, the network needs to calculate </a:t>
            </a:r>
            <a:r>
              <a:rPr lang="en-US" b="0" i="1" dirty="0">
                <a:solidFill>
                  <a:srgbClr val="242424"/>
                </a:solidFill>
                <a:effectLst/>
                <a:latin typeface="+mn-lt"/>
              </a:rPr>
              <a:t>h(t)</a:t>
            </a:r>
            <a:r>
              <a:rPr lang="en-US" b="0" i="0" dirty="0">
                <a:solidFill>
                  <a:srgbClr val="242424"/>
                </a:solidFill>
                <a:effectLst/>
                <a:latin typeface="+mn-lt"/>
              </a:rPr>
              <a:t>, that is the</a:t>
            </a:r>
            <a:r>
              <a:rPr lang="en-US" b="0" i="1" dirty="0">
                <a:solidFill>
                  <a:srgbClr val="242424"/>
                </a:solidFill>
                <a:effectLst/>
                <a:latin typeface="+mn-lt"/>
              </a:rPr>
              <a:t> </a:t>
            </a:r>
            <a:r>
              <a:rPr lang="en-US" b="0" i="0" dirty="0">
                <a:solidFill>
                  <a:srgbClr val="242424"/>
                </a:solidFill>
                <a:effectLst/>
                <a:latin typeface="+mn-lt"/>
              </a:rPr>
              <a:t>vector which holds information for the current unit and passes it to the next time step. </a:t>
            </a:r>
          </a:p>
          <a:p>
            <a:pPr marL="57150" indent="0" algn="l">
              <a:buNone/>
            </a:pPr>
            <a:r>
              <a:rPr lang="en-US" b="0" i="0" dirty="0">
                <a:solidFill>
                  <a:srgbClr val="242424"/>
                </a:solidFill>
                <a:effectLst/>
                <a:latin typeface="+mn-lt"/>
              </a:rPr>
              <a:t>It determines what to collect from the current memory content </a:t>
            </a:r>
            <a:r>
              <a:rPr lang="en-US" b="0" i="1" dirty="0">
                <a:solidFill>
                  <a:srgbClr val="242424"/>
                </a:solidFill>
                <a:effectLst/>
                <a:latin typeface="+mn-lt"/>
              </a:rPr>
              <a:t>h</a:t>
            </a:r>
            <a:r>
              <a:rPr lang="en-US" b="0" i="0" dirty="0">
                <a:solidFill>
                  <a:srgbClr val="242424"/>
                </a:solidFill>
                <a:effectLst/>
                <a:latin typeface="+mn-lt"/>
              </a:rPr>
              <a:t>~</a:t>
            </a:r>
            <a:r>
              <a:rPr lang="en-US" b="0" i="1" dirty="0">
                <a:solidFill>
                  <a:srgbClr val="242424"/>
                </a:solidFill>
                <a:effectLst/>
                <a:latin typeface="+mn-lt"/>
              </a:rPr>
              <a:t>(t)</a:t>
            </a:r>
            <a:r>
              <a:rPr lang="en-US" b="0" i="0" dirty="0">
                <a:solidFill>
                  <a:srgbClr val="242424"/>
                </a:solidFill>
                <a:effectLst/>
                <a:latin typeface="+mn-lt"/>
              </a:rPr>
              <a:t> and what from the previous steps </a:t>
            </a:r>
            <a:r>
              <a:rPr lang="en-US" b="0" i="1" dirty="0">
                <a:solidFill>
                  <a:srgbClr val="242424"/>
                </a:solidFill>
                <a:effectLst/>
                <a:latin typeface="+mn-lt"/>
              </a:rPr>
              <a:t>h(t-1)</a:t>
            </a:r>
            <a:r>
              <a:rPr lang="en-US" b="0" i="0" dirty="0">
                <a:solidFill>
                  <a:srgbClr val="242424"/>
                </a:solidFill>
                <a:effectLst/>
                <a:latin typeface="+mn-lt"/>
              </a:rPr>
              <a:t>. </a:t>
            </a:r>
          </a:p>
          <a:p>
            <a:pPr marL="57150" indent="0" algn="l">
              <a:buNone/>
            </a:pPr>
            <a:r>
              <a:rPr lang="en-US" b="0" i="0" dirty="0">
                <a:solidFill>
                  <a:srgbClr val="242424"/>
                </a:solidFill>
                <a:effectLst/>
                <a:latin typeface="+mn-lt"/>
              </a:rPr>
              <a:t>It is computed applying the element by element multiplication between the update gate </a:t>
            </a:r>
            <a:r>
              <a:rPr lang="en-US" b="0" i="1" dirty="0" err="1">
                <a:solidFill>
                  <a:srgbClr val="242424"/>
                </a:solidFill>
                <a:effectLst/>
                <a:latin typeface="+mn-lt"/>
              </a:rPr>
              <a:t>z_t</a:t>
            </a:r>
            <a:r>
              <a:rPr lang="en-US" b="0" i="0" dirty="0">
                <a:solidFill>
                  <a:srgbClr val="242424"/>
                </a:solidFill>
                <a:effectLst/>
                <a:latin typeface="+mn-lt"/>
              </a:rPr>
              <a:t> and </a:t>
            </a:r>
            <a:r>
              <a:rPr lang="en-US" b="0" i="1" dirty="0">
                <a:solidFill>
                  <a:srgbClr val="242424"/>
                </a:solidFill>
                <a:effectLst/>
                <a:latin typeface="+mn-lt"/>
              </a:rPr>
              <a:t>h_(t-1)</a:t>
            </a:r>
            <a:r>
              <a:rPr lang="en-US" b="0" i="0" dirty="0">
                <a:solidFill>
                  <a:srgbClr val="242424"/>
                </a:solidFill>
                <a:effectLst/>
                <a:latin typeface="+mn-lt"/>
              </a:rPr>
              <a:t>, and between </a:t>
            </a:r>
            <a:r>
              <a:rPr lang="en-US" b="0" i="1" dirty="0">
                <a:solidFill>
                  <a:srgbClr val="242424"/>
                </a:solidFill>
                <a:effectLst/>
                <a:latin typeface="+mn-lt"/>
              </a:rPr>
              <a:t>(1-z_t)</a:t>
            </a:r>
            <a:r>
              <a:rPr lang="en-US" b="0" i="0" dirty="0">
                <a:solidFill>
                  <a:srgbClr val="242424"/>
                </a:solidFill>
                <a:effectLst/>
                <a:latin typeface="+mn-lt"/>
              </a:rPr>
              <a:t> and </a:t>
            </a:r>
            <a:r>
              <a:rPr lang="en-US" b="0" i="1" dirty="0">
                <a:solidFill>
                  <a:srgbClr val="242424"/>
                </a:solidFill>
                <a:effectLst/>
                <a:latin typeface="+mn-lt"/>
              </a:rPr>
              <a:t>h~(t)</a:t>
            </a:r>
            <a:r>
              <a:rPr lang="en-US" b="0" i="0" dirty="0">
                <a:solidFill>
                  <a:srgbClr val="242424"/>
                </a:solidFill>
                <a:effectLst/>
                <a:latin typeface="+mn-lt"/>
              </a:rPr>
              <a:t>, and finally performing </a:t>
            </a:r>
            <a:r>
              <a:rPr lang="en-US" b="0" i="0" dirty="0" err="1">
                <a:solidFill>
                  <a:srgbClr val="242424"/>
                </a:solidFill>
                <a:effectLst/>
                <a:latin typeface="+mn-lt"/>
              </a:rPr>
              <a:t>yhr</a:t>
            </a:r>
            <a:r>
              <a:rPr lang="en-US" b="0" i="0" dirty="0">
                <a:solidFill>
                  <a:srgbClr val="242424"/>
                </a:solidFill>
                <a:effectLst/>
                <a:latin typeface="+mn-lt"/>
              </a:rPr>
              <a:t> weighted sum between the two results</a:t>
            </a:r>
            <a:r>
              <a:rPr lang="en-US" b="0" i="1" dirty="0">
                <a:solidFill>
                  <a:srgbClr val="242424"/>
                </a:solidFill>
                <a:effectLst/>
                <a:latin typeface="+mn-lt"/>
              </a:rPr>
              <a:t>.</a:t>
            </a:r>
            <a:endParaRPr lang="en-US" b="0" i="0" dirty="0">
              <a:solidFill>
                <a:srgbClr val="242424"/>
              </a:solidFill>
              <a:effectLst/>
              <a:latin typeface="+mn-lt"/>
            </a:endParaRPr>
          </a:p>
          <a:p>
            <a:pPr marL="57150" indent="0">
              <a:buNone/>
            </a:pPr>
            <a:endParaRPr lang="en-IN" dirty="0">
              <a:latin typeface="+mn-lt"/>
            </a:endParaRPr>
          </a:p>
        </p:txBody>
      </p:sp>
      <p:pic>
        <p:nvPicPr>
          <p:cNvPr id="7170" name="Picture 2">
            <a:extLst>
              <a:ext uri="{FF2B5EF4-FFF2-40B4-BE49-F238E27FC236}">
                <a16:creationId xmlns:a16="http://schemas.microsoft.com/office/drawing/2014/main" id="{D4014F07-A2E7-B93C-C0CE-4BF80F5AA2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1712" y="4298674"/>
            <a:ext cx="4600575" cy="40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004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29"/>
          <p:cNvSpPr txBox="1">
            <a:spLocks noGrp="1"/>
          </p:cNvSpPr>
          <p:nvPr>
            <p:ph type="title"/>
          </p:nvPr>
        </p:nvSpPr>
        <p:spPr>
          <a:xfrm>
            <a:off x="2931666" y="3328238"/>
            <a:ext cx="3578315" cy="78226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5000" dirty="0">
                <a:latin typeface="Calibri" panose="020F0502020204030204" pitchFamily="34" charset="0"/>
                <a:cs typeface="Calibri" panose="020F0502020204030204" pitchFamily="34" charset="0"/>
              </a:rPr>
              <a:t>Thank you</a:t>
            </a:r>
            <a:endParaRPr sz="5000" dirty="0">
              <a:latin typeface="Calibri" panose="020F0502020204030204" pitchFamily="34" charset="0"/>
              <a:cs typeface="Calibri" panose="020F0502020204030204" pitchFamily="34" charset="0"/>
            </a:endParaRPr>
          </a:p>
        </p:txBody>
      </p:sp>
      <p:sp>
        <p:nvSpPr>
          <p:cNvPr id="723" name="Google Shape;723;p29"/>
          <p:cNvSpPr txBox="1"/>
          <p:nvPr/>
        </p:nvSpPr>
        <p:spPr>
          <a:xfrm>
            <a:off x="7358633" y="6639430"/>
            <a:ext cx="1706245" cy="182245"/>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F1141"/>
                </a:solidFill>
                <a:latin typeface="Arial"/>
                <a:ea typeface="Arial"/>
                <a:cs typeface="Arial"/>
                <a:sym typeface="Arial"/>
              </a:rPr>
              <a:t>BITS </a:t>
            </a:r>
            <a:r>
              <a:rPr lang="en-US" sz="1100" b="0" i="0" u="none" strike="noStrike" cap="none">
                <a:solidFill>
                  <a:srgbClr val="0F1141"/>
                </a:solidFill>
                <a:latin typeface="Arial"/>
                <a:ea typeface="Arial"/>
                <a:cs typeface="Arial"/>
                <a:sym typeface="Arial"/>
              </a:rPr>
              <a:t>Pilani, Pilani Campus</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7048457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4F7DDC3C6C5043B82EDD45090B35C4" ma:contentTypeVersion="8" ma:contentTypeDescription="Create a new document." ma:contentTypeScope="" ma:versionID="7c7d65affde2ca747a2e1f00d2a20e78">
  <xsd:schema xmlns:xsd="http://www.w3.org/2001/XMLSchema" xmlns:xs="http://www.w3.org/2001/XMLSchema" xmlns:p="http://schemas.microsoft.com/office/2006/metadata/properties" xmlns:ns2="2b7e7186-b241-4a73-9471-b4c2c9640210" targetNamespace="http://schemas.microsoft.com/office/2006/metadata/properties" ma:root="true" ma:fieldsID="fd6ac79ec0658abf7dd4dbd533975e29" ns2:_="">
    <xsd:import namespace="2b7e7186-b241-4a73-9471-b4c2c964021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7e7186-b241-4a73-9471-b4c2c96402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A188DB-5F82-4D2F-9AE7-BF5937173C8E}"/>
</file>

<file path=customXml/itemProps2.xml><?xml version="1.0" encoding="utf-8"?>
<ds:datastoreItem xmlns:ds="http://schemas.openxmlformats.org/officeDocument/2006/customXml" ds:itemID="{6E7E5B15-C7D9-40B1-9632-29629426C47B}"/>
</file>

<file path=customXml/itemProps3.xml><?xml version="1.0" encoding="utf-8"?>
<ds:datastoreItem xmlns:ds="http://schemas.openxmlformats.org/officeDocument/2006/customXml" ds:itemID="{DACA17B9-BAA1-41EA-A621-CECFC3AE430D}"/>
</file>

<file path=docProps/app.xml><?xml version="1.0" encoding="utf-8"?>
<Properties xmlns="http://schemas.openxmlformats.org/officeDocument/2006/extended-properties" xmlns:vt="http://schemas.openxmlformats.org/officeDocument/2006/docPropsVTypes">
  <TotalTime>2747</TotalTime>
  <Words>4160</Words>
  <Application>Microsoft Office PowerPoint</Application>
  <PresentationFormat>On-screen Show (4:3)</PresentationFormat>
  <Paragraphs>262</Paragraphs>
  <Slides>33</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Time Series Forecasting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shabaresh</dc:creator>
  <cp:lastModifiedBy>vishali sivalenka</cp:lastModifiedBy>
  <cp:revision>159</cp:revision>
  <dcterms:created xsi:type="dcterms:W3CDTF">2021-05-02T00:03:54Z</dcterms:created>
  <dcterms:modified xsi:type="dcterms:W3CDTF">2024-09-04T15:36:36Z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2021-03-15T00:00:00Z</vt:filetime>
  </property>
  <property fmtid="{D5CDD505-2E9C-101B-9397-08002B2CF9AE}" pid="3" name="Creator">
    <vt:lpwstr>Microsoft® PowerPoint® 2013</vt:lpwstr>
  </property>
  <property fmtid="{D5CDD505-2E9C-101B-9397-08002B2CF9AE}" pid="4" name="LastSaved">
    <vt:filetime>2021-05-02T00:00:00Z</vt:filetime>
  </property>
  <property fmtid="{D5CDD505-2E9C-101B-9397-08002B2CF9AE}" pid="5" name="ContentTypeId">
    <vt:lpwstr>0x010100864F7DDC3C6C5043B82EDD45090B35C4</vt:lpwstr>
  </property>
</Properties>
</file>