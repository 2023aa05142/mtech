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63D04-BEDC-4647-8A42-EF33D826E4D7}" v="8" dt="2024-10-02T10:28:51.4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464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Mishra" userId="5695508de39cc593" providerId="LiveId" clId="{87A63D04-BEDC-4647-8A42-EF33D826E4D7}"/>
    <pc:docChg chg="modSld">
      <pc:chgData name="Manish Mishra" userId="5695508de39cc593" providerId="LiveId" clId="{87A63D04-BEDC-4647-8A42-EF33D826E4D7}" dt="2024-10-02T10:33:04.282" v="39" actId="14100"/>
      <pc:docMkLst>
        <pc:docMk/>
      </pc:docMkLst>
      <pc:sldChg chg="modSp mod">
        <pc:chgData name="Manish Mishra" userId="5695508de39cc593" providerId="LiveId" clId="{87A63D04-BEDC-4647-8A42-EF33D826E4D7}" dt="2024-10-02T10:28:58.214" v="0" actId="14100"/>
        <pc:sldMkLst>
          <pc:docMk/>
          <pc:sldMk cId="0" sldId="259"/>
        </pc:sldMkLst>
        <pc:spChg chg="mod">
          <ac:chgData name="Manish Mishra" userId="5695508de39cc593" providerId="LiveId" clId="{87A63D04-BEDC-4647-8A42-EF33D826E4D7}" dt="2024-10-02T10:28:58.214" v="0" actId="14100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29:17.649" v="2" actId="207"/>
        <pc:sldMkLst>
          <pc:docMk/>
          <pc:sldMk cId="0" sldId="260"/>
        </pc:sldMkLst>
        <pc:spChg chg="mod">
          <ac:chgData name="Manish Mishra" userId="5695508de39cc593" providerId="LiveId" clId="{87A63D04-BEDC-4647-8A42-EF33D826E4D7}" dt="2024-10-02T10:29:17.649" v="2" actId="20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29:31.038" v="3" actId="14100"/>
        <pc:sldMkLst>
          <pc:docMk/>
          <pc:sldMk cId="0" sldId="264"/>
        </pc:sldMkLst>
        <pc:spChg chg="mod">
          <ac:chgData name="Manish Mishra" userId="5695508de39cc593" providerId="LiveId" clId="{87A63D04-BEDC-4647-8A42-EF33D826E4D7}" dt="2024-10-02T10:29:31.038" v="3" actId="14100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29:35.959" v="4" actId="14100"/>
        <pc:sldMkLst>
          <pc:docMk/>
          <pc:sldMk cId="0" sldId="265"/>
        </pc:sldMkLst>
        <pc:spChg chg="mod">
          <ac:chgData name="Manish Mishra" userId="5695508de39cc593" providerId="LiveId" clId="{87A63D04-BEDC-4647-8A42-EF33D826E4D7}" dt="2024-10-02T10:29:35.959" v="4" actId="14100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29:42.890" v="6" actId="207"/>
        <pc:sldMkLst>
          <pc:docMk/>
          <pc:sldMk cId="0" sldId="266"/>
        </pc:sldMkLst>
        <pc:spChg chg="mod">
          <ac:chgData name="Manish Mishra" userId="5695508de39cc593" providerId="LiveId" clId="{87A63D04-BEDC-4647-8A42-EF33D826E4D7}" dt="2024-10-02T10:29:42.890" v="6" actId="20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29:48.670" v="7" actId="14100"/>
        <pc:sldMkLst>
          <pc:docMk/>
          <pc:sldMk cId="0" sldId="267"/>
        </pc:sldMkLst>
        <pc:spChg chg="mod">
          <ac:chgData name="Manish Mishra" userId="5695508de39cc593" providerId="LiveId" clId="{87A63D04-BEDC-4647-8A42-EF33D826E4D7}" dt="2024-10-02T10:29:48.670" v="7" actId="14100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29:54.948" v="9" actId="207"/>
        <pc:sldMkLst>
          <pc:docMk/>
          <pc:sldMk cId="0" sldId="268"/>
        </pc:sldMkLst>
        <pc:spChg chg="mod">
          <ac:chgData name="Manish Mishra" userId="5695508de39cc593" providerId="LiveId" clId="{87A63D04-BEDC-4647-8A42-EF33D826E4D7}" dt="2024-10-02T10:29:54.948" v="9" actId="20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00.808" v="10" actId="14100"/>
        <pc:sldMkLst>
          <pc:docMk/>
          <pc:sldMk cId="0" sldId="269"/>
        </pc:sldMkLst>
        <pc:spChg chg="mod">
          <ac:chgData name="Manish Mishra" userId="5695508de39cc593" providerId="LiveId" clId="{87A63D04-BEDC-4647-8A42-EF33D826E4D7}" dt="2024-10-02T10:30:00.808" v="10" actId="14100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06.193" v="11" actId="14100"/>
        <pc:sldMkLst>
          <pc:docMk/>
          <pc:sldMk cId="0" sldId="270"/>
        </pc:sldMkLst>
        <pc:spChg chg="mod">
          <ac:chgData name="Manish Mishra" userId="5695508de39cc593" providerId="LiveId" clId="{87A63D04-BEDC-4647-8A42-EF33D826E4D7}" dt="2024-10-02T10:30:06.193" v="11" actId="14100"/>
          <ac:spMkLst>
            <pc:docMk/>
            <pc:sldMk cId="0" sldId="270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14.952" v="13" actId="207"/>
        <pc:sldMkLst>
          <pc:docMk/>
          <pc:sldMk cId="0" sldId="271"/>
        </pc:sldMkLst>
        <pc:spChg chg="mod">
          <ac:chgData name="Manish Mishra" userId="5695508de39cc593" providerId="LiveId" clId="{87A63D04-BEDC-4647-8A42-EF33D826E4D7}" dt="2024-10-02T10:30:14.952" v="13" actId="207"/>
          <ac:spMkLst>
            <pc:docMk/>
            <pc:sldMk cId="0" sldId="271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26.362" v="15" actId="207"/>
        <pc:sldMkLst>
          <pc:docMk/>
          <pc:sldMk cId="0" sldId="272"/>
        </pc:sldMkLst>
        <pc:spChg chg="mod">
          <ac:chgData name="Manish Mishra" userId="5695508de39cc593" providerId="LiveId" clId="{87A63D04-BEDC-4647-8A42-EF33D826E4D7}" dt="2024-10-02T10:30:26.362" v="15" actId="207"/>
          <ac:spMkLst>
            <pc:docMk/>
            <pc:sldMk cId="0" sldId="272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35.088" v="17" actId="207"/>
        <pc:sldMkLst>
          <pc:docMk/>
          <pc:sldMk cId="0" sldId="274"/>
        </pc:sldMkLst>
        <pc:spChg chg="mod">
          <ac:chgData name="Manish Mishra" userId="5695508de39cc593" providerId="LiveId" clId="{87A63D04-BEDC-4647-8A42-EF33D826E4D7}" dt="2024-10-02T10:30:35.088" v="17" actId="207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42.159" v="19" actId="207"/>
        <pc:sldMkLst>
          <pc:docMk/>
          <pc:sldMk cId="0" sldId="275"/>
        </pc:sldMkLst>
        <pc:spChg chg="mod">
          <ac:chgData name="Manish Mishra" userId="5695508de39cc593" providerId="LiveId" clId="{87A63D04-BEDC-4647-8A42-EF33D826E4D7}" dt="2024-10-02T10:30:42.159" v="19" actId="207"/>
          <ac:spMkLst>
            <pc:docMk/>
            <pc:sldMk cId="0" sldId="275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49.081" v="21" actId="207"/>
        <pc:sldMkLst>
          <pc:docMk/>
          <pc:sldMk cId="0" sldId="276"/>
        </pc:sldMkLst>
        <pc:spChg chg="mod">
          <ac:chgData name="Manish Mishra" userId="5695508de39cc593" providerId="LiveId" clId="{87A63D04-BEDC-4647-8A42-EF33D826E4D7}" dt="2024-10-02T10:30:49.081" v="21" actId="207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0:57.021" v="23" actId="207"/>
        <pc:sldMkLst>
          <pc:docMk/>
          <pc:sldMk cId="0" sldId="277"/>
        </pc:sldMkLst>
        <pc:spChg chg="mod">
          <ac:chgData name="Manish Mishra" userId="5695508de39cc593" providerId="LiveId" clId="{87A63D04-BEDC-4647-8A42-EF33D826E4D7}" dt="2024-10-02T10:30:57.021" v="23" actId="207"/>
          <ac:spMkLst>
            <pc:docMk/>
            <pc:sldMk cId="0" sldId="277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03.882" v="25" actId="207"/>
        <pc:sldMkLst>
          <pc:docMk/>
          <pc:sldMk cId="0" sldId="278"/>
        </pc:sldMkLst>
        <pc:spChg chg="mod">
          <ac:chgData name="Manish Mishra" userId="5695508de39cc593" providerId="LiveId" clId="{87A63D04-BEDC-4647-8A42-EF33D826E4D7}" dt="2024-10-02T10:31:03.882" v="25" actId="20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14.433" v="27" actId="207"/>
        <pc:sldMkLst>
          <pc:docMk/>
          <pc:sldMk cId="0" sldId="279"/>
        </pc:sldMkLst>
        <pc:spChg chg="mod">
          <ac:chgData name="Manish Mishra" userId="5695508de39cc593" providerId="LiveId" clId="{87A63D04-BEDC-4647-8A42-EF33D826E4D7}" dt="2024-10-02T10:31:14.433" v="27" actId="207"/>
          <ac:spMkLst>
            <pc:docMk/>
            <pc:sldMk cId="0" sldId="279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21.113" v="29" actId="207"/>
        <pc:sldMkLst>
          <pc:docMk/>
          <pc:sldMk cId="0" sldId="280"/>
        </pc:sldMkLst>
        <pc:spChg chg="mod">
          <ac:chgData name="Manish Mishra" userId="5695508de39cc593" providerId="LiveId" clId="{87A63D04-BEDC-4647-8A42-EF33D826E4D7}" dt="2024-10-02T10:31:21.113" v="29" actId="207"/>
          <ac:spMkLst>
            <pc:docMk/>
            <pc:sldMk cId="0" sldId="280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29.580" v="30" actId="14100"/>
        <pc:sldMkLst>
          <pc:docMk/>
          <pc:sldMk cId="0" sldId="282"/>
        </pc:sldMkLst>
        <pc:spChg chg="mod">
          <ac:chgData name="Manish Mishra" userId="5695508de39cc593" providerId="LiveId" clId="{87A63D04-BEDC-4647-8A42-EF33D826E4D7}" dt="2024-10-02T10:31:29.580" v="30" actId="14100"/>
          <ac:spMkLst>
            <pc:docMk/>
            <pc:sldMk cId="0" sldId="282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40.876" v="31" actId="14100"/>
        <pc:sldMkLst>
          <pc:docMk/>
          <pc:sldMk cId="0" sldId="284"/>
        </pc:sldMkLst>
        <pc:spChg chg="mod">
          <ac:chgData name="Manish Mishra" userId="5695508de39cc593" providerId="LiveId" clId="{87A63D04-BEDC-4647-8A42-EF33D826E4D7}" dt="2024-10-02T10:31:40.876" v="31" actId="14100"/>
          <ac:spMkLst>
            <pc:docMk/>
            <pc:sldMk cId="0" sldId="284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50.014" v="33" actId="207"/>
        <pc:sldMkLst>
          <pc:docMk/>
          <pc:sldMk cId="0" sldId="285"/>
        </pc:sldMkLst>
        <pc:spChg chg="mod">
          <ac:chgData name="Manish Mishra" userId="5695508de39cc593" providerId="LiveId" clId="{87A63D04-BEDC-4647-8A42-EF33D826E4D7}" dt="2024-10-02T10:31:50.014" v="33" actId="207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1:56.506" v="35" actId="207"/>
        <pc:sldMkLst>
          <pc:docMk/>
          <pc:sldMk cId="0" sldId="289"/>
        </pc:sldMkLst>
        <pc:spChg chg="mod">
          <ac:chgData name="Manish Mishra" userId="5695508de39cc593" providerId="LiveId" clId="{87A63D04-BEDC-4647-8A42-EF33D826E4D7}" dt="2024-10-02T10:31:56.506" v="35" actId="207"/>
          <ac:spMkLst>
            <pc:docMk/>
            <pc:sldMk cId="0" sldId="289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2:03.354" v="36" actId="14100"/>
        <pc:sldMkLst>
          <pc:docMk/>
          <pc:sldMk cId="0" sldId="290"/>
        </pc:sldMkLst>
        <pc:spChg chg="mod">
          <ac:chgData name="Manish Mishra" userId="5695508de39cc593" providerId="LiveId" clId="{87A63D04-BEDC-4647-8A42-EF33D826E4D7}" dt="2024-10-02T10:32:03.354" v="36" actId="14100"/>
          <ac:spMkLst>
            <pc:docMk/>
            <pc:sldMk cId="0" sldId="290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2:09.198" v="37" actId="14100"/>
        <pc:sldMkLst>
          <pc:docMk/>
          <pc:sldMk cId="0" sldId="291"/>
        </pc:sldMkLst>
        <pc:spChg chg="mod">
          <ac:chgData name="Manish Mishra" userId="5695508de39cc593" providerId="LiveId" clId="{87A63D04-BEDC-4647-8A42-EF33D826E4D7}" dt="2024-10-02T10:32:09.198" v="37" actId="14100"/>
          <ac:spMkLst>
            <pc:docMk/>
            <pc:sldMk cId="0" sldId="291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2:15.283" v="38" actId="14100"/>
        <pc:sldMkLst>
          <pc:docMk/>
          <pc:sldMk cId="0" sldId="292"/>
        </pc:sldMkLst>
        <pc:spChg chg="mod">
          <ac:chgData name="Manish Mishra" userId="5695508de39cc593" providerId="LiveId" clId="{87A63D04-BEDC-4647-8A42-EF33D826E4D7}" dt="2024-10-02T10:32:15.283" v="38" actId="14100"/>
          <ac:spMkLst>
            <pc:docMk/>
            <pc:sldMk cId="0" sldId="292"/>
            <ac:spMk id="2" creationId="{00000000-0000-0000-0000-000000000000}"/>
          </ac:spMkLst>
        </pc:spChg>
      </pc:sldChg>
      <pc:sldChg chg="modSp mod">
        <pc:chgData name="Manish Mishra" userId="5695508de39cc593" providerId="LiveId" clId="{87A63D04-BEDC-4647-8A42-EF33D826E4D7}" dt="2024-10-02T10:33:04.282" v="39" actId="14100"/>
        <pc:sldMkLst>
          <pc:docMk/>
          <pc:sldMk cId="0" sldId="300"/>
        </pc:sldMkLst>
        <pc:spChg chg="mod">
          <ac:chgData name="Manish Mishra" userId="5695508de39cc593" providerId="LiveId" clId="{87A63D04-BEDC-4647-8A42-EF33D826E4D7}" dt="2024-10-02T10:33:04.282" v="39" actId="14100"/>
          <ac:spMkLst>
            <pc:docMk/>
            <pc:sldMk cId="0" sldId="30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78B3-D0FE-52D7-0699-FB88A5CCD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725" y="531044"/>
            <a:ext cx="4324350" cy="1129689"/>
          </a:xfrm>
        </p:spPr>
        <p:txBody>
          <a:bodyPr anchor="b"/>
          <a:lstStyle>
            <a:lvl1pPr algn="ctr">
              <a:defRPr sz="283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75476-3D84-9806-CED7-9A670B49A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725" y="1704297"/>
            <a:ext cx="4324350" cy="783421"/>
          </a:xfrm>
        </p:spPr>
        <p:txBody>
          <a:bodyPr/>
          <a:lstStyle>
            <a:lvl1pPr marL="0" indent="0" algn="ctr">
              <a:buNone/>
              <a:defRPr sz="1135"/>
            </a:lvl1pPr>
            <a:lvl2pPr marL="216210" indent="0" algn="ctr">
              <a:buNone/>
              <a:defRPr sz="946"/>
            </a:lvl2pPr>
            <a:lvl3pPr marL="432420" indent="0" algn="ctr">
              <a:buNone/>
              <a:defRPr sz="851"/>
            </a:lvl3pPr>
            <a:lvl4pPr marL="648630" indent="0" algn="ctr">
              <a:buNone/>
              <a:defRPr sz="757"/>
            </a:lvl4pPr>
            <a:lvl5pPr marL="864840" indent="0" algn="ctr">
              <a:buNone/>
              <a:defRPr sz="757"/>
            </a:lvl5pPr>
            <a:lvl6pPr marL="1081049" indent="0" algn="ctr">
              <a:buNone/>
              <a:defRPr sz="757"/>
            </a:lvl6pPr>
            <a:lvl7pPr marL="1297259" indent="0" algn="ctr">
              <a:buNone/>
              <a:defRPr sz="757"/>
            </a:lvl7pPr>
            <a:lvl8pPr marL="1513469" indent="0" algn="ctr">
              <a:buNone/>
              <a:defRPr sz="757"/>
            </a:lvl8pPr>
            <a:lvl9pPr marL="1729679" indent="0" algn="ctr">
              <a:buNone/>
              <a:defRPr sz="757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59983-A5BA-B1ED-CFC9-715BDF86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770E9-DD3B-1F39-6439-EB12BF02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DE34-3D2F-9A6E-7D38-2D713CCF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0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3AB9-428D-3271-EF67-E2D74B00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FFEE7-3FBC-D88D-1D63-91549DFB8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6D08A-8BAC-149F-C800-91DC1A30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AA91-D785-22C0-8FF4-530A4CBF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55C71-943F-7587-A292-3087C802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26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75CE-C43E-4A93-1C87-2EBB09AF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95" y="808960"/>
            <a:ext cx="4973003" cy="1349767"/>
          </a:xfrm>
        </p:spPr>
        <p:txBody>
          <a:bodyPr anchor="b"/>
          <a:lstStyle>
            <a:lvl1pPr>
              <a:defRPr sz="283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3D726-C76C-98C1-F01A-480BD4C89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395" y="2171496"/>
            <a:ext cx="4973003" cy="709811"/>
          </a:xfrm>
        </p:spPr>
        <p:txBody>
          <a:bodyPr/>
          <a:lstStyle>
            <a:lvl1pPr marL="0" indent="0">
              <a:buNone/>
              <a:defRPr sz="1135">
                <a:solidFill>
                  <a:schemeClr val="tx1">
                    <a:tint val="82000"/>
                  </a:schemeClr>
                </a:solidFill>
              </a:defRPr>
            </a:lvl1pPr>
            <a:lvl2pPr marL="216210" indent="0">
              <a:buNone/>
              <a:defRPr sz="946">
                <a:solidFill>
                  <a:schemeClr val="tx1">
                    <a:tint val="82000"/>
                  </a:schemeClr>
                </a:solidFill>
              </a:defRPr>
            </a:lvl2pPr>
            <a:lvl3pPr marL="432420" indent="0">
              <a:buNone/>
              <a:defRPr sz="851">
                <a:solidFill>
                  <a:schemeClr val="tx1">
                    <a:tint val="82000"/>
                  </a:schemeClr>
                </a:solidFill>
              </a:defRPr>
            </a:lvl3pPr>
            <a:lvl4pPr marL="648630" indent="0">
              <a:buNone/>
              <a:defRPr sz="757">
                <a:solidFill>
                  <a:schemeClr val="tx1">
                    <a:tint val="82000"/>
                  </a:schemeClr>
                </a:solidFill>
              </a:defRPr>
            </a:lvl4pPr>
            <a:lvl5pPr marL="864840" indent="0">
              <a:buNone/>
              <a:defRPr sz="757">
                <a:solidFill>
                  <a:schemeClr val="tx1">
                    <a:tint val="82000"/>
                  </a:schemeClr>
                </a:solidFill>
              </a:defRPr>
            </a:lvl5pPr>
            <a:lvl6pPr marL="1081049" indent="0">
              <a:buNone/>
              <a:defRPr sz="757">
                <a:solidFill>
                  <a:schemeClr val="tx1">
                    <a:tint val="82000"/>
                  </a:schemeClr>
                </a:solidFill>
              </a:defRPr>
            </a:lvl6pPr>
            <a:lvl7pPr marL="1297259" indent="0">
              <a:buNone/>
              <a:defRPr sz="757">
                <a:solidFill>
                  <a:schemeClr val="tx1">
                    <a:tint val="82000"/>
                  </a:schemeClr>
                </a:solidFill>
              </a:defRPr>
            </a:lvl7pPr>
            <a:lvl8pPr marL="1513469" indent="0">
              <a:buNone/>
              <a:defRPr sz="757">
                <a:solidFill>
                  <a:schemeClr val="tx1">
                    <a:tint val="82000"/>
                  </a:schemeClr>
                </a:solidFill>
              </a:defRPr>
            </a:lvl8pPr>
            <a:lvl9pPr marL="1729679" indent="0">
              <a:buNone/>
              <a:defRPr sz="7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D8980-127D-52AA-A789-AD93F1039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7A19D-7294-F187-90B7-5711F14B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165C-3B23-F220-90A8-E34B8ECA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2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7C0F-1644-F3CC-6820-4FCFEAF1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4AFE-79A6-D512-39F5-FD9D08987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399" y="863791"/>
            <a:ext cx="2450465" cy="205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4266F-3D03-0F60-1A03-9CE0ECCBA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8936" y="863791"/>
            <a:ext cx="2450465" cy="205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2F9EA-D61A-5F6E-5EDD-22838AB66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E3752-6A2D-6E9C-726D-7BE76776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A1792-283E-DD28-A440-E88DE563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18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499A-BB31-C487-84AB-BC0BCBB0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49" y="172758"/>
            <a:ext cx="4973003" cy="627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A1A8C-2B98-098F-44BC-D45E73E18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150" y="795439"/>
            <a:ext cx="2439203" cy="389832"/>
          </a:xfrm>
        </p:spPr>
        <p:txBody>
          <a:bodyPr anchor="b"/>
          <a:lstStyle>
            <a:lvl1pPr marL="0" indent="0">
              <a:buNone/>
              <a:defRPr sz="1135" b="1"/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65061-D5BF-AEB4-175A-2E93FC112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7150" y="1185272"/>
            <a:ext cx="2439203" cy="174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F0140E-A9DD-2F98-B04E-B12FEEB97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18936" y="795439"/>
            <a:ext cx="2451216" cy="389832"/>
          </a:xfrm>
        </p:spPr>
        <p:txBody>
          <a:bodyPr anchor="b"/>
          <a:lstStyle>
            <a:lvl1pPr marL="0" indent="0">
              <a:buNone/>
              <a:defRPr sz="1135" b="1"/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02643-2936-C9D7-8EB5-4DA2EE703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18936" y="1185272"/>
            <a:ext cx="2451216" cy="174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0AE4C-6591-6392-ACC5-0501B9873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789C7-6EDF-03D9-B3CD-5CB2B8B5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2C334-C1A8-D385-5449-91D04085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27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F70A-8AD3-9FC1-D8DA-869160F0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50DDB-89AB-EE6B-E88E-96D3C399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34607-5C1E-BDB0-3EA6-04240AAA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9023C-A53A-4FAE-280A-FC82C7E2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76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BA888-4F3D-5050-6894-E1C79F647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995DDA-95F6-29CF-04CB-993DAC10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E5236-947B-34F0-9117-104C6507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57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D78F-E95C-A1A8-C7E8-6B517952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0" y="216323"/>
            <a:ext cx="1859620" cy="757132"/>
          </a:xfrm>
        </p:spPr>
        <p:txBody>
          <a:bodyPr anchor="b"/>
          <a:lstStyle>
            <a:lvl1pPr>
              <a:defRPr sz="151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930F-0ACB-3F7A-0A16-816A2729C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16" y="467198"/>
            <a:ext cx="2918936" cy="2305947"/>
          </a:xfrm>
        </p:spPr>
        <p:txBody>
          <a:bodyPr/>
          <a:lstStyle>
            <a:lvl1pPr>
              <a:defRPr sz="1513"/>
            </a:lvl1pPr>
            <a:lvl2pPr>
              <a:defRPr sz="1324"/>
            </a:lvl2pPr>
            <a:lvl3pPr>
              <a:defRPr sz="1135"/>
            </a:lvl3pPr>
            <a:lvl4pPr>
              <a:defRPr sz="946"/>
            </a:lvl4pPr>
            <a:lvl5pPr>
              <a:defRPr sz="946"/>
            </a:lvl5pPr>
            <a:lvl6pPr>
              <a:defRPr sz="946"/>
            </a:lvl6pPr>
            <a:lvl7pPr>
              <a:defRPr sz="946"/>
            </a:lvl7pPr>
            <a:lvl8pPr>
              <a:defRPr sz="946"/>
            </a:lvl8pPr>
            <a:lvl9pPr>
              <a:defRPr sz="9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8CFDF-A344-C373-3090-E591EEF0F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7150" y="973455"/>
            <a:ext cx="1859620" cy="1803446"/>
          </a:xfrm>
        </p:spPr>
        <p:txBody>
          <a:bodyPr/>
          <a:lstStyle>
            <a:lvl1pPr marL="0" indent="0"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20B93-1DA7-CD61-B735-FCE869D9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60C96-D7E5-B6CD-75CA-6385A61C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78183-50A0-4237-15E4-A99404C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79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2FF6-FF85-161C-3032-3AF7C8DE5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0" y="216323"/>
            <a:ext cx="1859620" cy="757132"/>
          </a:xfrm>
        </p:spPr>
        <p:txBody>
          <a:bodyPr anchor="b"/>
          <a:lstStyle>
            <a:lvl1pPr>
              <a:defRPr sz="151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E68A6-8C0E-4226-082E-6A87EDE74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51216" y="467198"/>
            <a:ext cx="2918936" cy="2305947"/>
          </a:xfrm>
        </p:spPr>
        <p:txBody>
          <a:bodyPr/>
          <a:lstStyle>
            <a:lvl1pPr marL="0" indent="0">
              <a:buNone/>
              <a:defRPr sz="1513"/>
            </a:lvl1pPr>
            <a:lvl2pPr marL="216210" indent="0">
              <a:buNone/>
              <a:defRPr sz="1324"/>
            </a:lvl2pPr>
            <a:lvl3pPr marL="432420" indent="0">
              <a:buNone/>
              <a:defRPr sz="1135"/>
            </a:lvl3pPr>
            <a:lvl4pPr marL="648630" indent="0">
              <a:buNone/>
              <a:defRPr sz="946"/>
            </a:lvl4pPr>
            <a:lvl5pPr marL="864840" indent="0">
              <a:buNone/>
              <a:defRPr sz="946"/>
            </a:lvl5pPr>
            <a:lvl6pPr marL="1081049" indent="0">
              <a:buNone/>
              <a:defRPr sz="946"/>
            </a:lvl6pPr>
            <a:lvl7pPr marL="1297259" indent="0">
              <a:buNone/>
              <a:defRPr sz="946"/>
            </a:lvl7pPr>
            <a:lvl8pPr marL="1513469" indent="0">
              <a:buNone/>
              <a:defRPr sz="946"/>
            </a:lvl8pPr>
            <a:lvl9pPr marL="1729679" indent="0">
              <a:buNone/>
              <a:defRPr sz="94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3A249-7CB5-61E3-E033-A1FFF643D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7150" y="973455"/>
            <a:ext cx="1859620" cy="1803446"/>
          </a:xfrm>
        </p:spPr>
        <p:txBody>
          <a:bodyPr/>
          <a:lstStyle>
            <a:lvl1pPr marL="0" indent="0"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E83C1-B6BF-08E0-7B8D-EC71BE4D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14D46-43EA-2C32-591E-B0815D88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710D4-C063-D15E-9C4F-B5739FB5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18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4177-D073-8F2F-47D8-E8AAFE84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BC406-95A2-5226-E649-C4028F28D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705A-BC54-2F31-1B7E-9B0CFA16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0F0D3-3BF0-C750-01AA-5507103C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AEFFE-7C4D-53F6-18ED-2FAF731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8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92D87-0896-1C0C-F17A-AC9DD3877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126150" y="172758"/>
            <a:ext cx="1243251" cy="27498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63FAA-4AE9-D8F9-1A80-2F0DB1EDF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6399" y="172758"/>
            <a:ext cx="3657679" cy="2749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17829-A4EE-2943-A504-8CA699BF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4ED51-15AC-F600-BA99-2072D10C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0832-3909-FB78-A22C-E4024A23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04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91536"/>
            <a:ext cx="5575198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35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19FB5-895C-AD8C-AF5B-7889D933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99" y="172758"/>
            <a:ext cx="4973003" cy="627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B753-0F05-EF7D-05D5-9862F0B01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99" y="863791"/>
            <a:ext cx="4973003" cy="2058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BAE65-6E7A-D656-D205-DD8F73801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399" y="3007496"/>
            <a:ext cx="129730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FC60-5F15-DBA3-7297-4738B9036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9921" y="3007496"/>
            <a:ext cx="1945958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7FCB3-6F95-EA04-5D5E-1612932D4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8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432420" rtl="0" eaLnBrk="1" latinLnBrk="0" hangingPunct="1">
        <a:lnSpc>
          <a:spcPct val="90000"/>
        </a:lnSpc>
        <a:spcBef>
          <a:spcPct val="0"/>
        </a:spcBef>
        <a:buNone/>
        <a:defRPr sz="20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105" indent="-108105" algn="l" defTabSz="432420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324" kern="1200">
          <a:solidFill>
            <a:schemeClr val="tx1"/>
          </a:solidFill>
          <a:latin typeface="+mn-lt"/>
          <a:ea typeface="+mn-ea"/>
          <a:cs typeface="+mn-cs"/>
        </a:defRPr>
      </a:lvl1pPr>
      <a:lvl2pPr marL="32431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4052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6" kern="1200">
          <a:solidFill>
            <a:schemeClr val="tx1"/>
          </a:solidFill>
          <a:latin typeface="+mn-lt"/>
          <a:ea typeface="+mn-ea"/>
          <a:cs typeface="+mn-cs"/>
        </a:defRPr>
      </a:lvl3pPr>
      <a:lvl4pPr marL="75673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94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915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536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157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778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21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42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63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84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104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725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346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967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slide" Target="slide3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12.03385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37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slide" Target="slide3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"/>
            <a:ext cx="5760085" cy="3240405"/>
            <a:chOff x="0" y="4"/>
            <a:chExt cx="5760085" cy="3240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"/>
              <a:ext cx="5759866" cy="32399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62533" y="1244355"/>
              <a:ext cx="3145155" cy="681355"/>
            </a:xfrm>
            <a:custGeom>
              <a:avLst/>
              <a:gdLst/>
              <a:ahLst/>
              <a:cxnLst/>
              <a:rect l="l" t="t" r="r" b="b"/>
              <a:pathLst>
                <a:path w="3145154" h="681355">
                  <a:moveTo>
                    <a:pt x="3144979" y="0"/>
                  </a:moveTo>
                  <a:lnTo>
                    <a:pt x="0" y="0"/>
                  </a:lnTo>
                  <a:lnTo>
                    <a:pt x="0" y="680834"/>
                  </a:lnTo>
                  <a:lnTo>
                    <a:pt x="3144979" y="680834"/>
                  </a:lnTo>
                  <a:lnTo>
                    <a:pt x="3144979" y="0"/>
                  </a:lnTo>
                  <a:close/>
                </a:path>
              </a:pathLst>
            </a:custGeom>
            <a:solidFill>
              <a:srgbClr val="201D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62533" y="1244355"/>
              <a:ext cx="3145155" cy="681355"/>
            </a:xfrm>
            <a:custGeom>
              <a:avLst/>
              <a:gdLst/>
              <a:ahLst/>
              <a:cxnLst/>
              <a:rect l="l" t="t" r="r" b="b"/>
              <a:pathLst>
                <a:path w="3145154" h="681355">
                  <a:moveTo>
                    <a:pt x="0" y="680834"/>
                  </a:moveTo>
                  <a:lnTo>
                    <a:pt x="0" y="0"/>
                  </a:lnTo>
                  <a:lnTo>
                    <a:pt x="3144979" y="0"/>
                  </a:lnTo>
                  <a:lnTo>
                    <a:pt x="3144979" y="680834"/>
                  </a:lnTo>
                  <a:lnTo>
                    <a:pt x="0" y="68083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62533" y="1244355"/>
              <a:ext cx="3145155" cy="681355"/>
            </a:xfrm>
            <a:custGeom>
              <a:avLst/>
              <a:gdLst/>
              <a:ahLst/>
              <a:cxnLst/>
              <a:rect l="l" t="t" r="r" b="b"/>
              <a:pathLst>
                <a:path w="3145154" h="681355">
                  <a:moveTo>
                    <a:pt x="0" y="680834"/>
                  </a:moveTo>
                  <a:lnTo>
                    <a:pt x="0" y="0"/>
                  </a:lnTo>
                  <a:lnTo>
                    <a:pt x="3144979" y="0"/>
                  </a:lnTo>
                  <a:lnTo>
                    <a:pt x="3144979" y="680834"/>
                  </a:lnTo>
                  <a:lnTo>
                    <a:pt x="0" y="680834"/>
                  </a:lnTo>
                  <a:close/>
                </a:path>
              </a:pathLst>
            </a:custGeom>
            <a:ln w="5060">
              <a:solidFill>
                <a:srgbClr val="201D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60003" y="1241825"/>
            <a:ext cx="3150235" cy="686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89"/>
              </a:lnSpc>
            </a:pP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sz="1350" spc="85" dirty="0">
                <a:solidFill>
                  <a:srgbClr val="FFFFFF"/>
                </a:solidFill>
                <a:latin typeface="Cambria"/>
                <a:cs typeface="Cambria"/>
              </a:rPr>
              <a:t>EEP</a:t>
            </a:r>
            <a:r>
              <a:rPr sz="135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1350" spc="114" dirty="0">
                <a:solidFill>
                  <a:srgbClr val="FFFFFF"/>
                </a:solidFill>
                <a:latin typeface="Cambria"/>
                <a:cs typeface="Cambria"/>
              </a:rPr>
              <a:t>EARNING</a:t>
            </a:r>
            <a:endParaRPr sz="1350">
              <a:latin typeface="Cambria"/>
              <a:cs typeface="Cambria"/>
            </a:endParaRPr>
          </a:p>
          <a:p>
            <a:pPr marL="307340" marR="299720" algn="ctr">
              <a:lnSpc>
                <a:spcPts val="1440"/>
              </a:lnSpc>
              <a:spcBef>
                <a:spcPts val="100"/>
              </a:spcBef>
            </a:pPr>
            <a:r>
              <a:rPr sz="1400" spc="100" dirty="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sz="1150" spc="100" dirty="0">
                <a:solidFill>
                  <a:srgbClr val="FFFFFF"/>
                </a:solidFill>
                <a:latin typeface="Cambria"/>
                <a:cs typeface="Cambria"/>
              </a:rPr>
              <a:t>ODULE</a:t>
            </a:r>
            <a:r>
              <a:rPr sz="1150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200" dirty="0">
                <a:solidFill>
                  <a:srgbClr val="FFFFFF"/>
                </a:solidFill>
                <a:latin typeface="Cambria"/>
                <a:cs typeface="Cambria"/>
              </a:rPr>
              <a:t>#</a:t>
            </a:r>
            <a:r>
              <a:rPr sz="14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14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spc="2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150" spc="95" dirty="0">
                <a:solidFill>
                  <a:srgbClr val="FFFFFF"/>
                </a:solidFill>
                <a:latin typeface="Cambria"/>
                <a:cs typeface="Cambria"/>
              </a:rPr>
              <a:t>ONVOLUTIONAL </a:t>
            </a:r>
            <a:r>
              <a:rPr sz="1150" spc="-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1150" spc="80" dirty="0">
                <a:solidFill>
                  <a:srgbClr val="FFFFFF"/>
                </a:solidFill>
                <a:latin typeface="Cambria"/>
                <a:cs typeface="Cambria"/>
              </a:rPr>
              <a:t>EURAL</a:t>
            </a:r>
            <a:r>
              <a:rPr sz="1150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sz="1150" spc="80" dirty="0">
                <a:solidFill>
                  <a:srgbClr val="FFFFFF"/>
                </a:solidFill>
                <a:latin typeface="Cambria"/>
                <a:cs typeface="Cambria"/>
              </a:rPr>
              <a:t>ETWORK</a:t>
            </a:r>
            <a:r>
              <a:rPr sz="1150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150" dirty="0">
                <a:solidFill>
                  <a:srgbClr val="FFFFFF"/>
                </a:solidFill>
                <a:latin typeface="Cambria"/>
                <a:cs typeface="Cambria"/>
              </a:rPr>
              <a:t>[CNN]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cap="small" spc="1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185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250" dirty="0">
                <a:solidFill>
                  <a:srgbClr val="FFFFFF"/>
                </a:solidFill>
                <a:latin typeface="Calibri"/>
                <a:cs typeface="Calibri"/>
              </a:rPr>
              <a:t>egment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181861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118553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029" y="1117698"/>
            <a:ext cx="18935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00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CNN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400" spc="355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A</a:t>
            </a:r>
            <a:r>
              <a:rPr sz="1400" cap="small" spc="229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r</a:t>
            </a:r>
            <a:r>
              <a:rPr sz="1400" cap="small" spc="260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c</a:t>
            </a:r>
            <a:r>
              <a:rPr sz="1400" cap="small" spc="229" dirty="0">
                <a:solidFill>
                  <a:srgbClr val="3333B2"/>
                </a:solidFill>
                <a:latin typeface="Calibri"/>
                <a:cs typeface="Calibri"/>
                <a:hlinkClick r:id="rId3" action="ppaction://hlinksldjump"/>
              </a:rPr>
              <a:t>hitectures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700847"/>
            <a:ext cx="169964" cy="1699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7959" y="170451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29" y="1636684"/>
            <a:ext cx="18059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T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ransfer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2219832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22235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029" y="2155682"/>
            <a:ext cx="16205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7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F</a:t>
            </a:r>
            <a:r>
              <a:rPr sz="1400" cap="small" spc="23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u</a:t>
            </a:r>
            <a:r>
              <a:rPr sz="1400" cap="small" spc="1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54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ther</a:t>
            </a:r>
            <a:r>
              <a:rPr sz="140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385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7" action="ppaction://hlinksldjump"/>
              </a:rPr>
              <a:t>eading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4546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9" dirty="0"/>
              <a:t>L</a:t>
            </a:r>
            <a:r>
              <a:rPr cap="small" spc="295" dirty="0"/>
              <a:t>e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spc="325" dirty="0"/>
              <a:t> </a:t>
            </a:r>
            <a:r>
              <a:rPr spc="-120" dirty="0"/>
              <a:t> </a:t>
            </a:r>
            <a:r>
              <a:rPr spc="85" dirty="0"/>
              <a:t>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2100" y="479425"/>
            <a:ext cx="5181600" cy="24108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239395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Every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convolutional</a:t>
            </a:r>
            <a:r>
              <a:rPr sz="1050" spc="25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layer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includes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three</a:t>
            </a:r>
            <a:r>
              <a:rPr sz="1050" spc="25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parts:</a:t>
            </a:r>
            <a:r>
              <a:rPr sz="1050" spc="9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convolution,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pooling,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nonlinear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activation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functions.</a:t>
            </a:r>
            <a:endParaRPr sz="1050" dirty="0">
              <a:cs typeface="Microsoft Sans Serif"/>
            </a:endParaRPr>
          </a:p>
          <a:p>
            <a:pPr marL="184150" marR="190881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Using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extract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spatial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features. </a:t>
            </a:r>
            <a:r>
              <a:rPr sz="1050" spc="-265" dirty="0">
                <a:cs typeface="Microsoft Sans Serif"/>
              </a:rPr>
              <a:t> </a:t>
            </a:r>
            <a:endParaRPr lang="en-US" sz="1050" spc="-265" dirty="0">
              <a:cs typeface="Microsoft Sans Serif"/>
            </a:endParaRPr>
          </a:p>
          <a:p>
            <a:pPr marL="184150" marR="190881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5" dirty="0" err="1">
                <a:cs typeface="Microsoft Sans Serif"/>
              </a:rPr>
              <a:t>Conv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filters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were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5x5,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applied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stride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1.</a:t>
            </a:r>
            <a:endParaRPr sz="1050" dirty="0">
              <a:cs typeface="Microsoft Sans Serif"/>
            </a:endParaRPr>
          </a:p>
          <a:p>
            <a:pPr marL="184150" marR="2032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Subsampling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average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pooling</a:t>
            </a:r>
            <a:r>
              <a:rPr sz="1050" spc="25" dirty="0">
                <a:cs typeface="Microsoft Sans Serif"/>
              </a:rPr>
              <a:t> </a:t>
            </a:r>
            <a:r>
              <a:rPr sz="1050" spc="-10" dirty="0">
                <a:cs typeface="Microsoft Sans Serif"/>
              </a:rPr>
              <a:t>layer.</a:t>
            </a:r>
            <a:r>
              <a:rPr sz="1050" spc="9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Subsampling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(Pooling)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were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2x2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applied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stride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2.</a:t>
            </a:r>
            <a:endParaRPr sz="1050" dirty="0">
              <a:cs typeface="Microsoft Sans Serif"/>
            </a:endParaRPr>
          </a:p>
          <a:p>
            <a:pPr marL="1841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tanh</a:t>
            </a:r>
            <a:r>
              <a:rPr sz="1050" spc="-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activation</a:t>
            </a:r>
            <a:r>
              <a:rPr sz="105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function.</a:t>
            </a:r>
            <a:endParaRPr sz="1050" dirty="0">
              <a:cs typeface="Microsoft Sans Serif"/>
            </a:endParaRPr>
          </a:p>
          <a:p>
            <a:pPr marL="1841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Using</a:t>
            </a:r>
            <a:r>
              <a:rPr sz="1050" spc="15" dirty="0">
                <a:cs typeface="Microsoft Sans Serif"/>
              </a:rPr>
              <a:t> MLP </a:t>
            </a:r>
            <a:r>
              <a:rPr sz="1050" spc="10" dirty="0">
                <a:cs typeface="Microsoft Sans Serif"/>
              </a:rPr>
              <a:t>as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last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classifier.</a:t>
            </a:r>
          </a:p>
          <a:p>
            <a:pPr marL="1841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Architecture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[CONV-POOL-CONV-POOL-FC-FC]</a:t>
            </a:r>
            <a:endParaRPr sz="1050" dirty="0">
              <a:cs typeface="Microsoft Sans Serif"/>
            </a:endParaRPr>
          </a:p>
          <a:p>
            <a:pPr marL="1841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Sparse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connection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between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reduce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complexity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computation.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3784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59" dirty="0">
                <a:latin typeface="Calibri"/>
                <a:cs typeface="Calibri"/>
              </a:rPr>
              <a:t>L</a:t>
            </a:r>
            <a:r>
              <a:rPr sz="1700" cap="small" spc="295" dirty="0">
                <a:latin typeface="Calibri"/>
                <a:cs typeface="Calibri"/>
              </a:rPr>
              <a:t>e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r>
              <a:rPr sz="1700" spc="105" dirty="0">
                <a:latin typeface="Calibri"/>
                <a:cs typeface="Calibri"/>
              </a:rPr>
              <a:t>-5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1" y="555625"/>
            <a:ext cx="5410200" cy="2362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48291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cap="small" spc="24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700" cap="small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700" spc="3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9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700" cap="small" spc="2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295" dirty="0">
                <a:solidFill>
                  <a:srgbClr val="FFFFFF"/>
                </a:solidFill>
                <a:latin typeface="Calibri"/>
                <a:cs typeface="Calibri"/>
              </a:rPr>
              <a:t>cale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34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700" cap="small" spc="225" dirty="0">
                <a:solidFill>
                  <a:srgbClr val="FFFFFF"/>
                </a:solidFill>
                <a:latin typeface="Calibri"/>
                <a:cs typeface="Calibri"/>
              </a:rPr>
              <a:t>isual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700" cap="small" spc="229" dirty="0">
                <a:solidFill>
                  <a:srgbClr val="FFFFFF"/>
                </a:solidFill>
                <a:latin typeface="Calibri"/>
                <a:cs typeface="Calibri"/>
              </a:rPr>
              <a:t>ecognition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5900" y="479425"/>
            <a:ext cx="5334000" cy="2571394"/>
            <a:chOff x="359994" y="877849"/>
            <a:chExt cx="4916170" cy="2172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724" y="877849"/>
              <a:ext cx="4836159" cy="207136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72338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cap="small" spc="24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700" cap="small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700" spc="3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700" cap="small" spc="1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555625"/>
            <a:ext cx="5257801" cy="2438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72338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cap="small" spc="24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700" cap="small" spc="1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75" dirty="0">
                <a:solidFill>
                  <a:srgbClr val="FFFFFF"/>
                </a:solidFill>
                <a:latin typeface="Calibri"/>
                <a:cs typeface="Calibri"/>
              </a:rPr>
              <a:t>ge</a:t>
            </a:r>
            <a:r>
              <a:rPr sz="1700" spc="3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700" cap="small" spc="1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2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1" y="554990"/>
            <a:ext cx="5181600" cy="259143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15" dirty="0"/>
              <a:t>A</a:t>
            </a:r>
            <a:r>
              <a:rPr cap="small" spc="320" dirty="0"/>
              <a:t>lex</a:t>
            </a:r>
            <a:r>
              <a:rPr spc="300" dirty="0"/>
              <a:t>N</a:t>
            </a:r>
            <a:r>
              <a:rPr cap="small" spc="325" dirty="0"/>
              <a:t>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2100" y="462280"/>
            <a:ext cx="4952999" cy="2760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925" marR="81280" indent="-171450" algn="just">
              <a:lnSpc>
                <a:spcPct val="1147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00" spc="5" dirty="0">
                <a:cs typeface="Microsoft Sans Serif"/>
              </a:rPr>
              <a:t>AlexNet </a:t>
            </a:r>
            <a:r>
              <a:rPr sz="1000" spc="10" dirty="0">
                <a:cs typeface="Microsoft Sans Serif"/>
              </a:rPr>
              <a:t>competed </a:t>
            </a:r>
            <a:r>
              <a:rPr sz="1000" spc="5" dirty="0">
                <a:cs typeface="Microsoft Sans Serif"/>
              </a:rPr>
              <a:t>in </a:t>
            </a:r>
            <a:r>
              <a:rPr sz="1000" spc="10" dirty="0">
                <a:cs typeface="Microsoft Sans Serif"/>
              </a:rPr>
              <a:t>the ImageNet Large Scale </a:t>
            </a:r>
            <a:r>
              <a:rPr sz="1000" spc="5" dirty="0">
                <a:cs typeface="Microsoft Sans Serif"/>
              </a:rPr>
              <a:t>Visual </a:t>
            </a:r>
            <a:r>
              <a:rPr sz="1000" spc="10" dirty="0">
                <a:cs typeface="Microsoft Sans Serif"/>
              </a:rPr>
              <a:t>Recognition Challenge </a:t>
            </a:r>
            <a:r>
              <a:rPr sz="1000" spc="1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on September 30, 2012.[3] The network </a:t>
            </a:r>
            <a:r>
              <a:rPr sz="1000" dirty="0">
                <a:cs typeface="Microsoft Sans Serif"/>
              </a:rPr>
              <a:t>achieved </a:t>
            </a:r>
            <a:r>
              <a:rPr sz="1000" spc="10" dirty="0">
                <a:cs typeface="Microsoft Sans Serif"/>
              </a:rPr>
              <a:t>a top-5 error of 15.3%, more </a:t>
            </a:r>
            <a:r>
              <a:rPr sz="1000" spc="-26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than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10.8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percentage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points</a:t>
            </a:r>
            <a:r>
              <a:rPr sz="1000" spc="20" dirty="0">
                <a:cs typeface="Microsoft Sans Serif"/>
              </a:rPr>
              <a:t> </a:t>
            </a:r>
            <a:r>
              <a:rPr sz="1000" dirty="0">
                <a:cs typeface="Microsoft Sans Serif"/>
              </a:rPr>
              <a:t>lower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than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that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of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the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runner</a:t>
            </a:r>
            <a:r>
              <a:rPr sz="1000" spc="20" dirty="0">
                <a:cs typeface="Microsoft Sans Serif"/>
              </a:rPr>
              <a:t> </a:t>
            </a:r>
            <a:r>
              <a:rPr sz="1000" spc="-5" dirty="0">
                <a:cs typeface="Microsoft Sans Serif"/>
              </a:rPr>
              <a:t>up.</a:t>
            </a:r>
            <a:endParaRPr sz="1000" dirty="0">
              <a:cs typeface="Microsoft Sans Serif"/>
            </a:endParaRPr>
          </a:p>
          <a:p>
            <a:pPr marL="171450" marR="3309620" indent="-171450" algn="ctr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00" spc="5" dirty="0">
                <a:cs typeface="Microsoft Sans Serif"/>
              </a:rPr>
              <a:t>Details/Retrospectives:</a:t>
            </a:r>
            <a:endParaRPr sz="1000" dirty="0">
              <a:cs typeface="Microsoft Sans Serif"/>
            </a:endParaRPr>
          </a:p>
          <a:p>
            <a:pPr marL="171450" marR="3322320" indent="-171450" algn="ctr">
              <a:lnSpc>
                <a:spcPct val="100000"/>
              </a:lnSpc>
              <a:spcBef>
                <a:spcPts val="195"/>
              </a:spcBef>
              <a:buFont typeface="Courier New" panose="02070309020205020404" pitchFamily="49" charset="0"/>
              <a:buChar char="o"/>
            </a:pPr>
            <a:r>
              <a:rPr sz="1000" spc="5" dirty="0">
                <a:cs typeface="Microsoft Sans Serif"/>
              </a:rPr>
              <a:t>first</a:t>
            </a:r>
            <a:r>
              <a:rPr sz="1000" spc="10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use</a:t>
            </a:r>
            <a:r>
              <a:rPr sz="1000" spc="10" dirty="0">
                <a:cs typeface="Microsoft Sans Serif"/>
              </a:rPr>
              <a:t> of</a:t>
            </a:r>
            <a:r>
              <a:rPr sz="1000" spc="5" dirty="0">
                <a:cs typeface="Microsoft Sans Serif"/>
              </a:rPr>
              <a:t> </a:t>
            </a:r>
            <a:r>
              <a:rPr sz="1000" spc="20" dirty="0">
                <a:cs typeface="Microsoft Sans Serif"/>
              </a:rPr>
              <a:t>ReLU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210"/>
              </a:spcBef>
              <a:buFont typeface="Courier New" panose="02070309020205020404" pitchFamily="49" charset="0"/>
              <a:buChar char="o"/>
            </a:pPr>
            <a:r>
              <a:rPr sz="1000" spc="15" dirty="0">
                <a:cs typeface="Microsoft Sans Serif"/>
              </a:rPr>
              <a:t>used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Local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Response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Normalisation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(LRN)</a:t>
            </a:r>
            <a:r>
              <a:rPr sz="1000" spc="25" dirty="0">
                <a:cs typeface="Microsoft Sans Serif"/>
              </a:rPr>
              <a:t> </a:t>
            </a:r>
            <a:r>
              <a:rPr sz="1000" dirty="0">
                <a:cs typeface="Microsoft Sans Serif"/>
              </a:rPr>
              <a:t>layers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(not</a:t>
            </a:r>
            <a:r>
              <a:rPr sz="1000" spc="25" dirty="0">
                <a:cs typeface="Microsoft Sans Serif"/>
              </a:rPr>
              <a:t> </a:t>
            </a:r>
            <a:r>
              <a:rPr sz="1000" spc="20" dirty="0">
                <a:cs typeface="Microsoft Sans Serif"/>
              </a:rPr>
              <a:t>common </a:t>
            </a:r>
            <a:r>
              <a:rPr sz="1000" spc="10" dirty="0">
                <a:cs typeface="Microsoft Sans Serif"/>
              </a:rPr>
              <a:t>anymore)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1000" spc="10" dirty="0">
                <a:cs typeface="Microsoft Sans Serif"/>
              </a:rPr>
              <a:t>Approx.</a:t>
            </a:r>
            <a:r>
              <a:rPr sz="1000" spc="80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60 </a:t>
            </a:r>
            <a:r>
              <a:rPr sz="1000" spc="5" dirty="0">
                <a:cs typeface="Microsoft Sans Serif"/>
              </a:rPr>
              <a:t>million</a:t>
            </a:r>
            <a:r>
              <a:rPr sz="1000" spc="15" dirty="0">
                <a:cs typeface="Microsoft Sans Serif"/>
              </a:rPr>
              <a:t> parameters are learned.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1000" spc="10" dirty="0">
                <a:cs typeface="Microsoft Sans Serif"/>
              </a:rPr>
              <a:t>heavy</a:t>
            </a:r>
            <a:r>
              <a:rPr sz="1000" spc="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data</a:t>
            </a:r>
            <a:r>
              <a:rPr sz="1000" spc="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augmentation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65"/>
              </a:spcBef>
              <a:buFont typeface="Courier New" panose="02070309020205020404" pitchFamily="49" charset="0"/>
              <a:buChar char="o"/>
            </a:pPr>
            <a:r>
              <a:rPr sz="1000" spc="15" dirty="0">
                <a:cs typeface="Microsoft Sans Serif"/>
              </a:rPr>
              <a:t>dropout</a:t>
            </a:r>
            <a:r>
              <a:rPr sz="1000" dirty="0">
                <a:cs typeface="Microsoft Sans Serif"/>
              </a:rPr>
              <a:t> </a:t>
            </a:r>
            <a:r>
              <a:rPr sz="1000" spc="-25" dirty="0">
                <a:cs typeface="Microsoft Sans Serif"/>
              </a:rPr>
              <a:t>0</a:t>
            </a:r>
            <a:r>
              <a:rPr sz="1000" i="1" spc="-25" dirty="0">
                <a:cs typeface="Verdana"/>
              </a:rPr>
              <a:t>.</a:t>
            </a:r>
            <a:r>
              <a:rPr sz="1000" spc="-25" dirty="0">
                <a:cs typeface="Microsoft Sans Serif"/>
              </a:rPr>
              <a:t>5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185"/>
              </a:spcBef>
              <a:buFont typeface="Courier New" panose="02070309020205020404" pitchFamily="49" charset="0"/>
              <a:buChar char="o"/>
            </a:pPr>
            <a:r>
              <a:rPr sz="1000" spc="15" dirty="0">
                <a:cs typeface="Microsoft Sans Serif"/>
              </a:rPr>
              <a:t>batch</a:t>
            </a:r>
            <a:r>
              <a:rPr sz="1000" spc="5" dirty="0">
                <a:cs typeface="Microsoft Sans Serif"/>
              </a:rPr>
              <a:t> size </a:t>
            </a:r>
            <a:r>
              <a:rPr sz="1000" spc="15" dirty="0">
                <a:cs typeface="Microsoft Sans Serif"/>
              </a:rPr>
              <a:t>128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65"/>
              </a:spcBef>
              <a:buFont typeface="Courier New" panose="02070309020205020404" pitchFamily="49" charset="0"/>
              <a:buChar char="o"/>
            </a:pPr>
            <a:r>
              <a:rPr sz="1000" spc="20" dirty="0">
                <a:cs typeface="Microsoft Sans Serif"/>
              </a:rPr>
              <a:t>SGD</a:t>
            </a:r>
            <a:r>
              <a:rPr sz="1000" spc="10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Momentum</a:t>
            </a:r>
            <a:r>
              <a:rPr sz="1000" spc="10" dirty="0">
                <a:cs typeface="Microsoft Sans Serif"/>
              </a:rPr>
              <a:t> </a:t>
            </a:r>
            <a:r>
              <a:rPr sz="1000" spc="-25" dirty="0">
                <a:cs typeface="Microsoft Sans Serif"/>
              </a:rPr>
              <a:t>0</a:t>
            </a:r>
            <a:r>
              <a:rPr sz="1000" i="1" spc="-25" dirty="0">
                <a:cs typeface="Verdana"/>
              </a:rPr>
              <a:t>.</a:t>
            </a:r>
            <a:r>
              <a:rPr sz="1000" spc="-25" dirty="0">
                <a:cs typeface="Microsoft Sans Serif"/>
              </a:rPr>
              <a:t>9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35"/>
              </a:spcBef>
              <a:buFont typeface="Courier New" panose="02070309020205020404" pitchFamily="49" charset="0"/>
              <a:buChar char="o"/>
            </a:pPr>
            <a:r>
              <a:rPr sz="1000" spc="15" dirty="0">
                <a:cs typeface="Microsoft Sans Serif"/>
              </a:rPr>
              <a:t>Learning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rate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1</a:t>
            </a:r>
            <a:r>
              <a:rPr sz="1000" i="1" spc="15" dirty="0">
                <a:cs typeface="Arial"/>
              </a:rPr>
              <a:t>e</a:t>
            </a:r>
            <a:r>
              <a:rPr sz="1000" i="1" dirty="0">
                <a:cs typeface="Arial"/>
              </a:rPr>
              <a:t> </a:t>
            </a:r>
            <a:r>
              <a:rPr sz="1000" i="1" spc="-55" dirty="0">
                <a:cs typeface="Verdana"/>
              </a:rPr>
              <a:t>−</a:t>
            </a:r>
            <a:r>
              <a:rPr sz="1000" i="1" spc="-145" dirty="0">
                <a:cs typeface="Verdana"/>
              </a:rPr>
              <a:t> </a:t>
            </a:r>
            <a:r>
              <a:rPr sz="1000" spc="10" dirty="0">
                <a:cs typeface="Microsoft Sans Serif"/>
              </a:rPr>
              <a:t>2,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reduced</a:t>
            </a:r>
            <a:r>
              <a:rPr sz="1000" spc="25" dirty="0">
                <a:cs typeface="Microsoft Sans Serif"/>
              </a:rPr>
              <a:t> </a:t>
            </a:r>
            <a:r>
              <a:rPr sz="1000" spc="5" dirty="0">
                <a:cs typeface="Microsoft Sans Serif"/>
              </a:rPr>
              <a:t>by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10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manually</a:t>
            </a:r>
            <a:r>
              <a:rPr sz="1000" spc="2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when</a:t>
            </a:r>
            <a:r>
              <a:rPr sz="1000" spc="25" dirty="0">
                <a:cs typeface="Microsoft Sans Serif"/>
              </a:rPr>
              <a:t> </a:t>
            </a:r>
            <a:r>
              <a:rPr sz="1000" dirty="0">
                <a:cs typeface="Microsoft Sans Serif"/>
              </a:rPr>
              <a:t>val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accuracy</a:t>
            </a:r>
            <a:r>
              <a:rPr sz="1000" spc="25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plateaus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35"/>
              </a:spcBef>
              <a:buFont typeface="Courier New" panose="02070309020205020404" pitchFamily="49" charset="0"/>
              <a:buChar char="o"/>
            </a:pPr>
            <a:r>
              <a:rPr sz="1000" spc="15" dirty="0">
                <a:cs typeface="Microsoft Sans Serif"/>
              </a:rPr>
              <a:t>L2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weight</a:t>
            </a:r>
            <a:r>
              <a:rPr sz="1000" spc="20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dec</a:t>
            </a:r>
            <a:r>
              <a:rPr sz="1000" spc="-15" dirty="0">
                <a:cs typeface="Microsoft Sans Serif"/>
              </a:rPr>
              <a:t>a</a:t>
            </a:r>
            <a:r>
              <a:rPr sz="1000" spc="15" dirty="0">
                <a:cs typeface="Microsoft Sans Serif"/>
              </a:rPr>
              <a:t>y</a:t>
            </a:r>
            <a:r>
              <a:rPr sz="1000" spc="20" dirty="0">
                <a:cs typeface="Microsoft Sans Serif"/>
              </a:rPr>
              <a:t> </a:t>
            </a:r>
            <a:r>
              <a:rPr sz="1000" spc="10" dirty="0">
                <a:cs typeface="Microsoft Sans Serif"/>
              </a:rPr>
              <a:t>5</a:t>
            </a:r>
            <a:r>
              <a:rPr sz="1000" i="1" spc="15" dirty="0">
                <a:cs typeface="Arial"/>
              </a:rPr>
              <a:t>e</a:t>
            </a:r>
            <a:r>
              <a:rPr sz="1000" i="1" spc="-5" dirty="0">
                <a:cs typeface="Arial"/>
              </a:rPr>
              <a:t> </a:t>
            </a:r>
            <a:r>
              <a:rPr sz="1000" i="1" spc="-55" dirty="0">
                <a:cs typeface="Verdana"/>
              </a:rPr>
              <a:t>−</a:t>
            </a:r>
            <a:r>
              <a:rPr sz="1000" i="1" spc="-145" dirty="0">
                <a:cs typeface="Verdana"/>
              </a:rPr>
              <a:t> </a:t>
            </a:r>
            <a:r>
              <a:rPr sz="1000" spc="15" dirty="0">
                <a:cs typeface="Microsoft Sans Serif"/>
              </a:rPr>
              <a:t>4</a:t>
            </a:r>
            <a:endParaRPr sz="1000" dirty="0">
              <a:cs typeface="Microsoft Sans Serif"/>
            </a:endParaRPr>
          </a:p>
          <a:p>
            <a:pPr marL="443865" indent="-171450">
              <a:lnSpc>
                <a:spcPct val="100000"/>
              </a:lnSpc>
              <a:spcBef>
                <a:spcPts val="35"/>
              </a:spcBef>
              <a:buFont typeface="Courier New" panose="02070309020205020404" pitchFamily="49" charset="0"/>
              <a:buChar char="o"/>
            </a:pPr>
            <a:r>
              <a:rPr sz="1000" spc="15" dirty="0">
                <a:cs typeface="Microsoft Sans Serif"/>
              </a:rPr>
              <a:t>7</a:t>
            </a:r>
            <a:r>
              <a:rPr sz="1000" spc="20" dirty="0">
                <a:cs typeface="Microsoft Sans Serif"/>
              </a:rPr>
              <a:t> CNN </a:t>
            </a:r>
            <a:r>
              <a:rPr sz="1000" spc="15" dirty="0">
                <a:cs typeface="Microsoft Sans Serif"/>
              </a:rPr>
              <a:t>ensem</a:t>
            </a:r>
            <a:r>
              <a:rPr sz="1000" spc="-5" dirty="0">
                <a:cs typeface="Microsoft Sans Serif"/>
              </a:rPr>
              <a:t>b</a:t>
            </a:r>
            <a:r>
              <a:rPr sz="1000" spc="5" dirty="0">
                <a:cs typeface="Microsoft Sans Serif"/>
              </a:rPr>
              <a:t>le:</a:t>
            </a:r>
            <a:r>
              <a:rPr sz="1000" spc="85" dirty="0">
                <a:cs typeface="Microsoft Sans Serif"/>
              </a:rPr>
              <a:t> </a:t>
            </a:r>
            <a:r>
              <a:rPr sz="1000" spc="15" dirty="0">
                <a:cs typeface="Microsoft Sans Serif"/>
              </a:rPr>
              <a:t>1</a:t>
            </a:r>
            <a:r>
              <a:rPr sz="1000" spc="10" dirty="0">
                <a:cs typeface="Microsoft Sans Serif"/>
              </a:rPr>
              <a:t>8</a:t>
            </a:r>
            <a:r>
              <a:rPr sz="1000" i="1" spc="-100" dirty="0">
                <a:cs typeface="Verdana"/>
              </a:rPr>
              <a:t>.</a:t>
            </a:r>
            <a:r>
              <a:rPr sz="1000" spc="10" dirty="0">
                <a:cs typeface="Microsoft Sans Serif"/>
              </a:rPr>
              <a:t>2</a:t>
            </a:r>
            <a:r>
              <a:rPr sz="1000" spc="-10" dirty="0">
                <a:cs typeface="Times New Roman"/>
              </a:rPr>
              <a:t>%</a:t>
            </a:r>
            <a:r>
              <a:rPr sz="1000" i="1" spc="-55" dirty="0">
                <a:cs typeface="Verdana"/>
              </a:rPr>
              <a:t>−</a:t>
            </a:r>
            <a:r>
              <a:rPr sz="1000" i="1" spc="-85" dirty="0">
                <a:cs typeface="Verdana"/>
              </a:rPr>
              <a:t> </a:t>
            </a:r>
            <a:r>
              <a:rPr sz="1000" i="1" spc="-55" dirty="0">
                <a:cs typeface="Verdana"/>
              </a:rPr>
              <a:t>&gt;</a:t>
            </a:r>
            <a:r>
              <a:rPr sz="1000" i="1" spc="-85" dirty="0">
                <a:cs typeface="Verdana"/>
              </a:rPr>
              <a:t> </a:t>
            </a:r>
            <a:r>
              <a:rPr sz="1000" spc="15" dirty="0">
                <a:cs typeface="Microsoft Sans Serif"/>
              </a:rPr>
              <a:t>1</a:t>
            </a:r>
            <a:r>
              <a:rPr sz="1000" spc="10" dirty="0">
                <a:cs typeface="Microsoft Sans Serif"/>
              </a:rPr>
              <a:t>5</a:t>
            </a:r>
            <a:r>
              <a:rPr sz="1000" i="1" spc="-100" dirty="0">
                <a:cs typeface="Verdana"/>
              </a:rPr>
              <a:t>.</a:t>
            </a:r>
            <a:r>
              <a:rPr sz="1000" spc="10" dirty="0">
                <a:cs typeface="Microsoft Sans Serif"/>
              </a:rPr>
              <a:t>4</a:t>
            </a:r>
            <a:r>
              <a:rPr sz="1000" spc="-10" dirty="0">
                <a:cs typeface="Times New Roman"/>
              </a:rPr>
              <a:t>%</a:t>
            </a:r>
            <a:endParaRPr sz="1000" dirty="0"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15"/>
              </a:spcBef>
            </a:pPr>
            <a:r>
              <a:rPr sz="1000" spc="-15" dirty="0">
                <a:cs typeface="Microsoft Sans Serif"/>
              </a:rPr>
              <a:t>Fei-Fei</a:t>
            </a:r>
            <a:r>
              <a:rPr sz="1000" spc="5" dirty="0">
                <a:cs typeface="Microsoft Sans Serif"/>
              </a:rPr>
              <a:t> </a:t>
            </a:r>
            <a:r>
              <a:rPr sz="1000" spc="-5" dirty="0">
                <a:cs typeface="Microsoft Sans Serif"/>
              </a:rPr>
              <a:t>Li,</a:t>
            </a:r>
            <a:r>
              <a:rPr sz="1000" spc="5" dirty="0">
                <a:cs typeface="Microsoft Sans Serif"/>
              </a:rPr>
              <a:t> </a:t>
            </a:r>
            <a:r>
              <a:rPr sz="1000" spc="-5" dirty="0">
                <a:cs typeface="Microsoft Sans Serif"/>
              </a:rPr>
              <a:t>Jiajun</a:t>
            </a:r>
            <a:r>
              <a:rPr sz="1000" spc="5" dirty="0">
                <a:cs typeface="Microsoft Sans Serif"/>
              </a:rPr>
              <a:t> </a:t>
            </a:r>
            <a:r>
              <a:rPr sz="1000" spc="-15" dirty="0">
                <a:cs typeface="Microsoft Sans Serif"/>
              </a:rPr>
              <a:t>Wu,</a:t>
            </a:r>
            <a:r>
              <a:rPr sz="1000" spc="5" dirty="0">
                <a:cs typeface="Microsoft Sans Serif"/>
              </a:rPr>
              <a:t> </a:t>
            </a:r>
            <a:r>
              <a:rPr sz="1000" spc="-5" dirty="0">
                <a:cs typeface="Microsoft Sans Serif"/>
              </a:rPr>
              <a:t>Ruohan</a:t>
            </a:r>
            <a:r>
              <a:rPr sz="1000" spc="5" dirty="0">
                <a:cs typeface="Microsoft Sans Serif"/>
              </a:rPr>
              <a:t> </a:t>
            </a:r>
            <a:r>
              <a:rPr sz="1000" spc="-5" dirty="0">
                <a:cs typeface="Microsoft Sans Serif"/>
              </a:rPr>
              <a:t>Gao</a:t>
            </a:r>
            <a:endParaRPr sz="10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15" dirty="0"/>
              <a:t>A</a:t>
            </a:r>
            <a:r>
              <a:rPr cap="small" spc="320" dirty="0"/>
              <a:t>lex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spc="325" dirty="0"/>
              <a:t> </a:t>
            </a:r>
            <a:r>
              <a:rPr spc="-120" dirty="0"/>
              <a:t> </a:t>
            </a:r>
            <a:r>
              <a:rPr spc="415" dirty="0"/>
              <a:t>A</a:t>
            </a:r>
            <a:r>
              <a:rPr cap="small" spc="260" dirty="0"/>
              <a:t>r</a:t>
            </a:r>
            <a:r>
              <a:rPr cap="small" spc="280" dirty="0"/>
              <a:t>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9425"/>
            <a:ext cx="4440606" cy="24160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100" spc="50" dirty="0">
                <a:solidFill>
                  <a:srgbClr val="3333B2"/>
                </a:solidFill>
                <a:cs typeface="Calibri"/>
              </a:rPr>
              <a:t>227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3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15" dirty="0">
                <a:cs typeface="Microsoft Sans Serif"/>
              </a:rPr>
              <a:t>INPUT</a:t>
            </a:r>
            <a:endParaRPr sz="1100" dirty="0">
              <a:cs typeface="Microsoft Sans Serif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50" dirty="0">
                <a:solidFill>
                  <a:srgbClr val="3333B2"/>
                </a:solidFill>
                <a:cs typeface="Calibri"/>
              </a:rPr>
              <a:t>55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55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96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10" dirty="0">
                <a:solidFill>
                  <a:srgbClr val="3333B2"/>
                </a:solidFill>
                <a:cs typeface="Calibri"/>
              </a:rPr>
              <a:t>CONV1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96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11x11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4,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pad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0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96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60" dirty="0">
                <a:solidFill>
                  <a:srgbClr val="3333B2"/>
                </a:solidFill>
                <a:cs typeface="Calibri"/>
              </a:rPr>
              <a:t>MAX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10" dirty="0">
                <a:solidFill>
                  <a:srgbClr val="3333B2"/>
                </a:solidFill>
                <a:cs typeface="Calibri"/>
              </a:rPr>
              <a:t>POOL1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3x3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2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96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180" dirty="0">
                <a:solidFill>
                  <a:srgbClr val="3333B2"/>
                </a:solidFill>
                <a:cs typeface="Calibri"/>
              </a:rPr>
              <a:t>NORM1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No</a:t>
            </a:r>
            <a:r>
              <a:rPr sz="1100" spc="3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malization</a:t>
            </a:r>
            <a:r>
              <a:rPr sz="1100" spc="20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l</a:t>
            </a:r>
            <a:r>
              <a:rPr sz="1100" spc="-30" dirty="0">
                <a:cs typeface="Microsoft Sans Serif"/>
              </a:rPr>
              <a:t>a</a:t>
            </a:r>
            <a:r>
              <a:rPr sz="1100" spc="-15" dirty="0">
                <a:cs typeface="Microsoft Sans Serif"/>
              </a:rPr>
              <a:t>y</a:t>
            </a:r>
            <a:r>
              <a:rPr sz="1100" spc="5" dirty="0">
                <a:cs typeface="Microsoft Sans Serif"/>
              </a:rPr>
              <a:t>er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27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256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210" dirty="0">
                <a:solidFill>
                  <a:srgbClr val="3333B2"/>
                </a:solidFill>
                <a:cs typeface="Calibri"/>
              </a:rPr>
              <a:t>CONV2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256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5x5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1,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pad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2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256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260" dirty="0">
                <a:solidFill>
                  <a:srgbClr val="3333B2"/>
                </a:solidFill>
                <a:cs typeface="Calibri"/>
              </a:rPr>
              <a:t>MAX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10" dirty="0">
                <a:solidFill>
                  <a:srgbClr val="3333B2"/>
                </a:solidFill>
                <a:cs typeface="Calibri"/>
              </a:rPr>
              <a:t>POOL2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3x3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2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256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180" dirty="0">
                <a:solidFill>
                  <a:srgbClr val="3333B2"/>
                </a:solidFill>
                <a:cs typeface="Calibri"/>
              </a:rPr>
              <a:t>NORM2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No</a:t>
            </a:r>
            <a:r>
              <a:rPr sz="1100" spc="3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malization</a:t>
            </a:r>
            <a:r>
              <a:rPr sz="1100" spc="20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l</a:t>
            </a:r>
            <a:r>
              <a:rPr sz="1100" spc="-30" dirty="0">
                <a:cs typeface="Microsoft Sans Serif"/>
              </a:rPr>
              <a:t>a</a:t>
            </a:r>
            <a:r>
              <a:rPr sz="1100" spc="-15" dirty="0">
                <a:cs typeface="Microsoft Sans Serif"/>
              </a:rPr>
              <a:t>y</a:t>
            </a:r>
            <a:r>
              <a:rPr sz="1100" spc="5" dirty="0">
                <a:cs typeface="Microsoft Sans Serif"/>
              </a:rPr>
              <a:t>er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384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210" dirty="0">
                <a:solidFill>
                  <a:srgbClr val="3333B2"/>
                </a:solidFill>
                <a:cs typeface="Calibri"/>
              </a:rPr>
              <a:t>CONV3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384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3x3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1,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pad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384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210" dirty="0">
                <a:solidFill>
                  <a:srgbClr val="3333B2"/>
                </a:solidFill>
                <a:cs typeface="Calibri"/>
              </a:rPr>
              <a:t>CONV4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384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3x3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1,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pad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13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256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210" dirty="0">
                <a:solidFill>
                  <a:srgbClr val="3333B2"/>
                </a:solidFill>
                <a:cs typeface="Calibri"/>
              </a:rPr>
              <a:t>CONV5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256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3x3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1,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pad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 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6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6</a:t>
            </a:r>
            <a:r>
              <a:rPr sz="1100" cap="small" spc="235" dirty="0">
                <a:solidFill>
                  <a:srgbClr val="3333B2"/>
                </a:solidFill>
                <a:cs typeface="Calibri"/>
              </a:rPr>
              <a:t>x</a:t>
            </a:r>
            <a:r>
              <a:rPr sz="1100" spc="50" dirty="0">
                <a:solidFill>
                  <a:srgbClr val="3333B2"/>
                </a:solidFill>
                <a:cs typeface="Calibri"/>
              </a:rPr>
              <a:t>256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0" dirty="0">
                <a:solidFill>
                  <a:srgbClr val="3333B2"/>
                </a:solidFill>
                <a:cs typeface="Calibri"/>
              </a:rPr>
              <a:t> </a:t>
            </a:r>
            <a:endParaRPr lang="en-US" sz="1100" spc="-90" dirty="0">
              <a:solidFill>
                <a:srgbClr val="3333B2"/>
              </a:solidFill>
              <a:cs typeface="Calibri"/>
            </a:endParaRPr>
          </a:p>
          <a:p>
            <a:pPr marL="184150" marR="5080" indent="-171450">
              <a:lnSpc>
                <a:spcPct val="102299"/>
              </a:lnSpc>
              <a:buFont typeface="Wingdings" panose="05000000000000000000" pitchFamily="2" charset="2"/>
              <a:buChar char="Ø"/>
            </a:pPr>
            <a:r>
              <a:rPr sz="1100" spc="260" dirty="0">
                <a:solidFill>
                  <a:srgbClr val="3333B2"/>
                </a:solidFill>
                <a:cs typeface="Calibri"/>
              </a:rPr>
              <a:t>MAX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-9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10" dirty="0">
                <a:solidFill>
                  <a:srgbClr val="3333B2"/>
                </a:solidFill>
                <a:cs typeface="Calibri"/>
              </a:rPr>
              <a:t>POOL3</a:t>
            </a:r>
            <a:r>
              <a:rPr sz="110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4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3x3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filters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at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</a:t>
            </a:r>
            <a:r>
              <a:rPr sz="1100" spc="20" dirty="0">
                <a:cs typeface="Microsoft Sans Serif"/>
              </a:rPr>
              <a:t>r</a:t>
            </a:r>
            <a:r>
              <a:rPr sz="1100" spc="5" dirty="0">
                <a:cs typeface="Microsoft Sans Serif"/>
              </a:rPr>
              <a:t>ide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2</a:t>
            </a:r>
            <a:endParaRPr sz="1100" dirty="0">
              <a:cs typeface="Microsoft Sans Serif"/>
            </a:endParaRPr>
          </a:p>
          <a:p>
            <a:pPr marL="203834" indent="-17145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Ø"/>
            </a:pPr>
            <a:r>
              <a:rPr sz="1100" spc="50" dirty="0">
                <a:solidFill>
                  <a:srgbClr val="3333B2"/>
                </a:solidFill>
                <a:cs typeface="Calibri"/>
              </a:rPr>
              <a:t>4096</a:t>
            </a:r>
            <a:r>
              <a:rPr sz="1100" spc="17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00" dirty="0">
                <a:solidFill>
                  <a:srgbClr val="3333B2"/>
                </a:solidFill>
                <a:cs typeface="Calibri"/>
              </a:rPr>
              <a:t>FC6</a:t>
            </a:r>
            <a:r>
              <a:rPr sz="1100" spc="29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8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4096 neurons</a:t>
            </a:r>
            <a:endParaRPr sz="1100" dirty="0">
              <a:cs typeface="Microsoft Sans Serif"/>
            </a:endParaRPr>
          </a:p>
          <a:p>
            <a:pPr marL="203834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Ø"/>
            </a:pPr>
            <a:r>
              <a:rPr sz="1100" spc="50" dirty="0">
                <a:solidFill>
                  <a:srgbClr val="3333B2"/>
                </a:solidFill>
                <a:cs typeface="Calibri"/>
              </a:rPr>
              <a:t>4096</a:t>
            </a:r>
            <a:r>
              <a:rPr sz="1100" spc="170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00" dirty="0">
                <a:solidFill>
                  <a:srgbClr val="3333B2"/>
                </a:solidFill>
                <a:cs typeface="Calibri"/>
              </a:rPr>
              <a:t>FC7</a:t>
            </a:r>
            <a:r>
              <a:rPr sz="1100" spc="29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8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4096 neurons</a:t>
            </a:r>
            <a:endParaRPr sz="1100" dirty="0">
              <a:cs typeface="Microsoft Sans Serif"/>
            </a:endParaRPr>
          </a:p>
          <a:p>
            <a:pPr marL="203834" indent="-171450">
              <a:lnSpc>
                <a:spcPct val="100000"/>
              </a:lnSpc>
              <a:spcBef>
                <a:spcPts val="35"/>
              </a:spcBef>
              <a:buFont typeface="Wingdings" panose="05000000000000000000" pitchFamily="2" charset="2"/>
              <a:buChar char="Ø"/>
            </a:pPr>
            <a:r>
              <a:rPr sz="1100" spc="50" dirty="0">
                <a:solidFill>
                  <a:srgbClr val="3333B2"/>
                </a:solidFill>
                <a:cs typeface="Calibri"/>
              </a:rPr>
              <a:t>1000</a:t>
            </a:r>
            <a:r>
              <a:rPr sz="1100" spc="17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200" dirty="0">
                <a:solidFill>
                  <a:srgbClr val="3333B2"/>
                </a:solidFill>
                <a:cs typeface="Calibri"/>
              </a:rPr>
              <a:t>FC8</a:t>
            </a:r>
            <a:r>
              <a:rPr sz="1100" spc="305" dirty="0">
                <a:solidFill>
                  <a:srgbClr val="3333B2"/>
                </a:solidFill>
                <a:cs typeface="Calibri"/>
              </a:rPr>
              <a:t> </a:t>
            </a:r>
            <a:r>
              <a:rPr sz="1100" spc="5" dirty="0">
                <a:cs typeface="Microsoft Sans Serif"/>
              </a:rPr>
              <a:t>:</a:t>
            </a:r>
            <a:r>
              <a:rPr sz="1100" spc="9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1000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neurons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(class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scores)</a:t>
            </a:r>
            <a:endParaRPr sz="11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6070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15" dirty="0">
                <a:latin typeface="Calibri"/>
                <a:cs typeface="Calibri"/>
              </a:rPr>
              <a:t>A</a:t>
            </a:r>
            <a:r>
              <a:rPr sz="1700" cap="small" spc="320" dirty="0">
                <a:latin typeface="Calibri"/>
                <a:cs typeface="Calibri"/>
              </a:rPr>
              <a:t>lex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479425"/>
            <a:ext cx="5410200" cy="25908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6070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90" dirty="0"/>
              <a:t>VGG</a:t>
            </a:r>
            <a:r>
              <a:rPr spc="185" dirty="0"/>
              <a:t> </a:t>
            </a:r>
            <a:r>
              <a:rPr spc="85" dirty="0"/>
              <a:t>16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2100" y="392466"/>
            <a:ext cx="5334000" cy="2541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925" marR="719455" indent="-171450">
              <a:buFont typeface="Wingdings" panose="05000000000000000000" pitchFamily="2" charset="2"/>
              <a:buChar char="Ø"/>
            </a:pPr>
            <a:r>
              <a:rPr sz="1100" dirty="0">
                <a:cs typeface="Microsoft Sans Serif"/>
              </a:rPr>
              <a:t>VGG</a:t>
            </a:r>
            <a:r>
              <a:rPr sz="1100" spc="2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stands</a:t>
            </a:r>
            <a:r>
              <a:rPr sz="1100" spc="25" dirty="0">
                <a:cs typeface="Microsoft Sans Serif"/>
              </a:rPr>
              <a:t> </a:t>
            </a:r>
            <a:r>
              <a:rPr sz="1100" spc="-5" dirty="0">
                <a:cs typeface="Microsoft Sans Serif"/>
              </a:rPr>
              <a:t>for</a:t>
            </a:r>
            <a:r>
              <a:rPr sz="1100" spc="3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Visual</a:t>
            </a:r>
            <a:r>
              <a:rPr sz="1100" spc="25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Geometry</a:t>
            </a:r>
            <a:r>
              <a:rPr sz="1100" spc="3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Group</a:t>
            </a:r>
            <a:r>
              <a:rPr sz="1100" spc="2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with</a:t>
            </a:r>
            <a:r>
              <a:rPr sz="1100" spc="3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16</a:t>
            </a:r>
            <a:r>
              <a:rPr sz="1100" spc="25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Layers </a:t>
            </a:r>
            <a:r>
              <a:rPr sz="1100" spc="-265" dirty="0">
                <a:cs typeface="Microsoft Sans Serif"/>
              </a:rPr>
              <a:t> </a:t>
            </a:r>
            <a:endParaRPr lang="en-US" sz="1100" spc="-265" dirty="0">
              <a:cs typeface="Microsoft Sans Serif"/>
            </a:endParaRPr>
          </a:p>
          <a:p>
            <a:pPr marL="288925" marR="719455" indent="-171450">
              <a:buFont typeface="Wingdings" panose="05000000000000000000" pitchFamily="2" charset="2"/>
              <a:buChar char="Ø"/>
            </a:pPr>
            <a:r>
              <a:rPr sz="1100" spc="10" dirty="0">
                <a:cs typeface="Microsoft Sans Serif"/>
              </a:rPr>
              <a:t>Plug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and</a:t>
            </a:r>
            <a:r>
              <a:rPr sz="1100" spc="20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play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in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 err="1">
                <a:cs typeface="Microsoft Sans Serif"/>
              </a:rPr>
              <a:t>Caffe</a:t>
            </a:r>
            <a:endParaRPr lang="en-US" sz="1100" spc="5" dirty="0">
              <a:cs typeface="Microsoft Sans Serif"/>
            </a:endParaRPr>
          </a:p>
          <a:p>
            <a:pPr marL="288925" marR="719455" indent="-171450">
              <a:buFont typeface="Wingdings" panose="05000000000000000000" pitchFamily="2" charset="2"/>
              <a:buChar char="Ø"/>
            </a:pPr>
            <a:r>
              <a:rPr sz="1100" spc="10" dirty="0">
                <a:cs typeface="Microsoft Sans Serif"/>
              </a:rPr>
              <a:t>Deeper</a:t>
            </a:r>
            <a:r>
              <a:rPr sz="1100" spc="-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the</a:t>
            </a:r>
            <a:r>
              <a:rPr sz="1100" spc="-1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better </a:t>
            </a:r>
            <a:r>
              <a:rPr sz="1100" spc="-265" dirty="0">
                <a:cs typeface="Microsoft Sans Serif"/>
              </a:rPr>
              <a:t> </a:t>
            </a:r>
            <a:endParaRPr lang="en-US" sz="1100" spc="-265" dirty="0">
              <a:cs typeface="Microsoft Sans Serif"/>
            </a:endParaRPr>
          </a:p>
          <a:p>
            <a:pPr marL="288925" marR="719455" indent="-171450">
              <a:buFont typeface="Wingdings" panose="05000000000000000000" pitchFamily="2" charset="2"/>
              <a:buChar char="Ø"/>
            </a:pPr>
            <a:r>
              <a:rPr sz="1100" spc="5" dirty="0">
                <a:cs typeface="Microsoft Sans Serif"/>
              </a:rPr>
              <a:t>Details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15" dirty="0">
                <a:cs typeface="Microsoft Sans Serif"/>
              </a:rPr>
              <a:t>ILSVRC’14</a:t>
            </a:r>
            <a:r>
              <a:rPr sz="1100" spc="2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2nd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in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classification,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1st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in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localization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10" dirty="0">
                <a:cs typeface="Microsoft Sans Serif"/>
              </a:rPr>
              <a:t>Similar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training</a:t>
            </a:r>
            <a:r>
              <a:rPr sz="1100" spc="15" dirty="0">
                <a:cs typeface="Microsoft Sans Serif"/>
              </a:rPr>
              <a:t> procedure as </a:t>
            </a:r>
            <a:r>
              <a:rPr sz="1100" spc="10" dirty="0">
                <a:cs typeface="Microsoft Sans Serif"/>
              </a:rPr>
              <a:t>Krizhevsky</a:t>
            </a:r>
            <a:r>
              <a:rPr sz="1100" spc="15" dirty="0">
                <a:cs typeface="Microsoft Sans Serif"/>
              </a:rPr>
              <a:t> 2012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10" dirty="0">
                <a:cs typeface="Microsoft Sans Serif"/>
              </a:rPr>
              <a:t>Approx.</a:t>
            </a:r>
            <a:r>
              <a:rPr sz="1100" spc="8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138 </a:t>
            </a:r>
            <a:r>
              <a:rPr sz="1100" spc="5" dirty="0">
                <a:cs typeface="Microsoft Sans Serif"/>
              </a:rPr>
              <a:t>million</a:t>
            </a:r>
            <a:r>
              <a:rPr sz="1100" spc="15" dirty="0">
                <a:cs typeface="Microsoft Sans Serif"/>
              </a:rPr>
              <a:t> parameters are learned.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20" dirty="0">
                <a:cs typeface="Microsoft Sans Serif"/>
              </a:rPr>
              <a:t>No</a:t>
            </a:r>
            <a:r>
              <a:rPr sz="1100" spc="10" dirty="0">
                <a:cs typeface="Microsoft Sans Serif"/>
              </a:rPr>
              <a:t> Local</a:t>
            </a:r>
            <a:r>
              <a:rPr sz="1100" spc="15" dirty="0">
                <a:cs typeface="Microsoft Sans Serif"/>
              </a:rPr>
              <a:t> Response Normalisation (LRN)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15" dirty="0">
                <a:cs typeface="Microsoft Sans Serif"/>
              </a:rPr>
              <a:t>Use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VGG16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or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VGG19</a:t>
            </a:r>
            <a:r>
              <a:rPr sz="1100" spc="2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(VGG19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only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slightly</a:t>
            </a:r>
            <a:r>
              <a:rPr sz="1100" spc="20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better,</a:t>
            </a:r>
            <a:r>
              <a:rPr sz="1100" spc="2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more</a:t>
            </a:r>
            <a:r>
              <a:rPr sz="1100" spc="25" dirty="0">
                <a:cs typeface="Microsoft Sans Serif"/>
              </a:rPr>
              <a:t> </a:t>
            </a:r>
            <a:r>
              <a:rPr sz="1100" spc="20" dirty="0">
                <a:cs typeface="Microsoft Sans Serif"/>
              </a:rPr>
              <a:t>memory)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15" dirty="0">
                <a:cs typeface="Microsoft Sans Serif"/>
              </a:rPr>
              <a:t>Use </a:t>
            </a:r>
            <a:r>
              <a:rPr sz="1100" spc="10" dirty="0">
                <a:cs typeface="Microsoft Sans Serif"/>
              </a:rPr>
              <a:t>ensembles</a:t>
            </a:r>
            <a:r>
              <a:rPr sz="1100" spc="20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for</a:t>
            </a:r>
            <a:r>
              <a:rPr sz="1100" spc="15" dirty="0">
                <a:cs typeface="Microsoft Sans Serif"/>
              </a:rPr>
              <a:t> best </a:t>
            </a:r>
            <a:r>
              <a:rPr sz="1100" spc="10" dirty="0">
                <a:cs typeface="Microsoft Sans Serif"/>
              </a:rPr>
              <a:t>results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5" dirty="0">
                <a:cs typeface="Microsoft Sans Serif"/>
              </a:rPr>
              <a:t>All</a:t>
            </a:r>
            <a:r>
              <a:rPr sz="1100" spc="2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co</a:t>
            </a:r>
            <a:r>
              <a:rPr sz="1100" spc="-5" dirty="0">
                <a:cs typeface="Microsoft Sans Serif"/>
              </a:rPr>
              <a:t>n</a:t>
            </a:r>
            <a:r>
              <a:rPr sz="1100" spc="-10" dirty="0">
                <a:cs typeface="Microsoft Sans Serif"/>
              </a:rPr>
              <a:t>v</a:t>
            </a:r>
            <a:r>
              <a:rPr sz="1100" spc="10" dirty="0">
                <a:cs typeface="Microsoft Sans Serif"/>
              </a:rPr>
              <a:t>olutions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with</a:t>
            </a:r>
            <a:r>
              <a:rPr sz="1100" spc="2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a</a:t>
            </a:r>
            <a:r>
              <a:rPr sz="1100" spc="2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3</a:t>
            </a:r>
            <a:r>
              <a:rPr sz="1100" spc="-15" dirty="0">
                <a:cs typeface="Microsoft Sans Serif"/>
              </a:rPr>
              <a:t> </a:t>
            </a:r>
            <a:r>
              <a:rPr sz="1100" i="1" spc="-55" dirty="0">
                <a:cs typeface="Verdana"/>
              </a:rPr>
              <a:t>×</a:t>
            </a:r>
            <a:r>
              <a:rPr sz="1100" i="1" spc="-145" dirty="0">
                <a:cs typeface="Verdana"/>
              </a:rPr>
              <a:t> </a:t>
            </a:r>
            <a:r>
              <a:rPr sz="1100" spc="15" dirty="0">
                <a:cs typeface="Microsoft Sans Serif"/>
              </a:rPr>
              <a:t>3</a:t>
            </a:r>
            <a:r>
              <a:rPr sz="1100" spc="20" dirty="0">
                <a:cs typeface="Microsoft Sans Serif"/>
              </a:rPr>
              <a:t> </a:t>
            </a:r>
            <a:r>
              <a:rPr sz="1100" spc="-5" dirty="0">
                <a:cs typeface="Microsoft Sans Serif"/>
              </a:rPr>
              <a:t>k</a:t>
            </a:r>
            <a:r>
              <a:rPr sz="1100" spc="15" dirty="0">
                <a:cs typeface="Microsoft Sans Serif"/>
              </a:rPr>
              <a:t>e</a:t>
            </a:r>
            <a:r>
              <a:rPr sz="1100" spc="30" dirty="0">
                <a:cs typeface="Microsoft Sans Serif"/>
              </a:rPr>
              <a:t>r</a:t>
            </a:r>
            <a:r>
              <a:rPr sz="1100" spc="10" dirty="0">
                <a:cs typeface="Microsoft Sans Serif"/>
              </a:rPr>
              <a:t>nel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5" dirty="0">
                <a:cs typeface="Microsoft Sans Serif"/>
              </a:rPr>
              <a:t>All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max-pooling</a:t>
            </a:r>
            <a:r>
              <a:rPr sz="1100" spc="25" dirty="0">
                <a:cs typeface="Microsoft Sans Serif"/>
              </a:rPr>
              <a:t> </a:t>
            </a:r>
            <a:r>
              <a:rPr sz="1100" dirty="0">
                <a:cs typeface="Microsoft Sans Serif"/>
              </a:rPr>
              <a:t>layers</a:t>
            </a:r>
            <a:r>
              <a:rPr sz="1100" spc="2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with</a:t>
            </a:r>
            <a:r>
              <a:rPr sz="1100" spc="20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a</a:t>
            </a:r>
            <a:r>
              <a:rPr sz="1100" spc="25" dirty="0">
                <a:cs typeface="Microsoft Sans Serif"/>
              </a:rPr>
              <a:t> </a:t>
            </a:r>
            <a:r>
              <a:rPr sz="1100" spc="15" dirty="0">
                <a:cs typeface="Microsoft Sans Serif"/>
              </a:rPr>
              <a:t>2</a:t>
            </a:r>
            <a:r>
              <a:rPr sz="1100" spc="-15" dirty="0">
                <a:cs typeface="Microsoft Sans Serif"/>
              </a:rPr>
              <a:t> </a:t>
            </a:r>
            <a:r>
              <a:rPr sz="1100" i="1" spc="-55" dirty="0">
                <a:cs typeface="Verdana"/>
              </a:rPr>
              <a:t>×</a:t>
            </a:r>
            <a:r>
              <a:rPr sz="1100" i="1" spc="-140" dirty="0">
                <a:cs typeface="Verdana"/>
              </a:rPr>
              <a:t> </a:t>
            </a:r>
            <a:r>
              <a:rPr sz="1100" spc="15" dirty="0">
                <a:cs typeface="Microsoft Sans Serif"/>
              </a:rPr>
              <a:t>2</a:t>
            </a:r>
            <a:r>
              <a:rPr sz="1100" spc="2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kernel</a:t>
            </a:r>
            <a:endParaRPr sz="1100" dirty="0">
              <a:cs typeface="Microsoft Sans Serif"/>
            </a:endParaRPr>
          </a:p>
          <a:p>
            <a:pPr marL="443865" indent="-171450">
              <a:buFont typeface="Courier New" panose="02070309020205020404" pitchFamily="49" charset="0"/>
              <a:buChar char="o"/>
            </a:pPr>
            <a:r>
              <a:rPr sz="1100" spc="20" dirty="0">
                <a:cs typeface="Microsoft Sans Serif"/>
              </a:rPr>
              <a:t>FC7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features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generalize</a:t>
            </a:r>
            <a:r>
              <a:rPr sz="1100" spc="15" dirty="0">
                <a:cs typeface="Microsoft Sans Serif"/>
              </a:rPr>
              <a:t> </a:t>
            </a:r>
            <a:r>
              <a:rPr sz="1100" spc="5" dirty="0">
                <a:cs typeface="Microsoft Sans Serif"/>
              </a:rPr>
              <a:t>well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to</a:t>
            </a:r>
            <a:r>
              <a:rPr sz="1100" spc="20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other</a:t>
            </a:r>
            <a:r>
              <a:rPr sz="1100" spc="15" dirty="0">
                <a:cs typeface="Microsoft Sans Serif"/>
              </a:rPr>
              <a:t> </a:t>
            </a:r>
            <a:r>
              <a:rPr sz="1100" spc="10" dirty="0">
                <a:cs typeface="Microsoft Sans Serif"/>
              </a:rPr>
              <a:t>tasks</a:t>
            </a:r>
            <a:endParaRPr sz="1100" dirty="0"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 dirty="0">
              <a:latin typeface="Microsoft Sans Serif"/>
              <a:cs typeface="Microsoft Sans Serif"/>
            </a:endParaRPr>
          </a:p>
          <a:p>
            <a:pPr marL="25400">
              <a:lnSpc>
                <a:spcPct val="100000"/>
              </a:lnSpc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5308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390" dirty="0">
                <a:latin typeface="Calibri"/>
                <a:cs typeface="Calibri"/>
              </a:rPr>
              <a:t>VGG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85" dirty="0">
                <a:latin typeface="Calibri"/>
                <a:cs typeface="Calibri"/>
              </a:rPr>
              <a:t>16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555625"/>
            <a:ext cx="5257800" cy="25146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/>
              <a:t>N</a:t>
            </a:r>
            <a:r>
              <a:rPr cap="small" spc="229" dirty="0"/>
              <a:t>et</a:t>
            </a:r>
            <a:r>
              <a:rPr cap="small" spc="385" dirty="0"/>
              <a:t>w</a:t>
            </a:r>
            <a:r>
              <a:rPr cap="small" spc="295" dirty="0"/>
              <a:t>ork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180" dirty="0"/>
              <a:t>in</a:t>
            </a:r>
            <a:r>
              <a:rPr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229" dirty="0"/>
              <a:t>et</a:t>
            </a:r>
            <a:r>
              <a:rPr cap="small" spc="385" dirty="0"/>
              <a:t>w</a:t>
            </a:r>
            <a:r>
              <a:rPr cap="small" spc="295" dirty="0"/>
              <a:t>ork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500" y="1742401"/>
            <a:ext cx="5105400" cy="13919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5900" y="476983"/>
            <a:ext cx="5410200" cy="11454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marR="5080" indent="-171450">
              <a:lnSpc>
                <a:spcPct val="1153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kernel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can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thought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generalized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linear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model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(GLM). </a:t>
            </a:r>
            <a:r>
              <a:rPr sz="1050" spc="15" dirty="0">
                <a:cs typeface="Microsoft Sans Serif"/>
              </a:rPr>
              <a:t> </a:t>
            </a:r>
            <a:endParaRPr lang="en-US" sz="1050" spc="15" dirty="0">
              <a:cs typeface="Microsoft Sans Serif"/>
            </a:endParaRPr>
          </a:p>
          <a:p>
            <a:pPr marL="184150" marR="5080" indent="-171450">
              <a:lnSpc>
                <a:spcPct val="1153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Using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sophisticated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non-linear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function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approximator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like</a:t>
            </a:r>
            <a:r>
              <a:rPr sz="1050" spc="20" dirty="0">
                <a:cs typeface="Microsoft Sans Serif"/>
              </a:rPr>
              <a:t> </a:t>
            </a:r>
            <a:r>
              <a:rPr sz="1050" spc="-35" dirty="0">
                <a:cs typeface="Microsoft Sans Serif"/>
              </a:rPr>
              <a:t>MLP,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enhance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abstraction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ability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local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model.</a:t>
            </a:r>
            <a:endParaRPr sz="1050" dirty="0">
              <a:cs typeface="Microsoft Sans Serif"/>
            </a:endParaRPr>
          </a:p>
          <a:p>
            <a:pPr marL="184150" indent="-17145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Replace </a:t>
            </a:r>
            <a:r>
              <a:rPr sz="1050" spc="15" dirty="0">
                <a:cs typeface="Microsoft Sans Serif"/>
              </a:rPr>
              <a:t>GLM</a:t>
            </a:r>
            <a:r>
              <a:rPr sz="1050" spc="1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by</a:t>
            </a:r>
            <a:r>
              <a:rPr sz="1050" spc="10" dirty="0">
                <a:cs typeface="Microsoft Sans Serif"/>
              </a:rPr>
              <a:t> </a:t>
            </a:r>
            <a:r>
              <a:rPr sz="1050" b="1" spc="5" dirty="0">
                <a:cs typeface="Arial"/>
              </a:rPr>
              <a:t>micro</a:t>
            </a:r>
            <a:r>
              <a:rPr sz="1050" b="1" spc="-5" dirty="0">
                <a:cs typeface="Arial"/>
              </a:rPr>
              <a:t> </a:t>
            </a:r>
            <a:r>
              <a:rPr sz="1050" b="1" spc="10" dirty="0">
                <a:cs typeface="Arial"/>
              </a:rPr>
              <a:t>network</a:t>
            </a:r>
            <a:r>
              <a:rPr sz="1050" spc="10" dirty="0">
                <a:cs typeface="Microsoft Sans Serif"/>
              </a:rPr>
              <a:t>.</a:t>
            </a:r>
            <a:endParaRPr sz="1050" dirty="0">
              <a:cs typeface="Microsoft Sans Serif"/>
            </a:endParaRPr>
          </a:p>
          <a:p>
            <a:pPr marL="184150" indent="-17145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Replace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5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MLP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micro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structure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via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convolutions.</a:t>
            </a:r>
          </a:p>
          <a:p>
            <a:pPr marL="184150" indent="-171450">
              <a:lnSpc>
                <a:spcPct val="100000"/>
              </a:lnSpc>
              <a:spcBef>
                <a:spcPts val="204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Replace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fully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connected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last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by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global</a:t>
            </a:r>
            <a:r>
              <a:rPr sz="1050" spc="3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average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pooling.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00" dirty="0"/>
              <a:t>N</a:t>
            </a:r>
            <a:r>
              <a:rPr cap="small" spc="229" dirty="0"/>
              <a:t>et</a:t>
            </a:r>
            <a:r>
              <a:rPr cap="small" spc="385" dirty="0"/>
              <a:t>w</a:t>
            </a:r>
            <a:r>
              <a:rPr cap="small" spc="295" dirty="0"/>
              <a:t>ork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180" dirty="0"/>
              <a:t>in</a:t>
            </a:r>
            <a:r>
              <a:rPr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229" dirty="0"/>
              <a:t>et</a:t>
            </a:r>
            <a:r>
              <a:rPr cap="small" spc="385" dirty="0"/>
              <a:t>w</a:t>
            </a:r>
            <a:r>
              <a:rPr cap="small" spc="295" dirty="0"/>
              <a:t>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70635"/>
            <a:ext cx="5065395" cy="372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95"/>
              </a:spcBef>
            </a:pPr>
            <a:r>
              <a:rPr sz="1050" spc="10" dirty="0">
                <a:cs typeface="Microsoft Sans Serif"/>
              </a:rPr>
              <a:t>Using</a:t>
            </a:r>
            <a:r>
              <a:rPr sz="1050" spc="15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micro-networks</a:t>
            </a:r>
            <a:r>
              <a:rPr sz="1050" spc="16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allow</a:t>
            </a:r>
            <a:r>
              <a:rPr sz="1050" spc="1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16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extract</a:t>
            </a:r>
            <a:r>
              <a:rPr sz="1050" spc="1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more</a:t>
            </a:r>
            <a:r>
              <a:rPr sz="1050" spc="1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sophisticated</a:t>
            </a:r>
            <a:r>
              <a:rPr sz="1050" spc="15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features</a:t>
            </a:r>
            <a:r>
              <a:rPr sz="1050" spc="1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16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may</a:t>
            </a:r>
            <a:r>
              <a:rPr sz="1050" spc="1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need </a:t>
            </a:r>
            <a:r>
              <a:rPr sz="1050" spc="-265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fewer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extractors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can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avoid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learning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too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simple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redundant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features.</a:t>
            </a:r>
            <a:endParaRPr sz="1050" dirty="0"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294" y="1092504"/>
            <a:ext cx="5126405" cy="192595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5308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229" dirty="0">
                <a:latin typeface="Calibri"/>
                <a:cs typeface="Calibri"/>
              </a:rPr>
              <a:t>et</a:t>
            </a:r>
            <a:r>
              <a:rPr sz="1700" cap="small" spc="385" dirty="0">
                <a:latin typeface="Calibri"/>
                <a:cs typeface="Calibri"/>
              </a:rPr>
              <a:t>w</a:t>
            </a:r>
            <a:r>
              <a:rPr sz="1700" cap="small" spc="295" dirty="0">
                <a:latin typeface="Calibri"/>
                <a:cs typeface="Calibri"/>
              </a:rPr>
              <a:t>ork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cap="small" spc="180" dirty="0">
                <a:latin typeface="Calibri"/>
                <a:cs typeface="Calibri"/>
              </a:rPr>
              <a:t>in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229" dirty="0">
                <a:latin typeface="Calibri"/>
                <a:cs typeface="Calibri"/>
              </a:rPr>
              <a:t>et</a:t>
            </a:r>
            <a:r>
              <a:rPr sz="1700" cap="small" spc="385" dirty="0">
                <a:latin typeface="Calibri"/>
                <a:cs typeface="Calibri"/>
              </a:rPr>
              <a:t>w</a:t>
            </a:r>
            <a:r>
              <a:rPr sz="1700" cap="small" spc="295" dirty="0">
                <a:latin typeface="Calibri"/>
                <a:cs typeface="Calibri"/>
              </a:rPr>
              <a:t>ork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5900" y="541031"/>
            <a:ext cx="5196789" cy="372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4700"/>
              </a:lnSpc>
              <a:spcBef>
                <a:spcPts val="95"/>
              </a:spcBef>
            </a:pPr>
            <a:r>
              <a:rPr sz="1050" spc="5" dirty="0">
                <a:cs typeface="Microsoft Sans Serif"/>
              </a:rPr>
              <a:t>Fully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connected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have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lot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learnable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parameters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may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cause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overfiting. </a:t>
            </a:r>
            <a:r>
              <a:rPr sz="1050" spc="-2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Replace</a:t>
            </a:r>
            <a:r>
              <a:rPr sz="1050" spc="20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FC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by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global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average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pooling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better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generalization.</a:t>
            </a:r>
            <a:endParaRPr sz="1050" dirty="0"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1009624"/>
            <a:ext cx="4885106" cy="1889125"/>
            <a:chOff x="359994" y="1009624"/>
            <a:chExt cx="3960495" cy="1889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9811" y="1009624"/>
              <a:ext cx="2880360" cy="1664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9994" y="2895853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2895806"/>
            <a:ext cx="5015865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4470">
              <a:lnSpc>
                <a:spcPct val="110700"/>
              </a:lnSpc>
              <a:spcBef>
                <a:spcPts val="100"/>
              </a:spcBef>
            </a:pPr>
            <a:r>
              <a:rPr sz="900" spc="-5" dirty="0">
                <a:latin typeface="Microsoft Sans Serif"/>
                <a:cs typeface="Microsoft Sans Serif"/>
              </a:rPr>
              <a:t>Figure</a:t>
            </a:r>
            <a:r>
              <a:rPr sz="900" spc="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Source:</a:t>
            </a:r>
            <a:r>
              <a:rPr sz="900" spc="7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Singh,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Anshuman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Vikram.</a:t>
            </a:r>
            <a:r>
              <a:rPr sz="900" spc="7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”Content-based</a:t>
            </a:r>
            <a:r>
              <a:rPr sz="900" spc="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image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retrieval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using</a:t>
            </a:r>
            <a:r>
              <a:rPr sz="900" spc="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deep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learning.” </a:t>
            </a:r>
            <a:r>
              <a:rPr sz="900" spc="-22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(2015)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390" dirty="0"/>
              <a:t>G</a:t>
            </a:r>
            <a:r>
              <a:rPr cap="small" spc="215" dirty="0"/>
              <a:t>oog</a:t>
            </a:r>
            <a:r>
              <a:rPr spc="459" dirty="0"/>
              <a:t>L</a:t>
            </a:r>
            <a:r>
              <a:rPr cap="small" spc="295" dirty="0"/>
              <a:t>e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spc="325" dirty="0"/>
              <a:t> </a:t>
            </a:r>
            <a:r>
              <a:rPr spc="-120" dirty="0"/>
              <a:t> </a:t>
            </a:r>
            <a:r>
              <a:rPr spc="290" dirty="0"/>
              <a:t>/</a:t>
            </a:r>
            <a:r>
              <a:rPr dirty="0"/>
              <a:t> </a:t>
            </a:r>
            <a:r>
              <a:rPr spc="-120" dirty="0"/>
              <a:t> </a:t>
            </a:r>
            <a:r>
              <a:rPr spc="265" dirty="0"/>
              <a:t>I</a:t>
            </a:r>
            <a:r>
              <a:rPr cap="small" spc="245" dirty="0"/>
              <a:t>nception</a:t>
            </a:r>
            <a:r>
              <a:rPr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325" dirty="0"/>
              <a:t>et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2100" y="495956"/>
            <a:ext cx="5181600" cy="2650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1690370" indent="-171450">
              <a:lnSpc>
                <a:spcPct val="1295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ILSVRC’14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classification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winner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(6.7%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top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5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error)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solidFill>
                  <a:srgbClr val="FF0000"/>
                </a:solidFill>
                <a:cs typeface="Microsoft Sans Serif"/>
              </a:rPr>
              <a:t>22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with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weights</a:t>
            </a:r>
            <a:endParaRPr sz="1050" dirty="0">
              <a:cs typeface="Microsoft Sans Serif"/>
            </a:endParaRPr>
          </a:p>
          <a:p>
            <a:pPr marL="209550" marR="90805" indent="-171450">
              <a:lnSpc>
                <a:spcPct val="122400"/>
              </a:lnSpc>
              <a:spcBef>
                <a:spcPts val="8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Only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5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million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parameters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(12x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less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than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AlexNet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27x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less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than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VGG-16) </a:t>
            </a:r>
            <a:r>
              <a:rPr sz="1050" spc="-265" dirty="0">
                <a:cs typeface="Microsoft Sans Serif"/>
              </a:rPr>
              <a:t> </a:t>
            </a:r>
            <a:endParaRPr lang="en-US" sz="1050" spc="-265" dirty="0">
              <a:cs typeface="Microsoft Sans Serif"/>
            </a:endParaRPr>
          </a:p>
          <a:p>
            <a:pPr marL="209550" marR="90805" indent="-171450">
              <a:lnSpc>
                <a:spcPct val="122400"/>
              </a:lnSpc>
              <a:spcBef>
                <a:spcPts val="8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Inception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Module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-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convolutional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“blocks”</a:t>
            </a:r>
            <a:r>
              <a:rPr sz="1050" spc="20" dirty="0">
                <a:cs typeface="Microsoft Sans Serif"/>
              </a:rPr>
              <a:t> </a:t>
            </a:r>
            <a:r>
              <a:rPr sz="1050" spc="290" dirty="0">
                <a:cs typeface="Microsoft Sans Serif"/>
              </a:rPr>
              <a:t>–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efficient</a:t>
            </a:r>
            <a:endParaRPr sz="1050" dirty="0">
              <a:cs typeface="Microsoft Sans Serif"/>
            </a:endParaRPr>
          </a:p>
          <a:p>
            <a:pPr marL="364490" marR="30480" indent="-171450">
              <a:lnSpc>
                <a:spcPct val="118900"/>
              </a:lnSpc>
              <a:spcBef>
                <a:spcPts val="105"/>
              </a:spcBef>
              <a:buFont typeface="Courier New" panose="02070309020205020404" pitchFamily="49" charset="0"/>
              <a:buChar char="o"/>
            </a:pPr>
            <a:r>
              <a:rPr sz="950" spc="15" dirty="0">
                <a:cs typeface="Microsoft Sans Serif"/>
              </a:rPr>
              <a:t>Design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good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local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network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topology</a:t>
            </a:r>
            <a:r>
              <a:rPr sz="950" spc="15" dirty="0">
                <a:cs typeface="Microsoft Sans Serif"/>
              </a:rPr>
              <a:t> (network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within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network)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and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then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stack </a:t>
            </a:r>
            <a:r>
              <a:rPr sz="950" spc="-24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these modules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on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top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of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each</a:t>
            </a:r>
            <a:r>
              <a:rPr sz="950" spc="2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other.</a:t>
            </a:r>
            <a:endParaRPr sz="950" dirty="0">
              <a:cs typeface="Microsoft Sans Serif"/>
            </a:endParaRPr>
          </a:p>
          <a:p>
            <a:pPr marL="209550" indent="-171450">
              <a:lnSpc>
                <a:spcPct val="10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Linear</a:t>
            </a:r>
            <a:r>
              <a:rPr sz="1050" spc="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end</a:t>
            </a:r>
            <a:endParaRPr sz="1050" dirty="0">
              <a:cs typeface="Microsoft Sans Serif"/>
            </a:endParaRPr>
          </a:p>
          <a:p>
            <a:pPr marL="209550" marR="966469" indent="-171450">
              <a:lnSpc>
                <a:spcPct val="129500"/>
              </a:lnSpc>
              <a:buFont typeface="Wingdings" panose="05000000000000000000" pitchFamily="2" charset="2"/>
              <a:buChar char="Ø"/>
            </a:pPr>
            <a:r>
              <a:rPr sz="1050" spc="15" dirty="0">
                <a:solidFill>
                  <a:srgbClr val="FF0000"/>
                </a:solidFill>
                <a:cs typeface="Microsoft Sans Serif"/>
              </a:rPr>
              <a:t>Max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pooling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between,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multiple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between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pooling </a:t>
            </a:r>
            <a:r>
              <a:rPr sz="1050" spc="-265" dirty="0">
                <a:cs typeface="Microsoft Sans Serif"/>
              </a:rPr>
              <a:t> </a:t>
            </a:r>
            <a:endParaRPr lang="en-US" sz="1050" spc="-265" dirty="0">
              <a:cs typeface="Microsoft Sans Serif"/>
            </a:endParaRPr>
          </a:p>
          <a:p>
            <a:pPr marL="209550" marR="966469" indent="-171450">
              <a:lnSpc>
                <a:spcPct val="1295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Great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ideas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data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augmentation</a:t>
            </a:r>
            <a:endParaRPr sz="1050" dirty="0">
              <a:cs typeface="Microsoft Sans Serif"/>
            </a:endParaRPr>
          </a:p>
          <a:p>
            <a:pPr marL="209550" marR="1880870" indent="-171450">
              <a:lnSpc>
                <a:spcPct val="1295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Deeper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networks,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with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computational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efficiency </a:t>
            </a:r>
            <a:r>
              <a:rPr sz="1050" spc="-265" dirty="0">
                <a:cs typeface="Microsoft Sans Serif"/>
              </a:rPr>
              <a:t> </a:t>
            </a:r>
            <a:endParaRPr lang="en-US" sz="1050" spc="-265" dirty="0">
              <a:cs typeface="Microsoft Sans Serif"/>
            </a:endParaRPr>
          </a:p>
          <a:p>
            <a:pPr marL="209550" marR="1880870" indent="-171450">
              <a:lnSpc>
                <a:spcPct val="129500"/>
              </a:lnSpc>
              <a:buFont typeface="Wingdings" panose="05000000000000000000" pitchFamily="2" charset="2"/>
              <a:buChar char="Ø"/>
            </a:pPr>
            <a:r>
              <a:rPr sz="1050" spc="15" dirty="0">
                <a:solidFill>
                  <a:srgbClr val="FF0000"/>
                </a:solidFill>
                <a:cs typeface="Microsoft Sans Serif"/>
              </a:rPr>
              <a:t>No</a:t>
            </a:r>
            <a:r>
              <a:rPr sz="1050" spc="15" dirty="0">
                <a:cs typeface="Microsoft Sans Serif"/>
              </a:rPr>
              <a:t> FC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layers.</a:t>
            </a:r>
            <a:endParaRPr sz="1050" dirty="0">
              <a:cs typeface="Microsoft Sans Serif"/>
            </a:endParaRPr>
          </a:p>
          <a:p>
            <a:pPr marL="209550" marR="189230" indent="-171450">
              <a:lnSpc>
                <a:spcPct val="114700"/>
              </a:lnSpc>
              <a:spcBef>
                <a:spcPts val="18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After</a:t>
            </a:r>
            <a:r>
              <a:rPr sz="1050" spc="20" dirty="0">
                <a:solidFill>
                  <a:srgbClr val="FF0000"/>
                </a:solidFill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last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convolutional</a:t>
            </a:r>
            <a:r>
              <a:rPr sz="1050" spc="20" dirty="0">
                <a:cs typeface="Microsoft Sans Serif"/>
              </a:rPr>
              <a:t> </a:t>
            </a:r>
            <a:r>
              <a:rPr sz="1050" spc="-10" dirty="0">
                <a:cs typeface="Microsoft Sans Serif"/>
              </a:rPr>
              <a:t>layer,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global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average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pooling</a:t>
            </a:r>
            <a:r>
              <a:rPr sz="1050" spc="25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layer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used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that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spatially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averages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across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each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feature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map,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before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final</a:t>
            </a:r>
            <a:r>
              <a:rPr sz="1050" spc="25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FC</a:t>
            </a:r>
            <a:r>
              <a:rPr sz="1050" spc="20" dirty="0">
                <a:cs typeface="Microsoft Sans Serif"/>
              </a:rPr>
              <a:t> </a:t>
            </a:r>
            <a:r>
              <a:rPr sz="1050" spc="-10" dirty="0">
                <a:cs typeface="Microsoft Sans Serif"/>
              </a:rPr>
              <a:t>layer.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60210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cap="small" spc="245" dirty="0">
                <a:solidFill>
                  <a:srgbClr val="FFFFFF"/>
                </a:solidFill>
                <a:latin typeface="Calibri"/>
                <a:cs typeface="Calibri"/>
              </a:rPr>
              <a:t>nception</a:t>
            </a:r>
            <a:r>
              <a:rPr sz="17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3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631825"/>
            <a:ext cx="5117782" cy="2362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5308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latin typeface="Calibri"/>
                <a:cs typeface="Calibri"/>
              </a:rPr>
              <a:t>I</a:t>
            </a:r>
            <a:r>
              <a:rPr sz="1700" cap="small" spc="245" dirty="0">
                <a:latin typeface="Calibri"/>
                <a:cs typeface="Calibri"/>
              </a:rPr>
              <a:t>nception</a:t>
            </a:r>
            <a:r>
              <a:rPr sz="1700" spc="245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245" dirty="0">
                <a:latin typeface="Calibri"/>
                <a:cs typeface="Calibri"/>
              </a:rPr>
              <a:t>M</a:t>
            </a:r>
            <a:r>
              <a:rPr sz="1700" cap="small" spc="235" dirty="0">
                <a:latin typeface="Calibri"/>
                <a:cs typeface="Calibri"/>
              </a:rPr>
              <a:t>odul</a:t>
            </a:r>
            <a:r>
              <a:rPr sz="1700" cap="small" spc="295" dirty="0">
                <a:latin typeface="Calibri"/>
                <a:cs typeface="Calibri"/>
              </a:rPr>
              <a:t>e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300" y="555625"/>
            <a:ext cx="5105400" cy="257378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65" dirty="0"/>
              <a:t>I</a:t>
            </a:r>
            <a:r>
              <a:rPr cap="small" spc="245" dirty="0"/>
              <a:t>nception</a:t>
            </a:r>
            <a:r>
              <a:rPr spc="245"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dirty="0"/>
              <a:t> </a:t>
            </a:r>
            <a:r>
              <a:rPr spc="-120" dirty="0"/>
              <a:t> </a:t>
            </a:r>
            <a:r>
              <a:rPr spc="245" dirty="0"/>
              <a:t>M</a:t>
            </a:r>
            <a:r>
              <a:rPr cap="small" spc="235" dirty="0"/>
              <a:t>odul</a:t>
            </a:r>
            <a:r>
              <a:rPr cap="small" spc="295" dirty="0"/>
              <a:t>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8300" y="611578"/>
            <a:ext cx="5029200" cy="240514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95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A</a:t>
            </a:r>
            <a:r>
              <a:rPr sz="1050" spc="10" dirty="0">
                <a:cs typeface="Microsoft Sans Serif"/>
              </a:rPr>
              <a:t>pply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parallel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filter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operations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input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from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previous</a:t>
            </a:r>
            <a:r>
              <a:rPr sz="1050" spc="25" dirty="0">
                <a:cs typeface="Microsoft Sans Serif"/>
              </a:rPr>
              <a:t> </a:t>
            </a:r>
            <a:r>
              <a:rPr sz="1050" spc="-10" dirty="0">
                <a:cs typeface="Microsoft Sans Serif"/>
              </a:rPr>
              <a:t>layer.</a:t>
            </a:r>
            <a:endParaRPr sz="1050" dirty="0">
              <a:cs typeface="Microsoft Sans Serif"/>
            </a:endParaRPr>
          </a:p>
          <a:p>
            <a:pPr marL="209550" marR="3048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5" dirty="0">
                <a:solidFill>
                  <a:srgbClr val="FF0000"/>
                </a:solidFill>
                <a:cs typeface="Microsoft Sans Serif"/>
              </a:rPr>
              <a:t>M</a:t>
            </a:r>
            <a:r>
              <a:rPr sz="1050" spc="5" dirty="0">
                <a:cs typeface="Microsoft Sans Serif"/>
              </a:rPr>
              <a:t>ultiple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receptive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field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sizes</a:t>
            </a:r>
            <a:r>
              <a:rPr sz="1050" spc="25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(1x1,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3x3,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5x5)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Pooling </a:t>
            </a:r>
            <a:r>
              <a:rPr sz="1050" spc="-26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operation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(3x3).</a:t>
            </a:r>
            <a:endParaRPr sz="1050" dirty="0">
              <a:cs typeface="Microsoft Sans Serif"/>
            </a:endParaRPr>
          </a:p>
          <a:p>
            <a:pPr marL="209550" marR="1194435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C</a:t>
            </a:r>
            <a:r>
              <a:rPr sz="1050" spc="10" dirty="0">
                <a:cs typeface="Microsoft Sans Serif"/>
              </a:rPr>
              <a:t>oncatenate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all</a:t>
            </a:r>
            <a:r>
              <a:rPr sz="1050" spc="3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filter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outputs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together</a:t>
            </a:r>
            <a:r>
              <a:rPr sz="1050" spc="3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channel-wise. </a:t>
            </a:r>
            <a:r>
              <a:rPr sz="1050" spc="-265" dirty="0">
                <a:cs typeface="Microsoft Sans Serif"/>
              </a:rPr>
              <a:t> </a:t>
            </a:r>
            <a:endParaRPr lang="en-US" sz="1050" spc="-265" dirty="0">
              <a:cs typeface="Microsoft Sans Serif"/>
            </a:endParaRPr>
          </a:p>
          <a:p>
            <a:pPr marL="209550" marR="1194435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-5" dirty="0">
                <a:solidFill>
                  <a:srgbClr val="FF0000"/>
                </a:solidFill>
                <a:cs typeface="Microsoft Sans Serif"/>
              </a:rPr>
              <a:t>V</a:t>
            </a:r>
            <a:r>
              <a:rPr sz="1050" spc="-5" dirty="0">
                <a:cs typeface="Microsoft Sans Serif"/>
              </a:rPr>
              <a:t>ery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expensive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compute</a:t>
            </a:r>
            <a:endParaRPr sz="1050" dirty="0">
              <a:cs typeface="Microsoft Sans Serif"/>
            </a:endParaRPr>
          </a:p>
          <a:p>
            <a:pPr marL="2095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FF0000"/>
                </a:solidFill>
                <a:cs typeface="Microsoft Sans Serif"/>
              </a:rPr>
              <a:t>1x1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reduce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feature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channel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size.</a:t>
            </a:r>
          </a:p>
          <a:p>
            <a:pPr marL="36449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sz="950" spc="15" dirty="0">
                <a:cs typeface="Microsoft Sans Serif"/>
              </a:rPr>
              <a:t>Assume an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input</a:t>
            </a:r>
            <a:r>
              <a:rPr sz="950" spc="1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of</a:t>
            </a:r>
            <a:r>
              <a:rPr sz="950" spc="15" dirty="0">
                <a:cs typeface="Microsoft Sans Serif"/>
              </a:rPr>
              <a:t> WxHx64.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sz="950" spc="15" dirty="0">
                <a:cs typeface="Microsoft Sans Serif"/>
              </a:rPr>
              <a:t>Each</a:t>
            </a:r>
            <a:r>
              <a:rPr sz="950" spc="3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filter</a:t>
            </a:r>
            <a:r>
              <a:rPr sz="950" spc="3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has</a:t>
            </a:r>
            <a:r>
              <a:rPr sz="950" spc="25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size</a:t>
            </a:r>
            <a:r>
              <a:rPr sz="950" spc="3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1x1x64,</a:t>
            </a:r>
            <a:r>
              <a:rPr sz="950" spc="3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and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performs</a:t>
            </a:r>
            <a:r>
              <a:rPr sz="950" spc="3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a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64-dimensional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dot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product.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sz="950" spc="15" dirty="0">
                <a:cs typeface="Microsoft Sans Serif"/>
              </a:rPr>
              <a:t>Preserves </a:t>
            </a:r>
            <a:r>
              <a:rPr sz="950" spc="10" dirty="0">
                <a:cs typeface="Microsoft Sans Serif"/>
              </a:rPr>
              <a:t>spatial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dimensions,</a:t>
            </a:r>
            <a:r>
              <a:rPr sz="950" spc="2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reduces</a:t>
            </a:r>
            <a:r>
              <a:rPr sz="950" spc="2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depth.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sz="950" spc="10" dirty="0">
                <a:cs typeface="Microsoft Sans Serif"/>
              </a:rPr>
              <a:t>Projects</a:t>
            </a:r>
            <a:r>
              <a:rPr sz="950" spc="3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depth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to</a:t>
            </a:r>
            <a:r>
              <a:rPr sz="950" spc="3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lower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dimension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(combination</a:t>
            </a:r>
            <a:r>
              <a:rPr sz="950" spc="30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of</a:t>
            </a:r>
            <a:r>
              <a:rPr sz="950" spc="3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feature</a:t>
            </a:r>
            <a:r>
              <a:rPr sz="950" spc="3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maps).</a:t>
            </a:r>
            <a:endParaRPr sz="9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0" dirty="0"/>
              <a:t>R</a:t>
            </a:r>
            <a:r>
              <a:rPr cap="small" spc="235" dirty="0"/>
              <a:t>esidual</a:t>
            </a:r>
            <a:r>
              <a:rPr spc="235" dirty="0"/>
              <a:t> </a:t>
            </a:r>
            <a:r>
              <a:rPr spc="-120" dirty="0"/>
              <a:t> 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dirty="0"/>
              <a:t> </a:t>
            </a:r>
            <a:r>
              <a:rPr spc="-120" dirty="0"/>
              <a:t> </a:t>
            </a:r>
            <a:r>
              <a:rPr spc="340" dirty="0"/>
              <a:t>(R</a:t>
            </a:r>
            <a:r>
              <a:rPr cap="small" spc="229" dirty="0"/>
              <a:t>es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spc="235" dirty="0"/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4500" y="487045"/>
            <a:ext cx="5029200" cy="25146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1506855" indent="-171450">
              <a:lnSpc>
                <a:spcPct val="1384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200" spc="-5" dirty="0">
                <a:solidFill>
                  <a:srgbClr val="FF0000"/>
                </a:solidFill>
                <a:cs typeface="Microsoft Sans Serif"/>
              </a:rPr>
              <a:t>Ve</a:t>
            </a:r>
            <a:r>
              <a:rPr sz="1200" spc="-5" dirty="0">
                <a:cs typeface="Microsoft Sans Serif"/>
              </a:rPr>
              <a:t>ry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deep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networks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using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residual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connections </a:t>
            </a:r>
            <a:endParaRPr lang="en-US" sz="1200" spc="10" dirty="0">
              <a:cs typeface="Microsoft Sans Serif"/>
            </a:endParaRPr>
          </a:p>
          <a:p>
            <a:pPr marL="184150" marR="1506855" indent="-171450">
              <a:lnSpc>
                <a:spcPct val="1384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200" spc="-265" dirty="0">
                <a:cs typeface="Microsoft Sans Serif"/>
              </a:rPr>
              <a:t> </a:t>
            </a:r>
            <a:r>
              <a:rPr sz="1200" dirty="0">
                <a:solidFill>
                  <a:srgbClr val="FF0000"/>
                </a:solidFill>
                <a:cs typeface="Microsoft Sans Serif"/>
              </a:rPr>
              <a:t>152</a:t>
            </a:r>
            <a:r>
              <a:rPr sz="1200" dirty="0">
                <a:cs typeface="Microsoft Sans Serif"/>
              </a:rPr>
              <a:t>-layer</a:t>
            </a:r>
            <a:r>
              <a:rPr sz="1200" spc="1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model</a:t>
            </a:r>
            <a:r>
              <a:rPr sz="1200" spc="20" dirty="0">
                <a:cs typeface="Microsoft Sans Serif"/>
              </a:rPr>
              <a:t> </a:t>
            </a:r>
            <a:r>
              <a:rPr sz="1200" spc="-5" dirty="0">
                <a:cs typeface="Microsoft Sans Serif"/>
              </a:rPr>
              <a:t>for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ImageNet</a:t>
            </a:r>
            <a:endParaRPr sz="1200" dirty="0">
              <a:cs typeface="Microsoft Sans Serif"/>
            </a:endParaRPr>
          </a:p>
          <a:p>
            <a:pPr marL="184150" indent="-171450">
              <a:lnSpc>
                <a:spcPct val="100000"/>
              </a:lnSpc>
              <a:spcBef>
                <a:spcPts val="480"/>
              </a:spcBef>
              <a:buFont typeface="Wingdings" panose="05000000000000000000" pitchFamily="2" charset="2"/>
              <a:buChar char="Ø"/>
            </a:pPr>
            <a:r>
              <a:rPr sz="1200" spc="10" dirty="0">
                <a:solidFill>
                  <a:srgbClr val="FF0000"/>
                </a:solidFill>
                <a:cs typeface="Microsoft Sans Serif"/>
              </a:rPr>
              <a:t>ILSVRC</a:t>
            </a:r>
            <a:r>
              <a:rPr sz="1200" spc="10" dirty="0">
                <a:cs typeface="Microsoft Sans Serif"/>
              </a:rPr>
              <a:t>’15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classification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winner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(3.57%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top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5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error)</a:t>
            </a:r>
            <a:endParaRPr sz="1200" dirty="0">
              <a:cs typeface="Microsoft Sans Serif"/>
            </a:endParaRPr>
          </a:p>
          <a:p>
            <a:pPr marL="184150" marR="203200" indent="-171450">
              <a:lnSpc>
                <a:spcPct val="1147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sz="1200" spc="10" dirty="0">
                <a:solidFill>
                  <a:srgbClr val="FF0000"/>
                </a:solidFill>
                <a:cs typeface="Microsoft Sans Serif"/>
              </a:rPr>
              <a:t>Swept</a:t>
            </a:r>
            <a:r>
              <a:rPr sz="1200" spc="25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all</a:t>
            </a:r>
            <a:r>
              <a:rPr sz="1200" spc="25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classification</a:t>
            </a:r>
            <a:r>
              <a:rPr sz="1200" spc="3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and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detection</a:t>
            </a:r>
            <a:r>
              <a:rPr sz="1200" spc="3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competitions</a:t>
            </a:r>
            <a:r>
              <a:rPr sz="1200" spc="25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in</a:t>
            </a:r>
            <a:r>
              <a:rPr sz="1200" spc="3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ILSVRC’15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and </a:t>
            </a:r>
            <a:r>
              <a:rPr sz="1200" spc="-26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COCO’15.</a:t>
            </a:r>
            <a:endParaRPr sz="1200" dirty="0">
              <a:cs typeface="Microsoft Sans Serif"/>
            </a:endParaRPr>
          </a:p>
          <a:p>
            <a:pPr marL="184150" marR="113347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200" spc="15" dirty="0">
                <a:solidFill>
                  <a:srgbClr val="FF0000"/>
                </a:solidFill>
                <a:cs typeface="Microsoft Sans Serif"/>
              </a:rPr>
              <a:t>Add</a:t>
            </a:r>
            <a:r>
              <a:rPr sz="1200" spc="15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residual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connections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between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convolution</a:t>
            </a:r>
            <a:r>
              <a:rPr sz="1200" spc="20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blocks </a:t>
            </a:r>
            <a:r>
              <a:rPr sz="1200" spc="-265" dirty="0">
                <a:cs typeface="Microsoft Sans Serif"/>
              </a:rPr>
              <a:t> </a:t>
            </a:r>
            <a:endParaRPr lang="en-US" sz="1200" spc="-265" dirty="0">
              <a:cs typeface="Microsoft Sans Serif"/>
            </a:endParaRPr>
          </a:p>
          <a:p>
            <a:pPr marL="184150" marR="113347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200" spc="10" dirty="0">
                <a:solidFill>
                  <a:srgbClr val="FF0000"/>
                </a:solidFill>
                <a:cs typeface="Microsoft Sans Serif"/>
              </a:rPr>
              <a:t>Easy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gradient</a:t>
            </a:r>
            <a:r>
              <a:rPr sz="1200" spc="15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flow</a:t>
            </a:r>
            <a:r>
              <a:rPr sz="1200" spc="20" dirty="0">
                <a:cs typeface="Microsoft Sans Serif"/>
              </a:rPr>
              <a:t> </a:t>
            </a:r>
            <a:r>
              <a:rPr sz="1200" spc="-5" dirty="0">
                <a:cs typeface="Microsoft Sans Serif"/>
              </a:rPr>
              <a:t>for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deep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models</a:t>
            </a:r>
            <a:endParaRPr sz="1200" dirty="0">
              <a:cs typeface="Microsoft Sans Serif"/>
            </a:endParaRPr>
          </a:p>
          <a:p>
            <a:pPr marL="184150" marR="5080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200" spc="5" dirty="0">
                <a:solidFill>
                  <a:srgbClr val="FF0000"/>
                </a:solidFill>
                <a:cs typeface="Microsoft Sans Serif"/>
              </a:rPr>
              <a:t>Enable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very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deep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models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(from</a:t>
            </a:r>
            <a:r>
              <a:rPr sz="1200" spc="4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20</a:t>
            </a:r>
            <a:r>
              <a:rPr sz="1200" spc="25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layers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to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150</a:t>
            </a:r>
            <a:r>
              <a:rPr sz="1200" spc="2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and</a:t>
            </a:r>
            <a:r>
              <a:rPr sz="1200" spc="25" dirty="0">
                <a:cs typeface="Microsoft Sans Serif"/>
              </a:rPr>
              <a:t> </a:t>
            </a:r>
            <a:r>
              <a:rPr sz="1200" spc="-5" dirty="0">
                <a:cs typeface="Microsoft Sans Serif"/>
              </a:rPr>
              <a:t>even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1000</a:t>
            </a:r>
            <a:r>
              <a:rPr sz="1200" spc="25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layers!)</a:t>
            </a:r>
            <a:endParaRPr lang="en-US" sz="1200" dirty="0">
              <a:cs typeface="Microsoft Sans Serif"/>
            </a:endParaRPr>
          </a:p>
          <a:p>
            <a:pPr marL="184150" marR="5080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200" dirty="0">
                <a:cs typeface="Microsoft Sans Serif"/>
              </a:rPr>
              <a:t> </a:t>
            </a:r>
            <a:r>
              <a:rPr sz="1200" spc="-265" dirty="0">
                <a:cs typeface="Microsoft Sans Serif"/>
              </a:rPr>
              <a:t> </a:t>
            </a:r>
            <a:r>
              <a:rPr sz="1200" spc="15" dirty="0">
                <a:solidFill>
                  <a:srgbClr val="FF0000"/>
                </a:solidFill>
                <a:cs typeface="Microsoft Sans Serif"/>
              </a:rPr>
              <a:t>No </a:t>
            </a:r>
            <a:r>
              <a:rPr sz="1200" spc="5" dirty="0">
                <a:solidFill>
                  <a:srgbClr val="FF0000"/>
                </a:solidFill>
                <a:cs typeface="Microsoft Sans Serif"/>
              </a:rPr>
              <a:t>l</a:t>
            </a:r>
            <a:r>
              <a:rPr sz="1200" spc="5" dirty="0">
                <a:cs typeface="Microsoft Sans Serif"/>
              </a:rPr>
              <a:t>inear</a:t>
            </a:r>
            <a:r>
              <a:rPr sz="1200" spc="20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layers</a:t>
            </a:r>
            <a:r>
              <a:rPr sz="1200" spc="2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except</a:t>
            </a:r>
            <a:r>
              <a:rPr sz="1200" spc="20" dirty="0">
                <a:cs typeface="Microsoft Sans Serif"/>
              </a:rPr>
              <a:t> </a:t>
            </a:r>
            <a:r>
              <a:rPr sz="1200" dirty="0">
                <a:cs typeface="Microsoft Sans Serif"/>
              </a:rPr>
              <a:t>classifier.</a:t>
            </a:r>
          </a:p>
          <a:p>
            <a:pPr marL="184150" indent="-171450">
              <a:lnSpc>
                <a:spcPct val="100000"/>
              </a:lnSpc>
              <a:spcBef>
                <a:spcPts val="480"/>
              </a:spcBef>
              <a:buFont typeface="Wingdings" panose="05000000000000000000" pitchFamily="2" charset="2"/>
              <a:buChar char="Ø"/>
            </a:pPr>
            <a:r>
              <a:rPr sz="1200" spc="5" dirty="0">
                <a:solidFill>
                  <a:srgbClr val="FF0000"/>
                </a:solidFill>
                <a:cs typeface="Microsoft Sans Serif"/>
              </a:rPr>
              <a:t>Solve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the</a:t>
            </a:r>
            <a:r>
              <a:rPr sz="1200" spc="25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problems</a:t>
            </a:r>
            <a:r>
              <a:rPr sz="1200" spc="3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of</a:t>
            </a:r>
            <a:r>
              <a:rPr sz="1200" spc="25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vanishing</a:t>
            </a:r>
            <a:r>
              <a:rPr sz="1200" spc="25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gradients</a:t>
            </a:r>
            <a:r>
              <a:rPr sz="1200" spc="30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using</a:t>
            </a:r>
            <a:r>
              <a:rPr sz="1200" spc="25" dirty="0">
                <a:cs typeface="Microsoft Sans Serif"/>
              </a:rPr>
              <a:t> </a:t>
            </a:r>
            <a:r>
              <a:rPr sz="1200" spc="10" dirty="0">
                <a:cs typeface="Microsoft Sans Serif"/>
              </a:rPr>
              <a:t>Residual</a:t>
            </a:r>
            <a:r>
              <a:rPr sz="1200" spc="30" dirty="0">
                <a:cs typeface="Microsoft Sans Serif"/>
              </a:rPr>
              <a:t> </a:t>
            </a:r>
            <a:r>
              <a:rPr sz="1200" spc="5" dirty="0">
                <a:cs typeface="Microsoft Sans Serif"/>
              </a:rPr>
              <a:t>connections.</a:t>
            </a:r>
            <a:endParaRPr sz="120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5308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50" dirty="0">
                <a:latin typeface="Calibri"/>
                <a:cs typeface="Calibri"/>
              </a:rPr>
              <a:t>R</a:t>
            </a:r>
            <a:r>
              <a:rPr sz="1700" cap="small" spc="229" dirty="0">
                <a:latin typeface="Calibri"/>
                <a:cs typeface="Calibri"/>
              </a:rPr>
              <a:t>es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r>
              <a:rPr sz="1700" spc="325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400" dirty="0">
                <a:latin typeface="Calibri"/>
                <a:cs typeface="Calibri"/>
              </a:rPr>
              <a:t>B</a:t>
            </a:r>
            <a:r>
              <a:rPr sz="1700" cap="small" spc="300" dirty="0">
                <a:latin typeface="Calibri"/>
                <a:cs typeface="Calibri"/>
              </a:rPr>
              <a:t>lock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1176820"/>
            <a:ext cx="4961306" cy="1817205"/>
            <a:chOff x="359994" y="1176820"/>
            <a:chExt cx="4029061" cy="19855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901" y="1176820"/>
              <a:ext cx="3018154" cy="178688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9994" y="3162350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2100" y="547356"/>
            <a:ext cx="5334000" cy="385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>
              <a:lnSpc>
                <a:spcPct val="1147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What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happens</a:t>
            </a:r>
            <a:r>
              <a:rPr sz="1050" spc="25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when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continue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stacking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deeper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convolutional </a:t>
            </a:r>
            <a:r>
              <a:rPr sz="1050" spc="-26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neural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network?</a:t>
            </a:r>
            <a:endParaRPr sz="1050" dirty="0">
              <a:cs typeface="Microsoft Sans Serif"/>
            </a:endParaRPr>
          </a:p>
          <a:p>
            <a:pPr marL="184150" indent="-171450">
              <a:lnSpc>
                <a:spcPct val="100000"/>
              </a:lnSpc>
              <a:spcBef>
                <a:spcPts val="180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solidFill>
                  <a:srgbClr val="0000FF"/>
                </a:solidFill>
                <a:cs typeface="Microsoft Sans Serif"/>
              </a:rPr>
              <a:t>The</a:t>
            </a:r>
            <a:r>
              <a:rPr sz="1050" spc="25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10" dirty="0">
                <a:solidFill>
                  <a:srgbClr val="0000FF"/>
                </a:solidFill>
                <a:cs typeface="Microsoft Sans Serif"/>
              </a:rPr>
              <a:t>deeper</a:t>
            </a:r>
            <a:r>
              <a:rPr sz="1050" spc="25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10" dirty="0">
                <a:solidFill>
                  <a:srgbClr val="0000FF"/>
                </a:solidFill>
                <a:cs typeface="Microsoft Sans Serif"/>
              </a:rPr>
              <a:t>model</a:t>
            </a:r>
            <a:r>
              <a:rPr sz="1050" spc="30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10" dirty="0">
                <a:solidFill>
                  <a:srgbClr val="0000FF"/>
                </a:solidFill>
                <a:cs typeface="Microsoft Sans Serif"/>
              </a:rPr>
              <a:t>performs</a:t>
            </a:r>
            <a:r>
              <a:rPr sz="1050" spc="25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5" dirty="0">
                <a:solidFill>
                  <a:srgbClr val="0000FF"/>
                </a:solidFill>
                <a:cs typeface="Microsoft Sans Serif"/>
              </a:rPr>
              <a:t>worse,</a:t>
            </a:r>
            <a:r>
              <a:rPr sz="1050" spc="30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dirty="0">
                <a:solidFill>
                  <a:srgbClr val="0000FF"/>
                </a:solidFill>
                <a:cs typeface="Microsoft Sans Serif"/>
              </a:rPr>
              <a:t>but</a:t>
            </a:r>
            <a:r>
              <a:rPr sz="1050" spc="25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-10" dirty="0">
                <a:solidFill>
                  <a:srgbClr val="0000FF"/>
                </a:solidFill>
                <a:cs typeface="Microsoft Sans Serif"/>
              </a:rPr>
              <a:t>it’s</a:t>
            </a:r>
            <a:r>
              <a:rPr sz="1050" spc="30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10" dirty="0">
                <a:solidFill>
                  <a:srgbClr val="0000FF"/>
                </a:solidFill>
                <a:cs typeface="Microsoft Sans Serif"/>
              </a:rPr>
              <a:t>not</a:t>
            </a:r>
            <a:r>
              <a:rPr sz="1050" spc="25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spc="10" dirty="0">
                <a:solidFill>
                  <a:srgbClr val="0000FF"/>
                </a:solidFill>
                <a:cs typeface="Microsoft Sans Serif"/>
              </a:rPr>
              <a:t>caused</a:t>
            </a:r>
            <a:r>
              <a:rPr sz="1050" spc="25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dirty="0">
                <a:solidFill>
                  <a:srgbClr val="0000FF"/>
                </a:solidFill>
                <a:cs typeface="Microsoft Sans Serif"/>
              </a:rPr>
              <a:t>by</a:t>
            </a:r>
            <a:r>
              <a:rPr sz="1050" spc="30" dirty="0">
                <a:solidFill>
                  <a:srgbClr val="0000FF"/>
                </a:solidFill>
                <a:cs typeface="Microsoft Sans Serif"/>
              </a:rPr>
              <a:t> </a:t>
            </a:r>
            <a:r>
              <a:rPr sz="1050" dirty="0">
                <a:solidFill>
                  <a:srgbClr val="0000FF"/>
                </a:solidFill>
                <a:cs typeface="Microsoft Sans Serif"/>
              </a:rPr>
              <a:t>overfitting.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5308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50" dirty="0">
                <a:latin typeface="Calibri"/>
                <a:cs typeface="Calibri"/>
              </a:rPr>
              <a:t>R</a:t>
            </a:r>
            <a:r>
              <a:rPr sz="1700" cap="small" spc="229" dirty="0">
                <a:latin typeface="Calibri"/>
                <a:cs typeface="Calibri"/>
              </a:rPr>
              <a:t>es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r>
              <a:rPr sz="1700" spc="325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400" dirty="0">
                <a:latin typeface="Calibri"/>
                <a:cs typeface="Calibri"/>
              </a:rPr>
              <a:t>B</a:t>
            </a:r>
            <a:r>
              <a:rPr sz="1700" cap="small" spc="300" dirty="0">
                <a:latin typeface="Calibri"/>
                <a:cs typeface="Calibri"/>
              </a:rPr>
              <a:t>lock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1149261"/>
            <a:ext cx="4720247" cy="1898421"/>
            <a:chOff x="359994" y="1149261"/>
            <a:chExt cx="4720247" cy="1898421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691" y="1149261"/>
              <a:ext cx="4400550" cy="15513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2100" y="544195"/>
            <a:ext cx="5105400" cy="3729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95"/>
              </a:spcBef>
            </a:pPr>
            <a:r>
              <a:rPr sz="1050" spc="5" dirty="0">
                <a:cs typeface="Microsoft Sans Serif"/>
              </a:rPr>
              <a:t>Solution:</a:t>
            </a:r>
            <a:r>
              <a:rPr sz="1050" spc="100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Use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network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3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fit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3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residual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mapping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instead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3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directly</a:t>
            </a:r>
            <a:r>
              <a:rPr sz="1050" spc="3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trying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1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fit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desired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underlying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mapping.</a:t>
            </a:r>
            <a:endParaRPr sz="1050" dirty="0"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4546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50" dirty="0">
                <a:latin typeface="Calibri"/>
                <a:cs typeface="Calibri"/>
              </a:rPr>
              <a:t>R</a:t>
            </a:r>
            <a:r>
              <a:rPr sz="1700" cap="small" spc="229" dirty="0">
                <a:latin typeface="Calibri"/>
                <a:cs typeface="Calibri"/>
              </a:rPr>
              <a:t>es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89711"/>
            <a:ext cx="5113706" cy="2469515"/>
            <a:chOff x="359994" y="589711"/>
            <a:chExt cx="3611245" cy="24695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8794" y="589711"/>
              <a:ext cx="2182368" cy="22677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56077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71211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4546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50" dirty="0">
                <a:latin typeface="Calibri"/>
                <a:cs typeface="Calibri"/>
              </a:rPr>
              <a:t>R</a:t>
            </a:r>
            <a:r>
              <a:rPr sz="1700" cap="small" spc="229" dirty="0">
                <a:latin typeface="Calibri"/>
                <a:cs typeface="Calibri"/>
              </a:rPr>
              <a:t>es</a:t>
            </a:r>
            <a:r>
              <a:rPr sz="1700" spc="300" dirty="0">
                <a:latin typeface="Calibri"/>
                <a:cs typeface="Calibri"/>
              </a:rPr>
              <a:t>N</a:t>
            </a:r>
            <a:r>
              <a:rPr sz="1700" cap="small" spc="325" dirty="0">
                <a:latin typeface="Calibri"/>
                <a:cs typeface="Calibri"/>
              </a:rPr>
              <a:t>et</a:t>
            </a:r>
            <a:r>
              <a:rPr sz="1700" spc="325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245" dirty="0">
                <a:latin typeface="Calibri"/>
                <a:cs typeface="Calibri"/>
              </a:rPr>
              <a:t>M</a:t>
            </a:r>
            <a:r>
              <a:rPr sz="1700" cap="small" spc="235" dirty="0">
                <a:latin typeface="Calibri"/>
                <a:cs typeface="Calibri"/>
              </a:rPr>
              <a:t>odules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555625"/>
            <a:ext cx="5334000" cy="2438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85090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700" cap="small" spc="229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1700" spc="3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647" y="860425"/>
            <a:ext cx="4796790" cy="1905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4546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0" dirty="0"/>
              <a:t>R</a:t>
            </a:r>
            <a:r>
              <a:rPr cap="small" spc="229" dirty="0"/>
              <a:t>es</a:t>
            </a:r>
            <a:r>
              <a:rPr spc="300" dirty="0"/>
              <a:t>N</a:t>
            </a:r>
            <a:r>
              <a:rPr cap="small" spc="325" dirty="0"/>
              <a:t>et</a:t>
            </a:r>
            <a:r>
              <a:rPr spc="325" dirty="0"/>
              <a:t> </a:t>
            </a:r>
            <a:r>
              <a:rPr spc="-120" dirty="0"/>
              <a:t> </a:t>
            </a:r>
            <a:r>
              <a:rPr cap="small" spc="295" dirty="0"/>
              <a:t>a</a:t>
            </a:r>
            <a:r>
              <a:rPr cap="small" spc="235" dirty="0"/>
              <a:t>r</a:t>
            </a:r>
            <a:r>
              <a:rPr cap="small" spc="280" dirty="0"/>
              <a:t>chitecture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8300" y="479425"/>
            <a:ext cx="5181600" cy="26841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280"/>
              </a:spcBef>
              <a:buFont typeface="Wingdings" panose="05000000000000000000" pitchFamily="2" charset="2"/>
              <a:buChar char="Ø"/>
            </a:pPr>
            <a:r>
              <a:rPr sz="1050" spc="5" dirty="0">
                <a:cs typeface="Microsoft Sans Serif"/>
              </a:rPr>
              <a:t>Stack</a:t>
            </a:r>
            <a:r>
              <a:rPr sz="1050" spc="1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residual</a:t>
            </a:r>
            <a:r>
              <a:rPr sz="1050" spc="1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blocks</a:t>
            </a:r>
          </a:p>
          <a:p>
            <a:pPr marL="209550" indent="-171450">
              <a:lnSpc>
                <a:spcPct val="100000"/>
              </a:lnSpc>
              <a:spcBef>
                <a:spcPts val="18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Every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residual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block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has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two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3x3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</a:p>
          <a:p>
            <a:pPr marL="209550" marR="30480" indent="-171450">
              <a:lnSpc>
                <a:spcPct val="114700"/>
              </a:lnSpc>
              <a:buFont typeface="Wingdings" panose="05000000000000000000" pitchFamily="2" charset="2"/>
              <a:buChar char="Ø"/>
            </a:pPr>
            <a:r>
              <a:rPr sz="1050" spc="-5" dirty="0">
                <a:cs typeface="Microsoft Sans Serif"/>
              </a:rPr>
              <a:t>Periodically,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double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#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filters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and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downsample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spatially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using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stride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2. </a:t>
            </a:r>
            <a:r>
              <a:rPr sz="1050" spc="-2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Reduce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activation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volume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by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half.</a:t>
            </a:r>
          </a:p>
          <a:p>
            <a:pPr marL="209550" indent="-171450">
              <a:lnSpc>
                <a:spcPct val="100000"/>
              </a:lnSpc>
              <a:spcBef>
                <a:spcPts val="180"/>
              </a:spcBef>
              <a:buFont typeface="Wingdings" panose="05000000000000000000" pitchFamily="2" charset="2"/>
              <a:buChar char="Ø"/>
            </a:pPr>
            <a:r>
              <a:rPr sz="1050" spc="5" dirty="0">
                <a:cs typeface="Microsoft Sans Serif"/>
              </a:rPr>
              <a:t>Additional</a:t>
            </a:r>
            <a:r>
              <a:rPr sz="1050" spc="1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conv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layer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beginning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(stem).</a:t>
            </a:r>
            <a:endParaRPr sz="1050" dirty="0">
              <a:cs typeface="Microsoft Sans Serif"/>
            </a:endParaRPr>
          </a:p>
          <a:p>
            <a:pPr marL="209550" marR="757555" indent="-171450">
              <a:lnSpc>
                <a:spcPct val="111100"/>
              </a:lnSpc>
              <a:spcBef>
                <a:spcPts val="4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No FC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end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(only</a:t>
            </a:r>
            <a:r>
              <a:rPr sz="1050" spc="20" dirty="0">
                <a:cs typeface="Microsoft Sans Serif"/>
              </a:rPr>
              <a:t> </a:t>
            </a:r>
            <a:r>
              <a:rPr sz="1050" spc="15" dirty="0">
                <a:cs typeface="Microsoft Sans Serif"/>
              </a:rPr>
              <a:t>FC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1000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output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classes) </a:t>
            </a:r>
            <a:endParaRPr lang="en-US" sz="1050" spc="10" dirty="0">
              <a:cs typeface="Microsoft Sans Serif"/>
            </a:endParaRPr>
          </a:p>
          <a:p>
            <a:pPr marL="209550" marR="757555" indent="-171450">
              <a:lnSpc>
                <a:spcPct val="111100"/>
              </a:lnSpc>
              <a:spcBef>
                <a:spcPts val="45"/>
              </a:spcBef>
              <a:buFont typeface="Wingdings" panose="05000000000000000000" pitchFamily="2" charset="2"/>
              <a:buChar char="Ø"/>
            </a:pPr>
            <a:r>
              <a:rPr sz="1050" spc="-20" dirty="0">
                <a:cs typeface="Microsoft Sans Serif"/>
              </a:rPr>
              <a:t>Total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depths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18,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34,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50,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101,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152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layers</a:t>
            </a:r>
            <a:r>
              <a:rPr sz="1050" spc="20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for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ImageNet. </a:t>
            </a:r>
            <a:r>
              <a:rPr sz="1050" spc="-265" dirty="0">
                <a:cs typeface="Microsoft Sans Serif"/>
              </a:rPr>
              <a:t> </a:t>
            </a:r>
            <a:endParaRPr lang="en-US" sz="1050" spc="-265" dirty="0">
              <a:cs typeface="Microsoft Sans Serif"/>
            </a:endParaRPr>
          </a:p>
          <a:p>
            <a:pPr marL="209550" marR="757555" indent="-171450">
              <a:lnSpc>
                <a:spcPct val="111100"/>
              </a:lnSpc>
              <a:spcBef>
                <a:spcPts val="45"/>
              </a:spcBef>
              <a:buFont typeface="Wingdings" panose="05000000000000000000" pitchFamily="2" charset="2"/>
              <a:buChar char="Ø"/>
            </a:pPr>
            <a:r>
              <a:rPr sz="1050" spc="-10" dirty="0">
                <a:cs typeface="Microsoft Sans Serif"/>
              </a:rPr>
              <a:t>Training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ResNet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in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practice:</a:t>
            </a:r>
            <a:endParaRPr sz="1050" dirty="0"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195"/>
              </a:spcBef>
              <a:buFont typeface="Courier New" panose="02070309020205020404" pitchFamily="49" charset="0"/>
              <a:buChar char="o"/>
            </a:pPr>
            <a:r>
              <a:rPr sz="950" spc="15" dirty="0">
                <a:cs typeface="Microsoft Sans Serif"/>
              </a:rPr>
              <a:t>Batch Normalization </a:t>
            </a:r>
            <a:r>
              <a:rPr sz="950" spc="10" dirty="0">
                <a:cs typeface="Microsoft Sans Serif"/>
              </a:rPr>
              <a:t>after</a:t>
            </a:r>
            <a:r>
              <a:rPr sz="950" spc="2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every</a:t>
            </a:r>
            <a:r>
              <a:rPr sz="950" spc="15" dirty="0">
                <a:cs typeface="Microsoft Sans Serif"/>
              </a:rPr>
              <a:t> </a:t>
            </a:r>
            <a:r>
              <a:rPr sz="950" spc="20" dirty="0">
                <a:cs typeface="Microsoft Sans Serif"/>
              </a:rPr>
              <a:t>CONV</a:t>
            </a:r>
            <a:r>
              <a:rPr sz="950" spc="15" dirty="0">
                <a:cs typeface="Microsoft Sans Serif"/>
              </a:rPr>
              <a:t> </a:t>
            </a:r>
            <a:r>
              <a:rPr sz="950" dirty="0">
                <a:cs typeface="Microsoft Sans Serif"/>
              </a:rPr>
              <a:t>layer</a:t>
            </a: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10" dirty="0">
                <a:cs typeface="Microsoft Sans Serif"/>
              </a:rPr>
              <a:t>Xavier</a:t>
            </a:r>
            <a:r>
              <a:rPr sz="950" spc="2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initialization</a:t>
            </a:r>
            <a:r>
              <a:rPr sz="950" spc="15" dirty="0">
                <a:cs typeface="Microsoft Sans Serif"/>
              </a:rPr>
              <a:t> from</a:t>
            </a:r>
            <a:r>
              <a:rPr sz="950" spc="20" dirty="0">
                <a:cs typeface="Microsoft Sans Serif"/>
              </a:rPr>
              <a:t> He </a:t>
            </a:r>
            <a:r>
              <a:rPr sz="950" spc="10" dirty="0">
                <a:cs typeface="Microsoft Sans Serif"/>
              </a:rPr>
              <a:t>et</a:t>
            </a:r>
            <a:r>
              <a:rPr sz="950" spc="2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al.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20" dirty="0">
                <a:cs typeface="Microsoft Sans Serif"/>
              </a:rPr>
              <a:t>SGD</a:t>
            </a:r>
            <a:r>
              <a:rPr sz="950" spc="15" dirty="0">
                <a:cs typeface="Microsoft Sans Serif"/>
              </a:rPr>
              <a:t> + Momentum </a:t>
            </a:r>
            <a:r>
              <a:rPr sz="950" spc="10" dirty="0">
                <a:cs typeface="Microsoft Sans Serif"/>
              </a:rPr>
              <a:t>(0.9)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15" dirty="0">
                <a:cs typeface="Microsoft Sans Serif"/>
              </a:rPr>
              <a:t>Learning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rate:</a:t>
            </a:r>
            <a:r>
              <a:rPr sz="950" spc="9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0.1,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divided</a:t>
            </a:r>
            <a:r>
              <a:rPr sz="950" spc="25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by</a:t>
            </a:r>
            <a:r>
              <a:rPr sz="950" spc="25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10</a:t>
            </a:r>
            <a:r>
              <a:rPr sz="950" spc="25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when</a:t>
            </a:r>
            <a:r>
              <a:rPr sz="950" spc="30" dirty="0">
                <a:cs typeface="Microsoft Sans Serif"/>
              </a:rPr>
              <a:t> </a:t>
            </a:r>
            <a:r>
              <a:rPr sz="950" spc="5" dirty="0">
                <a:cs typeface="Microsoft Sans Serif"/>
              </a:rPr>
              <a:t>validation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error</a:t>
            </a:r>
            <a:r>
              <a:rPr sz="950" spc="2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plateaus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10" dirty="0">
                <a:cs typeface="Microsoft Sans Serif"/>
              </a:rPr>
              <a:t>Mini-batch </a:t>
            </a:r>
            <a:r>
              <a:rPr sz="950" spc="5" dirty="0">
                <a:cs typeface="Microsoft Sans Serif"/>
              </a:rPr>
              <a:t>size</a:t>
            </a:r>
            <a:r>
              <a:rPr sz="950" spc="15" dirty="0">
                <a:cs typeface="Microsoft Sans Serif"/>
              </a:rPr>
              <a:t> 256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10" dirty="0">
                <a:cs typeface="Microsoft Sans Serif"/>
              </a:rPr>
              <a:t>Weight</a:t>
            </a:r>
            <a:r>
              <a:rPr sz="950" spc="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decay</a:t>
            </a:r>
            <a:r>
              <a:rPr sz="950" spc="5" dirty="0">
                <a:cs typeface="Microsoft Sans Serif"/>
              </a:rPr>
              <a:t> </a:t>
            </a:r>
            <a:r>
              <a:rPr sz="950" spc="10" dirty="0">
                <a:cs typeface="Microsoft Sans Serif"/>
              </a:rPr>
              <a:t>of </a:t>
            </a:r>
            <a:r>
              <a:rPr sz="950" spc="15" dirty="0">
                <a:cs typeface="Microsoft Sans Serif"/>
              </a:rPr>
              <a:t>1e-5</a:t>
            </a:r>
            <a:endParaRPr sz="950" dirty="0">
              <a:cs typeface="Microsoft Sans Serif"/>
            </a:endParaRPr>
          </a:p>
          <a:p>
            <a:pPr marL="364490" indent="-171450">
              <a:lnSpc>
                <a:spcPct val="100000"/>
              </a:lnSpc>
              <a:spcBef>
                <a:spcPts val="215"/>
              </a:spcBef>
              <a:buFont typeface="Courier New" panose="02070309020205020404" pitchFamily="49" charset="0"/>
              <a:buChar char="o"/>
            </a:pPr>
            <a:r>
              <a:rPr sz="950" spc="20" dirty="0">
                <a:cs typeface="Microsoft Sans Serif"/>
              </a:rPr>
              <a:t>No</a:t>
            </a:r>
            <a:r>
              <a:rPr sz="950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dropout</a:t>
            </a:r>
            <a:r>
              <a:rPr sz="950" spc="5" dirty="0">
                <a:cs typeface="Microsoft Sans Serif"/>
              </a:rPr>
              <a:t> </a:t>
            </a:r>
            <a:r>
              <a:rPr sz="950" spc="15" dirty="0">
                <a:cs typeface="Microsoft Sans Serif"/>
              </a:rPr>
              <a:t>used</a:t>
            </a:r>
            <a:endParaRPr sz="9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225679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700" cap="small" spc="250" dirty="0">
                <a:solidFill>
                  <a:srgbClr val="FFFFFF"/>
                </a:solidFill>
                <a:latin typeface="Calibri"/>
                <a:cs typeface="Calibri"/>
              </a:rPr>
              <a:t>ffic</a:t>
            </a:r>
            <a:r>
              <a:rPr sz="1700" cap="small" spc="3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00" cap="small" spc="345" dirty="0">
                <a:solidFill>
                  <a:srgbClr val="FFFFFF"/>
                </a:solidFill>
                <a:latin typeface="Calibri"/>
                <a:cs typeface="Calibri"/>
              </a:rPr>
              <a:t>cy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19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700" cap="small" spc="3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700" cap="small" spc="229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1700" spc="3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cap="small" spc="3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55625"/>
            <a:ext cx="5089525" cy="2494610"/>
            <a:chOff x="359994" y="895045"/>
            <a:chExt cx="5089525" cy="2155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895045"/>
              <a:ext cx="5089525" cy="18091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50164"/>
            <a:ext cx="2151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95" dirty="0">
                <a:latin typeface="Calibri"/>
                <a:cs typeface="Calibri"/>
                <a:hlinkClick r:id="rId3"/>
              </a:rPr>
              <a:t>https://arxiv.org/abs/1512.03385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454223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45" dirty="0"/>
              <a:t>C</a:t>
            </a:r>
            <a:r>
              <a:rPr cap="small" spc="160" dirty="0"/>
              <a:t>om</a:t>
            </a:r>
            <a:r>
              <a:rPr cap="small" spc="140" dirty="0"/>
              <a:t>p</a:t>
            </a:r>
            <a:r>
              <a:rPr cap="small" spc="235" dirty="0"/>
              <a:t>aring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75" dirty="0"/>
              <a:t>complexity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5900" y="555625"/>
            <a:ext cx="5334000" cy="2514599"/>
            <a:chOff x="359994" y="758024"/>
            <a:chExt cx="4853940" cy="2140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341" y="758024"/>
              <a:ext cx="4667250" cy="17246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2895853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5308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445" dirty="0">
                <a:latin typeface="Calibri"/>
                <a:cs typeface="Calibri"/>
              </a:rPr>
              <a:t>C</a:t>
            </a:r>
            <a:r>
              <a:rPr sz="1700" cap="small" spc="160" dirty="0">
                <a:latin typeface="Calibri"/>
                <a:cs typeface="Calibri"/>
              </a:rPr>
              <a:t>om</a:t>
            </a:r>
            <a:r>
              <a:rPr sz="1700" cap="small" spc="140" dirty="0">
                <a:latin typeface="Calibri"/>
                <a:cs typeface="Calibri"/>
              </a:rPr>
              <a:t>p</a:t>
            </a:r>
            <a:r>
              <a:rPr sz="1700" cap="small" spc="235" dirty="0">
                <a:latin typeface="Calibri"/>
                <a:cs typeface="Calibri"/>
              </a:rPr>
              <a:t>aring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cap="small" spc="275" dirty="0">
                <a:latin typeface="Calibri"/>
                <a:cs typeface="Calibri"/>
              </a:rPr>
              <a:t>complexity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3702" y="1271015"/>
            <a:ext cx="69850" cy="955040"/>
            <a:chOff x="513702" y="1271015"/>
            <a:chExt cx="69850" cy="955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27101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92440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713852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35276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156688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4626" y="1136039"/>
            <a:ext cx="4125595" cy="113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85850">
              <a:lnSpc>
                <a:spcPct val="138400"/>
              </a:lnSpc>
              <a:spcBef>
                <a:spcPts val="95"/>
              </a:spcBef>
            </a:pPr>
            <a:r>
              <a:rPr sz="1050" spc="10" dirty="0">
                <a:latin typeface="Microsoft Sans Serif"/>
                <a:cs typeface="Microsoft Sans Serif"/>
              </a:rPr>
              <a:t>Inception-v4:</a:t>
            </a:r>
            <a:r>
              <a:rPr sz="1050" spc="8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Resnet</a:t>
            </a:r>
            <a:r>
              <a:rPr sz="1050" spc="15" dirty="0">
                <a:latin typeface="Microsoft Sans Serif"/>
                <a:cs typeface="Microsoft Sans Serif"/>
              </a:rPr>
              <a:t> + </a:t>
            </a:r>
            <a:r>
              <a:rPr sz="1050" spc="10" dirty="0">
                <a:latin typeface="Microsoft Sans Serif"/>
                <a:cs typeface="Microsoft Sans Serif"/>
              </a:rPr>
              <a:t>Inception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290" dirty="0">
                <a:latin typeface="Microsoft Sans Serif"/>
                <a:cs typeface="Microsoft Sans Serif"/>
              </a:rPr>
              <a:t>–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more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accuracy </a:t>
            </a:r>
            <a:r>
              <a:rPr sz="1050" spc="-26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VGG: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most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parameters,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most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operations </a:t>
            </a:r>
            <a:r>
              <a:rPr sz="1050" spc="10" dirty="0">
                <a:latin typeface="Microsoft Sans Serif"/>
                <a:cs typeface="Microsoft Sans Serif"/>
              </a:rPr>
              <a:t> GoogLeNet:</a:t>
            </a:r>
            <a:r>
              <a:rPr sz="1050" spc="8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most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efficient</a:t>
            </a:r>
            <a:endParaRPr sz="10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38400"/>
              </a:lnSpc>
            </a:pPr>
            <a:r>
              <a:rPr sz="1050" spc="5" dirty="0">
                <a:latin typeface="Microsoft Sans Serif"/>
                <a:cs typeface="Microsoft Sans Serif"/>
              </a:rPr>
              <a:t>AlexNet:</a:t>
            </a:r>
            <a:r>
              <a:rPr sz="1050" spc="8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Smaller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compute,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still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20" dirty="0">
                <a:latin typeface="Microsoft Sans Serif"/>
                <a:cs typeface="Microsoft Sans Serif"/>
              </a:rPr>
              <a:t>memory </a:t>
            </a:r>
            <a:r>
              <a:rPr sz="1050" spc="-10" dirty="0">
                <a:latin typeface="Microsoft Sans Serif"/>
                <a:cs typeface="Microsoft Sans Serif"/>
              </a:rPr>
              <a:t>heavy,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dirty="0">
                <a:latin typeface="Microsoft Sans Serif"/>
                <a:cs typeface="Microsoft Sans Serif"/>
              </a:rPr>
              <a:t>lower</a:t>
            </a:r>
            <a:r>
              <a:rPr sz="1050" spc="2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accuracy </a:t>
            </a:r>
            <a:r>
              <a:rPr sz="1050" spc="1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ResNet:</a:t>
            </a:r>
            <a:r>
              <a:rPr sz="1050" spc="9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Moderate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5" dirty="0">
                <a:latin typeface="Microsoft Sans Serif"/>
                <a:cs typeface="Microsoft Sans Serif"/>
              </a:rPr>
              <a:t>efficiency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depending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on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model,</a:t>
            </a:r>
            <a:r>
              <a:rPr sz="1050" spc="30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highest</a:t>
            </a:r>
            <a:r>
              <a:rPr sz="1050" spc="25" dirty="0">
                <a:latin typeface="Microsoft Sans Serif"/>
                <a:cs typeface="Microsoft Sans Serif"/>
              </a:rPr>
              <a:t> </a:t>
            </a:r>
            <a:r>
              <a:rPr sz="1050" spc="10" dirty="0">
                <a:latin typeface="Microsoft Sans Serif"/>
                <a:cs typeface="Microsoft Sans Serif"/>
              </a:rPr>
              <a:t>accuracy</a:t>
            </a:r>
            <a:endParaRPr sz="1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2161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60" dirty="0">
                <a:solidFill>
                  <a:srgbClr val="FFFFFF"/>
                </a:solidFill>
                <a:latin typeface="Calibri"/>
                <a:cs typeface="Calibri"/>
              </a:rPr>
              <a:t>ransfer</a:t>
            </a:r>
            <a:r>
              <a:rPr sz="17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9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700" cap="small" spc="235" dirty="0">
                <a:solidFill>
                  <a:srgbClr val="FFFFFF"/>
                </a:solidFill>
                <a:latin typeface="Calibri"/>
                <a:cs typeface="Calibri"/>
              </a:rPr>
              <a:t>earning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41312"/>
            <a:ext cx="5113706" cy="2538730"/>
            <a:chOff x="359994" y="541312"/>
            <a:chExt cx="4967605" cy="2538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493" y="541312"/>
              <a:ext cx="4938712" cy="25384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22409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Justin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Johnson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</a:t>
            </a:r>
            <a:r>
              <a:rPr sz="900" spc="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Serena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Yeung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2161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60" dirty="0">
                <a:solidFill>
                  <a:srgbClr val="FFFFFF"/>
                </a:solidFill>
                <a:latin typeface="Calibri"/>
                <a:cs typeface="Calibri"/>
              </a:rPr>
              <a:t>ransfer</a:t>
            </a:r>
            <a:r>
              <a:rPr sz="17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9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700" cap="small" spc="235" dirty="0">
                <a:solidFill>
                  <a:srgbClr val="FFFFFF"/>
                </a:solidFill>
                <a:latin typeface="Calibri"/>
                <a:cs typeface="Calibri"/>
              </a:rPr>
              <a:t>earning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50837"/>
            <a:ext cx="4958080" cy="2514600"/>
            <a:chOff x="359994" y="550837"/>
            <a:chExt cx="4958080" cy="251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018" y="550837"/>
              <a:ext cx="4919662" cy="2514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22409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Justin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Johnson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</a:t>
            </a:r>
            <a:r>
              <a:rPr sz="900" spc="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Serena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Yeung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54546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520" dirty="0">
                <a:latin typeface="Calibri"/>
                <a:cs typeface="Calibri"/>
              </a:rPr>
              <a:t>T</a:t>
            </a:r>
            <a:r>
              <a:rPr sz="1700" cap="small" spc="260" dirty="0">
                <a:latin typeface="Calibri"/>
                <a:cs typeface="Calibri"/>
              </a:rPr>
              <a:t>ransfer</a:t>
            </a:r>
            <a:r>
              <a:rPr sz="1700" spc="260" dirty="0">
                <a:latin typeface="Calibri"/>
                <a:cs typeface="Calibri"/>
              </a:rPr>
              <a:t> </a:t>
            </a:r>
            <a:r>
              <a:rPr sz="1700" spc="-120" dirty="0">
                <a:latin typeface="Calibri"/>
                <a:cs typeface="Calibri"/>
              </a:rPr>
              <a:t> </a:t>
            </a:r>
            <a:r>
              <a:rPr sz="1700" spc="459" dirty="0">
                <a:latin typeface="Calibri"/>
                <a:cs typeface="Calibri"/>
              </a:rPr>
              <a:t>L</a:t>
            </a:r>
            <a:r>
              <a:rPr sz="1700" cap="small" spc="235" dirty="0">
                <a:latin typeface="Calibri"/>
                <a:cs typeface="Calibri"/>
              </a:rPr>
              <a:t>earning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552742"/>
            <a:ext cx="4951095" cy="2510155"/>
            <a:chOff x="359994" y="552742"/>
            <a:chExt cx="4951095" cy="25101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68" y="552742"/>
              <a:ext cx="4905375" cy="25098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22409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Justin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Johnson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&amp;</a:t>
            </a:r>
            <a:r>
              <a:rPr sz="900" spc="1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Serena</a:t>
            </a:r>
            <a:r>
              <a:rPr sz="900" spc="1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Yeung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20" dirty="0"/>
              <a:t>T</a:t>
            </a:r>
            <a:r>
              <a:rPr cap="small" spc="260" dirty="0"/>
              <a:t>ransfer</a:t>
            </a:r>
            <a:r>
              <a:rPr spc="260" dirty="0"/>
              <a:t> </a:t>
            </a:r>
            <a:r>
              <a:rPr spc="-120" dirty="0"/>
              <a:t> </a:t>
            </a:r>
            <a:r>
              <a:rPr spc="459" dirty="0"/>
              <a:t>L</a:t>
            </a:r>
            <a:r>
              <a:rPr cap="small" spc="235" dirty="0"/>
              <a:t>earning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60" dirty="0"/>
              <a:t>f</a:t>
            </a:r>
            <a:r>
              <a:rPr cap="small" spc="250" dirty="0"/>
              <a:t>or</a:t>
            </a:r>
            <a:r>
              <a:rPr dirty="0"/>
              <a:t> </a:t>
            </a:r>
            <a:r>
              <a:rPr spc="-120" dirty="0"/>
              <a:t> </a:t>
            </a:r>
            <a:r>
              <a:rPr spc="265" dirty="0"/>
              <a:t>I</a:t>
            </a:r>
            <a:r>
              <a:rPr cap="small" spc="240" dirty="0"/>
              <a:t>m</a:t>
            </a:r>
            <a:r>
              <a:rPr cap="small" spc="120" dirty="0"/>
              <a:t>a</a:t>
            </a:r>
            <a:r>
              <a:rPr cap="small" spc="275" dirty="0"/>
              <a:t>ge</a:t>
            </a:r>
            <a:r>
              <a:rPr dirty="0"/>
              <a:t> </a:t>
            </a:r>
            <a:r>
              <a:rPr spc="-120" dirty="0"/>
              <a:t> </a:t>
            </a:r>
            <a:r>
              <a:rPr spc="325" dirty="0"/>
              <a:t>D</a:t>
            </a:r>
            <a:r>
              <a:rPr cap="small" spc="155" dirty="0"/>
              <a:t>a</a:t>
            </a:r>
            <a:r>
              <a:rPr cap="small" spc="235" dirty="0"/>
              <a:t>t</a:t>
            </a:r>
            <a:r>
              <a:rPr cap="small" spc="270" dirty="0"/>
              <a:t>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4626" y="1200441"/>
            <a:ext cx="4650105" cy="12758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>
              <a:lnSpc>
                <a:spcPct val="1147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5" dirty="0">
                <a:cs typeface="Microsoft Sans Serif"/>
              </a:rPr>
              <a:t>Use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deep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learning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model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that</a:t>
            </a:r>
            <a:r>
              <a:rPr sz="1050" spc="3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pre-trained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on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large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dataset</a:t>
            </a:r>
            <a:r>
              <a:rPr sz="1050" spc="3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like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ImageNet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or</a:t>
            </a:r>
            <a:r>
              <a:rPr sz="1050" spc="15" dirty="0">
                <a:cs typeface="Microsoft Sans Serif"/>
              </a:rPr>
              <a:t> MS</a:t>
            </a:r>
            <a:r>
              <a:rPr sz="1050" spc="2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Coco.</a:t>
            </a:r>
          </a:p>
          <a:p>
            <a:pPr marL="184150" marR="317182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5" dirty="0">
                <a:cs typeface="Microsoft Sans Serif"/>
              </a:rPr>
              <a:t>Oxford</a:t>
            </a:r>
            <a:r>
              <a:rPr sz="1050" spc="1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VGG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Model </a:t>
            </a:r>
            <a:r>
              <a:rPr sz="1050" spc="15" dirty="0">
                <a:cs typeface="Microsoft Sans Serif"/>
              </a:rPr>
              <a:t> </a:t>
            </a:r>
            <a:endParaRPr lang="en-US" sz="1050" spc="15" dirty="0">
              <a:cs typeface="Microsoft Sans Serif"/>
            </a:endParaRPr>
          </a:p>
          <a:p>
            <a:pPr marL="184150" marR="317182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Google Inception </a:t>
            </a:r>
            <a:endParaRPr lang="en-US" sz="1050" spc="10" dirty="0">
              <a:cs typeface="Microsoft Sans Serif"/>
            </a:endParaRPr>
          </a:p>
          <a:p>
            <a:pPr marL="184150" marR="317182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Model </a:t>
            </a:r>
            <a:r>
              <a:rPr sz="1050" spc="-26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Microsoft</a:t>
            </a:r>
            <a:r>
              <a:rPr sz="1050" spc="-10" dirty="0">
                <a:cs typeface="Microsoft Sans Serif"/>
              </a:rPr>
              <a:t> </a:t>
            </a:r>
            <a:endParaRPr lang="en-US" sz="1050" spc="-10" dirty="0">
              <a:cs typeface="Microsoft Sans Serif"/>
            </a:endParaRPr>
          </a:p>
          <a:p>
            <a:pPr marL="184150" marR="317182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10" dirty="0" err="1">
                <a:cs typeface="Microsoft Sans Serif"/>
              </a:rPr>
              <a:t>ResNet</a:t>
            </a:r>
            <a:r>
              <a:rPr sz="1050" spc="-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Model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20" dirty="0"/>
              <a:t>T</a:t>
            </a:r>
            <a:r>
              <a:rPr cap="small" spc="260" dirty="0"/>
              <a:t>ransfer</a:t>
            </a:r>
            <a:r>
              <a:rPr spc="260" dirty="0"/>
              <a:t> </a:t>
            </a:r>
            <a:r>
              <a:rPr spc="-120" dirty="0"/>
              <a:t> </a:t>
            </a:r>
            <a:r>
              <a:rPr spc="459" dirty="0"/>
              <a:t>L</a:t>
            </a:r>
            <a:r>
              <a:rPr cap="small" spc="235" dirty="0"/>
              <a:t>earning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60" dirty="0"/>
              <a:t>f</a:t>
            </a:r>
            <a:r>
              <a:rPr cap="small" spc="250" dirty="0"/>
              <a:t>or</a:t>
            </a:r>
            <a:r>
              <a:rPr dirty="0"/>
              <a:t> </a:t>
            </a:r>
            <a:r>
              <a:rPr spc="-120" dirty="0"/>
              <a:t> </a:t>
            </a:r>
            <a:r>
              <a:rPr spc="520" dirty="0"/>
              <a:t>T</a:t>
            </a:r>
            <a:r>
              <a:rPr cap="small" spc="335" dirty="0"/>
              <a:t>ext</a:t>
            </a:r>
            <a:r>
              <a:rPr dirty="0"/>
              <a:t> </a:t>
            </a:r>
            <a:r>
              <a:rPr spc="-120" dirty="0"/>
              <a:t> </a:t>
            </a:r>
            <a:r>
              <a:rPr spc="330" dirty="0"/>
              <a:t>D</a:t>
            </a:r>
            <a:r>
              <a:rPr cap="small" spc="155" dirty="0"/>
              <a:t>a</a:t>
            </a:r>
            <a:r>
              <a:rPr cap="small" spc="235" dirty="0"/>
              <a:t>t</a:t>
            </a:r>
            <a:r>
              <a:rPr cap="small" spc="270" dirty="0"/>
              <a:t>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8300" y="936625"/>
            <a:ext cx="4913731" cy="1278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>
              <a:lnSpc>
                <a:spcPct val="1147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Embedding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is</a:t>
            </a:r>
            <a:r>
              <a:rPr sz="1050" spc="1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the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mapping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of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words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to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a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high-dimensional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continuous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vector </a:t>
            </a:r>
            <a:r>
              <a:rPr sz="1050" spc="-26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space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where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different</a:t>
            </a:r>
            <a:r>
              <a:rPr sz="1050" spc="25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words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with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similar</a:t>
            </a:r>
            <a:r>
              <a:rPr sz="1050" spc="20" dirty="0">
                <a:cs typeface="Microsoft Sans Serif"/>
              </a:rPr>
              <a:t> </a:t>
            </a:r>
            <a:r>
              <a:rPr sz="1050" spc="10" dirty="0">
                <a:cs typeface="Microsoft Sans Serif"/>
              </a:rPr>
              <a:t>meanings</a:t>
            </a:r>
            <a:r>
              <a:rPr sz="1050" spc="25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have</a:t>
            </a:r>
            <a:r>
              <a:rPr sz="1050" spc="2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similar</a:t>
            </a:r>
            <a:r>
              <a:rPr sz="1050" spc="25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vector </a:t>
            </a:r>
            <a:r>
              <a:rPr sz="1050" spc="10" dirty="0">
                <a:cs typeface="Microsoft Sans Serif"/>
              </a:rPr>
              <a:t> </a:t>
            </a:r>
            <a:r>
              <a:rPr sz="1050" spc="5" dirty="0">
                <a:cs typeface="Microsoft Sans Serif"/>
              </a:rPr>
              <a:t>representations.</a:t>
            </a:r>
            <a:endParaRPr sz="1050" dirty="0">
              <a:cs typeface="Microsoft Sans Serif"/>
            </a:endParaRPr>
          </a:p>
          <a:p>
            <a:pPr marL="184150" marR="305625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dirty="0">
                <a:cs typeface="Microsoft Sans Serif"/>
              </a:rPr>
              <a:t>Google’s</a:t>
            </a:r>
            <a:r>
              <a:rPr sz="1050" spc="5" dirty="0">
                <a:cs typeface="Microsoft Sans Serif"/>
              </a:rPr>
              <a:t> word2vec</a:t>
            </a:r>
            <a:r>
              <a:rPr sz="1050" spc="10" dirty="0">
                <a:cs typeface="Microsoft Sans Serif"/>
              </a:rPr>
              <a:t> Model </a:t>
            </a:r>
            <a:endParaRPr lang="en-US" sz="1050" spc="10" dirty="0">
              <a:cs typeface="Microsoft Sans Serif"/>
            </a:endParaRPr>
          </a:p>
          <a:p>
            <a:pPr marL="184150" marR="305625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-260" dirty="0">
                <a:cs typeface="Microsoft Sans Serif"/>
              </a:rPr>
              <a:t> </a:t>
            </a:r>
            <a:r>
              <a:rPr sz="1050" dirty="0">
                <a:cs typeface="Microsoft Sans Serif"/>
              </a:rPr>
              <a:t>Stanford’s</a:t>
            </a:r>
            <a:r>
              <a:rPr sz="1050" spc="5" dirty="0">
                <a:cs typeface="Microsoft Sans Serif"/>
              </a:rPr>
              <a:t> </a:t>
            </a:r>
            <a:r>
              <a:rPr sz="1050" spc="-5" dirty="0">
                <a:cs typeface="Microsoft Sans Serif"/>
              </a:rPr>
              <a:t>GloVe</a:t>
            </a:r>
            <a:r>
              <a:rPr sz="1050" spc="10" dirty="0">
                <a:cs typeface="Microsoft Sans Serif"/>
              </a:rPr>
              <a:t> Model </a:t>
            </a:r>
            <a:r>
              <a:rPr sz="1050" spc="15" dirty="0">
                <a:cs typeface="Microsoft Sans Serif"/>
              </a:rPr>
              <a:t> </a:t>
            </a:r>
            <a:endParaRPr lang="en-US" sz="1050" spc="15" dirty="0">
              <a:cs typeface="Microsoft Sans Serif"/>
            </a:endParaRPr>
          </a:p>
          <a:p>
            <a:pPr marL="184150" marR="3056255" indent="-171450">
              <a:lnSpc>
                <a:spcPct val="138400"/>
              </a:lnSpc>
              <a:buFont typeface="Wingdings" panose="05000000000000000000" pitchFamily="2" charset="2"/>
              <a:buChar char="Ø"/>
            </a:pPr>
            <a:r>
              <a:rPr sz="1050" spc="-15" dirty="0" err="1">
                <a:cs typeface="Microsoft Sans Serif"/>
              </a:rPr>
              <a:t>FastText</a:t>
            </a:r>
            <a:endParaRPr sz="1050" dirty="0">
              <a:cs typeface="Microsoft Sans Serif"/>
            </a:endParaRPr>
          </a:p>
          <a:p>
            <a:pPr marL="184150" indent="-171450">
              <a:lnSpc>
                <a:spcPct val="100000"/>
              </a:lnSpc>
              <a:spcBef>
                <a:spcPts val="480"/>
              </a:spcBef>
              <a:buFont typeface="Wingdings" panose="05000000000000000000" pitchFamily="2" charset="2"/>
              <a:buChar char="Ø"/>
            </a:pPr>
            <a:r>
              <a:rPr sz="1050" spc="10" dirty="0">
                <a:cs typeface="Microsoft Sans Serif"/>
              </a:rPr>
              <a:t>Gensim</a:t>
            </a:r>
            <a:endParaRPr sz="1050" dirty="0"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5308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20" dirty="0"/>
              <a:t>T</a:t>
            </a:r>
            <a:r>
              <a:rPr cap="small" spc="260" dirty="0"/>
              <a:t>ransfer</a:t>
            </a:r>
            <a:r>
              <a:rPr spc="260" dirty="0"/>
              <a:t> </a:t>
            </a:r>
            <a:r>
              <a:rPr spc="-120" dirty="0"/>
              <a:t> </a:t>
            </a:r>
            <a:r>
              <a:rPr spc="459" dirty="0"/>
              <a:t>L</a:t>
            </a:r>
            <a:r>
              <a:rPr cap="small" spc="235" dirty="0"/>
              <a:t>earning</a:t>
            </a:r>
            <a:r>
              <a:rPr dirty="0"/>
              <a:t> </a:t>
            </a:r>
            <a:r>
              <a:rPr spc="-120" dirty="0"/>
              <a:t> </a:t>
            </a:r>
            <a:r>
              <a:rPr spc="125" dirty="0"/>
              <a:t>-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29" dirty="0"/>
              <a:t>when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75" dirty="0"/>
              <a:t>to</a:t>
            </a:r>
            <a:r>
              <a:rPr dirty="0"/>
              <a:t> </a:t>
            </a:r>
            <a:r>
              <a:rPr spc="-120" dirty="0"/>
              <a:t> </a:t>
            </a:r>
            <a:r>
              <a:rPr cap="small" spc="215" dirty="0"/>
              <a:t>use</a:t>
            </a:r>
            <a:r>
              <a:rPr spc="110" dirty="0"/>
              <a:t>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215901" y="1015732"/>
            <a:ext cx="5257800" cy="93102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18770" indent="-171450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</a:pPr>
            <a:r>
              <a:rPr sz="1100" spc="-40" dirty="0">
                <a:latin typeface="+mn-lt"/>
              </a:rPr>
              <a:t>You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need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a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lot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of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a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data</a:t>
            </a:r>
            <a:r>
              <a:rPr sz="1100" spc="20" dirty="0">
                <a:latin typeface="+mn-lt"/>
              </a:rPr>
              <a:t> </a:t>
            </a:r>
            <a:r>
              <a:rPr sz="1100" dirty="0">
                <a:latin typeface="+mn-lt"/>
              </a:rPr>
              <a:t>if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you</a:t>
            </a:r>
            <a:r>
              <a:rPr sz="1100" spc="20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want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to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train/use</a:t>
            </a:r>
            <a:r>
              <a:rPr sz="1100" spc="20" dirty="0">
                <a:latin typeface="+mn-lt"/>
              </a:rPr>
              <a:t> </a:t>
            </a:r>
            <a:r>
              <a:rPr sz="1100" spc="15" dirty="0">
                <a:latin typeface="+mn-lt"/>
              </a:rPr>
              <a:t>CNNs</a:t>
            </a:r>
            <a:r>
              <a:rPr sz="1100" spc="20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/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RNNs.</a:t>
            </a:r>
          </a:p>
          <a:p>
            <a:pPr marL="318770" marR="5080" indent="-171450">
              <a:lnSpc>
                <a:spcPct val="1147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sz="1100" spc="-20" dirty="0">
                <a:latin typeface="+mn-lt"/>
              </a:rPr>
              <a:t>Task</a:t>
            </a:r>
            <a:r>
              <a:rPr sz="1100" spc="20" dirty="0">
                <a:latin typeface="+mn-lt"/>
              </a:rPr>
              <a:t> </a:t>
            </a:r>
            <a:r>
              <a:rPr sz="1100" spc="15" dirty="0">
                <a:latin typeface="+mn-lt"/>
              </a:rPr>
              <a:t>A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and</a:t>
            </a:r>
            <a:r>
              <a:rPr sz="1100" spc="25" dirty="0">
                <a:latin typeface="+mn-lt"/>
              </a:rPr>
              <a:t> </a:t>
            </a:r>
            <a:r>
              <a:rPr sz="1100" spc="-20" dirty="0">
                <a:latin typeface="+mn-lt"/>
              </a:rPr>
              <a:t>Task</a:t>
            </a:r>
            <a:r>
              <a:rPr sz="1100" spc="20" dirty="0">
                <a:latin typeface="+mn-lt"/>
              </a:rPr>
              <a:t> </a:t>
            </a:r>
            <a:r>
              <a:rPr sz="1100" spc="15" dirty="0">
                <a:latin typeface="+mn-lt"/>
              </a:rPr>
              <a:t>B</a:t>
            </a:r>
            <a:r>
              <a:rPr sz="1100" spc="25" dirty="0">
                <a:latin typeface="+mn-lt"/>
              </a:rPr>
              <a:t> </a:t>
            </a:r>
            <a:r>
              <a:rPr sz="1100" dirty="0">
                <a:latin typeface="+mn-lt"/>
              </a:rPr>
              <a:t>have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the</a:t>
            </a:r>
            <a:r>
              <a:rPr sz="1100" spc="20" dirty="0">
                <a:latin typeface="+mn-lt"/>
              </a:rPr>
              <a:t> </a:t>
            </a:r>
            <a:r>
              <a:rPr sz="1100" spc="15" dirty="0">
                <a:latin typeface="+mn-lt"/>
              </a:rPr>
              <a:t>same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type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of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input.</a:t>
            </a:r>
            <a:r>
              <a:rPr sz="1100" spc="9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Eg:</a:t>
            </a:r>
            <a:r>
              <a:rPr sz="1100" spc="9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Input</a:t>
            </a:r>
            <a:r>
              <a:rPr sz="1100" spc="20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is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images</a:t>
            </a:r>
            <a:r>
              <a:rPr sz="1100" spc="25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for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both </a:t>
            </a:r>
            <a:r>
              <a:rPr sz="1100" spc="-26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tasks.</a:t>
            </a:r>
          </a:p>
          <a:p>
            <a:pPr marL="318770" marR="91440" indent="-171450">
              <a:lnSpc>
                <a:spcPct val="1147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sz="1100" dirty="0">
                <a:latin typeface="+mn-lt"/>
              </a:rPr>
              <a:t>We</a:t>
            </a:r>
            <a:r>
              <a:rPr sz="1100" spc="20" dirty="0">
                <a:latin typeface="+mn-lt"/>
              </a:rPr>
              <a:t> </a:t>
            </a:r>
            <a:r>
              <a:rPr sz="1100" dirty="0">
                <a:latin typeface="+mn-lt"/>
              </a:rPr>
              <a:t>have</a:t>
            </a:r>
            <a:r>
              <a:rPr sz="1100" spc="20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lot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of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data</a:t>
            </a:r>
            <a:r>
              <a:rPr sz="1100" spc="20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for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training</a:t>
            </a:r>
            <a:r>
              <a:rPr sz="1100" spc="20" dirty="0">
                <a:latin typeface="+mn-lt"/>
              </a:rPr>
              <a:t> </a:t>
            </a:r>
            <a:r>
              <a:rPr sz="1100" spc="-20" dirty="0">
                <a:latin typeface="+mn-lt"/>
              </a:rPr>
              <a:t>Task</a:t>
            </a:r>
            <a:r>
              <a:rPr sz="1100" spc="20" dirty="0">
                <a:latin typeface="+mn-lt"/>
              </a:rPr>
              <a:t> </a:t>
            </a:r>
            <a:r>
              <a:rPr sz="1100" spc="15" dirty="0">
                <a:latin typeface="+mn-lt"/>
              </a:rPr>
              <a:t>A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and</a:t>
            </a:r>
            <a:r>
              <a:rPr sz="1100" spc="20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relatively</a:t>
            </a:r>
            <a:r>
              <a:rPr sz="1100" spc="25" dirty="0">
                <a:latin typeface="+mn-lt"/>
              </a:rPr>
              <a:t> </a:t>
            </a:r>
            <a:r>
              <a:rPr sz="1100" dirty="0">
                <a:latin typeface="+mn-lt"/>
              </a:rPr>
              <a:t>low</a:t>
            </a:r>
            <a:r>
              <a:rPr sz="1100" spc="20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data</a:t>
            </a:r>
            <a:r>
              <a:rPr sz="1100" spc="20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for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training</a:t>
            </a:r>
            <a:r>
              <a:rPr sz="1100" spc="20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in </a:t>
            </a:r>
            <a:r>
              <a:rPr sz="1100" spc="-265" dirty="0">
                <a:latin typeface="+mn-lt"/>
              </a:rPr>
              <a:t> </a:t>
            </a:r>
            <a:r>
              <a:rPr sz="1100" spc="-20" dirty="0">
                <a:latin typeface="+mn-lt"/>
              </a:rPr>
              <a:t>Task</a:t>
            </a:r>
            <a:r>
              <a:rPr sz="1100" spc="15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B.</a:t>
            </a:r>
          </a:p>
          <a:p>
            <a:pPr marL="318770" marR="117475" indent="-171450">
              <a:lnSpc>
                <a:spcPct val="114700"/>
              </a:lnSpc>
              <a:spcBef>
                <a:spcPts val="295"/>
              </a:spcBef>
              <a:buFont typeface="Wingdings" panose="05000000000000000000" pitchFamily="2" charset="2"/>
              <a:buChar char="Ø"/>
            </a:pPr>
            <a:r>
              <a:rPr sz="1100" spc="5" dirty="0">
                <a:latin typeface="+mn-lt"/>
              </a:rPr>
              <a:t>Low</a:t>
            </a:r>
            <a:r>
              <a:rPr sz="1100" spc="20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level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features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obtained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from</a:t>
            </a:r>
            <a:r>
              <a:rPr sz="1100" spc="25" dirty="0">
                <a:latin typeface="+mn-lt"/>
              </a:rPr>
              <a:t> </a:t>
            </a:r>
            <a:r>
              <a:rPr sz="1100" spc="-20" dirty="0">
                <a:latin typeface="+mn-lt"/>
              </a:rPr>
              <a:t>Task</a:t>
            </a:r>
            <a:r>
              <a:rPr sz="1100" spc="25" dirty="0">
                <a:latin typeface="+mn-lt"/>
              </a:rPr>
              <a:t> </a:t>
            </a:r>
            <a:r>
              <a:rPr sz="1100" spc="15" dirty="0">
                <a:latin typeface="+mn-lt"/>
              </a:rPr>
              <a:t>A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could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be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more</a:t>
            </a:r>
            <a:r>
              <a:rPr sz="1100" spc="25" dirty="0">
                <a:latin typeface="+mn-lt"/>
              </a:rPr>
              <a:t> </a:t>
            </a:r>
            <a:r>
              <a:rPr sz="1100" spc="5" dirty="0">
                <a:latin typeface="+mn-lt"/>
              </a:rPr>
              <a:t>helpful</a:t>
            </a:r>
            <a:r>
              <a:rPr sz="1100" spc="25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for</a:t>
            </a:r>
            <a:r>
              <a:rPr sz="1100" spc="25" dirty="0">
                <a:latin typeface="+mn-lt"/>
              </a:rPr>
              <a:t> </a:t>
            </a:r>
            <a:r>
              <a:rPr sz="1100" spc="10" dirty="0">
                <a:latin typeface="+mn-lt"/>
              </a:rPr>
              <a:t>learning </a:t>
            </a:r>
            <a:r>
              <a:rPr sz="1100" spc="-265" dirty="0">
                <a:latin typeface="+mn-lt"/>
              </a:rPr>
              <a:t> </a:t>
            </a:r>
            <a:r>
              <a:rPr sz="1100" spc="-20" dirty="0">
                <a:latin typeface="+mn-lt"/>
              </a:rPr>
              <a:t>Task</a:t>
            </a:r>
            <a:r>
              <a:rPr sz="1100" spc="15" dirty="0">
                <a:latin typeface="+mn-lt"/>
              </a:rPr>
              <a:t> </a:t>
            </a:r>
            <a:r>
              <a:rPr sz="1100" spc="-5" dirty="0">
                <a:latin typeface="+mn-lt"/>
              </a:rPr>
              <a:t>B.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319468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260" dirty="0">
                <a:solidFill>
                  <a:srgbClr val="FFFFFF"/>
                </a:solidFill>
                <a:latin typeface="Calibri"/>
                <a:cs typeface="Calibri"/>
              </a:rPr>
              <a:t>ransfer</a:t>
            </a:r>
            <a:r>
              <a:rPr sz="1700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59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700" cap="small" spc="235" dirty="0">
                <a:solidFill>
                  <a:srgbClr val="FFFFFF"/>
                </a:solidFill>
                <a:latin typeface="Calibri"/>
                <a:cs typeface="Calibri"/>
              </a:rPr>
              <a:t>earning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44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700" cap="small" spc="270" dirty="0">
                <a:solidFill>
                  <a:srgbClr val="FFFFFF"/>
                </a:solidFill>
                <a:latin typeface="Calibri"/>
                <a:cs typeface="Calibri"/>
              </a:rPr>
              <a:t>xample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731634"/>
            <a:ext cx="5033645" cy="2319020"/>
            <a:chOff x="359994" y="731634"/>
            <a:chExt cx="5033645" cy="2319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318" y="731634"/>
              <a:ext cx="5027295" cy="19424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91536"/>
            <a:ext cx="18294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26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700" cap="small" spc="1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7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5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700" cap="small" spc="185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27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700" cap="small" spc="250" dirty="0">
                <a:solidFill>
                  <a:srgbClr val="FFFFFF"/>
                </a:solidFill>
                <a:latin typeface="Calibri"/>
                <a:cs typeface="Calibri"/>
              </a:rPr>
              <a:t>egment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2" y="1181861"/>
            <a:ext cx="169964" cy="169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959" y="118553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029" y="1117698"/>
            <a:ext cx="18935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00" dirty="0">
                <a:solidFill>
                  <a:srgbClr val="D6D6EF"/>
                </a:solidFill>
                <a:latin typeface="Calibri"/>
                <a:cs typeface="Calibri"/>
                <a:hlinkClick r:id="rId3" action="ppaction://hlinksldjump"/>
              </a:rPr>
              <a:t>CNN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1400" spc="355" dirty="0">
                <a:solidFill>
                  <a:srgbClr val="D6D6EF"/>
                </a:solidFill>
                <a:latin typeface="Calibri"/>
                <a:cs typeface="Calibri"/>
                <a:hlinkClick r:id="rId3" action="ppaction://hlinksldjump"/>
              </a:rPr>
              <a:t>A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3" action="ppaction://hlinksldjump"/>
              </a:rPr>
              <a:t>r</a:t>
            </a:r>
            <a:r>
              <a:rPr sz="1400" cap="small" spc="260" dirty="0">
                <a:solidFill>
                  <a:srgbClr val="D6D6EF"/>
                </a:solidFill>
                <a:latin typeface="Calibri"/>
                <a:cs typeface="Calibri"/>
                <a:hlinkClick r:id="rId3" action="ppaction://hlinksldjump"/>
              </a:rPr>
              <a:t>c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3" action="ppaction://hlinksldjump"/>
              </a:rPr>
              <a:t>hitectures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2" y="1700847"/>
            <a:ext cx="169964" cy="1699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7959" y="170451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FAFAFD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29" y="1636684"/>
            <a:ext cx="18059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4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T</a:t>
            </a:r>
            <a:r>
              <a:rPr sz="1400" cap="small" spc="229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ransfer</a:t>
            </a:r>
            <a:r>
              <a:rPr sz="1400" spc="229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400" spc="-95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1400" spc="39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L</a:t>
            </a:r>
            <a:r>
              <a:rPr sz="1400" cap="small" spc="210" dirty="0">
                <a:solidFill>
                  <a:srgbClr val="D6D6EF"/>
                </a:solidFill>
                <a:latin typeface="Calibri"/>
                <a:cs typeface="Calibri"/>
                <a:hlinkClick r:id="rId5" action="ppaction://hlinksldjump"/>
              </a:rPr>
              <a:t>earning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62" y="2219832"/>
            <a:ext cx="169964" cy="169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7959" y="22235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 dirty="0">
                <a:solidFill>
                  <a:srgbClr val="EAEAF7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029" y="2155682"/>
            <a:ext cx="16205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37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F</a:t>
            </a:r>
            <a:r>
              <a:rPr sz="1400" cap="small" spc="23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u</a:t>
            </a:r>
            <a:r>
              <a:rPr sz="1400" cap="small" spc="10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54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ther</a:t>
            </a:r>
            <a:r>
              <a:rPr sz="140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-9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sz="1400" spc="385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R</a:t>
            </a:r>
            <a:r>
              <a:rPr sz="1400" cap="small" spc="210" dirty="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eading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449" y="495388"/>
              <a:ext cx="4255008" cy="17434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101" y="455104"/>
              <a:ext cx="4951730" cy="22491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49" y="499351"/>
              <a:ext cx="4559808" cy="20035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281" y="439216"/>
              <a:ext cx="4657344" cy="21539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250"/>
            <a:ext cx="5737860" cy="3159760"/>
            <a:chOff x="0" y="80250"/>
            <a:chExt cx="5737860" cy="315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889" y="454317"/>
              <a:ext cx="4580128" cy="21701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9994" y="3047682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52272" y="3062817"/>
            <a:ext cx="1762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latin typeface="Microsoft Sans Serif"/>
                <a:cs typeface="Microsoft Sans Serif"/>
              </a:rPr>
              <a:t>Fei-Fei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Jiajun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Wu,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Ruohan</a:t>
            </a:r>
            <a:r>
              <a:rPr sz="900" spc="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Gao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7879"/>
            <a:ext cx="5454600" cy="335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50" dirty="0"/>
              <a:t>R</a:t>
            </a:r>
            <a:r>
              <a:rPr cap="small" spc="270" dirty="0"/>
              <a:t>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53591"/>
            <a:ext cx="5020945" cy="2296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5" dirty="0">
                <a:latin typeface="Microsoft Sans Serif"/>
                <a:cs typeface="Microsoft Sans Serif"/>
              </a:rPr>
              <a:t>Refer</a:t>
            </a:r>
            <a:r>
              <a:rPr sz="950" spc="15" dirty="0">
                <a:latin typeface="Microsoft Sans Serif"/>
                <a:cs typeface="Microsoft Sans Serif"/>
              </a:rPr>
              <a:t> Chapter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8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of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Dive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into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Deep Learning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book.</a:t>
            </a:r>
            <a:endParaRPr sz="950">
              <a:latin typeface="Microsoft Sans Serif"/>
              <a:cs typeface="Microsoft Sans Serif"/>
            </a:endParaRPr>
          </a:p>
          <a:p>
            <a:pPr marL="806450" marR="300355" indent="-594995">
              <a:lnSpc>
                <a:spcPct val="113999"/>
              </a:lnSpc>
              <a:spcBef>
                <a:spcPts val="775"/>
              </a:spcBef>
            </a:pPr>
            <a:r>
              <a:rPr sz="1100" spc="280" dirty="0">
                <a:solidFill>
                  <a:srgbClr val="3333B2"/>
                </a:solidFill>
                <a:latin typeface="Calibri"/>
                <a:cs typeface="Calibri"/>
              </a:rPr>
              <a:t>L</a:t>
            </a:r>
            <a:r>
              <a:rPr sz="1100" cap="small" spc="165" dirty="0">
                <a:solidFill>
                  <a:srgbClr val="3333B2"/>
                </a:solidFill>
                <a:latin typeface="Calibri"/>
                <a:cs typeface="Calibri"/>
              </a:rPr>
              <a:t>e</a:t>
            </a:r>
            <a:r>
              <a:rPr sz="1100" spc="175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1100" cap="small" spc="185" dirty="0">
                <a:solidFill>
                  <a:srgbClr val="3333B2"/>
                </a:solidFill>
                <a:latin typeface="Calibri"/>
                <a:cs typeface="Calibri"/>
              </a:rPr>
              <a:t>et</a:t>
            </a:r>
            <a:r>
              <a:rPr sz="1100" spc="40" dirty="0">
                <a:solidFill>
                  <a:srgbClr val="3333B2"/>
                </a:solidFill>
                <a:latin typeface="Calibri"/>
                <a:cs typeface="Calibri"/>
              </a:rPr>
              <a:t>5 </a:t>
            </a:r>
            <a:r>
              <a:rPr sz="1100" spc="9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: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spc="-120" dirty="0">
                <a:latin typeface="Microsoft Sans Serif"/>
                <a:cs typeface="Microsoft Sans Serif"/>
              </a:rPr>
              <a:t>Y</a:t>
            </a:r>
            <a:r>
              <a:rPr sz="950" spc="15" dirty="0">
                <a:latin typeface="Microsoft Sans Serif"/>
                <a:cs typeface="Microsoft Sans Serif"/>
              </a:rPr>
              <a:t>ann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Lecun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and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Leon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Bottou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and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-120" dirty="0">
                <a:latin typeface="Microsoft Sans Serif"/>
                <a:cs typeface="Microsoft Sans Serif"/>
              </a:rPr>
              <a:t>Y</a:t>
            </a:r>
            <a:r>
              <a:rPr sz="950" spc="15" dirty="0">
                <a:latin typeface="Microsoft Sans Serif"/>
                <a:cs typeface="Microsoft Sans Serif"/>
              </a:rPr>
              <a:t>oshua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Bengio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and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-20" dirty="0">
                <a:latin typeface="Microsoft Sans Serif"/>
                <a:cs typeface="Microsoft Sans Serif"/>
              </a:rPr>
              <a:t>P</a:t>
            </a:r>
            <a:r>
              <a:rPr sz="950" spc="10" dirty="0">
                <a:latin typeface="Microsoft Sans Serif"/>
                <a:cs typeface="Microsoft Sans Serif"/>
              </a:rPr>
              <a:t>at</a:t>
            </a:r>
            <a:r>
              <a:rPr sz="950" spc="20" dirty="0">
                <a:latin typeface="Microsoft Sans Serif"/>
                <a:cs typeface="Microsoft Sans Serif"/>
              </a:rPr>
              <a:t>r</a:t>
            </a:r>
            <a:r>
              <a:rPr sz="950" spc="5" dirty="0">
                <a:latin typeface="Microsoft Sans Serif"/>
                <a:cs typeface="Microsoft Sans Serif"/>
              </a:rPr>
              <a:t>i</a:t>
            </a:r>
            <a:r>
              <a:rPr sz="950" spc="-10" dirty="0">
                <a:latin typeface="Microsoft Sans Serif"/>
                <a:cs typeface="Microsoft Sans Serif"/>
              </a:rPr>
              <a:t>c</a:t>
            </a:r>
            <a:r>
              <a:rPr sz="950" spc="15" dirty="0">
                <a:latin typeface="Microsoft Sans Serif"/>
                <a:cs typeface="Microsoft Sans Serif"/>
              </a:rPr>
              <a:t>k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Haffne</a:t>
            </a:r>
            <a:r>
              <a:rPr sz="950" spc="-40" dirty="0">
                <a:latin typeface="Microsoft Sans Serif"/>
                <a:cs typeface="Microsoft Sans Serif"/>
              </a:rPr>
              <a:t>r</a:t>
            </a:r>
            <a:r>
              <a:rPr sz="950" spc="5" dirty="0">
                <a:latin typeface="Microsoft Sans Serif"/>
                <a:cs typeface="Microsoft Sans Serif"/>
              </a:rPr>
              <a:t>, </a:t>
            </a:r>
            <a:r>
              <a:rPr sz="950" spc="20" dirty="0">
                <a:latin typeface="Microsoft Sans Serif"/>
                <a:cs typeface="Microsoft Sans Serif"/>
              </a:rPr>
              <a:t>G</a:t>
            </a:r>
            <a:r>
              <a:rPr sz="950" dirty="0">
                <a:latin typeface="Microsoft Sans Serif"/>
                <a:cs typeface="Microsoft Sans Serif"/>
              </a:rPr>
              <a:t>r</a:t>
            </a:r>
            <a:r>
              <a:rPr sz="950" spc="10" dirty="0">
                <a:latin typeface="Microsoft Sans Serif"/>
                <a:cs typeface="Microsoft Sans Serif"/>
              </a:rPr>
              <a:t>adient-based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lea</a:t>
            </a:r>
            <a:r>
              <a:rPr sz="950" spc="25" dirty="0">
                <a:latin typeface="Microsoft Sans Serif"/>
                <a:cs typeface="Microsoft Sans Serif"/>
              </a:rPr>
              <a:t>r</a:t>
            </a:r>
            <a:r>
              <a:rPr sz="950" spc="10" dirty="0">
                <a:latin typeface="Microsoft Sans Serif"/>
                <a:cs typeface="Microsoft Sans Serif"/>
              </a:rPr>
              <a:t>ning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applied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to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document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recognition,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IEEE-1998</a:t>
            </a:r>
            <a:endParaRPr sz="950">
              <a:latin typeface="Microsoft Sans Serif"/>
              <a:cs typeface="Microsoft Sans Serif"/>
            </a:endParaRPr>
          </a:p>
          <a:p>
            <a:pPr marL="806450" marR="5080" indent="-692785">
              <a:lnSpc>
                <a:spcPct val="116399"/>
              </a:lnSpc>
              <a:spcBef>
                <a:spcPts val="745"/>
              </a:spcBef>
            </a:pPr>
            <a:r>
              <a:rPr sz="1100" spc="250" dirty="0">
                <a:solidFill>
                  <a:srgbClr val="3333B2"/>
                </a:solidFill>
                <a:latin typeface="Calibri"/>
                <a:cs typeface="Calibri"/>
              </a:rPr>
              <a:t>A</a:t>
            </a:r>
            <a:r>
              <a:rPr sz="1100" cap="small" spc="180" dirty="0">
                <a:solidFill>
                  <a:srgbClr val="3333B2"/>
                </a:solidFill>
                <a:latin typeface="Calibri"/>
                <a:cs typeface="Calibri"/>
              </a:rPr>
              <a:t>lex</a:t>
            </a:r>
            <a:r>
              <a:rPr sz="1100" spc="175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1100" cap="small" spc="185" dirty="0">
                <a:solidFill>
                  <a:srgbClr val="3333B2"/>
                </a:solidFill>
                <a:latin typeface="Calibri"/>
                <a:cs typeface="Calibri"/>
              </a:rPr>
              <a:t>et</a:t>
            </a:r>
            <a:r>
              <a:rPr sz="1100" spc="1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: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Imagenet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classification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with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deep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co</a:t>
            </a:r>
            <a:r>
              <a:rPr sz="950" spc="-5" dirty="0">
                <a:latin typeface="Microsoft Sans Serif"/>
                <a:cs typeface="Microsoft Sans Serif"/>
              </a:rPr>
              <a:t>n</a:t>
            </a:r>
            <a:r>
              <a:rPr sz="950" spc="-10" dirty="0">
                <a:latin typeface="Microsoft Sans Serif"/>
                <a:cs typeface="Microsoft Sans Serif"/>
              </a:rPr>
              <a:t>v</a:t>
            </a:r>
            <a:r>
              <a:rPr sz="950" spc="10" dirty="0">
                <a:latin typeface="Microsoft Sans Serif"/>
                <a:cs typeface="Microsoft Sans Serif"/>
              </a:rPr>
              <a:t>olutional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neu</a:t>
            </a:r>
            <a:r>
              <a:rPr sz="950" dirty="0">
                <a:latin typeface="Microsoft Sans Serif"/>
                <a:cs typeface="Microsoft Sans Serif"/>
              </a:rPr>
              <a:t>r</a:t>
            </a:r>
            <a:r>
              <a:rPr sz="950" spc="5" dirty="0">
                <a:latin typeface="Microsoft Sans Serif"/>
                <a:cs typeface="Microsoft Sans Serif"/>
              </a:rPr>
              <a:t>al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netw</a:t>
            </a:r>
            <a:r>
              <a:rPr sz="950" spc="15" dirty="0">
                <a:latin typeface="Microsoft Sans Serif"/>
                <a:cs typeface="Microsoft Sans Serif"/>
              </a:rPr>
              <a:t>o</a:t>
            </a:r>
            <a:r>
              <a:rPr sz="950" spc="20" dirty="0">
                <a:latin typeface="Microsoft Sans Serif"/>
                <a:cs typeface="Microsoft Sans Serif"/>
              </a:rPr>
              <a:t>r</a:t>
            </a:r>
            <a:r>
              <a:rPr sz="950" spc="15" dirty="0">
                <a:latin typeface="Microsoft Sans Serif"/>
                <a:cs typeface="Microsoft Sans Serif"/>
              </a:rPr>
              <a:t>k</a:t>
            </a:r>
            <a:r>
              <a:rPr sz="950" dirty="0">
                <a:latin typeface="Microsoft Sans Serif"/>
                <a:cs typeface="Microsoft Sans Serif"/>
              </a:rPr>
              <a:t>s</a:t>
            </a:r>
            <a:r>
              <a:rPr sz="950" spc="5" dirty="0">
                <a:latin typeface="Microsoft Sans Serif"/>
                <a:cs typeface="Microsoft Sans Serif"/>
              </a:rPr>
              <a:t>, </a:t>
            </a:r>
            <a:r>
              <a:rPr sz="950" spc="20" dirty="0">
                <a:latin typeface="Microsoft Sans Serif"/>
                <a:cs typeface="Microsoft Sans Serif"/>
              </a:rPr>
              <a:t>Kr</a:t>
            </a:r>
            <a:r>
              <a:rPr sz="950" spc="10" dirty="0">
                <a:latin typeface="Microsoft Sans Serif"/>
                <a:cs typeface="Microsoft Sans Serif"/>
              </a:rPr>
              <a:t>izh</a:t>
            </a:r>
            <a:r>
              <a:rPr sz="950" spc="-15" dirty="0">
                <a:latin typeface="Microsoft Sans Serif"/>
                <a:cs typeface="Microsoft Sans Serif"/>
              </a:rPr>
              <a:t>e</a:t>
            </a:r>
            <a:r>
              <a:rPr sz="950" spc="15" dirty="0">
                <a:latin typeface="Microsoft Sans Serif"/>
                <a:cs typeface="Microsoft Sans Serif"/>
              </a:rPr>
              <a:t>vsk</a:t>
            </a:r>
            <a:r>
              <a:rPr sz="950" spc="-85" dirty="0">
                <a:latin typeface="Microsoft Sans Serif"/>
                <a:cs typeface="Microsoft Sans Serif"/>
              </a:rPr>
              <a:t>y</a:t>
            </a:r>
            <a:r>
              <a:rPr sz="950" spc="5" dirty="0">
                <a:latin typeface="Microsoft Sans Serif"/>
                <a:cs typeface="Microsoft Sans Serif"/>
              </a:rPr>
              <a:t>,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Al</a:t>
            </a:r>
            <a:r>
              <a:rPr sz="950" spc="-15" dirty="0">
                <a:latin typeface="Microsoft Sans Serif"/>
                <a:cs typeface="Microsoft Sans Serif"/>
              </a:rPr>
              <a:t>e</a:t>
            </a:r>
            <a:r>
              <a:rPr sz="950" spc="15" dirty="0">
                <a:latin typeface="Microsoft Sans Serif"/>
                <a:cs typeface="Microsoft Sans Serif"/>
              </a:rPr>
              <a:t>x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and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Suts</a:t>
            </a:r>
            <a:r>
              <a:rPr sz="950" spc="-5" dirty="0">
                <a:latin typeface="Microsoft Sans Serif"/>
                <a:cs typeface="Microsoft Sans Serif"/>
              </a:rPr>
              <a:t>k</a:t>
            </a:r>
            <a:r>
              <a:rPr sz="950" spc="-15" dirty="0">
                <a:latin typeface="Microsoft Sans Serif"/>
                <a:cs typeface="Microsoft Sans Serif"/>
              </a:rPr>
              <a:t>e</a:t>
            </a:r>
            <a:r>
              <a:rPr sz="950" spc="-10" dirty="0">
                <a:latin typeface="Microsoft Sans Serif"/>
                <a:cs typeface="Microsoft Sans Serif"/>
              </a:rPr>
              <a:t>v</a:t>
            </a:r>
            <a:r>
              <a:rPr sz="950" spc="15" dirty="0">
                <a:latin typeface="Microsoft Sans Serif"/>
                <a:cs typeface="Microsoft Sans Serif"/>
              </a:rPr>
              <a:t>e</a:t>
            </a:r>
            <a:r>
              <a:rPr sz="950" spc="-40" dirty="0">
                <a:latin typeface="Microsoft Sans Serif"/>
                <a:cs typeface="Microsoft Sans Serif"/>
              </a:rPr>
              <a:t>r</a:t>
            </a:r>
            <a:r>
              <a:rPr sz="950" spc="5" dirty="0">
                <a:latin typeface="Microsoft Sans Serif"/>
                <a:cs typeface="Microsoft Sans Serif"/>
              </a:rPr>
              <a:t>,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Il</a:t>
            </a:r>
            <a:r>
              <a:rPr sz="950" spc="-10" dirty="0">
                <a:latin typeface="Microsoft Sans Serif"/>
                <a:cs typeface="Microsoft Sans Serif"/>
              </a:rPr>
              <a:t>y</a:t>
            </a:r>
            <a:r>
              <a:rPr sz="950" spc="15" dirty="0">
                <a:latin typeface="Microsoft Sans Serif"/>
                <a:cs typeface="Microsoft Sans Serif"/>
              </a:rPr>
              <a:t>a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and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Hinton,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Geoffr</a:t>
            </a:r>
            <a:r>
              <a:rPr sz="950" spc="-5" dirty="0">
                <a:latin typeface="Microsoft Sans Serif"/>
                <a:cs typeface="Microsoft Sans Serif"/>
              </a:rPr>
              <a:t>e</a:t>
            </a:r>
            <a:r>
              <a:rPr sz="950" spc="15" dirty="0">
                <a:latin typeface="Microsoft Sans Serif"/>
                <a:cs typeface="Microsoft Sans Serif"/>
              </a:rPr>
              <a:t>y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E,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In: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Ad</a:t>
            </a:r>
            <a:r>
              <a:rPr sz="950" spc="-10" dirty="0">
                <a:latin typeface="Microsoft Sans Serif"/>
                <a:cs typeface="Microsoft Sans Serif"/>
              </a:rPr>
              <a:t>v</a:t>
            </a:r>
            <a:r>
              <a:rPr sz="950" spc="15" dirty="0">
                <a:latin typeface="Microsoft Sans Serif"/>
                <a:cs typeface="Microsoft Sans Serif"/>
              </a:rPr>
              <a:t>ances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in </a:t>
            </a:r>
            <a:r>
              <a:rPr sz="950" spc="15" dirty="0">
                <a:latin typeface="Microsoft Sans Serif"/>
                <a:cs typeface="Microsoft Sans Serif"/>
              </a:rPr>
              <a:t>neu</a:t>
            </a:r>
            <a:r>
              <a:rPr sz="950" dirty="0">
                <a:latin typeface="Microsoft Sans Serif"/>
                <a:cs typeface="Microsoft Sans Serif"/>
              </a:rPr>
              <a:t>r</a:t>
            </a:r>
            <a:r>
              <a:rPr sz="950" spc="5" dirty="0">
                <a:latin typeface="Microsoft Sans Serif"/>
                <a:cs typeface="Microsoft Sans Serif"/>
              </a:rPr>
              <a:t>al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in</a:t>
            </a:r>
            <a:r>
              <a:rPr sz="950" spc="-25" dirty="0">
                <a:latin typeface="Microsoft Sans Serif"/>
                <a:cs typeface="Microsoft Sans Serif"/>
              </a:rPr>
              <a:t>f</a:t>
            </a:r>
            <a:r>
              <a:rPr sz="950" spc="15" dirty="0">
                <a:latin typeface="Microsoft Sans Serif"/>
                <a:cs typeface="Microsoft Sans Serif"/>
              </a:rPr>
              <a:t>o</a:t>
            </a:r>
            <a:r>
              <a:rPr sz="950" spc="30" dirty="0">
                <a:latin typeface="Microsoft Sans Serif"/>
                <a:cs typeface="Microsoft Sans Serif"/>
              </a:rPr>
              <a:t>r</a:t>
            </a:r>
            <a:r>
              <a:rPr sz="950" spc="10" dirty="0">
                <a:latin typeface="Microsoft Sans Serif"/>
                <a:cs typeface="Microsoft Sans Serif"/>
              </a:rPr>
              <a:t>mation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processing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system</a:t>
            </a:r>
            <a:r>
              <a:rPr sz="950" dirty="0">
                <a:latin typeface="Microsoft Sans Serif"/>
                <a:cs typeface="Microsoft Sans Serif"/>
              </a:rPr>
              <a:t>s</a:t>
            </a:r>
            <a:r>
              <a:rPr sz="950" spc="5" dirty="0">
                <a:latin typeface="Microsoft Sans Serif"/>
                <a:cs typeface="Microsoft Sans Serif"/>
              </a:rPr>
              <a:t>,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NIPS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2012</a:t>
            </a:r>
            <a:endParaRPr sz="950">
              <a:latin typeface="Microsoft Sans Serif"/>
              <a:cs typeface="Microsoft Sans Serif"/>
            </a:endParaRPr>
          </a:p>
          <a:p>
            <a:pPr marL="806450" marR="386080" indent="-572135">
              <a:lnSpc>
                <a:spcPct val="113999"/>
              </a:lnSpc>
              <a:spcBef>
                <a:spcPts val="780"/>
              </a:spcBef>
            </a:pPr>
            <a:r>
              <a:rPr sz="1100" spc="155" dirty="0">
                <a:solidFill>
                  <a:srgbClr val="3333B2"/>
                </a:solidFill>
                <a:latin typeface="Calibri"/>
                <a:cs typeface="Calibri"/>
              </a:rPr>
              <a:t>VGG16</a:t>
            </a:r>
            <a:r>
              <a:rPr sz="1100" spc="35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:</a:t>
            </a:r>
            <a:r>
              <a:rPr sz="950" spc="9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Simonyan,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Karen,</a:t>
            </a:r>
            <a:r>
              <a:rPr sz="950" spc="25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and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Andrew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Zisserman.</a:t>
            </a:r>
            <a:r>
              <a:rPr sz="950" spc="90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”Very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deep</a:t>
            </a:r>
            <a:r>
              <a:rPr sz="950" spc="30" dirty="0">
                <a:latin typeface="Microsoft Sans Serif"/>
                <a:cs typeface="Microsoft Sans Serif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convolutional </a:t>
            </a:r>
            <a:r>
              <a:rPr sz="950" spc="-24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networks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for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large-scale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image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recognition.”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160" dirty="0">
                <a:solidFill>
                  <a:srgbClr val="3333B2"/>
                </a:solidFill>
                <a:latin typeface="Calibri"/>
                <a:cs typeface="Calibri"/>
              </a:rPr>
              <a:t>I</a:t>
            </a:r>
            <a:r>
              <a:rPr sz="1100" cap="small" spc="130" dirty="0">
                <a:solidFill>
                  <a:srgbClr val="3333B2"/>
                </a:solidFill>
                <a:latin typeface="Calibri"/>
                <a:cs typeface="Calibri"/>
              </a:rPr>
              <a:t>nception</a:t>
            </a:r>
            <a:r>
              <a:rPr sz="1100" spc="13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-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cap="small" spc="155" dirty="0">
                <a:solidFill>
                  <a:srgbClr val="3333B2"/>
                </a:solidFill>
                <a:latin typeface="Calibri"/>
                <a:cs typeface="Calibri"/>
              </a:rPr>
              <a:t>v</a:t>
            </a:r>
            <a:r>
              <a:rPr sz="1100" spc="40" dirty="0">
                <a:solidFill>
                  <a:srgbClr val="3333B2"/>
                </a:solidFill>
                <a:latin typeface="Calibri"/>
                <a:cs typeface="Calibri"/>
              </a:rPr>
              <a:t>1</a:t>
            </a:r>
            <a:r>
              <a:rPr sz="110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: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Going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deeper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with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co</a:t>
            </a:r>
            <a:r>
              <a:rPr sz="950" spc="-5" dirty="0">
                <a:latin typeface="Microsoft Sans Serif"/>
                <a:cs typeface="Microsoft Sans Serif"/>
              </a:rPr>
              <a:t>n</a:t>
            </a:r>
            <a:r>
              <a:rPr sz="950" spc="-10" dirty="0">
                <a:latin typeface="Microsoft Sans Serif"/>
                <a:cs typeface="Microsoft Sans Serif"/>
              </a:rPr>
              <a:t>v</a:t>
            </a:r>
            <a:r>
              <a:rPr sz="950" spc="10" dirty="0">
                <a:latin typeface="Microsoft Sans Serif"/>
                <a:cs typeface="Microsoft Sans Serif"/>
              </a:rPr>
              <a:t>olution</a:t>
            </a:r>
            <a:r>
              <a:rPr sz="950" spc="-5" dirty="0">
                <a:latin typeface="Microsoft Sans Serif"/>
                <a:cs typeface="Microsoft Sans Serif"/>
              </a:rPr>
              <a:t>s</a:t>
            </a:r>
            <a:r>
              <a:rPr sz="950" spc="5" dirty="0">
                <a:latin typeface="Microsoft Sans Serif"/>
                <a:cs typeface="Microsoft Sans Serif"/>
              </a:rPr>
              <a:t>,</a:t>
            </a:r>
            <a:r>
              <a:rPr sz="950" spc="20" dirty="0">
                <a:latin typeface="Microsoft Sans Serif"/>
                <a:cs typeface="Microsoft Sans Serif"/>
              </a:rPr>
              <a:t> S</a:t>
            </a:r>
            <a:r>
              <a:rPr sz="950" dirty="0">
                <a:latin typeface="Microsoft Sans Serif"/>
                <a:cs typeface="Microsoft Sans Serif"/>
              </a:rPr>
              <a:t>z</a:t>
            </a:r>
            <a:r>
              <a:rPr sz="950" spc="15" dirty="0">
                <a:latin typeface="Microsoft Sans Serif"/>
                <a:cs typeface="Microsoft Sans Serif"/>
              </a:rPr>
              <a:t>eged</a:t>
            </a:r>
            <a:r>
              <a:rPr sz="950" spc="-85" dirty="0">
                <a:latin typeface="Microsoft Sans Serif"/>
                <a:cs typeface="Microsoft Sans Serif"/>
              </a:rPr>
              <a:t>y</a:t>
            </a:r>
            <a:r>
              <a:rPr sz="950" spc="5" dirty="0">
                <a:latin typeface="Microsoft Sans Serif"/>
                <a:cs typeface="Microsoft Sans Serif"/>
              </a:rPr>
              <a:t>,</a:t>
            </a:r>
            <a:r>
              <a:rPr sz="950" spc="20" dirty="0">
                <a:latin typeface="Microsoft Sans Serif"/>
                <a:cs typeface="Microsoft Sans Serif"/>
              </a:rPr>
              <a:t> Chr</a:t>
            </a:r>
            <a:r>
              <a:rPr sz="950" spc="10" dirty="0">
                <a:latin typeface="Microsoft Sans Serif"/>
                <a:cs typeface="Microsoft Sans Serif"/>
              </a:rPr>
              <a:t>istian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et.al</a:t>
            </a:r>
            <a:r>
              <a:rPr sz="950" spc="20" dirty="0">
                <a:latin typeface="Microsoft Sans Serif"/>
                <a:cs typeface="Microsoft Sans Serif"/>
              </a:rPr>
              <a:t> CVPR </a:t>
            </a:r>
            <a:r>
              <a:rPr sz="950" spc="15" dirty="0">
                <a:latin typeface="Microsoft Sans Serif"/>
                <a:cs typeface="Microsoft Sans Serif"/>
              </a:rPr>
              <a:t>2015</a:t>
            </a:r>
            <a:endParaRPr sz="950">
              <a:latin typeface="Microsoft Sans Serif"/>
              <a:cs typeface="Microsoft Sans Serif"/>
            </a:endParaRPr>
          </a:p>
          <a:p>
            <a:pPr marL="208915">
              <a:lnSpc>
                <a:spcPct val="100000"/>
              </a:lnSpc>
              <a:spcBef>
                <a:spcPts val="930"/>
              </a:spcBef>
            </a:pPr>
            <a:r>
              <a:rPr sz="1100" spc="275" dirty="0">
                <a:solidFill>
                  <a:srgbClr val="3333B2"/>
                </a:solidFill>
                <a:latin typeface="Calibri"/>
                <a:cs typeface="Calibri"/>
              </a:rPr>
              <a:t>R</a:t>
            </a:r>
            <a:r>
              <a:rPr sz="1100" cap="small" spc="125" dirty="0">
                <a:solidFill>
                  <a:srgbClr val="3333B2"/>
                </a:solidFill>
                <a:latin typeface="Calibri"/>
                <a:cs typeface="Calibri"/>
              </a:rPr>
              <a:t>es</a:t>
            </a:r>
            <a:r>
              <a:rPr sz="1100" spc="175" dirty="0">
                <a:solidFill>
                  <a:srgbClr val="3333B2"/>
                </a:solidFill>
                <a:latin typeface="Calibri"/>
                <a:cs typeface="Calibri"/>
              </a:rPr>
              <a:t>N</a:t>
            </a:r>
            <a:r>
              <a:rPr sz="1100" cap="small" spc="185" dirty="0">
                <a:solidFill>
                  <a:srgbClr val="3333B2"/>
                </a:solidFill>
                <a:latin typeface="Calibri"/>
                <a:cs typeface="Calibri"/>
              </a:rPr>
              <a:t>et</a:t>
            </a:r>
            <a:r>
              <a:rPr sz="1100" spc="185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1100" spc="90" dirty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sz="950" spc="5" dirty="0">
                <a:latin typeface="Microsoft Sans Serif"/>
                <a:cs typeface="Microsoft Sans Serif"/>
              </a:rPr>
              <a:t>: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Deep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residual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lea</a:t>
            </a:r>
            <a:r>
              <a:rPr sz="950" spc="25" dirty="0">
                <a:latin typeface="Microsoft Sans Serif"/>
                <a:cs typeface="Microsoft Sans Serif"/>
              </a:rPr>
              <a:t>r</a:t>
            </a:r>
            <a:r>
              <a:rPr sz="950" spc="10" dirty="0">
                <a:latin typeface="Microsoft Sans Serif"/>
                <a:cs typeface="Microsoft Sans Serif"/>
              </a:rPr>
              <a:t>ning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-25" dirty="0">
                <a:latin typeface="Microsoft Sans Serif"/>
                <a:cs typeface="Microsoft Sans Serif"/>
              </a:rPr>
              <a:t>f</a:t>
            </a:r>
            <a:r>
              <a:rPr sz="950" spc="10" dirty="0">
                <a:latin typeface="Microsoft Sans Serif"/>
                <a:cs typeface="Microsoft Sans Serif"/>
              </a:rPr>
              <a:t>or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image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0" dirty="0">
                <a:latin typeface="Microsoft Sans Serif"/>
                <a:cs typeface="Microsoft Sans Serif"/>
              </a:rPr>
              <a:t>recognition,</a:t>
            </a:r>
            <a:r>
              <a:rPr sz="950" spc="20" dirty="0">
                <a:latin typeface="Microsoft Sans Serif"/>
                <a:cs typeface="Microsoft Sans Serif"/>
              </a:rPr>
              <a:t> He </a:t>
            </a:r>
            <a:r>
              <a:rPr sz="950" spc="10" dirty="0">
                <a:latin typeface="Microsoft Sans Serif"/>
                <a:cs typeface="Microsoft Sans Serif"/>
              </a:rPr>
              <a:t>et.al</a:t>
            </a:r>
            <a:r>
              <a:rPr sz="950" spc="20" dirty="0">
                <a:latin typeface="Microsoft Sans Serif"/>
                <a:cs typeface="Microsoft Sans Serif"/>
              </a:rPr>
              <a:t> </a:t>
            </a:r>
            <a:r>
              <a:rPr sz="950" spc="15" dirty="0">
                <a:latin typeface="Microsoft Sans Serif"/>
                <a:cs typeface="Microsoft Sans Serif"/>
              </a:rPr>
              <a:t>CVPR-2016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"/>
            <a:ext cx="5759866" cy="323990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</TotalTime>
  <Words>1500</Words>
  <Application>Microsoft Office PowerPoint</Application>
  <PresentationFormat>Custom</PresentationFormat>
  <Paragraphs>189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Cambria</vt:lpstr>
      <vt:lpstr>Courier New</vt:lpstr>
      <vt:lpstr>Microsoft Sans Serif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LeNet  5</vt:lpstr>
      <vt:lpstr>PowerPoint Presentation</vt:lpstr>
      <vt:lpstr>PowerPoint Presentation</vt:lpstr>
      <vt:lpstr>PowerPoint Presentation</vt:lpstr>
      <vt:lpstr>PowerPoint Presentation</vt:lpstr>
      <vt:lpstr>AlexNet</vt:lpstr>
      <vt:lpstr>AlexNet  Architecture</vt:lpstr>
      <vt:lpstr>PowerPoint Presentation</vt:lpstr>
      <vt:lpstr>VGG 16</vt:lpstr>
      <vt:lpstr>PowerPoint Presentation</vt:lpstr>
      <vt:lpstr>Network  in  Network</vt:lpstr>
      <vt:lpstr>Network  in  Network</vt:lpstr>
      <vt:lpstr>PowerPoint Presentation</vt:lpstr>
      <vt:lpstr>GoogLeNet  /  Inception  Net</vt:lpstr>
      <vt:lpstr>PowerPoint Presentation</vt:lpstr>
      <vt:lpstr>PowerPoint Presentation</vt:lpstr>
      <vt:lpstr>Inception  Net  Module</vt:lpstr>
      <vt:lpstr>Residual  Net  (ResNet)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ResNet  architecture</vt:lpstr>
      <vt:lpstr>PowerPoint Presentation</vt:lpstr>
      <vt:lpstr>Comparing  complexity</vt:lpstr>
      <vt:lpstr>PowerPoint Presentation</vt:lpstr>
      <vt:lpstr>PowerPoint Presentation</vt:lpstr>
      <vt:lpstr>PowerPoint Presentation</vt:lpstr>
      <vt:lpstr>PowerPoint Presentation</vt:lpstr>
      <vt:lpstr>Transfer  Learning  for  Image  Data</vt:lpstr>
      <vt:lpstr>Transfer  Learning  for  Text  Data</vt:lpstr>
      <vt:lpstr>Transfer  Learning  -  when  to  use?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YVK</dc:creator>
  <cp:lastModifiedBy>Manish Mishra</cp:lastModifiedBy>
  <cp:revision>17</cp:revision>
  <dcterms:created xsi:type="dcterms:W3CDTF">2023-02-20T08:15:37Z</dcterms:created>
  <dcterms:modified xsi:type="dcterms:W3CDTF">2024-10-02T10:33:14Z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2023-02-20T00:00:00Z</vt:filetime>
  </property>
</Properties>
</file>