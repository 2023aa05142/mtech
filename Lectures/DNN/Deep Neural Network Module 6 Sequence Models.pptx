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5765800" cy="3244850"/>
  <p:notesSz cx="5765800" cy="3244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3" d="100"/>
          <a:sy n="213" d="100"/>
        </p:scale>
        <p:origin x="876" y="1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91536"/>
            <a:ext cx="5575198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0250"/>
            <a:ext cx="5737326" cy="31597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91536"/>
            <a:ext cx="5575198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8833" y="1024346"/>
            <a:ext cx="5028133" cy="1442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41.xml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12" Type="http://schemas.openxmlformats.org/officeDocument/2006/relationships/slide" Target="slide3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slide" Target="slide33.xml"/><Relationship Id="rId5" Type="http://schemas.openxmlformats.org/officeDocument/2006/relationships/image" Target="../media/image9.png"/><Relationship Id="rId10" Type="http://schemas.openxmlformats.org/officeDocument/2006/relationships/slide" Target="slide21.xml"/><Relationship Id="rId4" Type="http://schemas.openxmlformats.org/officeDocument/2006/relationships/image" Target="../media/image8.png"/><Relationship Id="rId9" Type="http://schemas.openxmlformats.org/officeDocument/2006/relationships/slide" Target="slide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41.xml"/><Relationship Id="rId3" Type="http://schemas.openxmlformats.org/officeDocument/2006/relationships/image" Target="../media/image11.png"/><Relationship Id="rId7" Type="http://schemas.openxmlformats.org/officeDocument/2006/relationships/slide" Target="slide9.xml"/><Relationship Id="rId12" Type="http://schemas.openxmlformats.org/officeDocument/2006/relationships/slide" Target="slide3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slide" Target="slide33.xml"/><Relationship Id="rId5" Type="http://schemas.openxmlformats.org/officeDocument/2006/relationships/image" Target="../media/image7.png"/><Relationship Id="rId10" Type="http://schemas.openxmlformats.org/officeDocument/2006/relationships/slide" Target="slide21.xml"/><Relationship Id="rId4" Type="http://schemas.openxmlformats.org/officeDocument/2006/relationships/image" Target="../media/image9.png"/><Relationship Id="rId9" Type="http://schemas.openxmlformats.org/officeDocument/2006/relationships/slide" Target="slide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41.xml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12" Type="http://schemas.openxmlformats.org/officeDocument/2006/relationships/slide" Target="slide3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slide" Target="slide33.xml"/><Relationship Id="rId5" Type="http://schemas.openxmlformats.org/officeDocument/2006/relationships/image" Target="../media/image9.png"/><Relationship Id="rId10" Type="http://schemas.openxmlformats.org/officeDocument/2006/relationships/slide" Target="slide21.xml"/><Relationship Id="rId4" Type="http://schemas.openxmlformats.org/officeDocument/2006/relationships/image" Target="../media/image6.png"/><Relationship Id="rId9" Type="http://schemas.openxmlformats.org/officeDocument/2006/relationships/slide" Target="slide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41.xml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12" Type="http://schemas.openxmlformats.org/officeDocument/2006/relationships/slide" Target="slide3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slide" Target="slide33.xml"/><Relationship Id="rId5" Type="http://schemas.openxmlformats.org/officeDocument/2006/relationships/image" Target="../media/image9.png"/><Relationship Id="rId10" Type="http://schemas.openxmlformats.org/officeDocument/2006/relationships/slide" Target="slide21.xml"/><Relationship Id="rId4" Type="http://schemas.openxmlformats.org/officeDocument/2006/relationships/image" Target="../media/image6.png"/><Relationship Id="rId9" Type="http://schemas.openxmlformats.org/officeDocument/2006/relationships/slide" Target="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7.png"/><Relationship Id="rId7" Type="http://schemas.openxmlformats.org/officeDocument/2006/relationships/slide" Target="slide13.xml"/><Relationship Id="rId12" Type="http://schemas.openxmlformats.org/officeDocument/2006/relationships/slide" Target="slide4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37.xml"/><Relationship Id="rId5" Type="http://schemas.openxmlformats.org/officeDocument/2006/relationships/slide" Target="slide4.xml"/><Relationship Id="rId10" Type="http://schemas.openxmlformats.org/officeDocument/2006/relationships/slide" Target="slide33.xml"/><Relationship Id="rId4" Type="http://schemas.openxmlformats.org/officeDocument/2006/relationships/image" Target="../media/image18.png"/><Relationship Id="rId9" Type="http://schemas.openxmlformats.org/officeDocument/2006/relationships/slide" Target="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41.xml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12" Type="http://schemas.openxmlformats.org/officeDocument/2006/relationships/slide" Target="slide3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slide" Target="slide33.xml"/><Relationship Id="rId5" Type="http://schemas.openxmlformats.org/officeDocument/2006/relationships/image" Target="../media/image6.png"/><Relationship Id="rId10" Type="http://schemas.openxmlformats.org/officeDocument/2006/relationships/slide" Target="slide21.xml"/><Relationship Id="rId4" Type="http://schemas.openxmlformats.org/officeDocument/2006/relationships/image" Target="../media/image9.png"/><Relationship Id="rId9" Type="http://schemas.openxmlformats.org/officeDocument/2006/relationships/slide" Target="slide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41.xml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12" Type="http://schemas.openxmlformats.org/officeDocument/2006/relationships/slide" Target="slide3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slide" Target="slide33.xml"/><Relationship Id="rId5" Type="http://schemas.openxmlformats.org/officeDocument/2006/relationships/image" Target="../media/image11.png"/><Relationship Id="rId10" Type="http://schemas.openxmlformats.org/officeDocument/2006/relationships/slide" Target="slide21.xml"/><Relationship Id="rId4" Type="http://schemas.openxmlformats.org/officeDocument/2006/relationships/image" Target="../media/image9.png"/><Relationship Id="rId9" Type="http://schemas.openxmlformats.org/officeDocument/2006/relationships/slide" Target="slide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41.xml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12" Type="http://schemas.openxmlformats.org/officeDocument/2006/relationships/slide" Target="slide3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slide" Target="slide33.xml"/><Relationship Id="rId5" Type="http://schemas.openxmlformats.org/officeDocument/2006/relationships/image" Target="../media/image6.png"/><Relationship Id="rId10" Type="http://schemas.openxmlformats.org/officeDocument/2006/relationships/slide" Target="slide21.xml"/><Relationship Id="rId4" Type="http://schemas.openxmlformats.org/officeDocument/2006/relationships/image" Target="../media/image9.png"/><Relationship Id="rId9" Type="http://schemas.openxmlformats.org/officeDocument/2006/relationships/slide" Target="slide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livebook.manning.com/book/deep-learning-with-python/" TargetMode="External"/><Relationship Id="rId4" Type="http://schemas.openxmlformats.org/officeDocument/2006/relationships/hyperlink" Target="https://www.deeplearningbook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"/>
            <a:ext cx="5760085" cy="3240405"/>
            <a:chOff x="0" y="4"/>
            <a:chExt cx="5760085" cy="3240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"/>
              <a:ext cx="5759866" cy="32399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62533" y="1244355"/>
              <a:ext cx="3145155" cy="681355"/>
            </a:xfrm>
            <a:custGeom>
              <a:avLst/>
              <a:gdLst/>
              <a:ahLst/>
              <a:cxnLst/>
              <a:rect l="l" t="t" r="r" b="b"/>
              <a:pathLst>
                <a:path w="3145154" h="681355">
                  <a:moveTo>
                    <a:pt x="3144979" y="0"/>
                  </a:moveTo>
                  <a:lnTo>
                    <a:pt x="0" y="0"/>
                  </a:lnTo>
                  <a:lnTo>
                    <a:pt x="0" y="680834"/>
                  </a:lnTo>
                  <a:lnTo>
                    <a:pt x="3144979" y="680834"/>
                  </a:lnTo>
                  <a:lnTo>
                    <a:pt x="3144979" y="0"/>
                  </a:lnTo>
                  <a:close/>
                </a:path>
              </a:pathLst>
            </a:custGeom>
            <a:solidFill>
              <a:srgbClr val="201D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62533" y="1244355"/>
              <a:ext cx="3145155" cy="681355"/>
            </a:xfrm>
            <a:custGeom>
              <a:avLst/>
              <a:gdLst/>
              <a:ahLst/>
              <a:cxnLst/>
              <a:rect l="l" t="t" r="r" b="b"/>
              <a:pathLst>
                <a:path w="3145154" h="681355">
                  <a:moveTo>
                    <a:pt x="0" y="680834"/>
                  </a:moveTo>
                  <a:lnTo>
                    <a:pt x="0" y="0"/>
                  </a:lnTo>
                  <a:lnTo>
                    <a:pt x="3144979" y="0"/>
                  </a:lnTo>
                  <a:lnTo>
                    <a:pt x="3144979" y="680834"/>
                  </a:lnTo>
                  <a:lnTo>
                    <a:pt x="0" y="68083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62533" y="1244355"/>
              <a:ext cx="3145155" cy="681355"/>
            </a:xfrm>
            <a:custGeom>
              <a:avLst/>
              <a:gdLst/>
              <a:ahLst/>
              <a:cxnLst/>
              <a:rect l="l" t="t" r="r" b="b"/>
              <a:pathLst>
                <a:path w="3145154" h="681355">
                  <a:moveTo>
                    <a:pt x="0" y="680834"/>
                  </a:moveTo>
                  <a:lnTo>
                    <a:pt x="0" y="0"/>
                  </a:lnTo>
                  <a:lnTo>
                    <a:pt x="3144979" y="0"/>
                  </a:lnTo>
                  <a:lnTo>
                    <a:pt x="3144979" y="680834"/>
                  </a:lnTo>
                  <a:lnTo>
                    <a:pt x="0" y="680834"/>
                  </a:lnTo>
                  <a:close/>
                </a:path>
              </a:pathLst>
            </a:custGeom>
            <a:ln w="5060">
              <a:solidFill>
                <a:srgbClr val="201D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60003" y="1241825"/>
            <a:ext cx="3150235" cy="686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89"/>
              </a:lnSpc>
            </a:pPr>
            <a:r>
              <a:rPr sz="1700" spc="85" dirty="0">
                <a:solidFill>
                  <a:srgbClr val="FFFFFF"/>
                </a:solidFill>
                <a:latin typeface="Cambria"/>
                <a:cs typeface="Cambria"/>
              </a:rPr>
              <a:t>D</a:t>
            </a:r>
            <a:r>
              <a:rPr sz="1350" spc="85" dirty="0">
                <a:solidFill>
                  <a:srgbClr val="FFFFFF"/>
                </a:solidFill>
                <a:latin typeface="Cambria"/>
                <a:cs typeface="Cambria"/>
              </a:rPr>
              <a:t>EEP</a:t>
            </a:r>
            <a:r>
              <a:rPr sz="1350" spc="2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FFFFFF"/>
                </a:solidFill>
                <a:latin typeface="Cambria"/>
                <a:cs typeface="Cambria"/>
              </a:rPr>
              <a:t>L</a:t>
            </a:r>
            <a:r>
              <a:rPr sz="1350" spc="114" dirty="0">
                <a:solidFill>
                  <a:srgbClr val="FFFFFF"/>
                </a:solidFill>
                <a:latin typeface="Cambria"/>
                <a:cs typeface="Cambria"/>
              </a:rPr>
              <a:t>EARNING</a:t>
            </a:r>
            <a:endParaRPr sz="1350">
              <a:latin typeface="Cambria"/>
              <a:cs typeface="Cambria"/>
            </a:endParaRPr>
          </a:p>
          <a:p>
            <a:pPr marL="158115" marR="150495" algn="ctr">
              <a:lnSpc>
                <a:spcPts val="1440"/>
              </a:lnSpc>
              <a:spcBef>
                <a:spcPts val="100"/>
              </a:spcBef>
            </a:pPr>
            <a:r>
              <a:rPr sz="1400" spc="100" dirty="0">
                <a:solidFill>
                  <a:srgbClr val="FFFFFF"/>
                </a:solidFill>
                <a:latin typeface="Cambria"/>
                <a:cs typeface="Cambria"/>
              </a:rPr>
              <a:t>M</a:t>
            </a:r>
            <a:r>
              <a:rPr sz="1150" spc="100" dirty="0">
                <a:solidFill>
                  <a:srgbClr val="FFFFFF"/>
                </a:solidFill>
                <a:latin typeface="Cambria"/>
                <a:cs typeface="Cambria"/>
              </a:rPr>
              <a:t>ODULE</a:t>
            </a:r>
            <a:r>
              <a:rPr sz="1150" spc="20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200" dirty="0">
                <a:solidFill>
                  <a:srgbClr val="FFFFFF"/>
                </a:solidFill>
                <a:latin typeface="Cambria"/>
                <a:cs typeface="Cambria"/>
              </a:rPr>
              <a:t>#</a:t>
            </a:r>
            <a:r>
              <a:rPr sz="14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14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1400" spc="2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Cambria"/>
                <a:cs typeface="Cambria"/>
              </a:rPr>
              <a:t>R</a:t>
            </a:r>
            <a:r>
              <a:rPr sz="1150" spc="90" dirty="0">
                <a:solidFill>
                  <a:srgbClr val="FFFFFF"/>
                </a:solidFill>
                <a:latin typeface="Cambria"/>
                <a:cs typeface="Cambria"/>
              </a:rPr>
              <a:t>ECURRENT</a:t>
            </a:r>
            <a:r>
              <a:rPr sz="1150" spc="20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Cambria"/>
                <a:cs typeface="Cambria"/>
              </a:rPr>
              <a:t>N</a:t>
            </a:r>
            <a:r>
              <a:rPr sz="1150" spc="80" dirty="0">
                <a:solidFill>
                  <a:srgbClr val="FFFFFF"/>
                </a:solidFill>
                <a:latin typeface="Cambria"/>
                <a:cs typeface="Cambria"/>
              </a:rPr>
              <a:t>EURAL </a:t>
            </a:r>
            <a:r>
              <a:rPr sz="1150" spc="-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Cambria"/>
                <a:cs typeface="Cambria"/>
              </a:rPr>
              <a:t>N</a:t>
            </a:r>
            <a:r>
              <a:rPr sz="1150" spc="80" dirty="0">
                <a:solidFill>
                  <a:srgbClr val="FFFFFF"/>
                </a:solidFill>
                <a:latin typeface="Cambria"/>
                <a:cs typeface="Cambria"/>
              </a:rPr>
              <a:t>ETWORK</a:t>
            </a:r>
            <a:r>
              <a:rPr sz="1150" spc="2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140" dirty="0">
                <a:solidFill>
                  <a:srgbClr val="FFFFFF"/>
                </a:solidFill>
                <a:latin typeface="Cambria"/>
                <a:cs typeface="Cambria"/>
              </a:rPr>
              <a:t>[RNN]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0250"/>
            <a:ext cx="5737860" cy="3159760"/>
            <a:chOff x="0" y="80250"/>
            <a:chExt cx="5737860" cy="3159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169466"/>
              <a:ext cx="69291" cy="692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90878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612303"/>
              <a:ext cx="69291" cy="6929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47294" y="813065"/>
            <a:ext cx="4907280" cy="1094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80" marR="1925955" indent="-297815">
              <a:lnSpc>
                <a:spcPct val="138400"/>
              </a:lnSpc>
              <a:spcBef>
                <a:spcPts val="95"/>
              </a:spcBef>
            </a:pPr>
            <a:r>
              <a:rPr sz="1050" spc="10" dirty="0">
                <a:latin typeface="Microsoft Sans Serif"/>
                <a:cs typeface="Microsoft Sans Serif"/>
              </a:rPr>
              <a:t>In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feedforward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convolutional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neural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networks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size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input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always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fixed.</a:t>
            </a: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spc="10" dirty="0">
                <a:latin typeface="Microsoft Sans Serif"/>
                <a:cs typeface="Microsoft Sans Serif"/>
              </a:rPr>
              <a:t>Each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input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to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network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independent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previous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or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future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inputs.</a:t>
            </a:r>
            <a:endParaRPr sz="1050" dirty="0">
              <a:latin typeface="Microsoft Sans Serif"/>
              <a:cs typeface="Microsoft Sans Serif"/>
            </a:endParaRPr>
          </a:p>
          <a:p>
            <a:pPr marL="309880" marR="5080">
              <a:lnSpc>
                <a:spcPct val="114700"/>
              </a:lnSpc>
              <a:spcBef>
                <a:spcPts val="300"/>
              </a:spcBef>
            </a:pP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computations,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outputs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decisions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-5" dirty="0">
                <a:latin typeface="Microsoft Sans Serif"/>
                <a:cs typeface="Microsoft Sans Serif"/>
              </a:rPr>
              <a:t>for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two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successive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inputs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/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images </a:t>
            </a:r>
            <a:r>
              <a:rPr sz="1050" spc="-26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are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completely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independent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each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other.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0250"/>
            <a:ext cx="5737860" cy="3159760"/>
            <a:chOff x="0" y="80250"/>
            <a:chExt cx="5737860" cy="3159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939279"/>
              <a:ext cx="69291" cy="692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344155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749031"/>
              <a:ext cx="69291" cy="6929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47294" y="582878"/>
            <a:ext cx="2233930" cy="18288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50" spc="10" dirty="0">
                <a:latin typeface="Microsoft Sans Serif"/>
                <a:cs typeface="Microsoft Sans Serif"/>
              </a:rPr>
              <a:t>This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not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true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many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applications.</a:t>
            </a:r>
            <a:endParaRPr sz="1050">
              <a:latin typeface="Microsoft Sans Serif"/>
              <a:cs typeface="Microsoft Sans Serif"/>
            </a:endParaRPr>
          </a:p>
          <a:p>
            <a:pPr marL="309880" marR="322580">
              <a:lnSpc>
                <a:spcPct val="114700"/>
              </a:lnSpc>
              <a:spcBef>
                <a:spcPts val="300"/>
              </a:spcBef>
            </a:pP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size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input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not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always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fixed.</a:t>
            </a:r>
            <a:endParaRPr sz="1050">
              <a:latin typeface="Microsoft Sans Serif"/>
              <a:cs typeface="Microsoft Sans Serif"/>
            </a:endParaRPr>
          </a:p>
          <a:p>
            <a:pPr marL="309880" marR="115570">
              <a:lnSpc>
                <a:spcPct val="114700"/>
              </a:lnSpc>
              <a:spcBef>
                <a:spcPts val="300"/>
              </a:spcBef>
            </a:pPr>
            <a:r>
              <a:rPr sz="1050" spc="5" dirty="0">
                <a:latin typeface="Microsoft Sans Serif"/>
                <a:cs typeface="Microsoft Sans Serif"/>
              </a:rPr>
              <a:t>Successive</a:t>
            </a:r>
            <a:r>
              <a:rPr sz="1050" spc="10" dirty="0">
                <a:latin typeface="Microsoft Sans Serif"/>
                <a:cs typeface="Microsoft Sans Serif"/>
              </a:rPr>
              <a:t> inputs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may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not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be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independent of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each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other.</a:t>
            </a:r>
            <a:endParaRPr sz="1050">
              <a:latin typeface="Microsoft Sans Serif"/>
              <a:cs typeface="Microsoft Sans Serif"/>
            </a:endParaRPr>
          </a:p>
          <a:p>
            <a:pPr marL="309880" marR="118745">
              <a:lnSpc>
                <a:spcPct val="114599"/>
              </a:lnSpc>
              <a:spcBef>
                <a:spcPts val="300"/>
              </a:spcBef>
            </a:pPr>
            <a:r>
              <a:rPr sz="1050" spc="10" dirty="0">
                <a:latin typeface="Microsoft Sans Serif"/>
                <a:cs typeface="Microsoft Sans Serif"/>
              </a:rPr>
              <a:t>Each network </a:t>
            </a:r>
            <a:r>
              <a:rPr sz="1050" spc="5" dirty="0">
                <a:latin typeface="Microsoft Sans Serif"/>
                <a:cs typeface="Microsoft Sans Serif"/>
              </a:rPr>
              <a:t>(</a:t>
            </a:r>
            <a:r>
              <a:rPr sz="105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blue</a:t>
            </a:r>
            <a:r>
              <a:rPr sz="105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-</a:t>
            </a:r>
            <a:r>
              <a:rPr sz="1050" spc="1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solidFill>
                  <a:srgbClr val="FF7F00"/>
                </a:solidFill>
                <a:latin typeface="Microsoft Sans Serif"/>
                <a:cs typeface="Microsoft Sans Serif"/>
              </a:rPr>
              <a:t>orange </a:t>
            </a:r>
            <a:r>
              <a:rPr sz="1050" spc="5" dirty="0">
                <a:latin typeface="Microsoft Sans Serif"/>
                <a:cs typeface="Microsoft Sans Serif"/>
              </a:rPr>
              <a:t>-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solidFill>
                  <a:srgbClr val="00FF00"/>
                </a:solidFill>
                <a:latin typeface="Microsoft Sans Serif"/>
                <a:cs typeface="Microsoft Sans Serif"/>
              </a:rPr>
              <a:t>green </a:t>
            </a:r>
            <a:r>
              <a:rPr sz="1050" spc="10" dirty="0">
                <a:latin typeface="Microsoft Sans Serif"/>
                <a:cs typeface="Microsoft Sans Serif"/>
              </a:rPr>
              <a:t>structure) </a:t>
            </a:r>
            <a:r>
              <a:rPr sz="1050" spc="5" dirty="0">
                <a:latin typeface="Microsoft Sans Serif"/>
                <a:cs typeface="Microsoft Sans Serif"/>
              </a:rPr>
              <a:t>is </a:t>
            </a:r>
            <a:r>
              <a:rPr sz="1050" spc="10" dirty="0">
                <a:latin typeface="Microsoft Sans Serif"/>
                <a:cs typeface="Microsoft Sans Serif"/>
              </a:rPr>
              <a:t>performing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 </a:t>
            </a:r>
            <a:r>
              <a:rPr sz="1050" spc="15" dirty="0">
                <a:latin typeface="Microsoft Sans Serif"/>
                <a:cs typeface="Microsoft Sans Serif"/>
              </a:rPr>
              <a:t>same </a:t>
            </a:r>
            <a:r>
              <a:rPr sz="1050" spc="10" dirty="0">
                <a:latin typeface="Microsoft Sans Serif"/>
                <a:cs typeface="Microsoft Sans Serif"/>
              </a:rPr>
              <a:t>task </a:t>
            </a:r>
            <a:r>
              <a:rPr sz="1050" spc="290" dirty="0">
                <a:latin typeface="Microsoft Sans Serif"/>
                <a:cs typeface="Microsoft Sans Serif"/>
              </a:rPr>
              <a:t>– </a:t>
            </a:r>
            <a:r>
              <a:rPr sz="1050" spc="5" dirty="0">
                <a:latin typeface="Microsoft Sans Serif"/>
                <a:cs typeface="Microsoft Sans Serif"/>
              </a:rPr>
              <a:t>input : </a:t>
            </a:r>
            <a:r>
              <a:rPr sz="1050" spc="10" dirty="0">
                <a:latin typeface="Microsoft Sans Serif"/>
                <a:cs typeface="Microsoft Sans Serif"/>
              </a:rPr>
              <a:t> character output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:</a:t>
            </a:r>
            <a:r>
              <a:rPr sz="1050" spc="8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character.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9310" y="544733"/>
            <a:ext cx="16637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Example:</a:t>
            </a:r>
            <a:r>
              <a:rPr sz="1050" spc="8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Auto-completion.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3309" y="2657429"/>
            <a:ext cx="1016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d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77917" y="1045980"/>
            <a:ext cx="456565" cy="1625600"/>
            <a:chOff x="3677917" y="1045980"/>
            <a:chExt cx="456565" cy="1625600"/>
          </a:xfrm>
        </p:grpSpPr>
        <p:sp>
          <p:nvSpPr>
            <p:cNvPr id="10" name="object 10"/>
            <p:cNvSpPr/>
            <p:nvPr/>
          </p:nvSpPr>
          <p:spPr>
            <a:xfrm>
              <a:off x="3680457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80457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80457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80457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80457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80457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26002" y="207142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07023" y="204106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26002" y="1441421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07023" y="1411055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40461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40461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40461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40461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40461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40461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623309" y="845063"/>
            <a:ext cx="46164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72110" algn="l"/>
              </a:tabLst>
            </a:pPr>
            <a:r>
              <a:rPr sz="1050" spc="10" dirty="0">
                <a:latin typeface="Microsoft Sans Serif"/>
                <a:cs typeface="Microsoft Sans Serif"/>
              </a:rPr>
              <a:t>e	e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067028" y="1411055"/>
            <a:ext cx="38100" cy="897890"/>
            <a:chOff x="4067028" y="1411055"/>
            <a:chExt cx="38100" cy="897890"/>
          </a:xfrm>
        </p:grpSpPr>
        <p:sp>
          <p:nvSpPr>
            <p:cNvPr id="28" name="object 28"/>
            <p:cNvSpPr/>
            <p:nvPr/>
          </p:nvSpPr>
          <p:spPr>
            <a:xfrm>
              <a:off x="4086006" y="2071429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67028" y="204106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86006" y="1441421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67028" y="1411055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983304" y="2645059"/>
            <a:ext cx="46164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72110" algn="l"/>
              </a:tabLst>
            </a:pPr>
            <a:r>
              <a:rPr sz="1050" spc="10" dirty="0">
                <a:latin typeface="Microsoft Sans Serif"/>
                <a:cs typeface="Microsoft Sans Serif"/>
              </a:rPr>
              <a:t>e	e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397926" y="1045980"/>
            <a:ext cx="96520" cy="1625600"/>
            <a:chOff x="4397926" y="1045980"/>
            <a:chExt cx="96520" cy="1625600"/>
          </a:xfrm>
        </p:grpSpPr>
        <p:sp>
          <p:nvSpPr>
            <p:cNvPr id="34" name="object 34"/>
            <p:cNvSpPr/>
            <p:nvPr/>
          </p:nvSpPr>
          <p:spPr>
            <a:xfrm>
              <a:off x="4400466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00466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00466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00466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00466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00466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343311" y="831943"/>
            <a:ext cx="1016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p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427032" y="1411055"/>
            <a:ext cx="38100" cy="897890"/>
            <a:chOff x="4427032" y="1411055"/>
            <a:chExt cx="38100" cy="897890"/>
          </a:xfrm>
        </p:grpSpPr>
        <p:sp>
          <p:nvSpPr>
            <p:cNvPr id="42" name="object 42"/>
            <p:cNvSpPr/>
            <p:nvPr/>
          </p:nvSpPr>
          <p:spPr>
            <a:xfrm>
              <a:off x="4446011" y="2071429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27032" y="204106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46011" y="1441421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27032" y="1411055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703305" y="2631940"/>
            <a:ext cx="1016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p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757930" y="1045980"/>
            <a:ext cx="96520" cy="1625600"/>
            <a:chOff x="4757930" y="1045980"/>
            <a:chExt cx="96520" cy="1625600"/>
          </a:xfrm>
        </p:grpSpPr>
        <p:sp>
          <p:nvSpPr>
            <p:cNvPr id="48" name="object 48"/>
            <p:cNvSpPr/>
            <p:nvPr/>
          </p:nvSpPr>
          <p:spPr>
            <a:xfrm>
              <a:off x="4760470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760470" y="230853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760470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760470" y="167852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760470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760470" y="104852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703305" y="853883"/>
            <a:ext cx="252729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5" dirty="0">
                <a:latin typeface="Microsoft Sans Serif"/>
                <a:cs typeface="Microsoft Sans Serif"/>
              </a:rPr>
              <a:t>e</a:t>
            </a:r>
            <a:r>
              <a:rPr sz="950" dirty="0">
                <a:latin typeface="Microsoft Sans Serif"/>
                <a:cs typeface="Microsoft Sans Serif"/>
              </a:rPr>
              <a:t>o</a:t>
            </a:r>
            <a:r>
              <a:rPr sz="950" spc="20" dirty="0">
                <a:latin typeface="Microsoft Sans Serif"/>
                <a:cs typeface="Microsoft Sans Serif"/>
              </a:rPr>
              <a:t>w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787036" y="1411055"/>
            <a:ext cx="38100" cy="895350"/>
            <a:chOff x="4787036" y="1411055"/>
            <a:chExt cx="38100" cy="895350"/>
          </a:xfrm>
        </p:grpSpPr>
        <p:sp>
          <p:nvSpPr>
            <p:cNvPr id="56" name="object 56"/>
            <p:cNvSpPr/>
            <p:nvPr/>
          </p:nvSpPr>
          <p:spPr>
            <a:xfrm>
              <a:off x="4806015" y="2071429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787036" y="204106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06015" y="1441421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787036" y="1411055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8294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/>
              <a:t>I</a:t>
            </a:r>
            <a:r>
              <a:rPr cap="small" spc="180" dirty="0"/>
              <a:t>n</a:t>
            </a:r>
            <a:r>
              <a:rPr spc="180" dirty="0"/>
              <a:t> </a:t>
            </a:r>
            <a:r>
              <a:rPr spc="-120" dirty="0"/>
              <a:t> </a:t>
            </a:r>
            <a:r>
              <a:rPr spc="520" dirty="0"/>
              <a:t>T</a:t>
            </a:r>
            <a:r>
              <a:rPr cap="small" spc="185" dirty="0"/>
              <a:t>his</a:t>
            </a:r>
            <a:r>
              <a:rPr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50" dirty="0"/>
              <a:t>egment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730567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73423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EAEAF7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1023899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10275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317243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32092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61058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61425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903933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90760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49" y="219726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220094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49" y="2490609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49429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49" y="278395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78762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029" y="591696"/>
            <a:ext cx="3757295" cy="23723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229" dirty="0">
                <a:solidFill>
                  <a:srgbClr val="3333B2"/>
                </a:solidFill>
                <a:latin typeface="Calibri"/>
                <a:cs typeface="Calibri"/>
                <a:hlinkClick r:id="rId6" action="ppaction://hlinksldjump"/>
              </a:rPr>
              <a:t>S</a:t>
            </a:r>
            <a:r>
              <a:rPr sz="1400" cap="small" spc="260" dirty="0">
                <a:solidFill>
                  <a:srgbClr val="3333B2"/>
                </a:solidFill>
                <a:latin typeface="Calibri"/>
                <a:cs typeface="Calibri"/>
                <a:hlinkClick r:id="rId6" action="ppaction://hlinksldjump"/>
              </a:rPr>
              <a:t>e</a:t>
            </a:r>
            <a:r>
              <a:rPr sz="1400" spc="175" dirty="0">
                <a:solidFill>
                  <a:srgbClr val="3333B2"/>
                </a:solidFill>
                <a:latin typeface="Calibri"/>
                <a:cs typeface="Calibri"/>
                <a:hlinkClick r:id="rId6" action="ppaction://hlinksldjump"/>
              </a:rPr>
              <a:t>q</a:t>
            </a:r>
            <a:r>
              <a:rPr sz="1400" cap="small" spc="225" dirty="0">
                <a:solidFill>
                  <a:srgbClr val="3333B2"/>
                </a:solidFill>
                <a:latin typeface="Calibri"/>
                <a:cs typeface="Calibri"/>
                <a:hlinkClick r:id="rId6" action="ppaction://hlinksldjump"/>
              </a:rPr>
              <a:t>uence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390" dirty="0">
                <a:solidFill>
                  <a:srgbClr val="3333B2"/>
                </a:solidFill>
                <a:latin typeface="Calibri"/>
                <a:cs typeface="Calibri"/>
                <a:hlinkClick r:id="rId6" action="ppaction://hlinksldjump"/>
              </a:rPr>
              <a:t>L</a:t>
            </a:r>
            <a:r>
              <a:rPr sz="1400" cap="small" spc="210" dirty="0">
                <a:solidFill>
                  <a:srgbClr val="3333B2"/>
                </a:solidFill>
                <a:latin typeface="Calibri"/>
                <a:cs typeface="Calibri"/>
                <a:hlinkClick r:id="rId6" action="ppaction://hlinksldjump"/>
              </a:rPr>
              <a:t>earning</a:t>
            </a:r>
            <a:endParaRPr sz="1400">
              <a:latin typeface="Calibri"/>
              <a:cs typeface="Calibri"/>
            </a:endParaRPr>
          </a:p>
          <a:p>
            <a:pPr marL="12700" marR="397510">
              <a:lnSpc>
                <a:spcPct val="137500"/>
              </a:lnSpc>
            </a:pP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ecurrent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et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w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ork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(RNN)</a:t>
            </a:r>
            <a:r>
              <a:rPr sz="1400" spc="12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T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ypes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of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2146935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earning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RNN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</a:t>
            </a:r>
            <a:r>
              <a:rPr sz="1400" cap="small" spc="17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ssues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L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ong</a:t>
            </a:r>
            <a:r>
              <a:rPr sz="1400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ho</a:t>
            </a:r>
            <a:r>
              <a:rPr sz="1400" cap="small" spc="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erm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em</a:t>
            </a:r>
            <a:r>
              <a:rPr sz="1400" cap="small" spc="18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</a:t>
            </a:r>
            <a:r>
              <a:rPr sz="1400" cap="small" spc="17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y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3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(LST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spc="2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)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G</a:t>
            </a:r>
            <a:r>
              <a:rPr sz="1400" cap="small" spc="1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ted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ecurrent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9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(G</a:t>
            </a:r>
            <a:r>
              <a:rPr sz="1400" spc="2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U)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4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B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idirectional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32899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/>
              <a:t>S</a:t>
            </a:r>
            <a:r>
              <a:rPr cap="small" spc="295" dirty="0"/>
              <a:t>e</a:t>
            </a:r>
            <a:r>
              <a:rPr spc="200" dirty="0"/>
              <a:t>q</a:t>
            </a:r>
            <a:r>
              <a:rPr cap="small" spc="250" dirty="0"/>
              <a:t>uence</a:t>
            </a:r>
            <a:r>
              <a:rPr spc="250" dirty="0"/>
              <a:t> </a:t>
            </a:r>
            <a:r>
              <a:rPr spc="-120" dirty="0"/>
              <a:t> </a:t>
            </a:r>
            <a:r>
              <a:rPr spc="459" dirty="0"/>
              <a:t>L</a:t>
            </a:r>
            <a:r>
              <a:rPr cap="small" spc="235" dirty="0"/>
              <a:t>earning</a:t>
            </a:r>
            <a:r>
              <a:rPr dirty="0"/>
              <a:t> </a:t>
            </a:r>
            <a:r>
              <a:rPr spc="-120" dirty="0"/>
              <a:t> </a:t>
            </a:r>
            <a:r>
              <a:rPr spc="395" dirty="0"/>
              <a:t>P</a:t>
            </a:r>
            <a:r>
              <a:rPr cap="small" spc="260" dirty="0"/>
              <a:t>r</a:t>
            </a:r>
            <a:r>
              <a:rPr cap="small" spc="225" dirty="0"/>
              <a:t>oblems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8300" y="759776"/>
            <a:ext cx="4800600" cy="201939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50" spc="-50" dirty="0">
                <a:latin typeface="Microsoft Sans Serif"/>
                <a:cs typeface="Microsoft Sans Serif"/>
              </a:rPr>
              <a:t>To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model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sequence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we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need</a:t>
            </a:r>
            <a:endParaRPr sz="1050" dirty="0">
              <a:latin typeface="Microsoft Sans Serif"/>
              <a:cs typeface="Microsoft Sans Serif"/>
            </a:endParaRPr>
          </a:p>
          <a:p>
            <a:pPr marL="481330" marR="38036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latin typeface="Microsoft Sans Serif"/>
                <a:cs typeface="Microsoft Sans Serif"/>
              </a:rPr>
              <a:t>Process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input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or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sequence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inputs.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endParaRPr lang="en-IN" sz="1050" spc="-265" dirty="0" smtClean="0">
              <a:latin typeface="Microsoft Sans Serif"/>
              <a:cs typeface="Microsoft Sans Serif"/>
            </a:endParaRPr>
          </a:p>
          <a:p>
            <a:pPr marL="481330" marR="38036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10" dirty="0" smtClean="0">
                <a:latin typeface="Microsoft Sans Serif"/>
                <a:cs typeface="Microsoft Sans Serif"/>
              </a:rPr>
              <a:t>The</a:t>
            </a:r>
            <a:r>
              <a:rPr sz="1050" spc="15" dirty="0" smtClean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inputs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may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have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be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dependent</a:t>
            </a:r>
            <a:r>
              <a:rPr sz="1050" spc="10" dirty="0" smtClean="0">
                <a:latin typeface="Microsoft Sans Serif"/>
                <a:cs typeface="Microsoft Sans Serif"/>
              </a:rPr>
              <a:t>.</a:t>
            </a:r>
            <a:endParaRPr lang="en-IN" sz="1050" spc="10" dirty="0" smtClean="0">
              <a:latin typeface="Microsoft Sans Serif"/>
              <a:cs typeface="Microsoft Sans Serif"/>
            </a:endParaRPr>
          </a:p>
          <a:p>
            <a:pPr marL="481330" marR="38036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dirty="0" smtClean="0">
                <a:latin typeface="Microsoft Sans Serif"/>
                <a:cs typeface="Microsoft Sans Serif"/>
              </a:rPr>
              <a:t>We</a:t>
            </a:r>
            <a:r>
              <a:rPr sz="1050" spc="15" dirty="0" smtClean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may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have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maintain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sequence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order.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endParaRPr lang="en-IN" sz="1050" spc="-265" dirty="0" smtClean="0">
              <a:latin typeface="Microsoft Sans Serif"/>
              <a:cs typeface="Microsoft Sans Serif"/>
            </a:endParaRPr>
          </a:p>
          <a:p>
            <a:pPr marL="481330" marR="38036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10" dirty="0" smtClean="0">
                <a:latin typeface="Microsoft Sans Serif"/>
                <a:cs typeface="Microsoft Sans Serif"/>
              </a:rPr>
              <a:t>Each</a:t>
            </a:r>
            <a:r>
              <a:rPr sz="1050" spc="20" dirty="0" smtClean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input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corresponds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one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time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step</a:t>
            </a:r>
            <a:r>
              <a:rPr sz="1050" dirty="0" smtClean="0">
                <a:latin typeface="Microsoft Sans Serif"/>
                <a:cs typeface="Microsoft Sans Serif"/>
              </a:rPr>
              <a:t>.</a:t>
            </a:r>
            <a:endParaRPr lang="en-IN" sz="1050" dirty="0" smtClean="0">
              <a:latin typeface="Microsoft Sans Serif"/>
              <a:cs typeface="Microsoft Sans Serif"/>
            </a:endParaRPr>
          </a:p>
          <a:p>
            <a:pPr marL="481330" marR="38036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dirty="0" smtClean="0">
                <a:latin typeface="Microsoft Sans Serif"/>
                <a:cs typeface="Microsoft Sans Serif"/>
              </a:rPr>
              <a:t>Keep</a:t>
            </a:r>
            <a:r>
              <a:rPr sz="1050" spc="15" dirty="0" smtClean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track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long</a:t>
            </a:r>
            <a:r>
              <a:rPr sz="1050" spc="15" dirty="0">
                <a:latin typeface="Microsoft Sans Serif"/>
                <a:cs typeface="Microsoft Sans Serif"/>
              </a:rPr>
              <a:t> term </a:t>
            </a:r>
            <a:r>
              <a:rPr sz="1050" spc="10" dirty="0">
                <a:latin typeface="Microsoft Sans Serif"/>
                <a:cs typeface="Microsoft Sans Serif"/>
              </a:rPr>
              <a:t>dependencies. 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endParaRPr lang="en-IN" sz="1050" spc="15" dirty="0" smtClean="0">
              <a:latin typeface="Microsoft Sans Serif"/>
              <a:cs typeface="Microsoft Sans Serif"/>
            </a:endParaRPr>
          </a:p>
          <a:p>
            <a:pPr marL="481330" marR="38036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10" dirty="0" smtClean="0">
                <a:latin typeface="Microsoft Sans Serif"/>
                <a:cs typeface="Microsoft Sans Serif"/>
              </a:rPr>
              <a:t>Produce</a:t>
            </a:r>
            <a:r>
              <a:rPr sz="1050" spc="20" dirty="0" smtClean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output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or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sequence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outputs. </a:t>
            </a:r>
            <a:r>
              <a:rPr sz="1050" spc="-260" dirty="0">
                <a:latin typeface="Microsoft Sans Serif"/>
                <a:cs typeface="Microsoft Sans Serif"/>
              </a:rPr>
              <a:t> </a:t>
            </a:r>
            <a:endParaRPr lang="en-IN" sz="1050" spc="-260" dirty="0" smtClean="0">
              <a:latin typeface="Microsoft Sans Serif"/>
              <a:cs typeface="Microsoft Sans Serif"/>
            </a:endParaRPr>
          </a:p>
          <a:p>
            <a:pPr marL="481330" marR="38036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15" dirty="0" smtClean="0">
                <a:latin typeface="Microsoft Sans Serif"/>
                <a:cs typeface="Microsoft Sans Serif"/>
              </a:rPr>
              <a:t>Supervised </a:t>
            </a:r>
            <a:r>
              <a:rPr sz="1050" spc="10" dirty="0">
                <a:latin typeface="Microsoft Sans Serif"/>
                <a:cs typeface="Microsoft Sans Serif"/>
              </a:rPr>
              <a:t>Learning</a:t>
            </a:r>
            <a:r>
              <a:rPr sz="1050" spc="10" dirty="0" smtClean="0">
                <a:latin typeface="Microsoft Sans Serif"/>
                <a:cs typeface="Microsoft Sans Serif"/>
              </a:rPr>
              <a:t>.</a:t>
            </a:r>
            <a:endParaRPr lang="en-IN" sz="1050" spc="10" dirty="0" smtClean="0">
              <a:latin typeface="Microsoft Sans Serif"/>
              <a:cs typeface="Microsoft Sans Serif"/>
            </a:endParaRPr>
          </a:p>
          <a:p>
            <a:pPr marL="481330" marR="38036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10" dirty="0" smtClean="0">
                <a:latin typeface="Microsoft Sans Serif"/>
                <a:cs typeface="Microsoft Sans Serif"/>
              </a:rPr>
              <a:t>Share </a:t>
            </a:r>
            <a:r>
              <a:rPr sz="1050" spc="10" dirty="0">
                <a:latin typeface="Microsoft Sans Serif"/>
                <a:cs typeface="Microsoft Sans Serif"/>
              </a:rPr>
              <a:t>parameters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across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sequences.</a:t>
            </a:r>
            <a:endParaRPr sz="10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1869439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2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700" cap="small" spc="29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700" spc="200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1700" cap="small" spc="250" dirty="0">
                <a:solidFill>
                  <a:srgbClr val="FFFFFF"/>
                </a:solidFill>
                <a:latin typeface="Calibri"/>
                <a:cs typeface="Calibri"/>
              </a:rPr>
              <a:t>uence</a:t>
            </a:r>
            <a:r>
              <a:rPr sz="1700" spc="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2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700" cap="small" spc="260" dirty="0">
                <a:solidFill>
                  <a:srgbClr val="FFFFFF"/>
                </a:solidFill>
                <a:latin typeface="Calibri"/>
                <a:cs typeface="Calibri"/>
              </a:rPr>
              <a:t>odel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559400"/>
            <a:ext cx="4868545" cy="2491105"/>
            <a:chOff x="359994" y="559400"/>
            <a:chExt cx="4868545" cy="24911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495" y="559400"/>
              <a:ext cx="4697015" cy="22109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272" y="3062817"/>
            <a:ext cx="11176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Microsoft Sans Serif"/>
                <a:cs typeface="Microsoft Sans Serif"/>
              </a:rPr>
              <a:t>Courtesy:</a:t>
            </a:r>
            <a:r>
              <a:rPr sz="900" spc="4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Andrew</a:t>
            </a:r>
            <a:r>
              <a:rPr sz="900" spc="-5" dirty="0">
                <a:latin typeface="Microsoft Sans Serif"/>
                <a:cs typeface="Microsoft Sans Serif"/>
              </a:rPr>
              <a:t> Ng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271780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40" dirty="0"/>
              <a:t>P</a:t>
            </a:r>
            <a:r>
              <a:rPr cap="small" spc="270" dirty="0"/>
              <a:t>a</a:t>
            </a:r>
            <a:r>
              <a:rPr cap="small" spc="185" dirty="0"/>
              <a:t>r</a:t>
            </a:r>
            <a:r>
              <a:rPr cap="small" spc="355" dirty="0"/>
              <a:t>t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250" dirty="0"/>
              <a:t>of</a:t>
            </a:r>
            <a:r>
              <a:rPr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70" dirty="0"/>
              <a:t>peech</a:t>
            </a:r>
            <a:r>
              <a:rPr dirty="0"/>
              <a:t> </a:t>
            </a:r>
            <a:r>
              <a:rPr spc="-120" dirty="0"/>
              <a:t> </a:t>
            </a:r>
            <a:r>
              <a:rPr spc="370" dirty="0"/>
              <a:t>T</a:t>
            </a:r>
            <a:r>
              <a:rPr cap="small" spc="229" dirty="0"/>
              <a:t>a</a:t>
            </a:r>
            <a:r>
              <a:rPr cap="small" spc="220" dirty="0"/>
              <a:t>gging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79657" y="1218547"/>
            <a:ext cx="91440" cy="1620061"/>
            <a:chOff x="3579657" y="1218547"/>
            <a:chExt cx="91440" cy="1620061"/>
          </a:xfrm>
        </p:grpSpPr>
        <p:sp>
          <p:nvSpPr>
            <p:cNvPr id="10" name="object 10"/>
            <p:cNvSpPr/>
            <p:nvPr/>
          </p:nvSpPr>
          <p:spPr>
            <a:xfrm>
              <a:off x="3579657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79657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79657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79657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79657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79657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5899" y="450021"/>
            <a:ext cx="3140739" cy="26782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15875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-20" dirty="0">
                <a:cs typeface="Microsoft Sans Serif"/>
              </a:rPr>
              <a:t>Task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is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predicting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part </a:t>
            </a:r>
            <a:r>
              <a:rPr sz="1050" spc="10" dirty="0">
                <a:cs typeface="Microsoft Sans Serif"/>
              </a:rPr>
              <a:t>of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speech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tag 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(noun,</a:t>
            </a:r>
            <a:r>
              <a:rPr sz="1050" spc="1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adverb,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adjective,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verb)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each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word </a:t>
            </a:r>
            <a:r>
              <a:rPr sz="1050" spc="-26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in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sentence.</a:t>
            </a:r>
            <a:endParaRPr sz="1050" dirty="0">
              <a:cs typeface="Microsoft Sans Serif"/>
            </a:endParaRPr>
          </a:p>
          <a:p>
            <a:pPr marL="184150" marR="18542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5" dirty="0">
                <a:cs typeface="Microsoft Sans Serif"/>
              </a:rPr>
              <a:t>When </a:t>
            </a:r>
            <a:r>
              <a:rPr sz="1050" spc="5" dirty="0">
                <a:cs typeface="Microsoft Sans Serif"/>
              </a:rPr>
              <a:t>we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see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an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adjective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we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are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almost </a:t>
            </a:r>
            <a:r>
              <a:rPr sz="1050" spc="-26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sure,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next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word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should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be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noun.</a:t>
            </a:r>
            <a:endParaRPr sz="1050" dirty="0">
              <a:cs typeface="Microsoft Sans Serif"/>
            </a:endParaRPr>
          </a:p>
          <a:p>
            <a:pPr marL="184150" marR="10287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The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current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output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depends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on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current </a:t>
            </a:r>
            <a:r>
              <a:rPr sz="1050" spc="-26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input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as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well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previous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input.</a:t>
            </a:r>
            <a:endParaRPr sz="1050" dirty="0">
              <a:cs typeface="Microsoft Sans Serif"/>
            </a:endParaRPr>
          </a:p>
          <a:p>
            <a:pPr marL="184150" marR="1651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size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input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not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fixed.</a:t>
            </a:r>
            <a:r>
              <a:rPr sz="1050" spc="9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Sentences </a:t>
            </a:r>
            <a:r>
              <a:rPr sz="1050" spc="-26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have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any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number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words.</a:t>
            </a:r>
            <a:endParaRPr sz="1050" dirty="0">
              <a:cs typeface="Microsoft Sans Serif"/>
            </a:endParaRPr>
          </a:p>
          <a:p>
            <a:pPr marL="184150" marR="1333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5" dirty="0">
                <a:cs typeface="Microsoft Sans Serif"/>
              </a:rPr>
              <a:t>An </a:t>
            </a:r>
            <a:r>
              <a:rPr sz="1050" spc="10" dirty="0">
                <a:cs typeface="Microsoft Sans Serif"/>
              </a:rPr>
              <a:t>output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produced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end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each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time </a:t>
            </a:r>
            <a:r>
              <a:rPr sz="1050" spc="-27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step.</a:t>
            </a:r>
          </a:p>
          <a:p>
            <a:pPr marL="184150" marR="508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Each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network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is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performing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15" dirty="0">
                <a:cs typeface="Microsoft Sans Serif"/>
              </a:rPr>
              <a:t> same </a:t>
            </a:r>
            <a:r>
              <a:rPr sz="1050" spc="10" dirty="0">
                <a:cs typeface="Microsoft Sans Serif"/>
              </a:rPr>
              <a:t>task</a:t>
            </a:r>
            <a:r>
              <a:rPr sz="1050" spc="15" dirty="0">
                <a:cs typeface="Microsoft Sans Serif"/>
              </a:rPr>
              <a:t> </a:t>
            </a:r>
            <a:r>
              <a:rPr sz="1050" spc="290" dirty="0">
                <a:cs typeface="Microsoft Sans Serif"/>
              </a:rPr>
              <a:t>– </a:t>
            </a:r>
            <a:r>
              <a:rPr sz="1050" spc="-26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input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:</a:t>
            </a:r>
            <a:r>
              <a:rPr sz="1050" spc="9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word,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output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:</a:t>
            </a:r>
            <a:r>
              <a:rPr sz="1050" spc="9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tag.</a:t>
            </a:r>
            <a:endParaRPr sz="1050" dirty="0"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22497" y="1015090"/>
            <a:ext cx="32956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noun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06223" y="1216007"/>
            <a:ext cx="499109" cy="1625600"/>
            <a:chOff x="3606223" y="1216007"/>
            <a:chExt cx="499109" cy="1625600"/>
          </a:xfrm>
        </p:grpSpPr>
        <p:sp>
          <p:nvSpPr>
            <p:cNvPr id="19" name="object 19"/>
            <p:cNvSpPr/>
            <p:nvPr/>
          </p:nvSpPr>
          <p:spPr>
            <a:xfrm>
              <a:off x="3625202" y="224145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06223" y="221109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5202" y="16114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6223" y="15810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11662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11662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11662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11662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11662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11662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954500" y="1027460"/>
            <a:ext cx="28829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0" dirty="0">
                <a:latin typeface="Microsoft Sans Serif"/>
                <a:cs typeface="Microsoft Sans Serif"/>
              </a:rPr>
              <a:t>v</a:t>
            </a:r>
            <a:r>
              <a:rPr sz="1050" spc="10" dirty="0">
                <a:latin typeface="Microsoft Sans Serif"/>
                <a:cs typeface="Microsoft Sans Serif"/>
              </a:rPr>
              <a:t>erb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038228" y="1581082"/>
            <a:ext cx="38100" cy="897890"/>
            <a:chOff x="4038228" y="1581082"/>
            <a:chExt cx="38100" cy="897890"/>
          </a:xfrm>
        </p:grpSpPr>
        <p:sp>
          <p:nvSpPr>
            <p:cNvPr id="31" name="object 31"/>
            <p:cNvSpPr/>
            <p:nvPr/>
          </p:nvSpPr>
          <p:spPr>
            <a:xfrm>
              <a:off x="4057206" y="224145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38228" y="221109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57206" y="16114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38228" y="15810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522497" y="2814337"/>
            <a:ext cx="893444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04545" algn="l"/>
              </a:tabLst>
            </a:pPr>
            <a:r>
              <a:rPr sz="1050" spc="10" dirty="0">
                <a:latin typeface="Microsoft Sans Serif"/>
                <a:cs typeface="Microsoft Sans Serif"/>
              </a:rPr>
              <a:t>Apple </a:t>
            </a:r>
            <a:r>
              <a:rPr sz="1050" spc="90" dirty="0">
                <a:latin typeface="Microsoft Sans Serif"/>
                <a:cs typeface="Microsoft Sans Serif"/>
              </a:rPr>
              <a:t> </a:t>
            </a:r>
            <a:r>
              <a:rPr sz="1575" spc="7" baseline="-5291" dirty="0">
                <a:latin typeface="Microsoft Sans Serif"/>
                <a:cs typeface="Microsoft Sans Serif"/>
              </a:rPr>
              <a:t>is</a:t>
            </a:r>
            <a:r>
              <a:rPr sz="1575" baseline="-5291" dirty="0">
                <a:latin typeface="Microsoft Sans Serif"/>
                <a:cs typeface="Microsoft Sans Serif"/>
              </a:rPr>
              <a:t>	</a:t>
            </a:r>
            <a:r>
              <a:rPr sz="1050" spc="10" dirty="0">
                <a:latin typeface="Microsoft Sans Serif"/>
                <a:cs typeface="Microsoft Sans Serif"/>
              </a:rPr>
              <a:t>a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369126" y="1216007"/>
            <a:ext cx="528320" cy="1625600"/>
            <a:chOff x="4369126" y="1216007"/>
            <a:chExt cx="528320" cy="1625600"/>
          </a:xfrm>
        </p:grpSpPr>
        <p:sp>
          <p:nvSpPr>
            <p:cNvPr id="37" name="object 37"/>
            <p:cNvSpPr/>
            <p:nvPr/>
          </p:nvSpPr>
          <p:spPr>
            <a:xfrm>
              <a:off x="4371666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71666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71666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71666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371666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71666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17211" y="224145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398232" y="221109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17211" y="16114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398232" y="15810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803671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03671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803671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03671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803671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803671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289107" y="1027460"/>
            <a:ext cx="67500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article</a:t>
            </a:r>
            <a:r>
              <a:rPr sz="1050" spc="165" dirty="0">
                <a:latin typeface="Microsoft Sans Serif"/>
                <a:cs typeface="Microsoft Sans Serif"/>
              </a:rPr>
              <a:t> </a:t>
            </a:r>
            <a:r>
              <a:rPr sz="1425" spc="15" baseline="8771" dirty="0">
                <a:latin typeface="Microsoft Sans Serif"/>
                <a:cs typeface="Microsoft Sans Serif"/>
              </a:rPr>
              <a:t>adj</a:t>
            </a:r>
            <a:endParaRPr sz="1425" baseline="8771">
              <a:latin typeface="Microsoft Sans Serif"/>
              <a:cs typeface="Microsoft Sans Serif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830236" y="1581082"/>
            <a:ext cx="38100" cy="897890"/>
            <a:chOff x="4830236" y="1581082"/>
            <a:chExt cx="38100" cy="897890"/>
          </a:xfrm>
        </p:grpSpPr>
        <p:sp>
          <p:nvSpPr>
            <p:cNvPr id="55" name="object 55"/>
            <p:cNvSpPr/>
            <p:nvPr/>
          </p:nvSpPr>
          <p:spPr>
            <a:xfrm>
              <a:off x="4849215" y="224145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830236" y="221109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849215" y="16114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30236" y="15810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746497" y="2828002"/>
            <a:ext cx="61531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72110" algn="l"/>
              </a:tabLst>
            </a:pPr>
            <a:r>
              <a:rPr sz="1050" spc="10" dirty="0">
                <a:latin typeface="Microsoft Sans Serif"/>
                <a:cs typeface="Microsoft Sans Serif"/>
              </a:rPr>
              <a:t>red	</a:t>
            </a:r>
            <a:r>
              <a:rPr sz="1050" spc="5" dirty="0">
                <a:latin typeface="Microsoft Sans Serif"/>
                <a:cs typeface="Microsoft Sans Serif"/>
              </a:rPr>
              <a:t>f</a:t>
            </a:r>
            <a:r>
              <a:rPr sz="1050" spc="20" dirty="0">
                <a:latin typeface="Microsoft Sans Serif"/>
                <a:cs typeface="Microsoft Sans Serif"/>
              </a:rPr>
              <a:t>r</a:t>
            </a:r>
            <a:r>
              <a:rPr sz="1050" spc="5" dirty="0">
                <a:latin typeface="Microsoft Sans Serif"/>
                <a:cs typeface="Microsoft Sans Serif"/>
              </a:rPr>
              <a:t>uit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161135" y="1216007"/>
            <a:ext cx="96520" cy="1625600"/>
            <a:chOff x="5161135" y="1216007"/>
            <a:chExt cx="96520" cy="1625600"/>
          </a:xfrm>
        </p:grpSpPr>
        <p:sp>
          <p:nvSpPr>
            <p:cNvPr id="61" name="object 61"/>
            <p:cNvSpPr/>
            <p:nvPr/>
          </p:nvSpPr>
          <p:spPr>
            <a:xfrm>
              <a:off x="5163675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63675" y="247856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163675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63675" y="1848555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63675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163675" y="1218547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5106504" y="1023910"/>
            <a:ext cx="30289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5" dirty="0">
                <a:latin typeface="Microsoft Sans Serif"/>
                <a:cs typeface="Microsoft Sans Serif"/>
              </a:rPr>
              <a:t>noun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190241" y="1581082"/>
            <a:ext cx="38100" cy="895350"/>
            <a:chOff x="5190241" y="1581082"/>
            <a:chExt cx="38100" cy="895350"/>
          </a:xfrm>
        </p:grpSpPr>
        <p:sp>
          <p:nvSpPr>
            <p:cNvPr id="69" name="object 69"/>
            <p:cNvSpPr/>
            <p:nvPr/>
          </p:nvSpPr>
          <p:spPr>
            <a:xfrm>
              <a:off x="5209219" y="224145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190241" y="221109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209219" y="16114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190241" y="15810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21856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/>
              <a:t>S</a:t>
            </a:r>
            <a:r>
              <a:rPr cap="small" spc="245" dirty="0"/>
              <a:t>entiment</a:t>
            </a:r>
            <a:r>
              <a:rPr spc="245" dirty="0"/>
              <a:t> </a:t>
            </a:r>
            <a:r>
              <a:rPr spc="-120" dirty="0"/>
              <a:t> </a:t>
            </a:r>
            <a:r>
              <a:rPr spc="415" dirty="0"/>
              <a:t>A</a:t>
            </a:r>
            <a:r>
              <a:rPr cap="small" spc="225" dirty="0"/>
              <a:t>na</a:t>
            </a:r>
            <a:r>
              <a:rPr cap="small" spc="200" dirty="0"/>
              <a:t>l</a:t>
            </a:r>
            <a:r>
              <a:rPr cap="small" spc="225" dirty="0"/>
              <a:t>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11637" y="1206940"/>
            <a:ext cx="451444" cy="1620061"/>
            <a:chOff x="3111637" y="1206940"/>
            <a:chExt cx="451444" cy="1620061"/>
          </a:xfrm>
        </p:grpSpPr>
        <p:sp>
          <p:nvSpPr>
            <p:cNvPr id="8" name="object 8"/>
            <p:cNvSpPr/>
            <p:nvPr/>
          </p:nvSpPr>
          <p:spPr>
            <a:xfrm>
              <a:off x="3111637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11637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11637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11637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11637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11637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57181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38203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57181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38203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71641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71641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71641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71641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71641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71641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17186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98207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17186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98207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15899" y="908480"/>
            <a:ext cx="2672717" cy="18620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080" indent="-171450" algn="just">
              <a:lnSpc>
                <a:spcPct val="1147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100" spc="-20" dirty="0">
                <a:cs typeface="Microsoft Sans Serif"/>
              </a:rPr>
              <a:t>Task</a:t>
            </a:r>
            <a:r>
              <a:rPr sz="1100" spc="15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is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predicting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the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sentiment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of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a </a:t>
            </a:r>
            <a:r>
              <a:rPr sz="1100" spc="-27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whole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sentence.</a:t>
            </a:r>
            <a:endParaRPr sz="1100" dirty="0">
              <a:cs typeface="Microsoft Sans Serif"/>
            </a:endParaRPr>
          </a:p>
          <a:p>
            <a:pPr marL="184150" marR="344805" indent="-171450" algn="just">
              <a:lnSpc>
                <a:spcPct val="114700"/>
              </a:lnSpc>
              <a:spcBef>
                <a:spcPts val="295"/>
              </a:spcBef>
              <a:buFont typeface="Wingdings" panose="05000000000000000000" pitchFamily="2" charset="2"/>
              <a:buChar char="Ø"/>
            </a:pPr>
            <a:r>
              <a:rPr sz="1100" spc="10" dirty="0">
                <a:cs typeface="Microsoft Sans Serif"/>
              </a:rPr>
              <a:t>Input</a:t>
            </a:r>
            <a:r>
              <a:rPr sz="1100" spc="15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is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the</a:t>
            </a:r>
            <a:r>
              <a:rPr sz="1100" spc="15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entire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sequence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of </a:t>
            </a:r>
            <a:r>
              <a:rPr sz="1100" spc="-265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inputs.</a:t>
            </a:r>
            <a:endParaRPr sz="1100" dirty="0">
              <a:cs typeface="Microsoft Sans Serif"/>
            </a:endParaRPr>
          </a:p>
          <a:p>
            <a:pPr marL="184150" marR="26034" indent="-171450" algn="just">
              <a:lnSpc>
                <a:spcPct val="1147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sz="1100" spc="15" dirty="0">
                <a:cs typeface="Microsoft Sans Serif"/>
              </a:rPr>
              <a:t>An </a:t>
            </a:r>
            <a:r>
              <a:rPr sz="1100" spc="10" dirty="0">
                <a:cs typeface="Microsoft Sans Serif"/>
              </a:rPr>
              <a:t>output</a:t>
            </a:r>
            <a:r>
              <a:rPr sz="1100" spc="15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is</a:t>
            </a:r>
            <a:r>
              <a:rPr sz="1100" spc="15" dirty="0">
                <a:cs typeface="Microsoft Sans Serif"/>
              </a:rPr>
              <a:t> </a:t>
            </a:r>
            <a:r>
              <a:rPr sz="1100" b="1" spc="10" dirty="0">
                <a:cs typeface="Arial"/>
              </a:rPr>
              <a:t>not</a:t>
            </a:r>
            <a:r>
              <a:rPr sz="1100" b="1" dirty="0">
                <a:cs typeface="Arial"/>
              </a:rPr>
              <a:t> </a:t>
            </a:r>
            <a:r>
              <a:rPr sz="1100" spc="10" dirty="0">
                <a:cs typeface="Microsoft Sans Serif"/>
              </a:rPr>
              <a:t>produced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at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end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of </a:t>
            </a:r>
            <a:r>
              <a:rPr sz="1100" spc="-26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each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time</a:t>
            </a:r>
            <a:r>
              <a:rPr sz="1100" spc="20" dirty="0">
                <a:cs typeface="Microsoft Sans Serif"/>
              </a:rPr>
              <a:t> </a:t>
            </a:r>
            <a:r>
              <a:rPr sz="1100" dirty="0">
                <a:cs typeface="Microsoft Sans Serif"/>
              </a:rPr>
              <a:t>step.</a:t>
            </a:r>
          </a:p>
          <a:p>
            <a:pPr marL="184150" marR="154940" indent="-171450" algn="just">
              <a:lnSpc>
                <a:spcPct val="108700"/>
              </a:lnSpc>
              <a:spcBef>
                <a:spcPts val="375"/>
              </a:spcBef>
              <a:buFont typeface="Wingdings" panose="05000000000000000000" pitchFamily="2" charset="2"/>
              <a:buChar char="Ø"/>
            </a:pPr>
            <a:r>
              <a:rPr sz="1100" spc="10" dirty="0">
                <a:cs typeface="Microsoft Sans Serif"/>
              </a:rPr>
              <a:t>Each network</a:t>
            </a:r>
            <a:r>
              <a:rPr sz="1100" spc="15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is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performing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the </a:t>
            </a:r>
            <a:r>
              <a:rPr sz="1100" spc="15" dirty="0">
                <a:cs typeface="Microsoft Sans Serif"/>
              </a:rPr>
              <a:t> same </a:t>
            </a:r>
            <a:r>
              <a:rPr sz="1100" spc="10" dirty="0">
                <a:cs typeface="Microsoft Sans Serif"/>
              </a:rPr>
              <a:t>task</a:t>
            </a:r>
            <a:r>
              <a:rPr sz="1100" spc="15" dirty="0">
                <a:cs typeface="Microsoft Sans Serif"/>
              </a:rPr>
              <a:t> </a:t>
            </a:r>
            <a:r>
              <a:rPr sz="1100" spc="290" dirty="0">
                <a:cs typeface="Microsoft Sans Serif"/>
              </a:rPr>
              <a:t>–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input</a:t>
            </a:r>
            <a:r>
              <a:rPr sz="1100" spc="15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85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word,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output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: </a:t>
            </a:r>
            <a:r>
              <a:rPr sz="1100" spc="-26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polarity</a:t>
            </a:r>
            <a:r>
              <a:rPr sz="1100" spc="15" dirty="0">
                <a:cs typeface="Microsoft Sans Serif"/>
              </a:rPr>
              <a:t> </a:t>
            </a:r>
            <a:r>
              <a:rPr sz="1100" spc="50" dirty="0">
                <a:cs typeface="Tahoma"/>
              </a:rPr>
              <a:t>+</a:t>
            </a:r>
            <a:r>
              <a:rPr sz="1100" i="1" spc="50" dirty="0">
                <a:cs typeface="Verdana"/>
              </a:rPr>
              <a:t>/</a:t>
            </a:r>
            <a:r>
              <a:rPr sz="1100" spc="50" dirty="0">
                <a:cs typeface="MS UI Gothic"/>
              </a:rPr>
              <a:t>−</a:t>
            </a:r>
            <a:r>
              <a:rPr sz="1100" spc="50" dirty="0">
                <a:cs typeface="Microsoft Sans Serif"/>
              </a:rPr>
              <a:t>.</a:t>
            </a:r>
            <a:endParaRPr sz="1100" dirty="0"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54489" y="2815861"/>
            <a:ext cx="105854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The  </a:t>
            </a:r>
            <a:r>
              <a:rPr sz="1050" spc="8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movie</a:t>
            </a:r>
            <a:r>
              <a:rPr sz="1050" spc="250" dirty="0">
                <a:latin typeface="Microsoft Sans Serif"/>
                <a:cs typeface="Microsoft Sans Serif"/>
              </a:rPr>
              <a:t> </a:t>
            </a:r>
            <a:r>
              <a:rPr sz="1575" spc="7" baseline="5291" dirty="0">
                <a:latin typeface="Microsoft Sans Serif"/>
                <a:cs typeface="Microsoft Sans Serif"/>
              </a:rPr>
              <a:t>was</a:t>
            </a:r>
            <a:endParaRPr sz="1575" baseline="5291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901106" y="1204400"/>
            <a:ext cx="456565" cy="1625600"/>
            <a:chOff x="3901106" y="1204400"/>
            <a:chExt cx="456565" cy="1625600"/>
          </a:xfrm>
        </p:grpSpPr>
        <p:sp>
          <p:nvSpPr>
            <p:cNvPr id="31" name="object 31"/>
            <p:cNvSpPr/>
            <p:nvPr/>
          </p:nvSpPr>
          <p:spPr>
            <a:xfrm>
              <a:off x="3903646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03646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03646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03646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03646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03646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49190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30211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49190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30211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63650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263650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263650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263650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263650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63650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309195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290216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309195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290216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181081" y="2801777"/>
            <a:ext cx="7366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boring</a:t>
            </a:r>
            <a:r>
              <a:rPr sz="1050" spc="75" dirty="0">
                <a:latin typeface="Microsoft Sans Serif"/>
                <a:cs typeface="Microsoft Sans Serif"/>
              </a:rPr>
              <a:t> </a:t>
            </a:r>
            <a:r>
              <a:rPr sz="1575" spc="15" baseline="-5291" dirty="0">
                <a:latin typeface="Microsoft Sans Serif"/>
                <a:cs typeface="Microsoft Sans Serif"/>
              </a:rPr>
              <a:t>and</a:t>
            </a:r>
            <a:endParaRPr sz="1575" baseline="-5291">
              <a:latin typeface="Microsoft Sans Serif"/>
              <a:cs typeface="Microsoft Sans Serif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693115" y="1204400"/>
            <a:ext cx="96520" cy="1625600"/>
            <a:chOff x="4693115" y="1204400"/>
            <a:chExt cx="96520" cy="1625600"/>
          </a:xfrm>
        </p:grpSpPr>
        <p:sp>
          <p:nvSpPr>
            <p:cNvPr id="53" name="object 53"/>
            <p:cNvSpPr/>
            <p:nvPr/>
          </p:nvSpPr>
          <p:spPr>
            <a:xfrm>
              <a:off x="4695655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695655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95655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95655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95655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695655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741199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722220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741199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722220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070487" y="2801777"/>
            <a:ext cx="28384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long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5125119" y="1204400"/>
            <a:ext cx="96520" cy="1625600"/>
            <a:chOff x="5125119" y="1204400"/>
            <a:chExt cx="96520" cy="1625600"/>
          </a:xfrm>
        </p:grpSpPr>
        <p:sp>
          <p:nvSpPr>
            <p:cNvPr id="65" name="object 65"/>
            <p:cNvSpPr/>
            <p:nvPr/>
          </p:nvSpPr>
          <p:spPr>
            <a:xfrm>
              <a:off x="5127659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127659" y="246695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127659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127659" y="183694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127659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127659" y="1206940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070487" y="1003279"/>
            <a:ext cx="16192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5" dirty="0">
                <a:latin typeface="Microsoft Sans Serif"/>
                <a:cs typeface="Microsoft Sans Serif"/>
              </a:rPr>
              <a:t>(-)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154225" y="1569474"/>
            <a:ext cx="38100" cy="895350"/>
            <a:chOff x="5154225" y="1569474"/>
            <a:chExt cx="38100" cy="895350"/>
          </a:xfrm>
        </p:grpSpPr>
        <p:sp>
          <p:nvSpPr>
            <p:cNvPr id="73" name="object 73"/>
            <p:cNvSpPr/>
            <p:nvPr/>
          </p:nvSpPr>
          <p:spPr>
            <a:xfrm>
              <a:off x="5173204" y="222984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154225" y="219948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173204" y="1599840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54225" y="1569474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8294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/>
              <a:t>I</a:t>
            </a:r>
            <a:r>
              <a:rPr cap="small" spc="180" dirty="0"/>
              <a:t>n</a:t>
            </a:r>
            <a:r>
              <a:rPr spc="180" dirty="0"/>
              <a:t> </a:t>
            </a:r>
            <a:r>
              <a:rPr spc="-120" dirty="0"/>
              <a:t> </a:t>
            </a:r>
            <a:r>
              <a:rPr spc="520" dirty="0"/>
              <a:t>T</a:t>
            </a:r>
            <a:r>
              <a:rPr cap="small" spc="185" dirty="0"/>
              <a:t>his</a:t>
            </a:r>
            <a:r>
              <a:rPr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50" dirty="0"/>
              <a:t>egment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730567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73423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1023899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10275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EAEAF7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317243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32092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61058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61425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903933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90760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19726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220094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49" y="2490609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49429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78395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78762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029" y="591696"/>
            <a:ext cx="3757295" cy="23723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S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</a:t>
            </a:r>
            <a:r>
              <a:rPr sz="1400" spc="17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q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uence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earning</a:t>
            </a:r>
            <a:endParaRPr sz="1400">
              <a:latin typeface="Calibri"/>
              <a:cs typeface="Calibri"/>
            </a:endParaRPr>
          </a:p>
          <a:p>
            <a:pPr marL="12700" marR="397510">
              <a:lnSpc>
                <a:spcPct val="137500"/>
              </a:lnSpc>
            </a:pPr>
            <a:r>
              <a:rPr sz="1400" spc="385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R</a:t>
            </a:r>
            <a:r>
              <a:rPr sz="1400" cap="small" spc="245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ecurrent</a:t>
            </a:r>
            <a:r>
              <a:rPr sz="1400" spc="245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4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04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et</a:t>
            </a:r>
            <a:r>
              <a:rPr sz="1400" cap="small" spc="34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w</a:t>
            </a:r>
            <a:r>
              <a:rPr sz="1400" cap="small" spc="26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ork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(RNN)</a:t>
            </a:r>
            <a:r>
              <a:rPr sz="1400" spc="12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T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ypes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of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2146935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earning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RNN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</a:t>
            </a:r>
            <a:r>
              <a:rPr sz="1400" cap="small" spc="17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ssues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L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ong</a:t>
            </a:r>
            <a:r>
              <a:rPr sz="1400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ho</a:t>
            </a:r>
            <a:r>
              <a:rPr sz="1400" cap="small" spc="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erm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em</a:t>
            </a:r>
            <a:r>
              <a:rPr sz="1400" cap="small" spc="18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</a:t>
            </a:r>
            <a:r>
              <a:rPr sz="1400" cap="small" spc="17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y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3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(LST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spc="2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)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G</a:t>
            </a:r>
            <a:r>
              <a:rPr sz="1400" cap="small" spc="1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ted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ecurrent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9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(G</a:t>
            </a:r>
            <a:r>
              <a:rPr sz="1400" spc="2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U)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4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B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idirectional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403225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0" dirty="0"/>
              <a:t>R</a:t>
            </a:r>
            <a:r>
              <a:rPr cap="small" spc="275" dirty="0"/>
              <a:t>ecurrent</a:t>
            </a:r>
            <a:r>
              <a:rPr spc="275" dirty="0"/>
              <a:t> </a:t>
            </a:r>
            <a:r>
              <a:rPr spc="-120" dirty="0"/>
              <a:t> </a:t>
            </a:r>
            <a:r>
              <a:rPr spc="300" dirty="0"/>
              <a:t>N</a:t>
            </a:r>
            <a:r>
              <a:rPr cap="small" spc="275" dirty="0"/>
              <a:t>eural</a:t>
            </a:r>
            <a:r>
              <a:rPr dirty="0"/>
              <a:t> </a:t>
            </a:r>
            <a:r>
              <a:rPr spc="-120" dirty="0"/>
              <a:t> </a:t>
            </a:r>
            <a:r>
              <a:rPr spc="300" dirty="0"/>
              <a:t>N</a:t>
            </a:r>
            <a:r>
              <a:rPr cap="small" spc="229" dirty="0"/>
              <a:t>et</a:t>
            </a:r>
            <a:r>
              <a:rPr cap="small" spc="385" dirty="0"/>
              <a:t>w</a:t>
            </a:r>
            <a:r>
              <a:rPr cap="small" spc="295" dirty="0"/>
              <a:t>ork</a:t>
            </a:r>
            <a:r>
              <a:rPr dirty="0"/>
              <a:t> </a:t>
            </a:r>
            <a:r>
              <a:rPr spc="-120" dirty="0"/>
              <a:t> </a:t>
            </a:r>
            <a:r>
              <a:rPr spc="305" dirty="0"/>
              <a:t>(RNN)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664" y="642861"/>
            <a:ext cx="3554730" cy="13335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15900" y="1927225"/>
            <a:ext cx="5181600" cy="1232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2065655" indent="-171450" algn="just">
              <a:lnSpc>
                <a:spcPct val="1313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Accounts</a:t>
            </a:r>
            <a:r>
              <a:rPr sz="1050" spc="20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for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variable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number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inputs. </a:t>
            </a:r>
            <a:endParaRPr lang="en-IN" sz="1050" spc="5" dirty="0" smtClean="0">
              <a:cs typeface="Microsoft Sans Serif"/>
            </a:endParaRPr>
          </a:p>
          <a:p>
            <a:pPr marL="184150" marR="2065655" indent="-171450" algn="just">
              <a:lnSpc>
                <a:spcPct val="131300"/>
              </a:lnSpc>
              <a:buFont typeface="Wingdings" panose="05000000000000000000" pitchFamily="2" charset="2"/>
              <a:buChar char="Ø"/>
            </a:pPr>
            <a:r>
              <a:rPr sz="1050" spc="10" dirty="0" smtClean="0">
                <a:cs typeface="Microsoft Sans Serif"/>
              </a:rPr>
              <a:t>Accounts</a:t>
            </a:r>
            <a:r>
              <a:rPr sz="1050" spc="15" dirty="0" smtClean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for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dependencies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between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 smtClean="0">
                <a:cs typeface="Microsoft Sans Serif"/>
              </a:rPr>
              <a:t>inputs</a:t>
            </a:r>
            <a:r>
              <a:rPr sz="1050" spc="5" dirty="0">
                <a:cs typeface="Microsoft Sans Serif"/>
              </a:rPr>
              <a:t>. </a:t>
            </a:r>
            <a:endParaRPr lang="en-IN" sz="1050" spc="5" dirty="0" smtClean="0">
              <a:cs typeface="Microsoft Sans Serif"/>
            </a:endParaRPr>
          </a:p>
          <a:p>
            <a:pPr marL="184150" marR="2065655" indent="-171450" algn="just">
              <a:lnSpc>
                <a:spcPct val="131300"/>
              </a:lnSpc>
              <a:buFont typeface="Wingdings" panose="05000000000000000000" pitchFamily="2" charset="2"/>
              <a:buChar char="Ø"/>
            </a:pPr>
            <a:r>
              <a:rPr sz="1050" spc="-265" dirty="0" smtClean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Accounts</a:t>
            </a:r>
            <a:r>
              <a:rPr sz="1050" spc="20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for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variable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number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outputs</a:t>
            </a:r>
            <a:r>
              <a:rPr sz="1050" spc="5" dirty="0" smtClean="0">
                <a:cs typeface="Microsoft Sans Serif"/>
              </a:rPr>
              <a:t>.</a:t>
            </a:r>
            <a:endParaRPr lang="en-IN" sz="1050" spc="5" dirty="0" smtClean="0">
              <a:cs typeface="Microsoft Sans Serif"/>
            </a:endParaRPr>
          </a:p>
          <a:p>
            <a:pPr marL="184150" marR="2065655" indent="-171450" algn="just">
              <a:lnSpc>
                <a:spcPct val="131300"/>
              </a:lnSpc>
              <a:buFont typeface="Wingdings" panose="05000000000000000000" pitchFamily="2" charset="2"/>
              <a:buChar char="Ø"/>
            </a:pPr>
            <a:r>
              <a:rPr sz="1050" spc="10" dirty="0" smtClean="0">
                <a:cs typeface="Microsoft Sans Serif"/>
              </a:rPr>
              <a:t>Ensures</a:t>
            </a:r>
            <a:r>
              <a:rPr sz="1050" spc="20" dirty="0" smtClean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that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15" dirty="0">
                <a:cs typeface="Microsoft Sans Serif"/>
              </a:rPr>
              <a:t>same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function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executed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 smtClean="0">
                <a:cs typeface="Microsoft Sans Serif"/>
              </a:rPr>
              <a:t>each</a:t>
            </a:r>
            <a:r>
              <a:rPr sz="1050" spc="25" dirty="0" smtClean="0">
                <a:cs typeface="Microsoft Sans Serif"/>
              </a:rPr>
              <a:t> </a:t>
            </a:r>
            <a:r>
              <a:rPr sz="1050" spc="10" dirty="0" smtClean="0">
                <a:cs typeface="Microsoft Sans Serif"/>
              </a:rPr>
              <a:t>time</a:t>
            </a:r>
            <a:r>
              <a:rPr sz="1050" spc="20" dirty="0" smtClean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step.</a:t>
            </a:r>
          </a:p>
          <a:p>
            <a:pPr marL="184150" indent="-17145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features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learned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across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inputs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at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different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time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step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has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be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shared.</a:t>
            </a:r>
            <a:endParaRPr sz="105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72707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50" dirty="0"/>
              <a:t>RNN</a:t>
            </a:r>
            <a:r>
              <a:rPr spc="185" dirty="0"/>
              <a:t> </a:t>
            </a:r>
            <a:r>
              <a:rPr spc="265" dirty="0"/>
              <a:t>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8300" y="779683"/>
            <a:ext cx="2662656" cy="17761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25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function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learned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each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time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step.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45108" y="1060564"/>
            <a:ext cx="1539240" cy="9112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405"/>
              </a:spcBef>
            </a:pPr>
            <a:r>
              <a:rPr sz="1050" i="1" spc="5" dirty="0">
                <a:latin typeface="Arial"/>
                <a:cs typeface="Arial"/>
              </a:rPr>
              <a:t>t</a:t>
            </a:r>
            <a:r>
              <a:rPr sz="1050" i="1" spc="110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225" dirty="0">
                <a:latin typeface="Tahoma"/>
                <a:cs typeface="Tahoma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time</a:t>
            </a:r>
            <a:r>
              <a:rPr sz="1050" spc="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step</a:t>
            </a:r>
            <a:endParaRPr sz="1050">
              <a:latin typeface="Microsoft Sans Serif"/>
              <a:cs typeface="Microsoft Sans Serif"/>
            </a:endParaRPr>
          </a:p>
          <a:p>
            <a:pPr marL="38100" marR="30480">
              <a:lnSpc>
                <a:spcPct val="121100"/>
              </a:lnSpc>
            </a:pPr>
            <a:r>
              <a:rPr sz="1050" i="1" spc="5" dirty="0">
                <a:latin typeface="Arial"/>
                <a:cs typeface="Arial"/>
              </a:rPr>
              <a:t>x</a:t>
            </a:r>
            <a:r>
              <a:rPr sz="1050" i="1" spc="7" baseline="-15873" dirty="0">
                <a:latin typeface="Arial"/>
                <a:cs typeface="Arial"/>
              </a:rPr>
              <a:t>t</a:t>
            </a:r>
            <a:r>
              <a:rPr sz="1050" i="1" spc="67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240" dirty="0">
                <a:latin typeface="Tahoma"/>
                <a:cs typeface="Tahoma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input</a:t>
            </a:r>
            <a:r>
              <a:rPr sz="1050" spc="10" dirty="0">
                <a:latin typeface="Microsoft Sans Serif"/>
                <a:cs typeface="Microsoft Sans Serif"/>
              </a:rPr>
              <a:t> at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time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step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i="1" spc="5" dirty="0">
                <a:latin typeface="Arial"/>
                <a:cs typeface="Arial"/>
              </a:rPr>
              <a:t>t </a:t>
            </a:r>
            <a:r>
              <a:rPr sz="1050" i="1" spc="-280" dirty="0">
                <a:latin typeface="Arial"/>
                <a:cs typeface="Arial"/>
              </a:rPr>
              <a:t> </a:t>
            </a: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15" dirty="0">
                <a:latin typeface="Arial"/>
                <a:cs typeface="Arial"/>
              </a:rPr>
              <a:t>Ux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40" dirty="0">
                <a:latin typeface="Arial"/>
                <a:cs typeface="Arial"/>
              </a:rPr>
              <a:t>b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sz="1050" i="1" spc="10" dirty="0">
                <a:latin typeface="Arial"/>
                <a:cs typeface="Arial"/>
              </a:rPr>
              <a:t>y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050" i="1" spc="65" dirty="0">
                <a:latin typeface="Arial"/>
                <a:cs typeface="Arial"/>
              </a:rPr>
              <a:t>g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15" dirty="0">
                <a:latin typeface="Arial"/>
                <a:cs typeface="Arial"/>
              </a:rPr>
              <a:t>Vs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65" dirty="0">
                <a:latin typeface="Arial"/>
                <a:cs typeface="Arial"/>
              </a:rPr>
              <a:t>c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8300" y="2095041"/>
            <a:ext cx="2916996" cy="759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080" indent="-171450" algn="just">
              <a:lnSpc>
                <a:spcPct val="1147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latin typeface="Microsoft Sans Serif"/>
                <a:cs typeface="Microsoft Sans Serif"/>
              </a:rPr>
              <a:t>Since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same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function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has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to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be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executed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each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time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step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we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should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share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same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network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i.e.,</a:t>
            </a:r>
            <a:r>
              <a:rPr sz="1050" spc="15" dirty="0">
                <a:latin typeface="Microsoft Sans Serif"/>
                <a:cs typeface="Microsoft Sans Serif"/>
              </a:rPr>
              <a:t> same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parameters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each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time 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step.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59098" y="2801548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spc="15" baseline="-15873" dirty="0">
                <a:latin typeface="Microsoft Sans Serif"/>
                <a:cs typeface="Microsoft Sans Serif"/>
              </a:rPr>
              <a:t>1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39119" y="1214153"/>
            <a:ext cx="96520" cy="1625600"/>
            <a:chOff x="3739119" y="1214153"/>
            <a:chExt cx="96520" cy="1625600"/>
          </a:xfrm>
        </p:grpSpPr>
        <p:sp>
          <p:nvSpPr>
            <p:cNvPr id="11" name="object 11"/>
            <p:cNvSpPr/>
            <p:nvPr/>
          </p:nvSpPr>
          <p:spPr>
            <a:xfrm>
              <a:off x="3741659" y="2476709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41659" y="2476709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41659" y="1846701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41659" y="1846701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41659" y="121669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41659" y="121669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59098" y="1002103"/>
            <a:ext cx="195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215" dirty="0">
                <a:latin typeface="Arial"/>
                <a:cs typeface="Arial"/>
              </a:rPr>
              <a:t>y</a:t>
            </a:r>
            <a:r>
              <a:rPr sz="1800" spc="-322" baseline="2314" dirty="0">
                <a:latin typeface="Tahoma"/>
                <a:cs typeface="Tahoma"/>
              </a:rPr>
              <a:t>ˆ</a:t>
            </a:r>
            <a:r>
              <a:rPr sz="1050" spc="-322" baseline="-15873" dirty="0">
                <a:latin typeface="Microsoft Sans Serif"/>
                <a:cs typeface="Microsoft Sans Serif"/>
              </a:rPr>
              <a:t>1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768225" y="2209236"/>
            <a:ext cx="38100" cy="267970"/>
            <a:chOff x="3768225" y="2209236"/>
            <a:chExt cx="38100" cy="267970"/>
          </a:xfrm>
        </p:grpSpPr>
        <p:sp>
          <p:nvSpPr>
            <p:cNvPr id="19" name="object 19"/>
            <p:cNvSpPr/>
            <p:nvPr/>
          </p:nvSpPr>
          <p:spPr>
            <a:xfrm>
              <a:off x="3787203" y="2239602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68225" y="2209236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835234" y="2240602"/>
            <a:ext cx="12446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768225" y="1579228"/>
            <a:ext cx="38100" cy="267970"/>
            <a:chOff x="3768225" y="1579228"/>
            <a:chExt cx="38100" cy="267970"/>
          </a:xfrm>
        </p:grpSpPr>
        <p:sp>
          <p:nvSpPr>
            <p:cNvPr id="23" name="object 23"/>
            <p:cNvSpPr/>
            <p:nvPr/>
          </p:nvSpPr>
          <p:spPr>
            <a:xfrm>
              <a:off x="3787203" y="1609594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68225" y="1579228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809834" y="1611736"/>
            <a:ext cx="224790" cy="480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  <a:spcBef>
                <a:spcPts val="1035"/>
              </a:spcBef>
            </a:pP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spc="15" baseline="-15873" dirty="0">
                <a:latin typeface="Microsoft Sans Serif"/>
                <a:cs typeface="Microsoft Sans Serif"/>
              </a:rPr>
              <a:t>1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99102" y="2801548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spc="15" baseline="-15873" dirty="0">
                <a:latin typeface="Microsoft Sans Serif"/>
                <a:cs typeface="Microsoft Sans Serif"/>
              </a:rPr>
              <a:t>2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79125" y="1214153"/>
            <a:ext cx="96520" cy="1625600"/>
            <a:chOff x="4279125" y="1214153"/>
            <a:chExt cx="96520" cy="1625600"/>
          </a:xfrm>
        </p:grpSpPr>
        <p:sp>
          <p:nvSpPr>
            <p:cNvPr id="28" name="object 28"/>
            <p:cNvSpPr/>
            <p:nvPr/>
          </p:nvSpPr>
          <p:spPr>
            <a:xfrm>
              <a:off x="4281665" y="2476709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81665" y="2476709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81665" y="1846701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81665" y="1846701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81665" y="121669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81665" y="121669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199102" y="1002103"/>
            <a:ext cx="195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215" dirty="0">
                <a:latin typeface="Arial"/>
                <a:cs typeface="Arial"/>
              </a:rPr>
              <a:t>y</a:t>
            </a:r>
            <a:r>
              <a:rPr sz="1800" spc="-322" baseline="2314" dirty="0">
                <a:latin typeface="Tahoma"/>
                <a:cs typeface="Tahoma"/>
              </a:rPr>
              <a:t>ˆ</a:t>
            </a:r>
            <a:r>
              <a:rPr sz="1050" spc="-322" baseline="-15873" dirty="0">
                <a:latin typeface="Microsoft Sans Serif"/>
                <a:cs typeface="Microsoft Sans Serif"/>
              </a:rPr>
              <a:t>2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308231" y="2209236"/>
            <a:ext cx="38100" cy="267970"/>
            <a:chOff x="4308231" y="2209236"/>
            <a:chExt cx="38100" cy="267970"/>
          </a:xfrm>
        </p:grpSpPr>
        <p:sp>
          <p:nvSpPr>
            <p:cNvPr id="36" name="object 36"/>
            <p:cNvSpPr/>
            <p:nvPr/>
          </p:nvSpPr>
          <p:spPr>
            <a:xfrm>
              <a:off x="4327210" y="2239602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08231" y="2209236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375226" y="2240602"/>
            <a:ext cx="12446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308231" y="1579228"/>
            <a:ext cx="38100" cy="267970"/>
            <a:chOff x="4308231" y="1579228"/>
            <a:chExt cx="38100" cy="267970"/>
          </a:xfrm>
        </p:grpSpPr>
        <p:sp>
          <p:nvSpPr>
            <p:cNvPr id="40" name="object 40"/>
            <p:cNvSpPr/>
            <p:nvPr/>
          </p:nvSpPr>
          <p:spPr>
            <a:xfrm>
              <a:off x="4327210" y="1609594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308231" y="1579228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349826" y="1611736"/>
            <a:ext cx="224790" cy="480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  <a:spcBef>
                <a:spcPts val="1035"/>
              </a:spcBef>
            </a:pP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spc="15" baseline="-15873" dirty="0">
                <a:latin typeface="Microsoft Sans Serif"/>
                <a:cs typeface="Microsoft Sans Serif"/>
              </a:rPr>
              <a:t>2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39106" y="2800786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5" dirty="0">
                <a:latin typeface="Arial"/>
                <a:cs typeface="Arial"/>
              </a:rPr>
              <a:t>x</a:t>
            </a:r>
            <a:r>
              <a:rPr sz="1050" spc="7" baseline="-15873" dirty="0">
                <a:latin typeface="Microsoft Sans Serif"/>
                <a:cs typeface="Microsoft Sans Serif"/>
              </a:rPr>
              <a:t>3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819132" y="1214153"/>
            <a:ext cx="96520" cy="1625600"/>
            <a:chOff x="4819132" y="1214153"/>
            <a:chExt cx="96520" cy="1625600"/>
          </a:xfrm>
        </p:grpSpPr>
        <p:sp>
          <p:nvSpPr>
            <p:cNvPr id="45" name="object 45"/>
            <p:cNvSpPr/>
            <p:nvPr/>
          </p:nvSpPr>
          <p:spPr>
            <a:xfrm>
              <a:off x="4821672" y="2476709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821672" y="2476709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821672" y="1846701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21672" y="1846701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821672" y="121669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21672" y="1216693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739106" y="1002103"/>
            <a:ext cx="195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215" dirty="0">
                <a:latin typeface="Arial"/>
                <a:cs typeface="Arial"/>
              </a:rPr>
              <a:t>y</a:t>
            </a:r>
            <a:r>
              <a:rPr sz="1800" spc="-322" baseline="2314" dirty="0">
                <a:latin typeface="Tahoma"/>
                <a:cs typeface="Tahoma"/>
              </a:rPr>
              <a:t>ˆ</a:t>
            </a:r>
            <a:r>
              <a:rPr sz="1050" spc="-322" baseline="-15873" dirty="0">
                <a:latin typeface="Microsoft Sans Serif"/>
                <a:cs typeface="Microsoft Sans Serif"/>
              </a:rPr>
              <a:t>3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848238" y="2209236"/>
            <a:ext cx="38100" cy="267970"/>
            <a:chOff x="4848238" y="2209236"/>
            <a:chExt cx="38100" cy="267970"/>
          </a:xfrm>
        </p:grpSpPr>
        <p:sp>
          <p:nvSpPr>
            <p:cNvPr id="53" name="object 53"/>
            <p:cNvSpPr/>
            <p:nvPr/>
          </p:nvSpPr>
          <p:spPr>
            <a:xfrm>
              <a:off x="4867217" y="2239602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848238" y="2209236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915230" y="2240602"/>
            <a:ext cx="12446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848238" y="1579228"/>
            <a:ext cx="38100" cy="265430"/>
            <a:chOff x="4848238" y="1579228"/>
            <a:chExt cx="38100" cy="265430"/>
          </a:xfrm>
        </p:grpSpPr>
        <p:sp>
          <p:nvSpPr>
            <p:cNvPr id="57" name="object 57"/>
            <p:cNvSpPr/>
            <p:nvPr/>
          </p:nvSpPr>
          <p:spPr>
            <a:xfrm>
              <a:off x="4867217" y="1609594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48238" y="1579228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889830" y="1611736"/>
            <a:ext cx="224790" cy="4800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  <a:spcBef>
                <a:spcPts val="1025"/>
              </a:spcBef>
            </a:pP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spc="15" baseline="-15873" dirty="0">
                <a:latin typeface="Microsoft Sans Serif"/>
                <a:cs typeface="Microsoft Sans Serif"/>
              </a:rPr>
              <a:t>3</a:t>
            </a:r>
            <a:endParaRPr sz="1050" baseline="-15873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82232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50" dirty="0"/>
              <a:t>RNN</a:t>
            </a:r>
            <a:r>
              <a:rPr spc="190" dirty="0"/>
              <a:t> </a:t>
            </a:r>
            <a:r>
              <a:rPr spc="290" dirty="0"/>
              <a:t>II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8300" y="1039976"/>
            <a:ext cx="3053816" cy="153035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09550" indent="-171450">
              <a:lnSpc>
                <a:spcPct val="100000"/>
              </a:lnSpc>
              <a:spcBef>
                <a:spcPts val="515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parameter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sharing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ensures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that</a:t>
            </a:r>
            <a:endParaRPr sz="1050" dirty="0">
              <a:latin typeface="Microsoft Sans Serif"/>
              <a:cs typeface="Microsoft Sans Serif"/>
            </a:endParaRPr>
          </a:p>
          <a:p>
            <a:pPr marL="364490" marR="50800" indent="-171450">
              <a:lnSpc>
                <a:spcPct val="118900"/>
              </a:lnSpc>
              <a:spcBef>
                <a:spcPts val="180"/>
              </a:spcBef>
              <a:buFont typeface="Courier New" panose="02070309020205020404" pitchFamily="49" charset="0"/>
              <a:buChar char="o"/>
            </a:pPr>
            <a:r>
              <a:rPr sz="950" spc="10" dirty="0" smtClean="0">
                <a:latin typeface="Microsoft Sans Serif"/>
                <a:cs typeface="Microsoft Sans Serif"/>
              </a:rPr>
              <a:t>the</a:t>
            </a:r>
            <a:r>
              <a:rPr sz="950" spc="25" dirty="0" smtClean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network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becomes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invariant</a:t>
            </a:r>
            <a:r>
              <a:rPr sz="950" spc="25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to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the</a:t>
            </a:r>
            <a:r>
              <a:rPr sz="950" spc="25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length </a:t>
            </a:r>
            <a:r>
              <a:rPr sz="950" spc="-24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of</a:t>
            </a:r>
            <a:r>
              <a:rPr sz="950" spc="15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the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input.</a:t>
            </a:r>
            <a:endParaRPr sz="950" dirty="0">
              <a:latin typeface="Microsoft Sans Serif"/>
              <a:cs typeface="Microsoft Sans Serif"/>
            </a:endParaRPr>
          </a:p>
          <a:p>
            <a:pPr marL="364490" indent="-171450">
              <a:lnSpc>
                <a:spcPct val="100000"/>
              </a:lnSpc>
              <a:spcBef>
                <a:spcPts val="215"/>
              </a:spcBef>
              <a:buFont typeface="Courier New" panose="02070309020205020404" pitchFamily="49" charset="0"/>
              <a:buChar char="o"/>
            </a:pPr>
            <a:r>
              <a:rPr sz="950" spc="10" dirty="0" smtClean="0">
                <a:latin typeface="Microsoft Sans Serif"/>
                <a:cs typeface="Microsoft Sans Serif"/>
              </a:rPr>
              <a:t>the</a:t>
            </a:r>
            <a:r>
              <a:rPr sz="950" spc="20" dirty="0" smtClean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number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of</a:t>
            </a:r>
            <a:r>
              <a:rPr sz="950" spc="15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time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steps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doesn’t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matter.</a:t>
            </a:r>
            <a:endParaRPr sz="950" dirty="0">
              <a:latin typeface="Microsoft Sans Serif"/>
              <a:cs typeface="Microsoft Sans Serif"/>
            </a:endParaRPr>
          </a:p>
          <a:p>
            <a:pPr marL="209550" marR="243840" indent="-171450">
              <a:lnSpc>
                <a:spcPct val="107500"/>
              </a:lnSpc>
              <a:spcBef>
                <a:spcPts val="320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latin typeface="Microsoft Sans Serif"/>
                <a:cs typeface="Microsoft Sans Serif"/>
              </a:rPr>
              <a:t>Create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multiple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copies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network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and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execute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them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each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timestep.</a:t>
            </a:r>
            <a:endParaRPr sz="1050" dirty="0">
              <a:latin typeface="Microsoft Sans Serif"/>
              <a:cs typeface="Microsoft Sans Serif"/>
            </a:endParaRPr>
          </a:p>
          <a:p>
            <a:pPr marL="364490" indent="-171450">
              <a:lnSpc>
                <a:spcPct val="100000"/>
              </a:lnSpc>
              <a:spcBef>
                <a:spcPts val="395"/>
              </a:spcBef>
              <a:buFont typeface="Courier New" panose="02070309020205020404" pitchFamily="49" charset="0"/>
              <a:buChar char="o"/>
            </a:pPr>
            <a:r>
              <a:rPr sz="950" spc="5" dirty="0" smtClean="0">
                <a:latin typeface="Microsoft Sans Serif"/>
                <a:cs typeface="Microsoft Sans Serif"/>
              </a:rPr>
              <a:t>i.e</a:t>
            </a:r>
            <a:r>
              <a:rPr sz="950" spc="5" dirty="0">
                <a:latin typeface="Microsoft Sans Serif"/>
                <a:cs typeface="Microsoft Sans Serif"/>
              </a:rPr>
              <a:t>.</a:t>
            </a:r>
            <a:r>
              <a:rPr sz="950" spc="8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create</a:t>
            </a:r>
            <a:r>
              <a:rPr sz="950" spc="15" dirty="0">
                <a:latin typeface="Microsoft Sans Serif"/>
                <a:cs typeface="Microsoft Sans Serif"/>
              </a:rPr>
              <a:t> a </a:t>
            </a:r>
            <a:r>
              <a:rPr sz="950" spc="10" dirty="0">
                <a:latin typeface="Microsoft Sans Serif"/>
                <a:cs typeface="Microsoft Sans Serif"/>
              </a:rPr>
              <a:t>loop</a:t>
            </a:r>
            <a:r>
              <a:rPr sz="950" spc="15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effect.</a:t>
            </a:r>
            <a:endParaRPr sz="950" dirty="0">
              <a:latin typeface="Microsoft Sans Serif"/>
              <a:cs typeface="Microsoft Sans Serif"/>
            </a:endParaRPr>
          </a:p>
          <a:p>
            <a:pPr marL="364490" indent="-171450">
              <a:lnSpc>
                <a:spcPct val="100000"/>
              </a:lnSpc>
              <a:spcBef>
                <a:spcPts val="215"/>
              </a:spcBef>
              <a:buFont typeface="Courier New" panose="02070309020205020404" pitchFamily="49" charset="0"/>
              <a:buChar char="o"/>
            </a:pPr>
            <a:r>
              <a:rPr sz="950" spc="5" dirty="0" smtClean="0">
                <a:latin typeface="Microsoft Sans Serif"/>
                <a:cs typeface="Microsoft Sans Serif"/>
              </a:rPr>
              <a:t>i.e</a:t>
            </a:r>
            <a:r>
              <a:rPr sz="950" spc="5" dirty="0">
                <a:latin typeface="Microsoft Sans Serif"/>
                <a:cs typeface="Microsoft Sans Serif"/>
              </a:rPr>
              <a:t>.</a:t>
            </a:r>
            <a:r>
              <a:rPr sz="950" spc="85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add </a:t>
            </a:r>
            <a:r>
              <a:rPr sz="950" spc="10" dirty="0">
                <a:latin typeface="Microsoft Sans Serif"/>
                <a:cs typeface="Microsoft Sans Serif"/>
              </a:rPr>
              <a:t>recurrent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connection</a:t>
            </a:r>
            <a:r>
              <a:rPr sz="950" spc="15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in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the</a:t>
            </a:r>
            <a:r>
              <a:rPr sz="950" spc="15" dirty="0">
                <a:latin typeface="Microsoft Sans Serif"/>
                <a:cs typeface="Microsoft Sans Serif"/>
              </a:rPr>
              <a:t> network.</a:t>
            </a:r>
            <a:endParaRPr sz="95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13848" y="2809130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spc="15" baseline="-15873" dirty="0">
                <a:latin typeface="Microsoft Sans Serif"/>
                <a:cs typeface="Microsoft Sans Serif"/>
              </a:rPr>
              <a:t>1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93856" y="1851756"/>
            <a:ext cx="96520" cy="995680"/>
            <a:chOff x="3593856" y="1851756"/>
            <a:chExt cx="96520" cy="995680"/>
          </a:xfrm>
        </p:grpSpPr>
        <p:sp>
          <p:nvSpPr>
            <p:cNvPr id="9" name="object 9"/>
            <p:cNvSpPr/>
            <p:nvPr/>
          </p:nvSpPr>
          <p:spPr>
            <a:xfrm>
              <a:off x="3596396" y="2484304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96396" y="2484304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96396" y="185429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96396" y="185429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41852" y="1910567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5" dirty="0">
                <a:latin typeface="Arial"/>
                <a:cs typeface="Arial"/>
              </a:rPr>
              <a:t>s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93856" y="1221748"/>
            <a:ext cx="96520" cy="365125"/>
            <a:chOff x="3593856" y="1221748"/>
            <a:chExt cx="96520" cy="365125"/>
          </a:xfrm>
        </p:grpSpPr>
        <p:sp>
          <p:nvSpPr>
            <p:cNvPr id="15" name="object 15"/>
            <p:cNvSpPr/>
            <p:nvPr/>
          </p:nvSpPr>
          <p:spPr>
            <a:xfrm>
              <a:off x="3596396" y="122428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96396" y="122428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13848" y="1009698"/>
            <a:ext cx="195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215" dirty="0">
                <a:latin typeface="Arial"/>
                <a:cs typeface="Arial"/>
              </a:rPr>
              <a:t>y</a:t>
            </a:r>
            <a:r>
              <a:rPr sz="1800" spc="-322" baseline="2314" dirty="0">
                <a:latin typeface="Tahoma"/>
                <a:cs typeface="Tahoma"/>
              </a:rPr>
              <a:t>ˆ</a:t>
            </a:r>
            <a:r>
              <a:rPr sz="1050" spc="-322" baseline="-15873" dirty="0">
                <a:latin typeface="Microsoft Sans Serif"/>
                <a:cs typeface="Microsoft Sans Serif"/>
              </a:rPr>
              <a:t>1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22962" y="2216830"/>
            <a:ext cx="38100" cy="267970"/>
            <a:chOff x="3622962" y="2216830"/>
            <a:chExt cx="38100" cy="267970"/>
          </a:xfrm>
        </p:grpSpPr>
        <p:sp>
          <p:nvSpPr>
            <p:cNvPr id="19" name="object 19"/>
            <p:cNvSpPr/>
            <p:nvPr/>
          </p:nvSpPr>
          <p:spPr>
            <a:xfrm>
              <a:off x="3641940" y="224719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22962" y="221683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89972" y="2248197"/>
            <a:ext cx="12446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22962" y="1586823"/>
            <a:ext cx="38100" cy="267970"/>
            <a:chOff x="3622962" y="1586823"/>
            <a:chExt cx="38100" cy="267970"/>
          </a:xfrm>
        </p:grpSpPr>
        <p:sp>
          <p:nvSpPr>
            <p:cNvPr id="23" name="object 23"/>
            <p:cNvSpPr/>
            <p:nvPr/>
          </p:nvSpPr>
          <p:spPr>
            <a:xfrm>
              <a:off x="3641940" y="161718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22962" y="158682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89972" y="1619331"/>
            <a:ext cx="116839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53840" y="2809130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spc="15" baseline="-15873" dirty="0">
                <a:latin typeface="Microsoft Sans Serif"/>
                <a:cs typeface="Microsoft Sans Serif"/>
              </a:rPr>
              <a:t>2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133863" y="1221748"/>
            <a:ext cx="96520" cy="1625600"/>
            <a:chOff x="4133863" y="1221748"/>
            <a:chExt cx="96520" cy="1625600"/>
          </a:xfrm>
        </p:grpSpPr>
        <p:sp>
          <p:nvSpPr>
            <p:cNvPr id="28" name="object 28"/>
            <p:cNvSpPr/>
            <p:nvPr/>
          </p:nvSpPr>
          <p:spPr>
            <a:xfrm>
              <a:off x="4136403" y="2484304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36403" y="2484304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136403" y="185429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36403" y="185429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136403" y="122428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36403" y="122428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053840" y="1009698"/>
            <a:ext cx="195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215" dirty="0">
                <a:latin typeface="Arial"/>
                <a:cs typeface="Arial"/>
              </a:rPr>
              <a:t>y</a:t>
            </a:r>
            <a:r>
              <a:rPr sz="1800" spc="-322" baseline="2314" dirty="0">
                <a:latin typeface="Tahoma"/>
                <a:cs typeface="Tahoma"/>
              </a:rPr>
              <a:t>ˆ</a:t>
            </a:r>
            <a:r>
              <a:rPr sz="1050" spc="-322" baseline="-15873" dirty="0">
                <a:latin typeface="Microsoft Sans Serif"/>
                <a:cs typeface="Microsoft Sans Serif"/>
              </a:rPr>
              <a:t>2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162969" y="2216830"/>
            <a:ext cx="38100" cy="267970"/>
            <a:chOff x="4162969" y="2216830"/>
            <a:chExt cx="38100" cy="267970"/>
          </a:xfrm>
        </p:grpSpPr>
        <p:sp>
          <p:nvSpPr>
            <p:cNvPr id="36" name="object 36"/>
            <p:cNvSpPr/>
            <p:nvPr/>
          </p:nvSpPr>
          <p:spPr>
            <a:xfrm>
              <a:off x="4181947" y="224719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162969" y="221683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229976" y="2248197"/>
            <a:ext cx="12446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162969" y="1586823"/>
            <a:ext cx="38100" cy="267970"/>
            <a:chOff x="4162969" y="1586823"/>
            <a:chExt cx="38100" cy="267970"/>
          </a:xfrm>
        </p:grpSpPr>
        <p:sp>
          <p:nvSpPr>
            <p:cNvPr id="40" name="object 40"/>
            <p:cNvSpPr/>
            <p:nvPr/>
          </p:nvSpPr>
          <p:spPr>
            <a:xfrm>
              <a:off x="4181947" y="161718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62969" y="158682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229976" y="1619331"/>
            <a:ext cx="116839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93844" y="2808381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spc="15" baseline="-15873" dirty="0">
                <a:latin typeface="Microsoft Sans Serif"/>
                <a:cs typeface="Microsoft Sans Serif"/>
              </a:rPr>
              <a:t>3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673869" y="1221748"/>
            <a:ext cx="96520" cy="1625600"/>
            <a:chOff x="4673869" y="1221748"/>
            <a:chExt cx="96520" cy="1625600"/>
          </a:xfrm>
        </p:grpSpPr>
        <p:sp>
          <p:nvSpPr>
            <p:cNvPr id="45" name="object 45"/>
            <p:cNvSpPr/>
            <p:nvPr/>
          </p:nvSpPr>
          <p:spPr>
            <a:xfrm>
              <a:off x="4676409" y="2484304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76409" y="2484304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76409" y="185429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676409" y="185429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76409" y="122428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76409" y="122428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593844" y="1009698"/>
            <a:ext cx="195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215" dirty="0">
                <a:latin typeface="Arial"/>
                <a:cs typeface="Arial"/>
              </a:rPr>
              <a:t>y</a:t>
            </a:r>
            <a:r>
              <a:rPr sz="1800" spc="-322" baseline="2314" dirty="0">
                <a:latin typeface="Tahoma"/>
                <a:cs typeface="Tahoma"/>
              </a:rPr>
              <a:t>ˆ</a:t>
            </a:r>
            <a:r>
              <a:rPr sz="1050" spc="-322" baseline="-15873" dirty="0">
                <a:latin typeface="Microsoft Sans Serif"/>
                <a:cs typeface="Microsoft Sans Serif"/>
              </a:rPr>
              <a:t>3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702975" y="1586823"/>
            <a:ext cx="787400" cy="1260475"/>
            <a:chOff x="4702975" y="1586823"/>
            <a:chExt cx="787400" cy="1260475"/>
          </a:xfrm>
        </p:grpSpPr>
        <p:sp>
          <p:nvSpPr>
            <p:cNvPr id="53" name="object 53"/>
            <p:cNvSpPr/>
            <p:nvPr/>
          </p:nvSpPr>
          <p:spPr>
            <a:xfrm>
              <a:off x="4721954" y="224719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702975" y="2216831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21954" y="161718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702975" y="158682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396418" y="185429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396418" y="1854296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396418" y="2484304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396418" y="2484304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5313845" y="2809130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i="1" spc="15" baseline="-15873" dirty="0">
                <a:latin typeface="Arial"/>
                <a:cs typeface="Arial"/>
              </a:rPr>
              <a:t>n</a:t>
            </a:r>
            <a:endParaRPr sz="1050" baseline="-15873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393878" y="1221748"/>
            <a:ext cx="96520" cy="365125"/>
            <a:chOff x="5393878" y="1221748"/>
            <a:chExt cx="96520" cy="365125"/>
          </a:xfrm>
        </p:grpSpPr>
        <p:sp>
          <p:nvSpPr>
            <p:cNvPr id="63" name="object 63"/>
            <p:cNvSpPr/>
            <p:nvPr/>
          </p:nvSpPr>
          <p:spPr>
            <a:xfrm>
              <a:off x="5396418" y="122428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9108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91088" y="360004"/>
                  </a:lnTo>
                  <a:lnTo>
                    <a:pt x="9108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96418" y="1224288"/>
              <a:ext cx="91440" cy="360045"/>
            </a:xfrm>
            <a:custGeom>
              <a:avLst/>
              <a:gdLst/>
              <a:ahLst/>
              <a:cxnLst/>
              <a:rect l="l" t="t" r="r" b="b"/>
              <a:pathLst>
                <a:path w="91439" h="360044">
                  <a:moveTo>
                    <a:pt x="0" y="360004"/>
                  </a:moveTo>
                  <a:lnTo>
                    <a:pt x="91088" y="360004"/>
                  </a:lnTo>
                  <a:lnTo>
                    <a:pt x="9108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313845" y="1009698"/>
            <a:ext cx="195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215" dirty="0">
                <a:latin typeface="Arial"/>
                <a:cs typeface="Arial"/>
              </a:rPr>
              <a:t>y</a:t>
            </a:r>
            <a:r>
              <a:rPr sz="1800" spc="-322" baseline="2314" dirty="0">
                <a:latin typeface="Tahoma"/>
                <a:cs typeface="Tahoma"/>
              </a:rPr>
              <a:t>ˆ</a:t>
            </a:r>
            <a:r>
              <a:rPr sz="1050" i="1" spc="-322" baseline="-15873" dirty="0">
                <a:latin typeface="Arial"/>
                <a:cs typeface="Arial"/>
              </a:rPr>
              <a:t>n</a:t>
            </a:r>
            <a:endParaRPr sz="1050" baseline="-15873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422984" y="2216830"/>
            <a:ext cx="38100" cy="267970"/>
            <a:chOff x="5422984" y="2216830"/>
            <a:chExt cx="38100" cy="267970"/>
          </a:xfrm>
        </p:grpSpPr>
        <p:sp>
          <p:nvSpPr>
            <p:cNvPr id="67" name="object 67"/>
            <p:cNvSpPr/>
            <p:nvPr/>
          </p:nvSpPr>
          <p:spPr>
            <a:xfrm>
              <a:off x="5441963" y="224719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22984" y="2216830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5489968" y="2248197"/>
            <a:ext cx="12446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5422984" y="1586823"/>
            <a:ext cx="38100" cy="267970"/>
            <a:chOff x="5422984" y="1586823"/>
            <a:chExt cx="38100" cy="267970"/>
          </a:xfrm>
        </p:grpSpPr>
        <p:sp>
          <p:nvSpPr>
            <p:cNvPr id="71" name="object 71"/>
            <p:cNvSpPr/>
            <p:nvPr/>
          </p:nvSpPr>
          <p:spPr>
            <a:xfrm>
              <a:off x="5441963" y="161718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57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422984" y="158682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5464568" y="1619331"/>
            <a:ext cx="224790" cy="480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  <a:spcBef>
                <a:spcPts val="1035"/>
              </a:spcBef>
            </a:pP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spc="15" baseline="-15873" dirty="0">
                <a:latin typeface="Arial"/>
                <a:cs typeface="Arial"/>
              </a:rPr>
              <a:t>n</a:t>
            </a:r>
            <a:endParaRPr sz="1050" baseline="-15873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3687475" y="2015319"/>
            <a:ext cx="446405" cy="38100"/>
            <a:chOff x="3687475" y="2015319"/>
            <a:chExt cx="446405" cy="38100"/>
          </a:xfrm>
        </p:grpSpPr>
        <p:sp>
          <p:nvSpPr>
            <p:cNvPr id="75" name="object 75"/>
            <p:cNvSpPr/>
            <p:nvPr/>
          </p:nvSpPr>
          <p:spPr>
            <a:xfrm>
              <a:off x="3690015" y="2034298"/>
              <a:ext cx="414020" cy="0"/>
            </a:xfrm>
            <a:custGeom>
              <a:avLst/>
              <a:gdLst/>
              <a:ahLst/>
              <a:cxnLst/>
              <a:rect l="l" t="t" r="r" b="b"/>
              <a:pathLst>
                <a:path w="414020">
                  <a:moveTo>
                    <a:pt x="0" y="0"/>
                  </a:moveTo>
                  <a:lnTo>
                    <a:pt x="41349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083262" y="2015319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825392" y="1824233"/>
            <a:ext cx="15494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20" dirty="0">
                <a:latin typeface="Arial"/>
                <a:cs typeface="Arial"/>
              </a:rPr>
              <a:t>W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4227482" y="2015319"/>
            <a:ext cx="446405" cy="38100"/>
            <a:chOff x="4227482" y="2015319"/>
            <a:chExt cx="446405" cy="38100"/>
          </a:xfrm>
        </p:grpSpPr>
        <p:sp>
          <p:nvSpPr>
            <p:cNvPr id="79" name="object 79"/>
            <p:cNvSpPr/>
            <p:nvPr/>
          </p:nvSpPr>
          <p:spPr>
            <a:xfrm>
              <a:off x="4230022" y="2034298"/>
              <a:ext cx="414020" cy="0"/>
            </a:xfrm>
            <a:custGeom>
              <a:avLst/>
              <a:gdLst/>
              <a:ahLst/>
              <a:cxnLst/>
              <a:rect l="l" t="t" r="r" b="b"/>
              <a:pathLst>
                <a:path w="414020">
                  <a:moveTo>
                    <a:pt x="0" y="0"/>
                  </a:moveTo>
                  <a:lnTo>
                    <a:pt x="41349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23269" y="2015319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365383" y="1824233"/>
            <a:ext cx="15494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20" dirty="0">
                <a:latin typeface="Arial"/>
                <a:cs typeface="Arial"/>
              </a:rPr>
              <a:t>W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4770029" y="2015319"/>
            <a:ext cx="624205" cy="38100"/>
            <a:chOff x="4770029" y="2015319"/>
            <a:chExt cx="624205" cy="38100"/>
          </a:xfrm>
        </p:grpSpPr>
        <p:sp>
          <p:nvSpPr>
            <p:cNvPr id="83" name="object 83"/>
            <p:cNvSpPr/>
            <p:nvPr/>
          </p:nvSpPr>
          <p:spPr>
            <a:xfrm>
              <a:off x="4770029" y="2034298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348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93272" y="2015319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220034" y="2034298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348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343278" y="2015319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4744567" y="1534865"/>
            <a:ext cx="655955" cy="90296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sz="1050" i="1" spc="15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sz="1575" i="1" spc="30" baseline="29100" dirty="0">
                <a:latin typeface="Arial"/>
                <a:cs typeface="Arial"/>
              </a:rPr>
              <a:t>W </a:t>
            </a:r>
            <a:r>
              <a:rPr sz="1575" i="1" spc="67" baseline="29100" dirty="0">
                <a:latin typeface="Arial"/>
                <a:cs typeface="Arial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.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.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.</a:t>
            </a:r>
            <a:r>
              <a:rPr sz="1200" i="1" spc="100" dirty="0">
                <a:latin typeface="Verdana"/>
                <a:cs typeface="Verdana"/>
              </a:rPr>
              <a:t> </a:t>
            </a:r>
            <a:r>
              <a:rPr sz="1575" i="1" spc="30" baseline="29100" dirty="0">
                <a:latin typeface="Arial"/>
                <a:cs typeface="Arial"/>
              </a:rPr>
              <a:t>W</a:t>
            </a:r>
            <a:endParaRPr sz="1575" baseline="29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510"/>
              </a:spcBef>
            </a:pPr>
            <a:r>
              <a:rPr sz="1050" i="1" spc="15" dirty="0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8294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/>
              <a:t>I</a:t>
            </a:r>
            <a:r>
              <a:rPr cap="small" spc="180" dirty="0"/>
              <a:t>n</a:t>
            </a:r>
            <a:r>
              <a:rPr spc="180" dirty="0"/>
              <a:t> </a:t>
            </a:r>
            <a:r>
              <a:rPr spc="-120" dirty="0"/>
              <a:t> </a:t>
            </a:r>
            <a:r>
              <a:rPr spc="520" dirty="0"/>
              <a:t>T</a:t>
            </a:r>
            <a:r>
              <a:rPr cap="small" spc="185" dirty="0"/>
              <a:t>his</a:t>
            </a:r>
            <a:r>
              <a:rPr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50" dirty="0"/>
              <a:t>egment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730567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73423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1023899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10275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317243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32092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EAEAF7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61058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61425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903933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90760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19726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220094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49" y="2490609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49429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78395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78762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029" y="591696"/>
            <a:ext cx="3757295" cy="23723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S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</a:t>
            </a:r>
            <a:r>
              <a:rPr sz="1400" spc="17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q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uence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earning</a:t>
            </a:r>
            <a:endParaRPr sz="1400">
              <a:latin typeface="Calibri"/>
              <a:cs typeface="Calibri"/>
            </a:endParaRPr>
          </a:p>
          <a:p>
            <a:pPr marL="12700" marR="397510">
              <a:lnSpc>
                <a:spcPct val="137500"/>
              </a:lnSpc>
            </a:pP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ecurrent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et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w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ork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(RNN)</a:t>
            </a:r>
            <a:r>
              <a:rPr sz="1400" spc="12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445" dirty="0">
                <a:solidFill>
                  <a:srgbClr val="3333B2"/>
                </a:solidFill>
                <a:latin typeface="Calibri"/>
                <a:cs typeface="Calibri"/>
                <a:hlinkClick r:id="rId8" action="ppaction://hlinksldjump"/>
              </a:rPr>
              <a:t>T</a:t>
            </a:r>
            <a:r>
              <a:rPr sz="1400" cap="small" spc="245" dirty="0">
                <a:solidFill>
                  <a:srgbClr val="3333B2"/>
                </a:solidFill>
                <a:latin typeface="Calibri"/>
                <a:cs typeface="Calibri"/>
                <a:hlinkClick r:id="rId8" action="ppaction://hlinksldjump"/>
              </a:rPr>
              <a:t>ypes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cap="small" spc="220" dirty="0">
                <a:solidFill>
                  <a:srgbClr val="3333B2"/>
                </a:solidFill>
                <a:latin typeface="Calibri"/>
                <a:cs typeface="Calibri"/>
                <a:hlinkClick r:id="rId8" action="ppaction://hlinksldjump"/>
              </a:rPr>
              <a:t>of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300" dirty="0">
                <a:solidFill>
                  <a:srgbClr val="3333B2"/>
                </a:solidFill>
                <a:latin typeface="Calibri"/>
                <a:cs typeface="Calibri"/>
                <a:hlinkClick r:id="rId8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2146935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earning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RNN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</a:t>
            </a:r>
            <a:r>
              <a:rPr sz="1400" cap="small" spc="17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ssues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L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ong</a:t>
            </a:r>
            <a:r>
              <a:rPr sz="1400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ho</a:t>
            </a:r>
            <a:r>
              <a:rPr sz="1400" cap="small" spc="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erm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em</a:t>
            </a:r>
            <a:r>
              <a:rPr sz="1400" cap="small" spc="18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</a:t>
            </a:r>
            <a:r>
              <a:rPr sz="1400" cap="small" spc="17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y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3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(LST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spc="2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)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G</a:t>
            </a:r>
            <a:r>
              <a:rPr sz="1400" cap="small" spc="1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ted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ecurrent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9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(G</a:t>
            </a:r>
            <a:r>
              <a:rPr sz="1400" spc="2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U)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4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B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idirectional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16268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5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700" cap="small" spc="280" dirty="0">
                <a:solidFill>
                  <a:srgbClr val="FFFFFF"/>
                </a:solidFill>
                <a:latin typeface="Calibri"/>
                <a:cs typeface="Calibri"/>
              </a:rPr>
              <a:t>ypes</a:t>
            </a:r>
            <a:r>
              <a:rPr sz="1700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25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350" dirty="0">
                <a:solidFill>
                  <a:srgbClr val="FFFFFF"/>
                </a:solidFill>
                <a:latin typeface="Calibri"/>
                <a:cs typeface="Calibri"/>
              </a:rPr>
              <a:t>RNN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582555"/>
            <a:ext cx="4275455" cy="2468245"/>
            <a:chOff x="359994" y="582555"/>
            <a:chExt cx="4275455" cy="2468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016" y="582555"/>
              <a:ext cx="3509962" cy="215312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272" y="3062817"/>
            <a:ext cx="13728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Microsoft Sans Serif"/>
                <a:cs typeface="Microsoft Sans Serif"/>
              </a:rPr>
              <a:t>Courtesy:</a:t>
            </a:r>
            <a:r>
              <a:rPr sz="900" spc="4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Andrej Karpathy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16268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5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700" cap="small" spc="280" dirty="0">
                <a:solidFill>
                  <a:srgbClr val="FFFFFF"/>
                </a:solidFill>
                <a:latin typeface="Calibri"/>
                <a:cs typeface="Calibri"/>
              </a:rPr>
              <a:t>ypes</a:t>
            </a:r>
            <a:r>
              <a:rPr sz="1700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25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350" dirty="0">
                <a:solidFill>
                  <a:srgbClr val="FFFFFF"/>
                </a:solidFill>
                <a:latin typeface="Calibri"/>
                <a:cs typeface="Calibri"/>
              </a:rPr>
              <a:t>RNN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586746"/>
            <a:ext cx="4112895" cy="2463800"/>
            <a:chOff x="359994" y="586746"/>
            <a:chExt cx="4112895" cy="2463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7411" y="586746"/>
              <a:ext cx="3185160" cy="21426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272" y="3062817"/>
            <a:ext cx="13728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Microsoft Sans Serif"/>
                <a:cs typeface="Microsoft Sans Serif"/>
              </a:rPr>
              <a:t>Courtesy:</a:t>
            </a:r>
            <a:r>
              <a:rPr sz="900" spc="4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Andrej Karpathy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36144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20" dirty="0"/>
              <a:t>T</a:t>
            </a:r>
            <a:r>
              <a:rPr cap="small" spc="280" dirty="0"/>
              <a:t>ypes</a:t>
            </a:r>
            <a:r>
              <a:rPr spc="280" dirty="0"/>
              <a:t> </a:t>
            </a:r>
            <a:r>
              <a:rPr spc="-120" dirty="0"/>
              <a:t> </a:t>
            </a:r>
            <a:r>
              <a:rPr cap="small" spc="250" dirty="0"/>
              <a:t>of</a:t>
            </a:r>
            <a:r>
              <a:rPr dirty="0"/>
              <a:t> </a:t>
            </a:r>
            <a:r>
              <a:rPr spc="-120" dirty="0"/>
              <a:t> </a:t>
            </a:r>
            <a:r>
              <a:rPr spc="350" dirty="0"/>
              <a:t>RNN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229" dirty="0"/>
              <a:t>and</a:t>
            </a:r>
            <a:r>
              <a:rPr dirty="0"/>
              <a:t> </a:t>
            </a:r>
            <a:r>
              <a:rPr spc="-120" dirty="0"/>
              <a:t> </a:t>
            </a:r>
            <a:r>
              <a:rPr spc="415" dirty="0"/>
              <a:t>A</a:t>
            </a:r>
            <a:r>
              <a:rPr cap="small" spc="260" dirty="0"/>
              <a:t>pplic</a:t>
            </a:r>
            <a:r>
              <a:rPr cap="small" spc="155" dirty="0"/>
              <a:t>a</a:t>
            </a:r>
            <a:r>
              <a:rPr cap="small" spc="215" dirty="0"/>
              <a:t>tions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4500" y="708025"/>
            <a:ext cx="4572000" cy="1368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08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200" spc="15" dirty="0">
                <a:cs typeface="Microsoft Sans Serif"/>
              </a:rPr>
              <a:t>One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to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one</a:t>
            </a:r>
            <a:r>
              <a:rPr sz="1200" spc="30" dirty="0">
                <a:cs typeface="Microsoft Sans Serif"/>
              </a:rPr>
              <a:t> </a:t>
            </a:r>
            <a:r>
              <a:rPr sz="1200" spc="290" dirty="0">
                <a:cs typeface="Microsoft Sans Serif"/>
              </a:rPr>
              <a:t>–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Generic</a:t>
            </a:r>
            <a:r>
              <a:rPr sz="1200" spc="30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neural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network,</a:t>
            </a:r>
            <a:r>
              <a:rPr sz="1200" spc="30" dirty="0">
                <a:cs typeface="Microsoft Sans Serif"/>
              </a:rPr>
              <a:t> </a:t>
            </a:r>
            <a:r>
              <a:rPr sz="1200" spc="10" dirty="0" smtClean="0">
                <a:cs typeface="Microsoft Sans Serif"/>
              </a:rPr>
              <a:t>Image</a:t>
            </a:r>
            <a:r>
              <a:rPr lang="en-IN" sz="1200" spc="10" dirty="0" smtClean="0">
                <a:cs typeface="Microsoft Sans Serif"/>
              </a:rPr>
              <a:t> </a:t>
            </a:r>
            <a:r>
              <a:rPr sz="1200" spc="5" dirty="0" smtClean="0">
                <a:cs typeface="Microsoft Sans Serif"/>
              </a:rPr>
              <a:t>classification </a:t>
            </a:r>
            <a:r>
              <a:rPr sz="1200" spc="-260" dirty="0" smtClean="0">
                <a:cs typeface="Microsoft Sans Serif"/>
              </a:rPr>
              <a:t> </a:t>
            </a:r>
            <a:endParaRPr lang="en-IN" sz="1200" spc="-260" dirty="0" smtClean="0">
              <a:cs typeface="Microsoft Sans Serif"/>
            </a:endParaRPr>
          </a:p>
          <a:p>
            <a:pPr marL="184150" marR="508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200" spc="15" dirty="0" smtClean="0">
                <a:cs typeface="Microsoft Sans Serif"/>
              </a:rPr>
              <a:t>One</a:t>
            </a:r>
            <a:r>
              <a:rPr sz="1200" spc="20" dirty="0" smtClean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to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many</a:t>
            </a:r>
            <a:r>
              <a:rPr sz="1200" spc="20" dirty="0">
                <a:cs typeface="Microsoft Sans Serif"/>
              </a:rPr>
              <a:t> </a:t>
            </a:r>
            <a:r>
              <a:rPr sz="1200" spc="290" dirty="0">
                <a:cs typeface="Microsoft Sans Serif"/>
              </a:rPr>
              <a:t>–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Music</a:t>
            </a:r>
            <a:r>
              <a:rPr sz="1200" spc="20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generation,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Image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Captioning</a:t>
            </a:r>
            <a:endParaRPr sz="1200" dirty="0">
              <a:cs typeface="Microsoft Sans Serif"/>
            </a:endParaRPr>
          </a:p>
          <a:p>
            <a:pPr marL="184150" marR="465455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200" spc="10" dirty="0">
                <a:cs typeface="Microsoft Sans Serif"/>
              </a:rPr>
              <a:t>Many</a:t>
            </a:r>
            <a:r>
              <a:rPr sz="1200" spc="1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to</a:t>
            </a:r>
            <a:r>
              <a:rPr sz="1200" spc="1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one</a:t>
            </a:r>
            <a:r>
              <a:rPr sz="1200" spc="15" dirty="0">
                <a:cs typeface="Microsoft Sans Serif"/>
              </a:rPr>
              <a:t> </a:t>
            </a:r>
            <a:r>
              <a:rPr sz="1200" spc="290" dirty="0">
                <a:cs typeface="Microsoft Sans Serif"/>
              </a:rPr>
              <a:t>–</a:t>
            </a:r>
            <a:r>
              <a:rPr sz="1200" spc="20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Movie</a:t>
            </a:r>
            <a:r>
              <a:rPr sz="1200" spc="15" dirty="0">
                <a:cs typeface="Microsoft Sans Serif"/>
              </a:rPr>
              <a:t> </a:t>
            </a:r>
            <a:r>
              <a:rPr sz="1200" dirty="0">
                <a:cs typeface="Microsoft Sans Serif"/>
              </a:rPr>
              <a:t>review</a:t>
            </a:r>
            <a:r>
              <a:rPr sz="1200" spc="1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or</a:t>
            </a:r>
            <a:r>
              <a:rPr sz="1200" spc="1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Sentiment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Analysis </a:t>
            </a:r>
            <a:r>
              <a:rPr sz="1200" spc="-265" dirty="0">
                <a:cs typeface="Microsoft Sans Serif"/>
              </a:rPr>
              <a:t> </a:t>
            </a:r>
            <a:endParaRPr lang="en-IN" sz="1200" spc="-265" dirty="0" smtClean="0">
              <a:cs typeface="Microsoft Sans Serif"/>
            </a:endParaRPr>
          </a:p>
          <a:p>
            <a:pPr marL="184150" marR="465455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200" spc="10" dirty="0" smtClean="0">
                <a:cs typeface="Microsoft Sans Serif"/>
              </a:rPr>
              <a:t>Many</a:t>
            </a:r>
            <a:r>
              <a:rPr sz="1200" spc="15" dirty="0" smtClean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to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many</a:t>
            </a:r>
            <a:r>
              <a:rPr sz="1200" spc="20" dirty="0">
                <a:cs typeface="Microsoft Sans Serif"/>
              </a:rPr>
              <a:t> </a:t>
            </a:r>
            <a:r>
              <a:rPr sz="1200" spc="290" dirty="0">
                <a:cs typeface="Microsoft Sans Serif"/>
              </a:rPr>
              <a:t>–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Machine</a:t>
            </a:r>
            <a:r>
              <a:rPr sz="1200" spc="15" dirty="0">
                <a:cs typeface="Microsoft Sans Serif"/>
              </a:rPr>
              <a:t> </a:t>
            </a:r>
            <a:r>
              <a:rPr sz="1200" spc="5" dirty="0" smtClean="0">
                <a:cs typeface="Microsoft Sans Serif"/>
              </a:rPr>
              <a:t>translation</a:t>
            </a:r>
            <a:r>
              <a:rPr lang="en-IN" sz="1200" spc="5" dirty="0" smtClean="0">
                <a:cs typeface="Microsoft Sans Serif"/>
              </a:rPr>
              <a:t> </a:t>
            </a:r>
            <a:r>
              <a:rPr sz="1200" spc="10" dirty="0" smtClean="0">
                <a:cs typeface="Microsoft Sans Serif"/>
              </a:rPr>
              <a:t>Synced</a:t>
            </a:r>
            <a:r>
              <a:rPr sz="1200" spc="15" dirty="0" smtClean="0">
                <a:cs typeface="Microsoft Sans Serif"/>
              </a:rPr>
              <a:t> </a:t>
            </a:r>
            <a:endParaRPr lang="en-IN" sz="1200" spc="15" dirty="0" smtClean="0">
              <a:cs typeface="Microsoft Sans Serif"/>
            </a:endParaRPr>
          </a:p>
          <a:p>
            <a:pPr marL="1841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200" spc="10" dirty="0" smtClean="0">
                <a:cs typeface="Microsoft Sans Serif"/>
              </a:rPr>
              <a:t>Many</a:t>
            </a:r>
            <a:r>
              <a:rPr sz="1200" spc="20" dirty="0" smtClean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to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many</a:t>
            </a:r>
            <a:r>
              <a:rPr sz="1200" spc="20" dirty="0">
                <a:cs typeface="Microsoft Sans Serif"/>
              </a:rPr>
              <a:t> </a:t>
            </a:r>
            <a:r>
              <a:rPr sz="1200" spc="290" dirty="0">
                <a:cs typeface="Microsoft Sans Serif"/>
              </a:rPr>
              <a:t>–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Video</a:t>
            </a:r>
            <a:r>
              <a:rPr sz="1200" spc="20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classification</a:t>
            </a:r>
            <a:endParaRPr sz="120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8294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/>
              <a:t>I</a:t>
            </a:r>
            <a:r>
              <a:rPr cap="small" spc="180" dirty="0"/>
              <a:t>n</a:t>
            </a:r>
            <a:r>
              <a:rPr spc="180" dirty="0"/>
              <a:t> </a:t>
            </a:r>
            <a:r>
              <a:rPr spc="-120" dirty="0"/>
              <a:t> </a:t>
            </a:r>
            <a:r>
              <a:rPr spc="520" dirty="0"/>
              <a:t>T</a:t>
            </a:r>
            <a:r>
              <a:rPr cap="small" spc="185" dirty="0"/>
              <a:t>his</a:t>
            </a:r>
            <a:r>
              <a:rPr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50" dirty="0"/>
              <a:t>egment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730567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73423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1023899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10275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317243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32092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61058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61425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EAEAF7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903933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90760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19726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220094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49" y="2490609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49429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78395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78762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029" y="591696"/>
            <a:ext cx="3757295" cy="23723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S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</a:t>
            </a:r>
            <a:r>
              <a:rPr sz="1400" spc="17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q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uence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earning</a:t>
            </a:r>
            <a:endParaRPr sz="1400">
              <a:latin typeface="Calibri"/>
              <a:cs typeface="Calibri"/>
            </a:endParaRPr>
          </a:p>
          <a:p>
            <a:pPr marL="12700" marR="397510">
              <a:lnSpc>
                <a:spcPct val="137500"/>
              </a:lnSpc>
            </a:pP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ecurrent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et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w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ork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(RNN)</a:t>
            </a:r>
            <a:r>
              <a:rPr sz="1400" spc="12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T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ypes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of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2146935">
              <a:lnSpc>
                <a:spcPct val="137500"/>
              </a:lnSpc>
            </a:pPr>
            <a:r>
              <a:rPr sz="1400" spc="39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L</a:t>
            </a:r>
            <a:r>
              <a:rPr sz="1400" cap="small" spc="21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earning</a:t>
            </a:r>
            <a:r>
              <a:rPr sz="1400" spc="21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cap="small" spc="16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in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30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RNN</a:t>
            </a:r>
            <a:r>
              <a:rPr sz="1400" spc="1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</a:t>
            </a:r>
            <a:r>
              <a:rPr sz="1400" cap="small" spc="17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ssues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L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ong</a:t>
            </a:r>
            <a:r>
              <a:rPr sz="1400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ho</a:t>
            </a:r>
            <a:r>
              <a:rPr sz="1400" cap="small" spc="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erm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em</a:t>
            </a:r>
            <a:r>
              <a:rPr sz="1400" cap="small" spc="18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</a:t>
            </a:r>
            <a:r>
              <a:rPr sz="1400" cap="small" spc="17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y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3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(LST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spc="2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)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G</a:t>
            </a:r>
            <a:r>
              <a:rPr sz="1400" cap="small" spc="1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ted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ecurrent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9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(G</a:t>
            </a:r>
            <a:r>
              <a:rPr sz="1400" spc="2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U)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4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B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idirectional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336296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90" dirty="0"/>
              <a:t>F</a:t>
            </a:r>
            <a:r>
              <a:rPr cap="small" spc="195" dirty="0"/>
              <a:t>o</a:t>
            </a:r>
            <a:r>
              <a:rPr cap="small" spc="145" dirty="0"/>
              <a:t>r</a:t>
            </a:r>
            <a:r>
              <a:rPr cap="small" spc="80" dirty="0"/>
              <a:t>w</a:t>
            </a:r>
            <a:r>
              <a:rPr cap="small" spc="270" dirty="0"/>
              <a:t>ard</a:t>
            </a:r>
            <a:r>
              <a:rPr dirty="0"/>
              <a:t> </a:t>
            </a:r>
            <a:r>
              <a:rPr spc="-120" dirty="0"/>
              <a:t> </a:t>
            </a:r>
            <a:r>
              <a:rPr spc="395" dirty="0"/>
              <a:t>P</a:t>
            </a:r>
            <a:r>
              <a:rPr cap="small" spc="260" dirty="0"/>
              <a:t>r</a:t>
            </a:r>
            <a:r>
              <a:rPr cap="small" spc="195" dirty="0"/>
              <a:t>o</a:t>
            </a:r>
            <a:r>
              <a:rPr cap="small" spc="145" dirty="0"/>
              <a:t>p</a:t>
            </a:r>
            <a:r>
              <a:rPr cap="small" spc="229" dirty="0"/>
              <a:t>a</a:t>
            </a:r>
            <a:r>
              <a:rPr cap="small" spc="250" dirty="0"/>
              <a:t>g</a:t>
            </a:r>
            <a:r>
              <a:rPr cap="small" spc="150" dirty="0"/>
              <a:t>a</a:t>
            </a:r>
            <a:r>
              <a:rPr cap="small" spc="229" dirty="0"/>
              <a:t>tion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180" dirty="0"/>
              <a:t>in</a:t>
            </a:r>
            <a:r>
              <a:rPr dirty="0"/>
              <a:t> </a:t>
            </a:r>
            <a:r>
              <a:rPr spc="-120" dirty="0"/>
              <a:t> </a:t>
            </a:r>
            <a:r>
              <a:rPr spc="350" dirty="0"/>
              <a:t>RNN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9989" y="1562005"/>
            <a:ext cx="1233170" cy="570865"/>
            <a:chOff x="829989" y="1562005"/>
            <a:chExt cx="1233170" cy="570865"/>
          </a:xfrm>
        </p:grpSpPr>
        <p:sp>
          <p:nvSpPr>
            <p:cNvPr id="4" name="object 4"/>
            <p:cNvSpPr/>
            <p:nvPr/>
          </p:nvSpPr>
          <p:spPr>
            <a:xfrm>
              <a:off x="831894" y="1563910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189002" y="0"/>
                  </a:moveTo>
                  <a:lnTo>
                    <a:pt x="0" y="0"/>
                  </a:lnTo>
                  <a:lnTo>
                    <a:pt x="0" y="567007"/>
                  </a:lnTo>
                  <a:lnTo>
                    <a:pt x="189002" y="567007"/>
                  </a:lnTo>
                  <a:lnTo>
                    <a:pt x="189002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1894" y="1563910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0" y="567007"/>
                  </a:moveTo>
                  <a:lnTo>
                    <a:pt x="189002" y="567007"/>
                  </a:lnTo>
                  <a:lnTo>
                    <a:pt x="189002" y="0"/>
                  </a:lnTo>
                  <a:lnTo>
                    <a:pt x="0" y="0"/>
                  </a:lnTo>
                  <a:lnTo>
                    <a:pt x="0" y="567007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25" y="1962586"/>
              <a:ext cx="129544" cy="129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25" y="1782642"/>
              <a:ext cx="129544" cy="129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25" y="1602698"/>
              <a:ext cx="129544" cy="1295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52044" y="1563910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189002" y="0"/>
                  </a:moveTo>
                  <a:lnTo>
                    <a:pt x="0" y="0"/>
                  </a:lnTo>
                  <a:lnTo>
                    <a:pt x="0" y="567007"/>
                  </a:lnTo>
                  <a:lnTo>
                    <a:pt x="189002" y="567007"/>
                  </a:lnTo>
                  <a:lnTo>
                    <a:pt x="189002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52044" y="1563910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0" y="567007"/>
                  </a:moveTo>
                  <a:lnTo>
                    <a:pt x="189002" y="567007"/>
                  </a:lnTo>
                  <a:lnTo>
                    <a:pt x="189002" y="0"/>
                  </a:lnTo>
                  <a:lnTo>
                    <a:pt x="0" y="0"/>
                  </a:lnTo>
                  <a:lnTo>
                    <a:pt x="0" y="567007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5471" y="1782642"/>
              <a:ext cx="129543" cy="129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5471" y="1962586"/>
              <a:ext cx="129543" cy="129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5471" y="1602698"/>
              <a:ext cx="129543" cy="1295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72194" y="1563910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189002" y="0"/>
                  </a:moveTo>
                  <a:lnTo>
                    <a:pt x="0" y="0"/>
                  </a:lnTo>
                  <a:lnTo>
                    <a:pt x="0" y="567007"/>
                  </a:lnTo>
                  <a:lnTo>
                    <a:pt x="189002" y="567007"/>
                  </a:lnTo>
                  <a:lnTo>
                    <a:pt x="189002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72194" y="1563910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0" y="567007"/>
                  </a:moveTo>
                  <a:lnTo>
                    <a:pt x="189002" y="567007"/>
                  </a:lnTo>
                  <a:lnTo>
                    <a:pt x="189002" y="0"/>
                  </a:lnTo>
                  <a:lnTo>
                    <a:pt x="0" y="0"/>
                  </a:lnTo>
                  <a:lnTo>
                    <a:pt x="0" y="567007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5621" y="1782642"/>
              <a:ext cx="129544" cy="1295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5621" y="1962586"/>
              <a:ext cx="129544" cy="1295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5621" y="1602698"/>
              <a:ext cx="129544" cy="12954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335898" y="1733597"/>
            <a:ext cx="14795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i="1" spc="-65" dirty="0">
                <a:latin typeface="Verdana"/>
                <a:cs typeface="Verdana"/>
              </a:rPr>
              <a:t>.</a:t>
            </a:r>
            <a:r>
              <a:rPr sz="800" i="1" spc="-145" dirty="0">
                <a:latin typeface="Verdana"/>
                <a:cs typeface="Verdana"/>
              </a:rPr>
              <a:t> </a:t>
            </a:r>
            <a:r>
              <a:rPr sz="800" i="1" spc="-65" dirty="0">
                <a:latin typeface="Verdana"/>
                <a:cs typeface="Verdana"/>
              </a:rPr>
              <a:t>.</a:t>
            </a:r>
            <a:r>
              <a:rPr sz="800" i="1" spc="-145" dirty="0">
                <a:latin typeface="Verdana"/>
                <a:cs typeface="Verdana"/>
              </a:rPr>
              <a:t> </a:t>
            </a:r>
            <a:r>
              <a:rPr sz="800" i="1" spc="-65" dirty="0">
                <a:latin typeface="Verdana"/>
                <a:cs typeface="Verdana"/>
              </a:rPr>
              <a:t>.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4310" y="1562005"/>
            <a:ext cx="2437765" cy="570865"/>
            <a:chOff x="574310" y="1562005"/>
            <a:chExt cx="2437765" cy="570865"/>
          </a:xfrm>
        </p:grpSpPr>
        <p:sp>
          <p:nvSpPr>
            <p:cNvPr id="21" name="object 21"/>
            <p:cNvSpPr/>
            <p:nvPr/>
          </p:nvSpPr>
          <p:spPr>
            <a:xfrm>
              <a:off x="2820748" y="1563910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189002" y="0"/>
                  </a:moveTo>
                  <a:lnTo>
                    <a:pt x="0" y="0"/>
                  </a:lnTo>
                  <a:lnTo>
                    <a:pt x="0" y="567007"/>
                  </a:lnTo>
                  <a:lnTo>
                    <a:pt x="189002" y="567007"/>
                  </a:lnTo>
                  <a:lnTo>
                    <a:pt x="189002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20748" y="1563910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0" y="567007"/>
                  </a:moveTo>
                  <a:lnTo>
                    <a:pt x="189002" y="567007"/>
                  </a:lnTo>
                  <a:lnTo>
                    <a:pt x="189002" y="0"/>
                  </a:lnTo>
                  <a:lnTo>
                    <a:pt x="0" y="0"/>
                  </a:lnTo>
                  <a:lnTo>
                    <a:pt x="0" y="567007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4179" y="1782642"/>
              <a:ext cx="129544" cy="1295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4179" y="1962586"/>
              <a:ext cx="129544" cy="1295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4179" y="1602698"/>
              <a:ext cx="129544" cy="1295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78120" y="1847414"/>
              <a:ext cx="224790" cy="0"/>
            </a:xfrm>
            <a:custGeom>
              <a:avLst/>
              <a:gdLst/>
              <a:ahLst/>
              <a:cxnLst/>
              <a:rect l="l" t="t" r="r" b="b"/>
              <a:pathLst>
                <a:path w="224790">
                  <a:moveTo>
                    <a:pt x="0" y="0"/>
                  </a:moveTo>
                  <a:lnTo>
                    <a:pt x="22437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84068" y="1830143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22668" y="1847414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>
                  <a:moveTo>
                    <a:pt x="0" y="0"/>
                  </a:moveTo>
                  <a:lnTo>
                    <a:pt x="299971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04218" y="1830143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42818" y="1847414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>
                  <a:moveTo>
                    <a:pt x="0" y="0"/>
                  </a:moveTo>
                  <a:lnTo>
                    <a:pt x="299971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24368" y="1830143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2967" y="1847414"/>
              <a:ext cx="224790" cy="0"/>
            </a:xfrm>
            <a:custGeom>
              <a:avLst/>
              <a:gdLst/>
              <a:ahLst/>
              <a:cxnLst/>
              <a:rect l="l" t="t" r="r" b="b"/>
              <a:pathLst>
                <a:path w="224789">
                  <a:moveTo>
                    <a:pt x="0" y="0"/>
                  </a:moveTo>
                  <a:lnTo>
                    <a:pt x="22437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68916" y="1830143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08277" y="1847414"/>
              <a:ext cx="283210" cy="0"/>
            </a:xfrm>
            <a:custGeom>
              <a:avLst/>
              <a:gdLst/>
              <a:ahLst/>
              <a:cxnLst/>
              <a:rect l="l" t="t" r="r" b="b"/>
              <a:pathLst>
                <a:path w="283210">
                  <a:moveTo>
                    <a:pt x="0" y="0"/>
                  </a:moveTo>
                  <a:lnTo>
                    <a:pt x="283067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72922" y="1830143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04507" y="1652268"/>
            <a:ext cx="1600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750" baseline="-16666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endParaRPr sz="750" baseline="-16666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624652" y="1652268"/>
            <a:ext cx="1600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750" baseline="-16666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endParaRPr sz="750" baseline="-16666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16470" y="1668208"/>
            <a:ext cx="2901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25" i="1" baseline="14814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750" i="1" spc="-7" baseline="555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350" i="1" spc="10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350" i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825" i="1" spc="202" baseline="5050" dirty="0">
                <a:solidFill>
                  <a:srgbClr val="0000FF"/>
                </a:solidFill>
                <a:latin typeface="Arial"/>
                <a:cs typeface="Arial"/>
              </a:rPr>
              <a:t>−</a:t>
            </a:r>
            <a:r>
              <a:rPr sz="750" baseline="5555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endParaRPr sz="750" baseline="5555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007712" y="1830143"/>
            <a:ext cx="255904" cy="34925"/>
            <a:chOff x="3007712" y="1830143"/>
            <a:chExt cx="255904" cy="34925"/>
          </a:xfrm>
        </p:grpSpPr>
        <p:sp>
          <p:nvSpPr>
            <p:cNvPr id="40" name="object 40"/>
            <p:cNvSpPr/>
            <p:nvPr/>
          </p:nvSpPr>
          <p:spPr>
            <a:xfrm>
              <a:off x="3011522" y="1847414"/>
              <a:ext cx="224790" cy="0"/>
            </a:xfrm>
            <a:custGeom>
              <a:avLst/>
              <a:gdLst/>
              <a:ahLst/>
              <a:cxnLst/>
              <a:rect l="l" t="t" r="r" b="b"/>
              <a:pathLst>
                <a:path w="224789">
                  <a:moveTo>
                    <a:pt x="0" y="0"/>
                  </a:moveTo>
                  <a:lnTo>
                    <a:pt x="22437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17470" y="1830143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4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037362" y="1668208"/>
            <a:ext cx="1873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25" i="1" baseline="14814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750" i="1" baseline="555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350" i="1" spc="10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74310" y="1830143"/>
            <a:ext cx="255904" cy="34925"/>
            <a:chOff x="574310" y="1830143"/>
            <a:chExt cx="255904" cy="34925"/>
          </a:xfrm>
        </p:grpSpPr>
        <p:sp>
          <p:nvSpPr>
            <p:cNvPr id="44" name="object 44"/>
            <p:cNvSpPr/>
            <p:nvPr/>
          </p:nvSpPr>
          <p:spPr>
            <a:xfrm>
              <a:off x="578120" y="1847414"/>
              <a:ext cx="224790" cy="0"/>
            </a:xfrm>
            <a:custGeom>
              <a:avLst/>
              <a:gdLst/>
              <a:ahLst/>
              <a:cxnLst/>
              <a:rect l="l" t="t" r="r" b="b"/>
              <a:pathLst>
                <a:path w="224790">
                  <a:moveTo>
                    <a:pt x="0" y="0"/>
                  </a:moveTo>
                  <a:lnTo>
                    <a:pt x="22437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84068" y="1830143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14321" y="1651210"/>
            <a:ext cx="1676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750" baseline="-16666" dirty="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endParaRPr sz="750" baseline="-16666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894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W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18858" y="1830143"/>
            <a:ext cx="331470" cy="34925"/>
            <a:chOff x="1018858" y="1830143"/>
            <a:chExt cx="331470" cy="34925"/>
          </a:xfrm>
        </p:grpSpPr>
        <p:sp>
          <p:nvSpPr>
            <p:cNvPr id="48" name="object 48"/>
            <p:cNvSpPr/>
            <p:nvPr/>
          </p:nvSpPr>
          <p:spPr>
            <a:xfrm>
              <a:off x="1022668" y="1847414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>
                  <a:moveTo>
                    <a:pt x="0" y="0"/>
                  </a:moveTo>
                  <a:lnTo>
                    <a:pt x="299971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04218" y="1830143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22066" y="1879016"/>
            <a:ext cx="1162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W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539007" y="1830143"/>
            <a:ext cx="331470" cy="34925"/>
            <a:chOff x="1539007" y="1830143"/>
            <a:chExt cx="331470" cy="34925"/>
          </a:xfrm>
        </p:grpSpPr>
        <p:sp>
          <p:nvSpPr>
            <p:cNvPr id="52" name="object 52"/>
            <p:cNvSpPr/>
            <p:nvPr/>
          </p:nvSpPr>
          <p:spPr>
            <a:xfrm>
              <a:off x="1542817" y="1847414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>
                  <a:moveTo>
                    <a:pt x="0" y="0"/>
                  </a:moveTo>
                  <a:lnTo>
                    <a:pt x="299971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824368" y="1830143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642202" y="1879016"/>
            <a:ext cx="1162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W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059157" y="1830143"/>
            <a:ext cx="255904" cy="34925"/>
            <a:chOff x="2059157" y="1830143"/>
            <a:chExt cx="255904" cy="34925"/>
          </a:xfrm>
        </p:grpSpPr>
        <p:sp>
          <p:nvSpPr>
            <p:cNvPr id="56" name="object 56"/>
            <p:cNvSpPr/>
            <p:nvPr/>
          </p:nvSpPr>
          <p:spPr>
            <a:xfrm>
              <a:off x="2062967" y="1847414"/>
              <a:ext cx="224790" cy="0"/>
            </a:xfrm>
            <a:custGeom>
              <a:avLst/>
              <a:gdLst/>
              <a:ahLst/>
              <a:cxnLst/>
              <a:rect l="l" t="t" r="r" b="b"/>
              <a:pathLst>
                <a:path w="224789">
                  <a:moveTo>
                    <a:pt x="0" y="0"/>
                  </a:moveTo>
                  <a:lnTo>
                    <a:pt x="22437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268916" y="1830143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2124547" y="1879016"/>
            <a:ext cx="1162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W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2504467" y="1830143"/>
            <a:ext cx="314960" cy="34925"/>
            <a:chOff x="2504467" y="1830143"/>
            <a:chExt cx="314960" cy="34925"/>
          </a:xfrm>
        </p:grpSpPr>
        <p:sp>
          <p:nvSpPr>
            <p:cNvPr id="60" name="object 60"/>
            <p:cNvSpPr/>
            <p:nvPr/>
          </p:nvSpPr>
          <p:spPr>
            <a:xfrm>
              <a:off x="2508277" y="1847414"/>
              <a:ext cx="283210" cy="0"/>
            </a:xfrm>
            <a:custGeom>
              <a:avLst/>
              <a:gdLst/>
              <a:ahLst/>
              <a:cxnLst/>
              <a:rect l="l" t="t" r="r" b="b"/>
              <a:pathLst>
                <a:path w="283210">
                  <a:moveTo>
                    <a:pt x="0" y="0"/>
                  </a:moveTo>
                  <a:lnTo>
                    <a:pt x="283067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772922" y="1830143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599202" y="1879016"/>
            <a:ext cx="1162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W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92609" y="2321557"/>
            <a:ext cx="67945" cy="255904"/>
            <a:chOff x="892609" y="2321557"/>
            <a:chExt cx="67945" cy="255904"/>
          </a:xfrm>
        </p:grpSpPr>
        <p:sp>
          <p:nvSpPr>
            <p:cNvPr id="64" name="object 64"/>
            <p:cNvSpPr/>
            <p:nvPr/>
          </p:nvSpPr>
          <p:spPr>
            <a:xfrm>
              <a:off x="894514" y="23234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94514" y="23234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25290" y="2577513"/>
            <a:ext cx="1600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latin typeface="Arial"/>
                <a:cs typeface="Arial"/>
              </a:rPr>
              <a:t>x</a:t>
            </a:r>
            <a:r>
              <a:rPr sz="750" baseline="-16666" dirty="0">
                <a:latin typeface="Microsoft Sans Serif"/>
                <a:cs typeface="Microsoft Sans Serif"/>
              </a:rPr>
              <a:t>1</a:t>
            </a:r>
            <a:endParaRPr sz="750" baseline="-16666">
              <a:latin typeface="Microsoft Sans Serif"/>
              <a:cs typeface="Microsoft Sans Serif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412759" y="2321557"/>
            <a:ext cx="67945" cy="255904"/>
            <a:chOff x="1412759" y="2321557"/>
            <a:chExt cx="67945" cy="255904"/>
          </a:xfrm>
        </p:grpSpPr>
        <p:sp>
          <p:nvSpPr>
            <p:cNvPr id="68" name="object 68"/>
            <p:cNvSpPr/>
            <p:nvPr/>
          </p:nvSpPr>
          <p:spPr>
            <a:xfrm>
              <a:off x="1414664" y="23234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414664" y="23234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1345435" y="2577513"/>
            <a:ext cx="1600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latin typeface="Arial"/>
                <a:cs typeface="Arial"/>
              </a:rPr>
              <a:t>x</a:t>
            </a:r>
            <a:r>
              <a:rPr sz="750" baseline="-16666" dirty="0">
                <a:latin typeface="Microsoft Sans Serif"/>
                <a:cs typeface="Microsoft Sans Serif"/>
              </a:rPr>
              <a:t>2</a:t>
            </a:r>
            <a:endParaRPr sz="750" baseline="-16666">
              <a:latin typeface="Microsoft Sans Serif"/>
              <a:cs typeface="Microsoft Sans Serif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932909" y="2321557"/>
            <a:ext cx="67945" cy="255904"/>
            <a:chOff x="1932909" y="2321557"/>
            <a:chExt cx="67945" cy="255904"/>
          </a:xfrm>
        </p:grpSpPr>
        <p:sp>
          <p:nvSpPr>
            <p:cNvPr id="72" name="object 72"/>
            <p:cNvSpPr/>
            <p:nvPr/>
          </p:nvSpPr>
          <p:spPr>
            <a:xfrm>
              <a:off x="1934814" y="23234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934814" y="23234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865580" y="2577513"/>
            <a:ext cx="1600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spc="-5" dirty="0">
                <a:latin typeface="Arial"/>
                <a:cs typeface="Arial"/>
              </a:rPr>
              <a:t>x</a:t>
            </a:r>
            <a:r>
              <a:rPr sz="750" spc="-7" baseline="-16666" dirty="0">
                <a:latin typeface="Microsoft Sans Serif"/>
                <a:cs typeface="Microsoft Sans Serif"/>
              </a:rPr>
              <a:t>3</a:t>
            </a:r>
            <a:endParaRPr sz="750" baseline="-16666">
              <a:latin typeface="Microsoft Sans Serif"/>
              <a:cs typeface="Microsoft Sans Serif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881463" y="2321557"/>
            <a:ext cx="67945" cy="255904"/>
            <a:chOff x="2881463" y="2321557"/>
            <a:chExt cx="67945" cy="255904"/>
          </a:xfrm>
        </p:grpSpPr>
        <p:sp>
          <p:nvSpPr>
            <p:cNvPr id="76" name="object 76"/>
            <p:cNvSpPr/>
            <p:nvPr/>
          </p:nvSpPr>
          <p:spPr>
            <a:xfrm>
              <a:off x="2883368" y="23234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883368" y="23234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814116" y="2602315"/>
            <a:ext cx="1873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25" i="1" baseline="14814" dirty="0">
                <a:latin typeface="Arial"/>
                <a:cs typeface="Arial"/>
              </a:rPr>
              <a:t>x</a:t>
            </a:r>
            <a:r>
              <a:rPr sz="750" i="1" baseline="5555" dirty="0">
                <a:latin typeface="Arial"/>
                <a:cs typeface="Arial"/>
              </a:rPr>
              <a:t>T</a:t>
            </a:r>
            <a:r>
              <a:rPr sz="350" i="1" spc="10" dirty="0">
                <a:latin typeface="Arial"/>
                <a:cs typeface="Arial"/>
              </a:rPr>
              <a:t>x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892609" y="1117457"/>
            <a:ext cx="2056764" cy="1208405"/>
            <a:chOff x="892609" y="1117457"/>
            <a:chExt cx="2056764" cy="1208405"/>
          </a:xfrm>
        </p:grpSpPr>
        <p:sp>
          <p:nvSpPr>
            <p:cNvPr id="80" name="object 80"/>
            <p:cNvSpPr/>
            <p:nvPr/>
          </p:nvSpPr>
          <p:spPr>
            <a:xfrm>
              <a:off x="894514" y="11193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94514" y="11193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414664" y="11193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414664" y="11193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934814" y="11193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934814" y="11193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883368" y="11193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883368" y="1119362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26395" y="2160322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09125" y="2132689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26395" y="140077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909125" y="1373137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825290" y="919291"/>
            <a:ext cx="16002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750" i="1" spc="-150" dirty="0">
                <a:latin typeface="Arial"/>
                <a:cs typeface="Arial"/>
              </a:rPr>
              <a:t>y</a:t>
            </a:r>
            <a:r>
              <a:rPr sz="800" spc="-150" dirty="0">
                <a:latin typeface="Tahoma"/>
                <a:cs typeface="Tahoma"/>
              </a:rPr>
              <a:t>ˆ</a:t>
            </a:r>
            <a:r>
              <a:rPr sz="750" spc="-225" baseline="-16666" dirty="0">
                <a:latin typeface="Microsoft Sans Serif"/>
                <a:cs typeface="Microsoft Sans Serif"/>
              </a:rPr>
              <a:t>1</a:t>
            </a:r>
            <a:endParaRPr sz="750" baseline="-16666">
              <a:latin typeface="Microsoft Sans Serif"/>
              <a:cs typeface="Microsoft Sans Serif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345435" y="919291"/>
            <a:ext cx="16002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750" i="1" spc="-150" dirty="0">
                <a:latin typeface="Arial"/>
                <a:cs typeface="Arial"/>
              </a:rPr>
              <a:t>y</a:t>
            </a:r>
            <a:r>
              <a:rPr sz="800" spc="-150" dirty="0">
                <a:latin typeface="Tahoma"/>
                <a:cs typeface="Tahoma"/>
              </a:rPr>
              <a:t>ˆ</a:t>
            </a:r>
            <a:r>
              <a:rPr sz="750" spc="-225" baseline="-16666" dirty="0">
                <a:latin typeface="Microsoft Sans Serif"/>
                <a:cs typeface="Microsoft Sans Serif"/>
              </a:rPr>
              <a:t>2</a:t>
            </a:r>
            <a:endParaRPr sz="750" baseline="-16666">
              <a:latin typeface="Microsoft Sans Serif"/>
              <a:cs typeface="Microsoft Sans Serif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865580" y="919291"/>
            <a:ext cx="16002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750" i="1" spc="-150" dirty="0">
                <a:latin typeface="Arial"/>
                <a:cs typeface="Arial"/>
              </a:rPr>
              <a:t>y</a:t>
            </a:r>
            <a:r>
              <a:rPr sz="800" spc="-150" dirty="0">
                <a:latin typeface="Tahoma"/>
                <a:cs typeface="Tahoma"/>
              </a:rPr>
              <a:t>ˆ</a:t>
            </a:r>
            <a:r>
              <a:rPr sz="750" spc="-225" baseline="-16666" dirty="0">
                <a:latin typeface="Microsoft Sans Serif"/>
                <a:cs typeface="Microsoft Sans Serif"/>
              </a:rPr>
              <a:t>3</a:t>
            </a:r>
            <a:endParaRPr sz="750" baseline="-16666">
              <a:latin typeface="Microsoft Sans Serif"/>
              <a:cs typeface="Microsoft Sans Serif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814116" y="904729"/>
            <a:ext cx="18732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750" i="1" spc="-360" dirty="0">
                <a:latin typeface="Arial"/>
                <a:cs typeface="Arial"/>
              </a:rPr>
              <a:t>y</a:t>
            </a:r>
            <a:r>
              <a:rPr sz="800" spc="-85" dirty="0">
                <a:latin typeface="Tahoma"/>
                <a:cs typeface="Tahoma"/>
              </a:rPr>
              <a:t>ˆ</a:t>
            </a:r>
            <a:r>
              <a:rPr sz="750" i="1" baseline="-16666" dirty="0">
                <a:latin typeface="Arial"/>
                <a:cs typeface="Arial"/>
              </a:rPr>
              <a:t>T</a:t>
            </a:r>
            <a:r>
              <a:rPr sz="525" i="1" spc="15" baseline="-31746" dirty="0">
                <a:latin typeface="Arial"/>
                <a:cs typeface="Arial"/>
              </a:rPr>
              <a:t>y</a:t>
            </a:r>
            <a:endParaRPr sz="525" baseline="-31746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66608" y="2152597"/>
            <a:ext cx="946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66315" y="1393844"/>
            <a:ext cx="895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V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1429275" y="733196"/>
            <a:ext cx="2207260" cy="1592580"/>
            <a:chOff x="1429275" y="733196"/>
            <a:chExt cx="2207260" cy="1592580"/>
          </a:xfrm>
        </p:grpSpPr>
        <p:sp>
          <p:nvSpPr>
            <p:cNvPr id="99" name="object 99"/>
            <p:cNvSpPr/>
            <p:nvPr/>
          </p:nvSpPr>
          <p:spPr>
            <a:xfrm>
              <a:off x="1446545" y="2160322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429275" y="2132689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446545" y="140077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429275" y="1373137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966695" y="2160322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949424" y="2132689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966695" y="140077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949424" y="1373137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915250" y="2160322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897979" y="2132689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915250" y="140077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897979" y="1373137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446545" y="2160322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429275" y="2132689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446545" y="140077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429275" y="1373137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966695" y="2160322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949424" y="2132689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966695" y="140077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949424" y="1373137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915250" y="2160322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897979" y="2132689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915250" y="140077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897979" y="1373137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6706" y="733196"/>
              <a:ext cx="69291" cy="69291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1286744" y="2152597"/>
            <a:ext cx="946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286460" y="1393844"/>
            <a:ext cx="895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V</a:t>
            </a:r>
            <a:endParaRPr sz="75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806889" y="2152597"/>
            <a:ext cx="946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806605" y="1393844"/>
            <a:ext cx="895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V</a:t>
            </a:r>
            <a:endParaRPr sz="7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2755435" y="2152597"/>
            <a:ext cx="946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2755150" y="1393844"/>
            <a:ext cx="895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V</a:t>
            </a:r>
            <a:endParaRPr sz="75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672230" y="636180"/>
            <a:ext cx="1426210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14700"/>
              </a:lnSpc>
              <a:spcBef>
                <a:spcPts val="95"/>
              </a:spcBef>
            </a:pPr>
            <a:r>
              <a:rPr sz="1050" i="1" spc="5" dirty="0">
                <a:latin typeface="Arial"/>
                <a:cs typeface="Arial"/>
              </a:rPr>
              <a:t>s</a:t>
            </a:r>
            <a:r>
              <a:rPr sz="1050" i="1" spc="7" baseline="-15873" dirty="0">
                <a:latin typeface="Arial"/>
                <a:cs typeface="Arial"/>
              </a:rPr>
              <a:t>t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10" dirty="0">
                <a:latin typeface="Microsoft Sans Serif"/>
                <a:cs typeface="Microsoft Sans Serif"/>
              </a:rPr>
              <a:t> 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b="1" spc="10" dirty="0">
                <a:latin typeface="Arial"/>
                <a:cs typeface="Arial"/>
              </a:rPr>
              <a:t>state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 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net</a:t>
            </a:r>
            <a:r>
              <a:rPr sz="1050" dirty="0">
                <a:latin typeface="Microsoft Sans Serif"/>
                <a:cs typeface="Microsoft Sans Serif"/>
              </a:rPr>
              <a:t>w</a:t>
            </a:r>
            <a:r>
              <a:rPr sz="1050" spc="10" dirty="0">
                <a:latin typeface="Microsoft Sans Serif"/>
                <a:cs typeface="Microsoft Sans Serif"/>
              </a:rPr>
              <a:t>o</a:t>
            </a:r>
            <a:r>
              <a:rPr sz="1050" spc="20" dirty="0">
                <a:latin typeface="Microsoft Sans Serif"/>
                <a:cs typeface="Microsoft Sans Serif"/>
              </a:rPr>
              <a:t>r</a:t>
            </a:r>
            <a:r>
              <a:rPr sz="1050" spc="10" dirty="0">
                <a:latin typeface="Microsoft Sans Serif"/>
                <a:cs typeface="Microsoft Sans Serif"/>
              </a:rPr>
              <a:t>k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time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step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i="1" spc="5" dirty="0">
                <a:latin typeface="Arial"/>
                <a:cs typeface="Arial"/>
              </a:rPr>
              <a:t>t</a:t>
            </a:r>
            <a:r>
              <a:rPr sz="1050" i="1" spc="-195" dirty="0">
                <a:latin typeface="Arial"/>
                <a:cs typeface="Arial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</p:txBody>
      </p:sp>
      <p:pic>
        <p:nvPicPr>
          <p:cNvPr id="131" name="object 1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6706" y="2472918"/>
            <a:ext cx="69291" cy="69291"/>
          </a:xfrm>
          <a:prstGeom prst="rect">
            <a:avLst/>
          </a:prstGeom>
        </p:spPr>
      </p:pic>
      <p:sp>
        <p:nvSpPr>
          <p:cNvPr id="132" name="object 132"/>
          <p:cNvSpPr txBox="1"/>
          <p:nvPr/>
        </p:nvSpPr>
        <p:spPr>
          <a:xfrm>
            <a:off x="3672230" y="1120013"/>
            <a:ext cx="1845310" cy="18319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spc="15" baseline="-15873" dirty="0">
                <a:latin typeface="Microsoft Sans Serif"/>
                <a:cs typeface="Microsoft Sans Serif"/>
              </a:rPr>
              <a:t>0</a:t>
            </a:r>
            <a:r>
              <a:rPr sz="1050" spc="240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0</a:t>
            </a:r>
            <a:endParaRPr sz="1050">
              <a:latin typeface="Microsoft Sans Serif"/>
              <a:cs typeface="Microsoft Sans Serif"/>
            </a:endParaRPr>
          </a:p>
          <a:p>
            <a:pPr marL="54610" marR="244475">
              <a:lnSpc>
                <a:spcPct val="121100"/>
              </a:lnSpc>
            </a:pPr>
            <a:r>
              <a:rPr sz="1050" i="1" spc="5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15" dirty="0">
                <a:latin typeface="Arial"/>
                <a:cs typeface="Arial"/>
              </a:rPr>
              <a:t>Ux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5" dirty="0">
                <a:latin typeface="Arial"/>
                <a:cs typeface="Arial"/>
              </a:rPr>
              <a:t>Ws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40" dirty="0">
                <a:latin typeface="Arial"/>
                <a:cs typeface="Arial"/>
              </a:rPr>
              <a:t>b</a:t>
            </a:r>
            <a:r>
              <a:rPr sz="1200" spc="-5" dirty="0">
                <a:latin typeface="Tahoma"/>
                <a:cs typeface="Tahoma"/>
              </a:rPr>
              <a:t>)  </a:t>
            </a:r>
            <a:r>
              <a:rPr sz="1050" i="1" spc="-500" dirty="0">
                <a:latin typeface="Arial"/>
                <a:cs typeface="Arial"/>
              </a:rPr>
              <a:t>y</a:t>
            </a:r>
            <a:r>
              <a:rPr sz="1800" spc="-232" baseline="2314" dirty="0">
                <a:latin typeface="Tahoma"/>
                <a:cs typeface="Tahoma"/>
              </a:rPr>
              <a:t>ˆ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050" i="1" spc="65" dirty="0">
                <a:latin typeface="Arial"/>
                <a:cs typeface="Arial"/>
              </a:rPr>
              <a:t>g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15" dirty="0">
                <a:latin typeface="Arial"/>
                <a:cs typeface="Arial"/>
              </a:rPr>
              <a:t>Vs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65" dirty="0">
                <a:latin typeface="Arial"/>
                <a:cs typeface="Arial"/>
              </a:rPr>
              <a:t>c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163195">
              <a:lnSpc>
                <a:spcPct val="100000"/>
              </a:lnSpc>
              <a:spcBef>
                <a:spcPts val="450"/>
              </a:spcBef>
            </a:pPr>
            <a:r>
              <a:rPr sz="1050" i="1" spc="10" dirty="0">
                <a:latin typeface="Arial"/>
                <a:cs typeface="Arial"/>
              </a:rPr>
              <a:t>or</a:t>
            </a:r>
            <a:endParaRPr sz="105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  <a:spcBef>
                <a:spcPts val="335"/>
              </a:spcBef>
            </a:pPr>
            <a:r>
              <a:rPr sz="1050" i="1" spc="-500" dirty="0">
                <a:latin typeface="Arial"/>
                <a:cs typeface="Arial"/>
              </a:rPr>
              <a:t>y</a:t>
            </a:r>
            <a:r>
              <a:rPr sz="1800" spc="-232" baseline="2314" dirty="0">
                <a:latin typeface="Tahoma"/>
                <a:cs typeface="Tahoma"/>
              </a:rPr>
              <a:t>ˆ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050" i="1" spc="5" dirty="0">
                <a:latin typeface="Arial"/>
                <a:cs typeface="Arial"/>
              </a:rPr>
              <a:t>f</a:t>
            </a:r>
            <a:r>
              <a:rPr sz="1050" i="1" spc="-145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t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5" baseline="-15873" dirty="0">
                <a:latin typeface="Microsoft Sans Serif"/>
                <a:cs typeface="Microsoft Sans Serif"/>
              </a:rPr>
              <a:t>1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65" dirty="0">
                <a:latin typeface="Arial"/>
                <a:cs typeface="Arial"/>
              </a:rPr>
              <a:t>W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95" dirty="0">
                <a:latin typeface="Arial"/>
                <a:cs typeface="Arial"/>
              </a:rPr>
              <a:t>U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55" dirty="0">
                <a:latin typeface="Arial"/>
                <a:cs typeface="Arial"/>
              </a:rPr>
              <a:t>V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40" dirty="0">
                <a:latin typeface="Arial"/>
                <a:cs typeface="Arial"/>
              </a:rPr>
              <a:t>b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65" dirty="0">
                <a:latin typeface="Arial"/>
                <a:cs typeface="Arial"/>
              </a:rPr>
              <a:t>c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350"/>
              </a:spcBef>
            </a:pP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-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parameters</a:t>
            </a:r>
            <a:endParaRPr sz="1050">
              <a:latin typeface="Microsoft Sans Serif"/>
              <a:cs typeface="Microsoft Sans Serif"/>
            </a:endParaRPr>
          </a:p>
          <a:p>
            <a:pPr marL="38100" marR="320675">
              <a:lnSpc>
                <a:spcPts val="1440"/>
              </a:lnSpc>
              <a:spcBef>
                <a:spcPts val="80"/>
              </a:spcBef>
            </a:pPr>
            <a:r>
              <a:rPr sz="1050" i="1" spc="165" dirty="0">
                <a:latin typeface="Arial"/>
                <a:cs typeface="Arial"/>
              </a:rPr>
              <a:t>W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95" dirty="0">
                <a:latin typeface="Arial"/>
                <a:cs typeface="Arial"/>
              </a:rPr>
              <a:t>U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55" dirty="0">
                <a:latin typeface="Arial"/>
                <a:cs typeface="Arial"/>
              </a:rPr>
              <a:t>V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40" dirty="0">
                <a:latin typeface="Arial"/>
                <a:cs typeface="Arial"/>
              </a:rPr>
              <a:t>b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0" dirty="0">
                <a:latin typeface="Arial"/>
                <a:cs typeface="Arial"/>
              </a:rPr>
              <a:t>c</a:t>
            </a:r>
            <a:r>
              <a:rPr sz="1050" i="1" spc="60" dirty="0">
                <a:latin typeface="Arial"/>
                <a:cs typeface="Arial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are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shared  across time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steps.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296227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00" dirty="0"/>
              <a:t>B</a:t>
            </a:r>
            <a:r>
              <a:rPr cap="small" spc="229" dirty="0"/>
              <a:t>a</a:t>
            </a:r>
            <a:r>
              <a:rPr cap="small" spc="340" dirty="0"/>
              <a:t>ck</a:t>
            </a:r>
            <a:r>
              <a:rPr dirty="0"/>
              <a:t> </a:t>
            </a:r>
            <a:r>
              <a:rPr spc="-120" dirty="0"/>
              <a:t> </a:t>
            </a:r>
            <a:r>
              <a:rPr spc="395" dirty="0"/>
              <a:t>P</a:t>
            </a:r>
            <a:r>
              <a:rPr cap="small" spc="260" dirty="0"/>
              <a:t>r</a:t>
            </a:r>
            <a:r>
              <a:rPr cap="small" spc="195" dirty="0"/>
              <a:t>o</a:t>
            </a:r>
            <a:r>
              <a:rPr cap="small" spc="145" dirty="0"/>
              <a:t>p</a:t>
            </a:r>
            <a:r>
              <a:rPr cap="small" spc="229" dirty="0"/>
              <a:t>a</a:t>
            </a:r>
            <a:r>
              <a:rPr cap="small" spc="250" dirty="0"/>
              <a:t>g</a:t>
            </a:r>
            <a:r>
              <a:rPr cap="small" spc="155" dirty="0"/>
              <a:t>a</a:t>
            </a:r>
            <a:r>
              <a:rPr cap="small" spc="229" dirty="0"/>
              <a:t>tion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180" dirty="0"/>
              <a:t>in</a:t>
            </a:r>
            <a:r>
              <a:rPr dirty="0"/>
              <a:t> </a:t>
            </a:r>
            <a:r>
              <a:rPr spc="-120" dirty="0"/>
              <a:t> </a:t>
            </a:r>
            <a:r>
              <a:rPr spc="350" dirty="0"/>
              <a:t>RNN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9989" y="1522474"/>
            <a:ext cx="1233170" cy="570865"/>
            <a:chOff x="829989" y="1522474"/>
            <a:chExt cx="1233170" cy="570865"/>
          </a:xfrm>
        </p:grpSpPr>
        <p:sp>
          <p:nvSpPr>
            <p:cNvPr id="4" name="object 4"/>
            <p:cNvSpPr/>
            <p:nvPr/>
          </p:nvSpPr>
          <p:spPr>
            <a:xfrm>
              <a:off x="831894" y="1524379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189002" y="0"/>
                  </a:moveTo>
                  <a:lnTo>
                    <a:pt x="0" y="0"/>
                  </a:lnTo>
                  <a:lnTo>
                    <a:pt x="0" y="567007"/>
                  </a:lnTo>
                  <a:lnTo>
                    <a:pt x="189002" y="567007"/>
                  </a:lnTo>
                  <a:lnTo>
                    <a:pt x="189002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1894" y="1524379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0" y="567007"/>
                  </a:moveTo>
                  <a:lnTo>
                    <a:pt x="189002" y="567007"/>
                  </a:lnTo>
                  <a:lnTo>
                    <a:pt x="189002" y="0"/>
                  </a:lnTo>
                  <a:lnTo>
                    <a:pt x="0" y="0"/>
                  </a:lnTo>
                  <a:lnTo>
                    <a:pt x="0" y="567007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25" y="1743111"/>
              <a:ext cx="129544" cy="129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325" y="1923054"/>
              <a:ext cx="129544" cy="129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25" y="1563167"/>
              <a:ext cx="129544" cy="1295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52044" y="1524379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189002" y="0"/>
                  </a:moveTo>
                  <a:lnTo>
                    <a:pt x="0" y="0"/>
                  </a:lnTo>
                  <a:lnTo>
                    <a:pt x="0" y="567007"/>
                  </a:lnTo>
                  <a:lnTo>
                    <a:pt x="189002" y="567007"/>
                  </a:lnTo>
                  <a:lnTo>
                    <a:pt x="189002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52044" y="1524379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0" y="567007"/>
                  </a:moveTo>
                  <a:lnTo>
                    <a:pt x="189002" y="567007"/>
                  </a:lnTo>
                  <a:lnTo>
                    <a:pt x="189002" y="0"/>
                  </a:lnTo>
                  <a:lnTo>
                    <a:pt x="0" y="0"/>
                  </a:lnTo>
                  <a:lnTo>
                    <a:pt x="0" y="567007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5471" y="1743111"/>
              <a:ext cx="129543" cy="129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5471" y="1923054"/>
              <a:ext cx="129543" cy="129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5471" y="1563167"/>
              <a:ext cx="129543" cy="1295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72194" y="1524379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189002" y="0"/>
                  </a:moveTo>
                  <a:lnTo>
                    <a:pt x="0" y="0"/>
                  </a:lnTo>
                  <a:lnTo>
                    <a:pt x="0" y="567007"/>
                  </a:lnTo>
                  <a:lnTo>
                    <a:pt x="189002" y="567007"/>
                  </a:lnTo>
                  <a:lnTo>
                    <a:pt x="189002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72194" y="1524379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0" y="567007"/>
                  </a:moveTo>
                  <a:lnTo>
                    <a:pt x="189002" y="567007"/>
                  </a:lnTo>
                  <a:lnTo>
                    <a:pt x="189002" y="0"/>
                  </a:lnTo>
                  <a:lnTo>
                    <a:pt x="0" y="0"/>
                  </a:lnTo>
                  <a:lnTo>
                    <a:pt x="0" y="567007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5621" y="1743111"/>
              <a:ext cx="129544" cy="1295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621" y="1923054"/>
              <a:ext cx="129544" cy="1295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5621" y="1563167"/>
              <a:ext cx="129544" cy="12954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335898" y="1694066"/>
            <a:ext cx="14795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i="1" spc="-65" dirty="0">
                <a:latin typeface="Verdana"/>
                <a:cs typeface="Verdana"/>
              </a:rPr>
              <a:t>.</a:t>
            </a:r>
            <a:r>
              <a:rPr sz="800" i="1" spc="-145" dirty="0">
                <a:latin typeface="Verdana"/>
                <a:cs typeface="Verdana"/>
              </a:rPr>
              <a:t> </a:t>
            </a:r>
            <a:r>
              <a:rPr sz="800" i="1" spc="-65" dirty="0">
                <a:latin typeface="Verdana"/>
                <a:cs typeface="Verdana"/>
              </a:rPr>
              <a:t>.</a:t>
            </a:r>
            <a:r>
              <a:rPr sz="800" i="1" spc="-145" dirty="0">
                <a:latin typeface="Verdana"/>
                <a:cs typeface="Verdana"/>
              </a:rPr>
              <a:t> </a:t>
            </a:r>
            <a:r>
              <a:rPr sz="800" i="1" spc="-65" dirty="0">
                <a:latin typeface="Verdana"/>
                <a:cs typeface="Verdana"/>
              </a:rPr>
              <a:t>.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4310" y="1522474"/>
            <a:ext cx="2437765" cy="570865"/>
            <a:chOff x="574310" y="1522474"/>
            <a:chExt cx="2437765" cy="570865"/>
          </a:xfrm>
        </p:grpSpPr>
        <p:sp>
          <p:nvSpPr>
            <p:cNvPr id="21" name="object 21"/>
            <p:cNvSpPr/>
            <p:nvPr/>
          </p:nvSpPr>
          <p:spPr>
            <a:xfrm>
              <a:off x="2820748" y="1524379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189002" y="0"/>
                  </a:moveTo>
                  <a:lnTo>
                    <a:pt x="0" y="0"/>
                  </a:lnTo>
                  <a:lnTo>
                    <a:pt x="0" y="567007"/>
                  </a:lnTo>
                  <a:lnTo>
                    <a:pt x="189002" y="567007"/>
                  </a:lnTo>
                  <a:lnTo>
                    <a:pt x="189002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20748" y="1524379"/>
              <a:ext cx="189230" cy="567055"/>
            </a:xfrm>
            <a:custGeom>
              <a:avLst/>
              <a:gdLst/>
              <a:ahLst/>
              <a:cxnLst/>
              <a:rect l="l" t="t" r="r" b="b"/>
              <a:pathLst>
                <a:path w="189230" h="567055">
                  <a:moveTo>
                    <a:pt x="0" y="567007"/>
                  </a:moveTo>
                  <a:lnTo>
                    <a:pt x="189002" y="567007"/>
                  </a:lnTo>
                  <a:lnTo>
                    <a:pt x="189002" y="0"/>
                  </a:lnTo>
                  <a:lnTo>
                    <a:pt x="0" y="0"/>
                  </a:lnTo>
                  <a:lnTo>
                    <a:pt x="0" y="567007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4179" y="1743111"/>
              <a:ext cx="129544" cy="1295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4179" y="1923054"/>
              <a:ext cx="129544" cy="1295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4179" y="1563167"/>
              <a:ext cx="129544" cy="1295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78120" y="1807883"/>
              <a:ext cx="224790" cy="0"/>
            </a:xfrm>
            <a:custGeom>
              <a:avLst/>
              <a:gdLst/>
              <a:ahLst/>
              <a:cxnLst/>
              <a:rect l="l" t="t" r="r" b="b"/>
              <a:pathLst>
                <a:path w="224790">
                  <a:moveTo>
                    <a:pt x="0" y="0"/>
                  </a:moveTo>
                  <a:lnTo>
                    <a:pt x="22437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84068" y="1790612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22668" y="1807883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>
                  <a:moveTo>
                    <a:pt x="0" y="0"/>
                  </a:moveTo>
                  <a:lnTo>
                    <a:pt x="299971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04218" y="1790612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42818" y="1807883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>
                  <a:moveTo>
                    <a:pt x="0" y="0"/>
                  </a:moveTo>
                  <a:lnTo>
                    <a:pt x="299971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24368" y="1790612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2967" y="1807883"/>
              <a:ext cx="224790" cy="0"/>
            </a:xfrm>
            <a:custGeom>
              <a:avLst/>
              <a:gdLst/>
              <a:ahLst/>
              <a:cxnLst/>
              <a:rect l="l" t="t" r="r" b="b"/>
              <a:pathLst>
                <a:path w="224789">
                  <a:moveTo>
                    <a:pt x="0" y="0"/>
                  </a:moveTo>
                  <a:lnTo>
                    <a:pt x="22437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68916" y="1790612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08277" y="1807883"/>
              <a:ext cx="283210" cy="0"/>
            </a:xfrm>
            <a:custGeom>
              <a:avLst/>
              <a:gdLst/>
              <a:ahLst/>
              <a:cxnLst/>
              <a:rect l="l" t="t" r="r" b="b"/>
              <a:pathLst>
                <a:path w="283210">
                  <a:moveTo>
                    <a:pt x="0" y="0"/>
                  </a:moveTo>
                  <a:lnTo>
                    <a:pt x="283067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72922" y="1790612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04507" y="1612737"/>
            <a:ext cx="1600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750" baseline="-16666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endParaRPr sz="750" baseline="-16666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624652" y="1612737"/>
            <a:ext cx="1600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750" baseline="-16666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endParaRPr sz="750" baseline="-16666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16470" y="1628685"/>
            <a:ext cx="2901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25" i="1" baseline="14814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750" i="1" spc="-7" baseline="555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350" i="1" spc="10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350" i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825" i="1" spc="202" baseline="5050" dirty="0">
                <a:solidFill>
                  <a:srgbClr val="0000FF"/>
                </a:solidFill>
                <a:latin typeface="Arial"/>
                <a:cs typeface="Arial"/>
              </a:rPr>
              <a:t>−</a:t>
            </a:r>
            <a:r>
              <a:rPr sz="750" baseline="5555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endParaRPr sz="750" baseline="5555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007712" y="1790612"/>
            <a:ext cx="255904" cy="34925"/>
            <a:chOff x="3007712" y="1790612"/>
            <a:chExt cx="255904" cy="34925"/>
          </a:xfrm>
        </p:grpSpPr>
        <p:sp>
          <p:nvSpPr>
            <p:cNvPr id="40" name="object 40"/>
            <p:cNvSpPr/>
            <p:nvPr/>
          </p:nvSpPr>
          <p:spPr>
            <a:xfrm>
              <a:off x="3011522" y="1807883"/>
              <a:ext cx="224790" cy="0"/>
            </a:xfrm>
            <a:custGeom>
              <a:avLst/>
              <a:gdLst/>
              <a:ahLst/>
              <a:cxnLst/>
              <a:rect l="l" t="t" r="r" b="b"/>
              <a:pathLst>
                <a:path w="224789">
                  <a:moveTo>
                    <a:pt x="0" y="0"/>
                  </a:moveTo>
                  <a:lnTo>
                    <a:pt x="22437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17470" y="1790612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4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037362" y="1628685"/>
            <a:ext cx="1873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25" i="1" baseline="14814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750" i="1" baseline="555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350" i="1" spc="10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74310" y="1790612"/>
            <a:ext cx="255904" cy="34925"/>
            <a:chOff x="574310" y="1790612"/>
            <a:chExt cx="255904" cy="34925"/>
          </a:xfrm>
        </p:grpSpPr>
        <p:sp>
          <p:nvSpPr>
            <p:cNvPr id="44" name="object 44"/>
            <p:cNvSpPr/>
            <p:nvPr/>
          </p:nvSpPr>
          <p:spPr>
            <a:xfrm>
              <a:off x="578120" y="1807883"/>
              <a:ext cx="224790" cy="0"/>
            </a:xfrm>
            <a:custGeom>
              <a:avLst/>
              <a:gdLst/>
              <a:ahLst/>
              <a:cxnLst/>
              <a:rect l="l" t="t" r="r" b="b"/>
              <a:pathLst>
                <a:path w="224790">
                  <a:moveTo>
                    <a:pt x="0" y="0"/>
                  </a:moveTo>
                  <a:lnTo>
                    <a:pt x="22437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84068" y="1790612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14321" y="1611688"/>
            <a:ext cx="1676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750" baseline="-16666" dirty="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endParaRPr sz="750" baseline="-16666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894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W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18858" y="1790612"/>
            <a:ext cx="331470" cy="34925"/>
            <a:chOff x="1018858" y="1790612"/>
            <a:chExt cx="331470" cy="34925"/>
          </a:xfrm>
        </p:grpSpPr>
        <p:sp>
          <p:nvSpPr>
            <p:cNvPr id="48" name="object 48"/>
            <p:cNvSpPr/>
            <p:nvPr/>
          </p:nvSpPr>
          <p:spPr>
            <a:xfrm>
              <a:off x="1022668" y="1807883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>
                  <a:moveTo>
                    <a:pt x="0" y="0"/>
                  </a:moveTo>
                  <a:lnTo>
                    <a:pt x="299971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04218" y="1790612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22066" y="1839494"/>
            <a:ext cx="1162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W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539007" y="1790612"/>
            <a:ext cx="331470" cy="34925"/>
            <a:chOff x="1539007" y="1790612"/>
            <a:chExt cx="331470" cy="34925"/>
          </a:xfrm>
        </p:grpSpPr>
        <p:sp>
          <p:nvSpPr>
            <p:cNvPr id="52" name="object 52"/>
            <p:cNvSpPr/>
            <p:nvPr/>
          </p:nvSpPr>
          <p:spPr>
            <a:xfrm>
              <a:off x="1542817" y="1807883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>
                  <a:moveTo>
                    <a:pt x="0" y="0"/>
                  </a:moveTo>
                  <a:lnTo>
                    <a:pt x="299971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824368" y="1790612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642202" y="1839494"/>
            <a:ext cx="1162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W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059157" y="1790612"/>
            <a:ext cx="255904" cy="34925"/>
            <a:chOff x="2059157" y="1790612"/>
            <a:chExt cx="255904" cy="34925"/>
          </a:xfrm>
        </p:grpSpPr>
        <p:sp>
          <p:nvSpPr>
            <p:cNvPr id="56" name="object 56"/>
            <p:cNvSpPr/>
            <p:nvPr/>
          </p:nvSpPr>
          <p:spPr>
            <a:xfrm>
              <a:off x="2062967" y="1807883"/>
              <a:ext cx="224790" cy="0"/>
            </a:xfrm>
            <a:custGeom>
              <a:avLst/>
              <a:gdLst/>
              <a:ahLst/>
              <a:cxnLst/>
              <a:rect l="l" t="t" r="r" b="b"/>
              <a:pathLst>
                <a:path w="224789">
                  <a:moveTo>
                    <a:pt x="0" y="0"/>
                  </a:moveTo>
                  <a:lnTo>
                    <a:pt x="22437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268916" y="1790612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2124547" y="1839494"/>
            <a:ext cx="1162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W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2504467" y="1790612"/>
            <a:ext cx="314960" cy="34925"/>
            <a:chOff x="2504467" y="1790612"/>
            <a:chExt cx="314960" cy="34925"/>
          </a:xfrm>
        </p:grpSpPr>
        <p:sp>
          <p:nvSpPr>
            <p:cNvPr id="60" name="object 60"/>
            <p:cNvSpPr/>
            <p:nvPr/>
          </p:nvSpPr>
          <p:spPr>
            <a:xfrm>
              <a:off x="2508277" y="1807883"/>
              <a:ext cx="283210" cy="0"/>
            </a:xfrm>
            <a:custGeom>
              <a:avLst/>
              <a:gdLst/>
              <a:ahLst/>
              <a:cxnLst/>
              <a:rect l="l" t="t" r="r" b="b"/>
              <a:pathLst>
                <a:path w="283210">
                  <a:moveTo>
                    <a:pt x="0" y="0"/>
                  </a:moveTo>
                  <a:lnTo>
                    <a:pt x="283067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772922" y="1790612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0" y="0"/>
                  </a:moveTo>
                  <a:lnTo>
                    <a:pt x="6476" y="8959"/>
                  </a:lnTo>
                  <a:lnTo>
                    <a:pt x="8635" y="17270"/>
                  </a:lnTo>
                  <a:lnTo>
                    <a:pt x="6476" y="25581"/>
                  </a:lnTo>
                  <a:lnTo>
                    <a:pt x="0" y="34541"/>
                  </a:lnTo>
                  <a:lnTo>
                    <a:pt x="11405" y="27794"/>
                  </a:lnTo>
                  <a:lnTo>
                    <a:pt x="23890" y="22883"/>
                  </a:lnTo>
                  <a:lnTo>
                    <a:pt x="35944" y="19483"/>
                  </a:lnTo>
                  <a:lnTo>
                    <a:pt x="46054" y="17270"/>
                  </a:lnTo>
                  <a:lnTo>
                    <a:pt x="35944" y="15057"/>
                  </a:lnTo>
                  <a:lnTo>
                    <a:pt x="23890" y="11657"/>
                  </a:lnTo>
                  <a:lnTo>
                    <a:pt x="11405" y="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599202" y="1839494"/>
            <a:ext cx="1162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W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92609" y="2282026"/>
            <a:ext cx="67945" cy="255904"/>
            <a:chOff x="892609" y="2282026"/>
            <a:chExt cx="67945" cy="255904"/>
          </a:xfrm>
        </p:grpSpPr>
        <p:sp>
          <p:nvSpPr>
            <p:cNvPr id="64" name="object 64"/>
            <p:cNvSpPr/>
            <p:nvPr/>
          </p:nvSpPr>
          <p:spPr>
            <a:xfrm>
              <a:off x="894514" y="22839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94514" y="22839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25290" y="2537990"/>
            <a:ext cx="1600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latin typeface="Arial"/>
                <a:cs typeface="Arial"/>
              </a:rPr>
              <a:t>x</a:t>
            </a:r>
            <a:r>
              <a:rPr sz="750" baseline="-16666" dirty="0">
                <a:latin typeface="Microsoft Sans Serif"/>
                <a:cs typeface="Microsoft Sans Serif"/>
              </a:rPr>
              <a:t>1</a:t>
            </a:r>
            <a:endParaRPr sz="750" baseline="-16666">
              <a:latin typeface="Microsoft Sans Serif"/>
              <a:cs typeface="Microsoft Sans Serif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412759" y="2282026"/>
            <a:ext cx="67945" cy="255904"/>
            <a:chOff x="1412759" y="2282026"/>
            <a:chExt cx="67945" cy="255904"/>
          </a:xfrm>
        </p:grpSpPr>
        <p:sp>
          <p:nvSpPr>
            <p:cNvPr id="68" name="object 68"/>
            <p:cNvSpPr/>
            <p:nvPr/>
          </p:nvSpPr>
          <p:spPr>
            <a:xfrm>
              <a:off x="1414664" y="22839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414664" y="22839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1345435" y="2537990"/>
            <a:ext cx="1600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latin typeface="Arial"/>
                <a:cs typeface="Arial"/>
              </a:rPr>
              <a:t>x</a:t>
            </a:r>
            <a:r>
              <a:rPr sz="750" baseline="-16666" dirty="0">
                <a:latin typeface="Microsoft Sans Serif"/>
                <a:cs typeface="Microsoft Sans Serif"/>
              </a:rPr>
              <a:t>2</a:t>
            </a:r>
            <a:endParaRPr sz="750" baseline="-16666">
              <a:latin typeface="Microsoft Sans Serif"/>
              <a:cs typeface="Microsoft Sans Serif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932909" y="2282026"/>
            <a:ext cx="67945" cy="255904"/>
            <a:chOff x="1932909" y="2282026"/>
            <a:chExt cx="67945" cy="255904"/>
          </a:xfrm>
        </p:grpSpPr>
        <p:sp>
          <p:nvSpPr>
            <p:cNvPr id="72" name="object 72"/>
            <p:cNvSpPr/>
            <p:nvPr/>
          </p:nvSpPr>
          <p:spPr>
            <a:xfrm>
              <a:off x="1934814" y="22839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934814" y="22839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865580" y="2537990"/>
            <a:ext cx="1600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i="1" spc="-5" dirty="0">
                <a:latin typeface="Arial"/>
                <a:cs typeface="Arial"/>
              </a:rPr>
              <a:t>x</a:t>
            </a:r>
            <a:r>
              <a:rPr sz="750" spc="-7" baseline="-16666" dirty="0">
                <a:latin typeface="Microsoft Sans Serif"/>
                <a:cs typeface="Microsoft Sans Serif"/>
              </a:rPr>
              <a:t>3</a:t>
            </a:r>
            <a:endParaRPr sz="750" baseline="-16666">
              <a:latin typeface="Microsoft Sans Serif"/>
              <a:cs typeface="Microsoft Sans Serif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881463" y="2282026"/>
            <a:ext cx="67945" cy="255904"/>
            <a:chOff x="2881463" y="2282026"/>
            <a:chExt cx="67945" cy="255904"/>
          </a:xfrm>
        </p:grpSpPr>
        <p:sp>
          <p:nvSpPr>
            <p:cNvPr id="76" name="object 76"/>
            <p:cNvSpPr/>
            <p:nvPr/>
          </p:nvSpPr>
          <p:spPr>
            <a:xfrm>
              <a:off x="2883368" y="22839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7F7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883368" y="22839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814116" y="2562784"/>
            <a:ext cx="1873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25" i="1" baseline="14814" dirty="0">
                <a:latin typeface="Arial"/>
                <a:cs typeface="Arial"/>
              </a:rPr>
              <a:t>x</a:t>
            </a:r>
            <a:r>
              <a:rPr sz="750" i="1" baseline="5555" dirty="0">
                <a:latin typeface="Arial"/>
                <a:cs typeface="Arial"/>
              </a:rPr>
              <a:t>T</a:t>
            </a:r>
            <a:r>
              <a:rPr sz="350" i="1" spc="10" dirty="0">
                <a:latin typeface="Arial"/>
                <a:cs typeface="Arial"/>
              </a:rPr>
              <a:t>x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891411" y="1078060"/>
            <a:ext cx="2059305" cy="1204595"/>
            <a:chOff x="891411" y="1078060"/>
            <a:chExt cx="2059305" cy="1204595"/>
          </a:xfrm>
        </p:grpSpPr>
        <p:sp>
          <p:nvSpPr>
            <p:cNvPr id="80" name="object 80"/>
            <p:cNvSpPr/>
            <p:nvPr/>
          </p:nvSpPr>
          <p:spPr>
            <a:xfrm>
              <a:off x="894514" y="10798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94514" y="10798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414664" y="10798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414664" y="10798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4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934814" y="10798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934814" y="10798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883368" y="10798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6376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63762" y="252002"/>
                  </a:lnTo>
                  <a:lnTo>
                    <a:pt x="6376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883368" y="1079831"/>
              <a:ext cx="64135" cy="252095"/>
            </a:xfrm>
            <a:custGeom>
              <a:avLst/>
              <a:gdLst/>
              <a:ahLst/>
              <a:cxnLst/>
              <a:rect l="l" t="t" r="r" b="b"/>
              <a:pathLst>
                <a:path w="64135" h="252094">
                  <a:moveTo>
                    <a:pt x="0" y="252002"/>
                  </a:moveTo>
                  <a:lnTo>
                    <a:pt x="63762" y="252002"/>
                  </a:lnTo>
                  <a:lnTo>
                    <a:pt x="6376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354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08682" y="212079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91411" y="2093157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428831" y="212079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411561" y="2093157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948981" y="212079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931711" y="2093157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897536" y="212079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880265" y="2093157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08682" y="1361238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91411" y="1333605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428831" y="1361238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411561" y="1333605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948981" y="1361238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931711" y="1333605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897536" y="1361238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161369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880265" y="1333605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0" y="46054"/>
                  </a:moveTo>
                  <a:lnTo>
                    <a:pt x="8959" y="39578"/>
                  </a:lnTo>
                  <a:lnTo>
                    <a:pt x="17270" y="37419"/>
                  </a:lnTo>
                  <a:lnTo>
                    <a:pt x="25581" y="39578"/>
                  </a:lnTo>
                  <a:lnTo>
                    <a:pt x="34541" y="46054"/>
                  </a:lnTo>
                  <a:lnTo>
                    <a:pt x="27794" y="34648"/>
                  </a:lnTo>
                  <a:lnTo>
                    <a:pt x="22883" y="22163"/>
                  </a:lnTo>
                  <a:lnTo>
                    <a:pt x="19483" y="10110"/>
                  </a:lnTo>
                  <a:lnTo>
                    <a:pt x="17270" y="0"/>
                  </a:lnTo>
                  <a:lnTo>
                    <a:pt x="15057" y="10110"/>
                  </a:lnTo>
                  <a:lnTo>
                    <a:pt x="11657" y="22163"/>
                  </a:lnTo>
                  <a:lnTo>
                    <a:pt x="6746" y="34648"/>
                  </a:lnTo>
                  <a:lnTo>
                    <a:pt x="0" y="4605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944109" y="1333605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0"/>
                  </a:moveTo>
                  <a:lnTo>
                    <a:pt x="0" y="161369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26839" y="1476553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34541" y="0"/>
                  </a:moveTo>
                  <a:lnTo>
                    <a:pt x="25581" y="6476"/>
                  </a:lnTo>
                  <a:lnTo>
                    <a:pt x="17270" y="8635"/>
                  </a:lnTo>
                  <a:lnTo>
                    <a:pt x="8959" y="6476"/>
                  </a:lnTo>
                  <a:lnTo>
                    <a:pt x="0" y="0"/>
                  </a:lnTo>
                  <a:lnTo>
                    <a:pt x="6746" y="11405"/>
                  </a:lnTo>
                  <a:lnTo>
                    <a:pt x="11657" y="23890"/>
                  </a:lnTo>
                  <a:lnTo>
                    <a:pt x="15057" y="35944"/>
                  </a:lnTo>
                  <a:lnTo>
                    <a:pt x="17270" y="46054"/>
                  </a:lnTo>
                  <a:lnTo>
                    <a:pt x="19483" y="35944"/>
                  </a:lnTo>
                  <a:lnTo>
                    <a:pt x="22883" y="23890"/>
                  </a:lnTo>
                  <a:lnTo>
                    <a:pt x="27794" y="11405"/>
                  </a:lnTo>
                  <a:lnTo>
                    <a:pt x="34541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464259" y="1333605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0"/>
                  </a:moveTo>
                  <a:lnTo>
                    <a:pt x="0" y="161369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446988" y="1476553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34541" y="0"/>
                  </a:moveTo>
                  <a:lnTo>
                    <a:pt x="25581" y="6476"/>
                  </a:lnTo>
                  <a:lnTo>
                    <a:pt x="17270" y="8635"/>
                  </a:lnTo>
                  <a:lnTo>
                    <a:pt x="8959" y="6476"/>
                  </a:lnTo>
                  <a:lnTo>
                    <a:pt x="0" y="0"/>
                  </a:lnTo>
                  <a:lnTo>
                    <a:pt x="6746" y="11405"/>
                  </a:lnTo>
                  <a:lnTo>
                    <a:pt x="11657" y="23890"/>
                  </a:lnTo>
                  <a:lnTo>
                    <a:pt x="15057" y="35944"/>
                  </a:lnTo>
                  <a:lnTo>
                    <a:pt x="17270" y="46054"/>
                  </a:lnTo>
                  <a:lnTo>
                    <a:pt x="19483" y="35944"/>
                  </a:lnTo>
                  <a:lnTo>
                    <a:pt x="22883" y="23890"/>
                  </a:lnTo>
                  <a:lnTo>
                    <a:pt x="27794" y="11405"/>
                  </a:lnTo>
                  <a:lnTo>
                    <a:pt x="34541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984409" y="1333605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0"/>
                  </a:moveTo>
                  <a:lnTo>
                    <a:pt x="0" y="161369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967138" y="1476553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34541" y="0"/>
                  </a:moveTo>
                  <a:lnTo>
                    <a:pt x="25581" y="6476"/>
                  </a:lnTo>
                  <a:lnTo>
                    <a:pt x="17270" y="8635"/>
                  </a:lnTo>
                  <a:lnTo>
                    <a:pt x="8959" y="6476"/>
                  </a:lnTo>
                  <a:lnTo>
                    <a:pt x="0" y="0"/>
                  </a:lnTo>
                  <a:lnTo>
                    <a:pt x="6746" y="11405"/>
                  </a:lnTo>
                  <a:lnTo>
                    <a:pt x="11657" y="23890"/>
                  </a:lnTo>
                  <a:lnTo>
                    <a:pt x="15057" y="35944"/>
                  </a:lnTo>
                  <a:lnTo>
                    <a:pt x="17270" y="46054"/>
                  </a:lnTo>
                  <a:lnTo>
                    <a:pt x="19483" y="35944"/>
                  </a:lnTo>
                  <a:lnTo>
                    <a:pt x="22883" y="23890"/>
                  </a:lnTo>
                  <a:lnTo>
                    <a:pt x="27794" y="11405"/>
                  </a:lnTo>
                  <a:lnTo>
                    <a:pt x="34541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932963" y="1333605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0"/>
                  </a:moveTo>
                  <a:lnTo>
                    <a:pt x="0" y="161369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915693" y="1476553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34541" y="0"/>
                  </a:moveTo>
                  <a:lnTo>
                    <a:pt x="25581" y="6476"/>
                  </a:lnTo>
                  <a:lnTo>
                    <a:pt x="17270" y="8635"/>
                  </a:lnTo>
                  <a:lnTo>
                    <a:pt x="8959" y="6476"/>
                  </a:lnTo>
                  <a:lnTo>
                    <a:pt x="0" y="0"/>
                  </a:lnTo>
                  <a:lnTo>
                    <a:pt x="6746" y="11405"/>
                  </a:lnTo>
                  <a:lnTo>
                    <a:pt x="11657" y="23890"/>
                  </a:lnTo>
                  <a:lnTo>
                    <a:pt x="15057" y="35944"/>
                  </a:lnTo>
                  <a:lnTo>
                    <a:pt x="17270" y="46054"/>
                  </a:lnTo>
                  <a:lnTo>
                    <a:pt x="19483" y="35944"/>
                  </a:lnTo>
                  <a:lnTo>
                    <a:pt x="22883" y="23890"/>
                  </a:lnTo>
                  <a:lnTo>
                    <a:pt x="27794" y="11405"/>
                  </a:lnTo>
                  <a:lnTo>
                    <a:pt x="34541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44109" y="2093157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0"/>
                  </a:moveTo>
                  <a:lnTo>
                    <a:pt x="0" y="161369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926839" y="2236105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34541" y="0"/>
                  </a:moveTo>
                  <a:lnTo>
                    <a:pt x="25581" y="6476"/>
                  </a:lnTo>
                  <a:lnTo>
                    <a:pt x="17270" y="8635"/>
                  </a:lnTo>
                  <a:lnTo>
                    <a:pt x="8959" y="6476"/>
                  </a:lnTo>
                  <a:lnTo>
                    <a:pt x="0" y="0"/>
                  </a:lnTo>
                  <a:lnTo>
                    <a:pt x="6746" y="11405"/>
                  </a:lnTo>
                  <a:lnTo>
                    <a:pt x="11657" y="23890"/>
                  </a:lnTo>
                  <a:lnTo>
                    <a:pt x="15057" y="35944"/>
                  </a:lnTo>
                  <a:lnTo>
                    <a:pt x="17270" y="46054"/>
                  </a:lnTo>
                  <a:lnTo>
                    <a:pt x="19483" y="35944"/>
                  </a:lnTo>
                  <a:lnTo>
                    <a:pt x="22883" y="23890"/>
                  </a:lnTo>
                  <a:lnTo>
                    <a:pt x="27794" y="11405"/>
                  </a:lnTo>
                  <a:lnTo>
                    <a:pt x="34541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464259" y="2093157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0"/>
                  </a:moveTo>
                  <a:lnTo>
                    <a:pt x="0" y="161369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446988" y="2236105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34541" y="0"/>
                  </a:moveTo>
                  <a:lnTo>
                    <a:pt x="25581" y="6476"/>
                  </a:lnTo>
                  <a:lnTo>
                    <a:pt x="17270" y="8635"/>
                  </a:lnTo>
                  <a:lnTo>
                    <a:pt x="8959" y="6476"/>
                  </a:lnTo>
                  <a:lnTo>
                    <a:pt x="0" y="0"/>
                  </a:lnTo>
                  <a:lnTo>
                    <a:pt x="6746" y="11405"/>
                  </a:lnTo>
                  <a:lnTo>
                    <a:pt x="11657" y="23890"/>
                  </a:lnTo>
                  <a:lnTo>
                    <a:pt x="15057" y="35944"/>
                  </a:lnTo>
                  <a:lnTo>
                    <a:pt x="17270" y="46054"/>
                  </a:lnTo>
                  <a:lnTo>
                    <a:pt x="19483" y="35944"/>
                  </a:lnTo>
                  <a:lnTo>
                    <a:pt x="22883" y="23890"/>
                  </a:lnTo>
                  <a:lnTo>
                    <a:pt x="27794" y="11405"/>
                  </a:lnTo>
                  <a:lnTo>
                    <a:pt x="34541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984409" y="2093157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0"/>
                  </a:moveTo>
                  <a:lnTo>
                    <a:pt x="0" y="161369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967138" y="2236105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34541" y="0"/>
                  </a:moveTo>
                  <a:lnTo>
                    <a:pt x="25581" y="6476"/>
                  </a:lnTo>
                  <a:lnTo>
                    <a:pt x="17270" y="8635"/>
                  </a:lnTo>
                  <a:lnTo>
                    <a:pt x="8959" y="6476"/>
                  </a:lnTo>
                  <a:lnTo>
                    <a:pt x="0" y="0"/>
                  </a:lnTo>
                  <a:lnTo>
                    <a:pt x="6746" y="11405"/>
                  </a:lnTo>
                  <a:lnTo>
                    <a:pt x="11657" y="23890"/>
                  </a:lnTo>
                  <a:lnTo>
                    <a:pt x="15057" y="35944"/>
                  </a:lnTo>
                  <a:lnTo>
                    <a:pt x="17270" y="46054"/>
                  </a:lnTo>
                  <a:lnTo>
                    <a:pt x="19483" y="35944"/>
                  </a:lnTo>
                  <a:lnTo>
                    <a:pt x="22883" y="23890"/>
                  </a:lnTo>
                  <a:lnTo>
                    <a:pt x="27794" y="11405"/>
                  </a:lnTo>
                  <a:lnTo>
                    <a:pt x="34541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932963" y="2093157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0"/>
                  </a:moveTo>
                  <a:lnTo>
                    <a:pt x="0" y="161369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915693" y="2236105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5">
                  <a:moveTo>
                    <a:pt x="34541" y="0"/>
                  </a:moveTo>
                  <a:lnTo>
                    <a:pt x="25581" y="6476"/>
                  </a:lnTo>
                  <a:lnTo>
                    <a:pt x="17270" y="8635"/>
                  </a:lnTo>
                  <a:lnTo>
                    <a:pt x="8959" y="6476"/>
                  </a:lnTo>
                  <a:lnTo>
                    <a:pt x="0" y="0"/>
                  </a:lnTo>
                  <a:lnTo>
                    <a:pt x="6746" y="11405"/>
                  </a:lnTo>
                  <a:lnTo>
                    <a:pt x="11657" y="23890"/>
                  </a:lnTo>
                  <a:lnTo>
                    <a:pt x="15057" y="35944"/>
                  </a:lnTo>
                  <a:lnTo>
                    <a:pt x="17270" y="46054"/>
                  </a:lnTo>
                  <a:lnTo>
                    <a:pt x="19483" y="35944"/>
                  </a:lnTo>
                  <a:lnTo>
                    <a:pt x="22883" y="23890"/>
                  </a:lnTo>
                  <a:lnTo>
                    <a:pt x="27794" y="11405"/>
                  </a:lnTo>
                  <a:lnTo>
                    <a:pt x="34541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535910" y="1843310"/>
              <a:ext cx="283210" cy="0"/>
            </a:xfrm>
            <a:custGeom>
              <a:avLst/>
              <a:gdLst/>
              <a:ahLst/>
              <a:cxnLst/>
              <a:rect l="l" t="t" r="r" b="b"/>
              <a:pathLst>
                <a:path w="283210">
                  <a:moveTo>
                    <a:pt x="283067" y="0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508277" y="1826040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46054" y="34541"/>
                  </a:moveTo>
                  <a:lnTo>
                    <a:pt x="39578" y="25581"/>
                  </a:lnTo>
                  <a:lnTo>
                    <a:pt x="37419" y="17270"/>
                  </a:lnTo>
                  <a:lnTo>
                    <a:pt x="39578" y="8959"/>
                  </a:lnTo>
                  <a:lnTo>
                    <a:pt x="46054" y="0"/>
                  </a:lnTo>
                  <a:lnTo>
                    <a:pt x="34648" y="6746"/>
                  </a:lnTo>
                  <a:lnTo>
                    <a:pt x="22163" y="11657"/>
                  </a:lnTo>
                  <a:lnTo>
                    <a:pt x="10110" y="15057"/>
                  </a:lnTo>
                  <a:lnTo>
                    <a:pt x="0" y="17270"/>
                  </a:lnTo>
                  <a:lnTo>
                    <a:pt x="10110" y="19483"/>
                  </a:lnTo>
                  <a:lnTo>
                    <a:pt x="22163" y="22883"/>
                  </a:lnTo>
                  <a:lnTo>
                    <a:pt x="34648" y="27794"/>
                  </a:lnTo>
                  <a:lnTo>
                    <a:pt x="46054" y="34541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090600" y="1843310"/>
              <a:ext cx="224790" cy="0"/>
            </a:xfrm>
            <a:custGeom>
              <a:avLst/>
              <a:gdLst/>
              <a:ahLst/>
              <a:cxnLst/>
              <a:rect l="l" t="t" r="r" b="b"/>
              <a:pathLst>
                <a:path w="224789">
                  <a:moveTo>
                    <a:pt x="224370" y="0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062968" y="1826040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46054" y="34541"/>
                  </a:moveTo>
                  <a:lnTo>
                    <a:pt x="39578" y="25581"/>
                  </a:lnTo>
                  <a:lnTo>
                    <a:pt x="37419" y="17270"/>
                  </a:lnTo>
                  <a:lnTo>
                    <a:pt x="39578" y="8959"/>
                  </a:lnTo>
                  <a:lnTo>
                    <a:pt x="46054" y="0"/>
                  </a:lnTo>
                  <a:lnTo>
                    <a:pt x="34648" y="6746"/>
                  </a:lnTo>
                  <a:lnTo>
                    <a:pt x="22163" y="11657"/>
                  </a:lnTo>
                  <a:lnTo>
                    <a:pt x="10110" y="15057"/>
                  </a:lnTo>
                  <a:lnTo>
                    <a:pt x="0" y="17270"/>
                  </a:lnTo>
                  <a:lnTo>
                    <a:pt x="10110" y="19483"/>
                  </a:lnTo>
                  <a:lnTo>
                    <a:pt x="22163" y="22883"/>
                  </a:lnTo>
                  <a:lnTo>
                    <a:pt x="34648" y="27794"/>
                  </a:lnTo>
                  <a:lnTo>
                    <a:pt x="46054" y="34541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570451" y="1843310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>
                  <a:moveTo>
                    <a:pt x="299971" y="0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542818" y="1826040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46054" y="34541"/>
                  </a:moveTo>
                  <a:lnTo>
                    <a:pt x="39578" y="25581"/>
                  </a:lnTo>
                  <a:lnTo>
                    <a:pt x="37419" y="17270"/>
                  </a:lnTo>
                  <a:lnTo>
                    <a:pt x="39578" y="8959"/>
                  </a:lnTo>
                  <a:lnTo>
                    <a:pt x="46054" y="0"/>
                  </a:lnTo>
                  <a:lnTo>
                    <a:pt x="34648" y="6746"/>
                  </a:lnTo>
                  <a:lnTo>
                    <a:pt x="22163" y="11657"/>
                  </a:lnTo>
                  <a:lnTo>
                    <a:pt x="10110" y="15057"/>
                  </a:lnTo>
                  <a:lnTo>
                    <a:pt x="0" y="17270"/>
                  </a:lnTo>
                  <a:lnTo>
                    <a:pt x="10110" y="19483"/>
                  </a:lnTo>
                  <a:lnTo>
                    <a:pt x="22163" y="22883"/>
                  </a:lnTo>
                  <a:lnTo>
                    <a:pt x="34648" y="27794"/>
                  </a:lnTo>
                  <a:lnTo>
                    <a:pt x="46054" y="34541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050301" y="1843310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>
                  <a:moveTo>
                    <a:pt x="299971" y="0"/>
                  </a:moveTo>
                  <a:lnTo>
                    <a:pt x="0" y="0"/>
                  </a:lnTo>
                </a:path>
              </a:pathLst>
            </a:custGeom>
            <a:ln w="7085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022668" y="1826040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46054" y="34541"/>
                  </a:moveTo>
                  <a:lnTo>
                    <a:pt x="39578" y="25581"/>
                  </a:lnTo>
                  <a:lnTo>
                    <a:pt x="37419" y="17270"/>
                  </a:lnTo>
                  <a:lnTo>
                    <a:pt x="39578" y="8959"/>
                  </a:lnTo>
                  <a:lnTo>
                    <a:pt x="46054" y="0"/>
                  </a:lnTo>
                  <a:lnTo>
                    <a:pt x="34648" y="6746"/>
                  </a:lnTo>
                  <a:lnTo>
                    <a:pt x="22163" y="11657"/>
                  </a:lnTo>
                  <a:lnTo>
                    <a:pt x="10110" y="15057"/>
                  </a:lnTo>
                  <a:lnTo>
                    <a:pt x="0" y="17270"/>
                  </a:lnTo>
                  <a:lnTo>
                    <a:pt x="10110" y="19483"/>
                  </a:lnTo>
                  <a:lnTo>
                    <a:pt x="22163" y="22883"/>
                  </a:lnTo>
                  <a:lnTo>
                    <a:pt x="34648" y="27794"/>
                  </a:lnTo>
                  <a:lnTo>
                    <a:pt x="46054" y="34541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825290" y="879769"/>
            <a:ext cx="16002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750" i="1" spc="-150" dirty="0">
                <a:latin typeface="Arial"/>
                <a:cs typeface="Arial"/>
              </a:rPr>
              <a:t>y</a:t>
            </a:r>
            <a:r>
              <a:rPr sz="800" spc="-150" dirty="0">
                <a:latin typeface="Tahoma"/>
                <a:cs typeface="Tahoma"/>
              </a:rPr>
              <a:t>ˆ</a:t>
            </a:r>
            <a:r>
              <a:rPr sz="750" spc="-225" baseline="-16666" dirty="0">
                <a:latin typeface="Microsoft Sans Serif"/>
                <a:cs typeface="Microsoft Sans Serif"/>
              </a:rPr>
              <a:t>1</a:t>
            </a:r>
            <a:endParaRPr sz="750" baseline="-16666">
              <a:latin typeface="Microsoft Sans Serif"/>
              <a:cs typeface="Microsoft Sans Serif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345435" y="879769"/>
            <a:ext cx="16002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750" i="1" spc="-150" dirty="0">
                <a:latin typeface="Arial"/>
                <a:cs typeface="Arial"/>
              </a:rPr>
              <a:t>y</a:t>
            </a:r>
            <a:r>
              <a:rPr sz="800" spc="-150" dirty="0">
                <a:latin typeface="Tahoma"/>
                <a:cs typeface="Tahoma"/>
              </a:rPr>
              <a:t>ˆ</a:t>
            </a:r>
            <a:r>
              <a:rPr sz="750" spc="-225" baseline="-16666" dirty="0">
                <a:latin typeface="Microsoft Sans Serif"/>
                <a:cs typeface="Microsoft Sans Serif"/>
              </a:rPr>
              <a:t>2</a:t>
            </a:r>
            <a:endParaRPr sz="750" baseline="-16666">
              <a:latin typeface="Microsoft Sans Serif"/>
              <a:cs typeface="Microsoft Sans Serif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1865580" y="879769"/>
            <a:ext cx="16002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750" i="1" spc="-150" dirty="0">
                <a:latin typeface="Arial"/>
                <a:cs typeface="Arial"/>
              </a:rPr>
              <a:t>y</a:t>
            </a:r>
            <a:r>
              <a:rPr sz="800" spc="-150" dirty="0">
                <a:latin typeface="Tahoma"/>
                <a:cs typeface="Tahoma"/>
              </a:rPr>
              <a:t>ˆ</a:t>
            </a:r>
            <a:r>
              <a:rPr sz="750" spc="-225" baseline="-16666" dirty="0">
                <a:latin typeface="Microsoft Sans Serif"/>
                <a:cs typeface="Microsoft Sans Serif"/>
              </a:rPr>
              <a:t>3</a:t>
            </a:r>
            <a:endParaRPr sz="750" baseline="-16666">
              <a:latin typeface="Microsoft Sans Serif"/>
              <a:cs typeface="Microsoft Sans Serif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814116" y="865207"/>
            <a:ext cx="18732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750" i="1" spc="-360" dirty="0">
                <a:latin typeface="Arial"/>
                <a:cs typeface="Arial"/>
              </a:rPr>
              <a:t>y</a:t>
            </a:r>
            <a:r>
              <a:rPr sz="800" spc="-85" dirty="0">
                <a:latin typeface="Tahoma"/>
                <a:cs typeface="Tahoma"/>
              </a:rPr>
              <a:t>ˆ</a:t>
            </a:r>
            <a:r>
              <a:rPr sz="750" i="1" baseline="-16666" dirty="0">
                <a:latin typeface="Arial"/>
                <a:cs typeface="Arial"/>
              </a:rPr>
              <a:t>T</a:t>
            </a:r>
            <a:r>
              <a:rPr sz="525" i="1" spc="15" baseline="-31746" dirty="0">
                <a:latin typeface="Arial"/>
                <a:cs typeface="Arial"/>
              </a:rPr>
              <a:t>y</a:t>
            </a:r>
            <a:endParaRPr sz="525" baseline="-31746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748895" y="2113066"/>
            <a:ext cx="946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1269031" y="2113066"/>
            <a:ext cx="946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1789176" y="2113066"/>
            <a:ext cx="946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737721" y="2113066"/>
            <a:ext cx="946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748601" y="1354313"/>
            <a:ext cx="895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V</a:t>
            </a:r>
            <a:endParaRPr sz="75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268746" y="1354313"/>
            <a:ext cx="895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V</a:t>
            </a:r>
            <a:endParaRPr sz="75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1788891" y="1354313"/>
            <a:ext cx="895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V</a:t>
            </a:r>
            <a:endParaRPr sz="75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737436" y="1354313"/>
            <a:ext cx="895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EC008C"/>
                </a:solidFill>
                <a:latin typeface="Arial"/>
                <a:cs typeface="Arial"/>
              </a:rPr>
              <a:t>V</a:t>
            </a:r>
            <a:endParaRPr sz="75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299472" y="1131308"/>
            <a:ext cx="830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Loss</a:t>
            </a:r>
            <a:r>
              <a:rPr sz="1050" spc="-4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function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4362665" y="1376157"/>
            <a:ext cx="16637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050" i="1" spc="15" baseline="7936" dirty="0">
                <a:latin typeface="Arial"/>
                <a:cs typeface="Arial"/>
              </a:rPr>
              <a:t>T</a:t>
            </a:r>
            <a:r>
              <a:rPr sz="500" i="1" spc="10" dirty="0">
                <a:latin typeface="Arial"/>
                <a:cs typeface="Arial"/>
              </a:rPr>
              <a:t>y</a:t>
            </a:r>
            <a:endParaRPr sz="50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4342549" y="1362097"/>
            <a:ext cx="2197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775" dirty="0">
                <a:latin typeface="Lucida Sans Unicode"/>
                <a:cs typeface="Lucida Sans Unicode"/>
              </a:rPr>
              <a:t>Y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4355642" y="1731554"/>
            <a:ext cx="193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t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800" dirty="0">
                <a:latin typeface="Verdana"/>
                <a:cs typeface="Verdana"/>
              </a:rPr>
              <a:t>=</a:t>
            </a:r>
            <a:r>
              <a:rPr sz="700" spc="5" dirty="0">
                <a:latin typeface="Microsoft Sans Serif"/>
                <a:cs typeface="Microsoft Sans Serif"/>
              </a:rPr>
              <a:t>1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3599434" y="1506331"/>
            <a:ext cx="14592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74725" algn="l"/>
              </a:tabLst>
            </a:pPr>
            <a:r>
              <a:rPr sz="1200" spc="175" dirty="0">
                <a:latin typeface="MS UI Gothic"/>
                <a:cs typeface="MS UI Gothic"/>
              </a:rPr>
              <a:t>L</a:t>
            </a:r>
            <a:r>
              <a:rPr sz="1200" spc="-55" dirty="0">
                <a:latin typeface="MS UI Gothic"/>
                <a:cs typeface="MS UI Gothic"/>
              </a:rPr>
              <a:t> </a:t>
            </a:r>
            <a:r>
              <a:rPr sz="1200" spc="-195" dirty="0">
                <a:latin typeface="Tahoma"/>
                <a:cs typeface="Tahoma"/>
              </a:rPr>
              <a:t>(</a:t>
            </a:r>
            <a:r>
              <a:rPr sz="1050" i="1" spc="-195" dirty="0">
                <a:latin typeface="Arial"/>
                <a:cs typeface="Arial"/>
              </a:rPr>
              <a:t>y</a:t>
            </a:r>
            <a:r>
              <a:rPr sz="1800" spc="-292" baseline="2314" dirty="0">
                <a:latin typeface="Tahoma"/>
                <a:cs typeface="Tahoma"/>
              </a:rPr>
              <a:t>ˆ</a:t>
            </a:r>
            <a:r>
              <a:rPr sz="1800" spc="-202" baseline="2314" dirty="0">
                <a:latin typeface="Tahoma"/>
                <a:cs typeface="Tahoma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0" dirty="0">
                <a:latin typeface="Arial"/>
                <a:cs typeface="Arial"/>
              </a:rPr>
              <a:t>y</a:t>
            </a:r>
            <a:r>
              <a:rPr sz="1050" i="1" spc="25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=	</a:t>
            </a:r>
            <a:r>
              <a:rPr sz="1050" i="1" spc="-125" dirty="0">
                <a:latin typeface="Arial"/>
                <a:cs typeface="Arial"/>
              </a:rPr>
              <a:t>P</a:t>
            </a:r>
            <a:r>
              <a:rPr sz="1200" spc="-125" dirty="0">
                <a:latin typeface="Tahoma"/>
                <a:cs typeface="Tahoma"/>
              </a:rPr>
              <a:t>(</a:t>
            </a:r>
            <a:r>
              <a:rPr sz="1050" i="1" spc="-125" dirty="0">
                <a:latin typeface="Arial"/>
                <a:cs typeface="Arial"/>
              </a:rPr>
              <a:t>y</a:t>
            </a:r>
            <a:r>
              <a:rPr sz="1800" spc="-187" baseline="2314" dirty="0">
                <a:latin typeface="Tahoma"/>
                <a:cs typeface="Tahoma"/>
              </a:rPr>
              <a:t>ˆ</a:t>
            </a:r>
            <a:r>
              <a:rPr sz="1800" spc="225" baseline="2314" dirty="0">
                <a:latin typeface="Tahoma"/>
                <a:cs typeface="Tahoma"/>
              </a:rPr>
              <a:t> </a:t>
            </a:r>
            <a:r>
              <a:rPr sz="1200" spc="45" dirty="0">
                <a:latin typeface="MS UI Gothic"/>
                <a:cs typeface="MS UI Gothic"/>
              </a:rPr>
              <a:t>|</a:t>
            </a:r>
            <a:r>
              <a:rPr sz="1200" spc="-60" dirty="0">
                <a:latin typeface="MS UI Gothic"/>
                <a:cs typeface="MS UI Gothic"/>
              </a:rPr>
              <a:t> </a:t>
            </a:r>
            <a:r>
              <a:rPr sz="1050" i="1" spc="-285" dirty="0">
                <a:latin typeface="Arial"/>
                <a:cs typeface="Arial"/>
              </a:rPr>
              <a:t>y</a:t>
            </a:r>
            <a:r>
              <a:rPr sz="1800" spc="-427" baseline="2314" dirty="0">
                <a:latin typeface="Tahoma"/>
                <a:cs typeface="Tahoma"/>
              </a:rPr>
              <a:t>ˆ</a:t>
            </a:r>
            <a:endParaRPr sz="1800" baseline="2314">
              <a:latin typeface="Tahoma"/>
              <a:cs typeface="Tahom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3704158" y="1579713"/>
            <a:ext cx="1512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8435" algn="l"/>
                <a:tab pos="353060" algn="l"/>
                <a:tab pos="1096645" algn="l"/>
                <a:tab pos="1331595" algn="l"/>
              </a:tabLst>
            </a:pPr>
            <a:r>
              <a:rPr sz="700" i="1" dirty="0">
                <a:latin typeface="Arial"/>
                <a:cs typeface="Arial"/>
              </a:rPr>
              <a:t>t	t	t	t	</a:t>
            </a:r>
            <a:r>
              <a:rPr sz="700" i="1" spc="60" dirty="0">
                <a:latin typeface="Arial"/>
                <a:cs typeface="Arial"/>
              </a:rPr>
              <a:t>t</a:t>
            </a:r>
            <a:r>
              <a:rPr sz="800" i="1" spc="190" dirty="0">
                <a:latin typeface="Arial"/>
                <a:cs typeface="Arial"/>
              </a:rPr>
              <a:t>−</a:t>
            </a:r>
            <a:r>
              <a:rPr sz="700" spc="5" dirty="0">
                <a:latin typeface="Microsoft Sans Serif"/>
                <a:cs typeface="Microsoft Sans Serif"/>
              </a:rPr>
              <a:t>1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5598883" y="1589835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5" dirty="0">
                <a:latin typeface="Microsoft Sans Serif"/>
                <a:cs typeface="Microsoft Sans Serif"/>
              </a:rPr>
              <a:t>1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5197551" y="1506331"/>
            <a:ext cx="5416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.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.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.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-500" dirty="0">
                <a:latin typeface="Arial"/>
                <a:cs typeface="Arial"/>
              </a:rPr>
              <a:t>y</a:t>
            </a:r>
            <a:r>
              <a:rPr sz="1800" spc="-112" baseline="2314" dirty="0">
                <a:latin typeface="Tahoma"/>
                <a:cs typeface="Tahoma"/>
              </a:rPr>
              <a:t>ˆ</a:t>
            </a:r>
            <a:r>
              <a:rPr sz="1800" spc="-7" baseline="2314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3350031" y="1890971"/>
            <a:ext cx="78041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latin typeface="Microsoft Sans Serif"/>
                <a:cs typeface="Microsoft Sans Serif"/>
              </a:rPr>
              <a:t>Overall</a:t>
            </a:r>
            <a:r>
              <a:rPr sz="1050" spc="-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Loss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4375315" y="2135821"/>
            <a:ext cx="16637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050" i="1" spc="15" baseline="7936" dirty="0">
                <a:latin typeface="Arial"/>
                <a:cs typeface="Arial"/>
              </a:rPr>
              <a:t>T</a:t>
            </a:r>
            <a:r>
              <a:rPr sz="500" i="1" spc="10" dirty="0">
                <a:latin typeface="Arial"/>
                <a:cs typeface="Arial"/>
              </a:rPr>
              <a:t>y</a:t>
            </a:r>
            <a:endParaRPr sz="500">
              <a:latin typeface="Arial"/>
              <a:cs typeface="Arial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4342549" y="2121760"/>
            <a:ext cx="2451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010" dirty="0">
                <a:latin typeface="Lucida Sans Unicode"/>
                <a:cs typeface="Lucida Sans Unicode"/>
              </a:rPr>
              <a:t>Σ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4368304" y="2491218"/>
            <a:ext cx="193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t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800" dirty="0">
                <a:latin typeface="Verdana"/>
                <a:cs typeface="Verdana"/>
              </a:rPr>
              <a:t>=</a:t>
            </a:r>
            <a:r>
              <a:rPr sz="700" spc="5" dirty="0">
                <a:latin typeface="Microsoft Sans Serif"/>
                <a:cs typeface="Microsoft Sans Serif"/>
              </a:rPr>
              <a:t>1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4691888" y="2349511"/>
            <a:ext cx="39179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78435" algn="l"/>
                <a:tab pos="353060" algn="l"/>
              </a:tabLst>
            </a:pPr>
            <a:r>
              <a:rPr sz="700" i="1" dirty="0">
                <a:latin typeface="Arial"/>
                <a:cs typeface="Arial"/>
              </a:rPr>
              <a:t>t	t	t</a:t>
            </a:r>
            <a:endParaRPr sz="700">
              <a:latin typeface="Arial"/>
              <a:cs typeface="Arial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3691648" y="2266007"/>
            <a:ext cx="14643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8050" algn="l"/>
              </a:tabLst>
            </a:pPr>
            <a:r>
              <a:rPr sz="1200" spc="175" dirty="0">
                <a:latin typeface="MS UI Gothic"/>
                <a:cs typeface="MS UI Gothic"/>
              </a:rPr>
              <a:t>L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-500" dirty="0">
                <a:latin typeface="Arial"/>
                <a:cs typeface="Arial"/>
              </a:rPr>
              <a:t>y</a:t>
            </a:r>
            <a:r>
              <a:rPr sz="1800" spc="-67" baseline="2314" dirty="0">
                <a:latin typeface="Tahoma"/>
                <a:cs typeface="Tahoma"/>
              </a:rPr>
              <a:t>ˆ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0" dirty="0">
                <a:latin typeface="Arial"/>
                <a:cs typeface="Arial"/>
              </a:rPr>
              <a:t>y</a:t>
            </a:r>
            <a:r>
              <a:rPr sz="1050" i="1" spc="-185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dirty="0">
                <a:latin typeface="Tahoma"/>
                <a:cs typeface="Tahoma"/>
              </a:rPr>
              <a:t>	</a:t>
            </a:r>
            <a:r>
              <a:rPr sz="1200" spc="175" dirty="0">
                <a:latin typeface="MS UI Gothic"/>
                <a:cs typeface="MS UI Gothic"/>
              </a:rPr>
              <a:t>L</a:t>
            </a:r>
            <a:r>
              <a:rPr sz="1200" spc="-55" dirty="0">
                <a:latin typeface="MS UI Gothic"/>
                <a:cs typeface="MS UI Gothic"/>
              </a:rPr>
              <a:t> 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-500" dirty="0">
                <a:latin typeface="Arial"/>
                <a:cs typeface="Arial"/>
              </a:rPr>
              <a:t>y</a:t>
            </a:r>
            <a:r>
              <a:rPr sz="1800" spc="-112" baseline="2314" dirty="0">
                <a:latin typeface="Tahoma"/>
                <a:cs typeface="Tahoma"/>
              </a:rPr>
              <a:t>ˆ</a:t>
            </a:r>
            <a:r>
              <a:rPr sz="1800" spc="-209" baseline="2314" dirty="0">
                <a:latin typeface="Tahoma"/>
                <a:cs typeface="Tahoma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0" dirty="0">
                <a:latin typeface="Arial"/>
                <a:cs typeface="Arial"/>
              </a:rPr>
              <a:t>y</a:t>
            </a:r>
            <a:r>
              <a:rPr sz="1050" i="1" spc="20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296227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00" dirty="0"/>
              <a:t>B</a:t>
            </a:r>
            <a:r>
              <a:rPr cap="small" spc="229" dirty="0"/>
              <a:t>a</a:t>
            </a:r>
            <a:r>
              <a:rPr cap="small" spc="340" dirty="0"/>
              <a:t>ck</a:t>
            </a:r>
            <a:r>
              <a:rPr dirty="0"/>
              <a:t> </a:t>
            </a:r>
            <a:r>
              <a:rPr spc="-120" dirty="0"/>
              <a:t> </a:t>
            </a:r>
            <a:r>
              <a:rPr spc="395" dirty="0"/>
              <a:t>P</a:t>
            </a:r>
            <a:r>
              <a:rPr cap="small" spc="260" dirty="0"/>
              <a:t>r</a:t>
            </a:r>
            <a:r>
              <a:rPr cap="small" spc="195" dirty="0"/>
              <a:t>o</a:t>
            </a:r>
            <a:r>
              <a:rPr cap="small" spc="145" dirty="0"/>
              <a:t>p</a:t>
            </a:r>
            <a:r>
              <a:rPr cap="small" spc="229" dirty="0"/>
              <a:t>a</a:t>
            </a:r>
            <a:r>
              <a:rPr cap="small" spc="250" dirty="0"/>
              <a:t>g</a:t>
            </a:r>
            <a:r>
              <a:rPr cap="small" spc="155" dirty="0"/>
              <a:t>a</a:t>
            </a:r>
            <a:r>
              <a:rPr cap="small" spc="229" dirty="0"/>
              <a:t>tion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180" dirty="0"/>
              <a:t>in</a:t>
            </a:r>
            <a:r>
              <a:rPr dirty="0"/>
              <a:t> </a:t>
            </a:r>
            <a:r>
              <a:rPr spc="-120" dirty="0"/>
              <a:t> </a:t>
            </a:r>
            <a:r>
              <a:rPr spc="350" dirty="0"/>
              <a:t>RNN</a:t>
            </a:r>
          </a:p>
        </p:txBody>
      </p:sp>
      <p:sp>
        <p:nvSpPr>
          <p:cNvPr id="3" name="object 3"/>
          <p:cNvSpPr/>
          <p:nvPr/>
        </p:nvSpPr>
        <p:spPr>
          <a:xfrm>
            <a:off x="1606635" y="2126343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4" h="360044">
                <a:moveTo>
                  <a:pt x="0" y="360004"/>
                </a:moveTo>
                <a:lnTo>
                  <a:pt x="360004" y="360004"/>
                </a:lnTo>
                <a:lnTo>
                  <a:pt x="360004" y="0"/>
                </a:lnTo>
                <a:lnTo>
                  <a:pt x="0" y="0"/>
                </a:lnTo>
                <a:lnTo>
                  <a:pt x="0" y="360004"/>
                </a:lnTo>
                <a:close/>
              </a:path>
            </a:pathLst>
          </a:custGeom>
          <a:ln w="1012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11274" y="2182614"/>
            <a:ext cx="939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0" dirty="0">
                <a:latin typeface="Arial"/>
                <a:cs typeface="Arial"/>
              </a:rPr>
              <a:t>s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79600" y="2250933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5" dirty="0">
                <a:latin typeface="Microsoft Sans Serif"/>
                <a:cs typeface="Microsoft Sans Serif"/>
              </a:rPr>
              <a:t>1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36766" y="2126343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4" h="360044">
                <a:moveTo>
                  <a:pt x="0" y="360004"/>
                </a:moveTo>
                <a:lnTo>
                  <a:pt x="360004" y="360004"/>
                </a:lnTo>
                <a:lnTo>
                  <a:pt x="360004" y="0"/>
                </a:lnTo>
                <a:lnTo>
                  <a:pt x="0" y="0"/>
                </a:lnTo>
                <a:lnTo>
                  <a:pt x="0" y="360004"/>
                </a:lnTo>
                <a:close/>
              </a:path>
            </a:pathLst>
          </a:custGeom>
          <a:ln w="1012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41397" y="2182614"/>
            <a:ext cx="939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0" dirty="0">
                <a:latin typeface="Arial"/>
                <a:cs typeface="Arial"/>
              </a:rPr>
              <a:t>s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9723" y="2250933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5" dirty="0">
                <a:latin typeface="Microsoft Sans Serif"/>
                <a:cs typeface="Microsoft Sans Serif"/>
              </a:rPr>
              <a:t>2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66896" y="2126343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4">
                <a:moveTo>
                  <a:pt x="0" y="360004"/>
                </a:moveTo>
                <a:lnTo>
                  <a:pt x="360004" y="360004"/>
                </a:lnTo>
                <a:lnTo>
                  <a:pt x="360004" y="0"/>
                </a:lnTo>
                <a:lnTo>
                  <a:pt x="0" y="0"/>
                </a:lnTo>
                <a:lnTo>
                  <a:pt x="0" y="360004"/>
                </a:lnTo>
                <a:close/>
              </a:path>
            </a:pathLst>
          </a:custGeom>
          <a:ln w="1012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71520" y="2181852"/>
            <a:ext cx="939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0" dirty="0">
                <a:latin typeface="Arial"/>
                <a:cs typeface="Arial"/>
              </a:rPr>
              <a:t>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9846" y="2250184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5" dirty="0">
                <a:latin typeface="Microsoft Sans Serif"/>
                <a:cs typeface="Microsoft Sans Serif"/>
              </a:rPr>
              <a:t>3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7305" y="2149193"/>
            <a:ext cx="2000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114" dirty="0">
                <a:latin typeface="Verdana"/>
                <a:cs typeface="Verdana"/>
              </a:rPr>
              <a:t>.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.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200" i="1" spc="-114" dirty="0">
                <a:latin typeface="Verdana"/>
                <a:cs typeface="Verdana"/>
              </a:rPr>
              <a:t>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37034" y="2126343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4">
                <a:moveTo>
                  <a:pt x="0" y="360004"/>
                </a:moveTo>
                <a:lnTo>
                  <a:pt x="360004" y="360004"/>
                </a:lnTo>
                <a:lnTo>
                  <a:pt x="360004" y="0"/>
                </a:lnTo>
                <a:lnTo>
                  <a:pt x="0" y="0"/>
                </a:lnTo>
                <a:lnTo>
                  <a:pt x="0" y="360004"/>
                </a:lnTo>
                <a:close/>
              </a:path>
            </a:pathLst>
          </a:custGeom>
          <a:ln w="1012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15675" y="2176277"/>
            <a:ext cx="939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0" dirty="0">
                <a:latin typeface="Arial"/>
                <a:cs typeface="Arial"/>
              </a:rPr>
              <a:t>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58601" y="2257258"/>
            <a:ext cx="16637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050" i="1" spc="15" baseline="7936" dirty="0">
                <a:latin typeface="Arial"/>
                <a:cs typeface="Arial"/>
              </a:rPr>
              <a:t>T</a:t>
            </a:r>
            <a:r>
              <a:rPr sz="500" i="1" spc="10" dirty="0">
                <a:latin typeface="Arial"/>
                <a:cs typeface="Arial"/>
              </a:rPr>
              <a:t>x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29031" y="2287366"/>
            <a:ext cx="1003300" cy="38100"/>
            <a:chOff x="1329031" y="2287366"/>
            <a:chExt cx="1003300" cy="38100"/>
          </a:xfrm>
        </p:grpSpPr>
        <p:sp>
          <p:nvSpPr>
            <p:cNvPr id="17" name="object 17"/>
            <p:cNvSpPr/>
            <p:nvPr/>
          </p:nvSpPr>
          <p:spPr>
            <a:xfrm>
              <a:off x="1331571" y="2306345"/>
              <a:ext cx="240029" cy="0"/>
            </a:xfrm>
            <a:custGeom>
              <a:avLst/>
              <a:gdLst/>
              <a:ahLst/>
              <a:cxnLst/>
              <a:rect l="l" t="t" r="r" b="b"/>
              <a:pathLst>
                <a:path w="240030">
                  <a:moveTo>
                    <a:pt x="0" y="0"/>
                  </a:moveTo>
                  <a:lnTo>
                    <a:pt x="239637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50964" y="2287366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71700" y="2306345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>
                  <a:moveTo>
                    <a:pt x="0" y="0"/>
                  </a:moveTo>
                  <a:lnTo>
                    <a:pt x="329638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81095" y="2287366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365821" y="2034037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5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050" spc="7" baseline="-15873" dirty="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65134" y="2096267"/>
            <a:ext cx="15494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20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99291" y="2287366"/>
            <a:ext cx="362585" cy="38100"/>
            <a:chOff x="2699291" y="2287366"/>
            <a:chExt cx="362585" cy="38100"/>
          </a:xfrm>
        </p:grpSpPr>
        <p:sp>
          <p:nvSpPr>
            <p:cNvPr id="24" name="object 24"/>
            <p:cNvSpPr/>
            <p:nvPr/>
          </p:nvSpPr>
          <p:spPr>
            <a:xfrm>
              <a:off x="2701831" y="2306345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>
                  <a:moveTo>
                    <a:pt x="0" y="0"/>
                  </a:moveTo>
                  <a:lnTo>
                    <a:pt x="329638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11225" y="2287366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795257" y="2096267"/>
            <a:ext cx="15494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20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29422" y="2287366"/>
            <a:ext cx="273050" cy="38100"/>
            <a:chOff x="3429422" y="2287366"/>
            <a:chExt cx="273050" cy="38100"/>
          </a:xfrm>
        </p:grpSpPr>
        <p:sp>
          <p:nvSpPr>
            <p:cNvPr id="28" name="object 28"/>
            <p:cNvSpPr/>
            <p:nvPr/>
          </p:nvSpPr>
          <p:spPr>
            <a:xfrm>
              <a:off x="3431962" y="2306345"/>
              <a:ext cx="240029" cy="0"/>
            </a:xfrm>
            <a:custGeom>
              <a:avLst/>
              <a:gdLst/>
              <a:ahLst/>
              <a:cxnLst/>
              <a:rect l="l" t="t" r="r" b="b"/>
              <a:pathLst>
                <a:path w="240029">
                  <a:moveTo>
                    <a:pt x="0" y="0"/>
                  </a:moveTo>
                  <a:lnTo>
                    <a:pt x="239637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51355" y="2287366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480371" y="2096267"/>
            <a:ext cx="15494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20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75577" y="2287366"/>
            <a:ext cx="356870" cy="38100"/>
            <a:chOff x="3975577" y="2287366"/>
            <a:chExt cx="356870" cy="38100"/>
          </a:xfrm>
        </p:grpSpPr>
        <p:sp>
          <p:nvSpPr>
            <p:cNvPr id="32" name="object 32"/>
            <p:cNvSpPr/>
            <p:nvPr/>
          </p:nvSpPr>
          <p:spPr>
            <a:xfrm>
              <a:off x="3978117" y="2306345"/>
              <a:ext cx="323850" cy="0"/>
            </a:xfrm>
            <a:custGeom>
              <a:avLst/>
              <a:gdLst/>
              <a:ahLst/>
              <a:cxnLst/>
              <a:rect l="l" t="t" r="r" b="b"/>
              <a:pathLst>
                <a:path w="323850">
                  <a:moveTo>
                    <a:pt x="0" y="0"/>
                  </a:moveTo>
                  <a:lnTo>
                    <a:pt x="32349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81363" y="2287366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068445" y="2096267"/>
            <a:ext cx="15494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20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06635" y="1486213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4" h="360044">
                <a:moveTo>
                  <a:pt x="0" y="360004"/>
                </a:moveTo>
                <a:lnTo>
                  <a:pt x="360004" y="360004"/>
                </a:lnTo>
                <a:lnTo>
                  <a:pt x="360004" y="0"/>
                </a:lnTo>
                <a:lnTo>
                  <a:pt x="0" y="0"/>
                </a:lnTo>
                <a:lnTo>
                  <a:pt x="0" y="360004"/>
                </a:lnTo>
                <a:close/>
              </a:path>
            </a:pathLst>
          </a:custGeom>
          <a:ln w="1012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685874" y="1541612"/>
            <a:ext cx="195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215" dirty="0">
                <a:latin typeface="Arial"/>
                <a:cs typeface="Arial"/>
              </a:rPr>
              <a:t>y</a:t>
            </a:r>
            <a:r>
              <a:rPr sz="1800" spc="-322" baseline="2314" dirty="0">
                <a:latin typeface="Tahoma"/>
                <a:cs typeface="Tahoma"/>
              </a:rPr>
              <a:t>ˆ</a:t>
            </a:r>
            <a:r>
              <a:rPr sz="1050" spc="-322" baseline="-15873" dirty="0">
                <a:latin typeface="Microsoft Sans Serif"/>
                <a:cs typeface="Microsoft Sans Serif"/>
              </a:rPr>
              <a:t>1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767658" y="2491408"/>
            <a:ext cx="38100" cy="273050"/>
            <a:chOff x="1767658" y="2491408"/>
            <a:chExt cx="38100" cy="273050"/>
          </a:xfrm>
        </p:grpSpPr>
        <p:sp>
          <p:nvSpPr>
            <p:cNvPr id="38" name="object 38"/>
            <p:cNvSpPr/>
            <p:nvPr/>
          </p:nvSpPr>
          <p:spPr>
            <a:xfrm>
              <a:off x="1786637" y="2521774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67658" y="2491408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578889" y="2483318"/>
            <a:ext cx="274955" cy="43751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5"/>
              </a:spcBef>
            </a:pPr>
            <a:r>
              <a:rPr sz="1050" i="1" spc="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  <a:p>
            <a:pPr marL="117475">
              <a:lnSpc>
                <a:spcPct val="100000"/>
              </a:lnSpc>
              <a:spcBef>
                <a:spcPts val="360"/>
              </a:spcBef>
            </a:pP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spc="15" baseline="-15873" dirty="0">
                <a:latin typeface="Microsoft Sans Serif"/>
                <a:cs typeface="Microsoft Sans Serif"/>
              </a:rPr>
              <a:t>1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767658" y="1481133"/>
            <a:ext cx="934719" cy="643255"/>
            <a:chOff x="1767658" y="1481133"/>
            <a:chExt cx="934719" cy="643255"/>
          </a:xfrm>
        </p:grpSpPr>
        <p:sp>
          <p:nvSpPr>
            <p:cNvPr id="42" name="object 42"/>
            <p:cNvSpPr/>
            <p:nvPr/>
          </p:nvSpPr>
          <p:spPr>
            <a:xfrm>
              <a:off x="1786637" y="188164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767658" y="1851279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36766" y="148621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>
                  <a:moveTo>
                    <a:pt x="0" y="360004"/>
                  </a:moveTo>
                  <a:lnTo>
                    <a:pt x="360004" y="360004"/>
                  </a:lnTo>
                  <a:lnTo>
                    <a:pt x="360004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603883" y="1886297"/>
            <a:ext cx="116839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415997" y="1541612"/>
            <a:ext cx="195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215" dirty="0">
                <a:latin typeface="Arial"/>
                <a:cs typeface="Arial"/>
              </a:rPr>
              <a:t>y</a:t>
            </a:r>
            <a:r>
              <a:rPr sz="1800" spc="-322" baseline="2314" dirty="0">
                <a:latin typeface="Tahoma"/>
                <a:cs typeface="Tahoma"/>
              </a:rPr>
              <a:t>ˆ</a:t>
            </a:r>
            <a:r>
              <a:rPr sz="1050" spc="-322" baseline="-15873" dirty="0">
                <a:latin typeface="Microsoft Sans Serif"/>
                <a:cs typeface="Microsoft Sans Serif"/>
              </a:rPr>
              <a:t>2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497789" y="2491408"/>
            <a:ext cx="38100" cy="273050"/>
            <a:chOff x="2497789" y="2491408"/>
            <a:chExt cx="38100" cy="273050"/>
          </a:xfrm>
        </p:grpSpPr>
        <p:sp>
          <p:nvSpPr>
            <p:cNvPr id="48" name="object 48"/>
            <p:cNvSpPr/>
            <p:nvPr/>
          </p:nvSpPr>
          <p:spPr>
            <a:xfrm>
              <a:off x="2516768" y="2521774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497789" y="2491408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309012" y="2483318"/>
            <a:ext cx="274955" cy="43751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5"/>
              </a:spcBef>
            </a:pPr>
            <a:r>
              <a:rPr sz="1050" i="1" spc="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  <a:p>
            <a:pPr marL="117475">
              <a:lnSpc>
                <a:spcPct val="100000"/>
              </a:lnSpc>
              <a:spcBef>
                <a:spcPts val="360"/>
              </a:spcBef>
            </a:pPr>
            <a:r>
              <a:rPr sz="1050" i="1" spc="5" dirty="0">
                <a:latin typeface="Arial"/>
                <a:cs typeface="Arial"/>
              </a:rPr>
              <a:t>x</a:t>
            </a:r>
            <a:r>
              <a:rPr sz="1050" spc="7" baseline="-15873" dirty="0">
                <a:latin typeface="Microsoft Sans Serif"/>
                <a:cs typeface="Microsoft Sans Serif"/>
              </a:rPr>
              <a:t>2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497789" y="1481133"/>
            <a:ext cx="934719" cy="643255"/>
            <a:chOff x="2497789" y="1481133"/>
            <a:chExt cx="934719" cy="643255"/>
          </a:xfrm>
        </p:grpSpPr>
        <p:sp>
          <p:nvSpPr>
            <p:cNvPr id="52" name="object 52"/>
            <p:cNvSpPr/>
            <p:nvPr/>
          </p:nvSpPr>
          <p:spPr>
            <a:xfrm>
              <a:off x="2516768" y="188164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497789" y="1851279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66896" y="148621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0" y="360004"/>
                  </a:moveTo>
                  <a:lnTo>
                    <a:pt x="360004" y="360004"/>
                  </a:lnTo>
                  <a:lnTo>
                    <a:pt x="360004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334005" y="1886297"/>
            <a:ext cx="116839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146120" y="1541612"/>
            <a:ext cx="195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215" dirty="0">
                <a:latin typeface="Arial"/>
                <a:cs typeface="Arial"/>
              </a:rPr>
              <a:t>y</a:t>
            </a:r>
            <a:r>
              <a:rPr sz="1800" spc="-322" baseline="2314" dirty="0">
                <a:latin typeface="Tahoma"/>
                <a:cs typeface="Tahoma"/>
              </a:rPr>
              <a:t>ˆ</a:t>
            </a:r>
            <a:r>
              <a:rPr sz="1050" spc="-322" baseline="-15873" dirty="0">
                <a:latin typeface="Microsoft Sans Serif"/>
                <a:cs typeface="Microsoft Sans Serif"/>
              </a:rPr>
              <a:t>3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227920" y="2491408"/>
            <a:ext cx="38100" cy="273050"/>
            <a:chOff x="3227920" y="2491408"/>
            <a:chExt cx="38100" cy="273050"/>
          </a:xfrm>
        </p:grpSpPr>
        <p:sp>
          <p:nvSpPr>
            <p:cNvPr id="58" name="object 58"/>
            <p:cNvSpPr/>
            <p:nvPr/>
          </p:nvSpPr>
          <p:spPr>
            <a:xfrm>
              <a:off x="3246899" y="2521774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27920" y="2491408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3039135" y="2483318"/>
            <a:ext cx="274955" cy="43751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5"/>
              </a:spcBef>
            </a:pPr>
            <a:r>
              <a:rPr sz="1050" i="1" spc="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  <a:p>
            <a:pPr marL="117475">
              <a:lnSpc>
                <a:spcPct val="100000"/>
              </a:lnSpc>
              <a:spcBef>
                <a:spcPts val="360"/>
              </a:spcBef>
            </a:pP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spc="15" baseline="-15873" dirty="0">
                <a:latin typeface="Microsoft Sans Serif"/>
                <a:cs typeface="Microsoft Sans Serif"/>
              </a:rPr>
              <a:t>3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227920" y="1481133"/>
            <a:ext cx="1474470" cy="643255"/>
            <a:chOff x="3227920" y="1481133"/>
            <a:chExt cx="1474470" cy="643255"/>
          </a:xfrm>
        </p:grpSpPr>
        <p:sp>
          <p:nvSpPr>
            <p:cNvPr id="62" name="object 62"/>
            <p:cNvSpPr/>
            <p:nvPr/>
          </p:nvSpPr>
          <p:spPr>
            <a:xfrm>
              <a:off x="3246899" y="188164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27920" y="1851279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337034" y="148621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0" y="360004"/>
                  </a:moveTo>
                  <a:lnTo>
                    <a:pt x="360004" y="360004"/>
                  </a:lnTo>
                  <a:lnTo>
                    <a:pt x="360004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064129" y="1886297"/>
            <a:ext cx="116839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390072" y="1531210"/>
            <a:ext cx="2349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500" dirty="0">
                <a:latin typeface="Arial"/>
                <a:cs typeface="Arial"/>
              </a:rPr>
              <a:t>y</a:t>
            </a:r>
            <a:r>
              <a:rPr sz="1800" spc="-232" baseline="2314" dirty="0">
                <a:latin typeface="Tahoma"/>
                <a:cs typeface="Tahoma"/>
              </a:rPr>
              <a:t>ˆ</a:t>
            </a:r>
            <a:r>
              <a:rPr sz="1050" i="1" spc="15" baseline="-15873" dirty="0">
                <a:latin typeface="Arial"/>
                <a:cs typeface="Arial"/>
              </a:rPr>
              <a:t>T</a:t>
            </a:r>
            <a:r>
              <a:rPr sz="750" i="1" spc="22" baseline="-33333" dirty="0">
                <a:latin typeface="Arial"/>
                <a:cs typeface="Arial"/>
              </a:rPr>
              <a:t>y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4498058" y="2491408"/>
            <a:ext cx="38100" cy="273050"/>
            <a:chOff x="4498058" y="2491408"/>
            <a:chExt cx="38100" cy="273050"/>
          </a:xfrm>
        </p:grpSpPr>
        <p:sp>
          <p:nvSpPr>
            <p:cNvPr id="68" name="object 68"/>
            <p:cNvSpPr/>
            <p:nvPr/>
          </p:nvSpPr>
          <p:spPr>
            <a:xfrm>
              <a:off x="4517037" y="2521774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498058" y="2491408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309262" y="2447885"/>
            <a:ext cx="314325" cy="508634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050" i="1" spc="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  <a:p>
            <a:pPr marL="117475">
              <a:lnSpc>
                <a:spcPct val="100000"/>
              </a:lnSpc>
              <a:spcBef>
                <a:spcPts val="640"/>
              </a:spcBef>
            </a:pPr>
            <a:r>
              <a:rPr sz="1575" i="1" spc="15" baseline="15873" dirty="0">
                <a:latin typeface="Arial"/>
                <a:cs typeface="Arial"/>
              </a:rPr>
              <a:t>x</a:t>
            </a:r>
            <a:r>
              <a:rPr sz="1050" i="1" spc="15" baseline="7936" dirty="0">
                <a:latin typeface="Arial"/>
                <a:cs typeface="Arial"/>
              </a:rPr>
              <a:t>T</a:t>
            </a:r>
            <a:r>
              <a:rPr sz="500" i="1" spc="15" dirty="0">
                <a:latin typeface="Arial"/>
                <a:cs typeface="Arial"/>
              </a:rPr>
              <a:t>x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601555" y="841004"/>
            <a:ext cx="2934970" cy="1283335"/>
            <a:chOff x="1601555" y="841004"/>
            <a:chExt cx="2934970" cy="1283335"/>
          </a:xfrm>
        </p:grpSpPr>
        <p:sp>
          <p:nvSpPr>
            <p:cNvPr id="72" name="object 72"/>
            <p:cNvSpPr/>
            <p:nvPr/>
          </p:nvSpPr>
          <p:spPr>
            <a:xfrm>
              <a:off x="4517036" y="188164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8058" y="1851279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606635" y="84608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>
                  <a:moveTo>
                    <a:pt x="0" y="360004"/>
                  </a:moveTo>
                  <a:lnTo>
                    <a:pt x="360004" y="360004"/>
                  </a:lnTo>
                  <a:lnTo>
                    <a:pt x="360004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4334243" y="1886297"/>
            <a:ext cx="116839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i="1" spc="15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667675" y="902065"/>
            <a:ext cx="2317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90" dirty="0">
                <a:latin typeface="MS UI Gothic"/>
                <a:cs typeface="MS UI Gothic"/>
              </a:rPr>
              <a:t>L</a:t>
            </a:r>
            <a:r>
              <a:rPr sz="1050" spc="135" baseline="-15873" dirty="0">
                <a:latin typeface="Microsoft Sans Serif"/>
                <a:cs typeface="Microsoft Sans Serif"/>
              </a:rPr>
              <a:t>1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336766" y="846084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4" h="360044">
                <a:moveTo>
                  <a:pt x="0" y="360004"/>
                </a:moveTo>
                <a:lnTo>
                  <a:pt x="360004" y="360004"/>
                </a:lnTo>
                <a:lnTo>
                  <a:pt x="360004" y="0"/>
                </a:lnTo>
                <a:lnTo>
                  <a:pt x="0" y="0"/>
                </a:lnTo>
                <a:lnTo>
                  <a:pt x="0" y="360004"/>
                </a:lnTo>
                <a:close/>
              </a:path>
            </a:pathLst>
          </a:custGeom>
          <a:ln w="1012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2397798" y="902065"/>
            <a:ext cx="2317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90" dirty="0">
                <a:latin typeface="MS UI Gothic"/>
                <a:cs typeface="MS UI Gothic"/>
              </a:rPr>
              <a:t>L</a:t>
            </a:r>
            <a:r>
              <a:rPr sz="1050" spc="135" baseline="-15873" dirty="0">
                <a:latin typeface="Microsoft Sans Serif"/>
                <a:cs typeface="Microsoft Sans Serif"/>
              </a:rPr>
              <a:t>2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066896" y="846084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4">
                <a:moveTo>
                  <a:pt x="0" y="360004"/>
                </a:moveTo>
                <a:lnTo>
                  <a:pt x="360004" y="360004"/>
                </a:lnTo>
                <a:lnTo>
                  <a:pt x="360004" y="0"/>
                </a:lnTo>
                <a:lnTo>
                  <a:pt x="0" y="0"/>
                </a:lnTo>
                <a:lnTo>
                  <a:pt x="0" y="360004"/>
                </a:lnTo>
                <a:close/>
              </a:path>
            </a:pathLst>
          </a:custGeom>
          <a:ln w="1012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3127921" y="901303"/>
            <a:ext cx="2317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90" dirty="0">
                <a:latin typeface="MS UI Gothic"/>
                <a:cs typeface="MS UI Gothic"/>
              </a:rPr>
              <a:t>L</a:t>
            </a:r>
            <a:r>
              <a:rPr sz="1050" spc="135" baseline="-15873" dirty="0">
                <a:latin typeface="Microsoft Sans Serif"/>
                <a:cs typeface="Microsoft Sans Serif"/>
              </a:rPr>
              <a:t>3</a:t>
            </a:r>
            <a:endParaRPr sz="1050" baseline="-15873">
              <a:latin typeface="Microsoft Sans Serif"/>
              <a:cs typeface="Microsoft Sans Serif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337034" y="846084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4">
                <a:moveTo>
                  <a:pt x="0" y="360004"/>
                </a:moveTo>
                <a:lnTo>
                  <a:pt x="360004" y="360004"/>
                </a:lnTo>
                <a:lnTo>
                  <a:pt x="360004" y="0"/>
                </a:lnTo>
                <a:lnTo>
                  <a:pt x="0" y="0"/>
                </a:lnTo>
                <a:lnTo>
                  <a:pt x="0" y="360004"/>
                </a:lnTo>
                <a:close/>
              </a:path>
            </a:pathLst>
          </a:custGeom>
          <a:ln w="1012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371873" y="923846"/>
            <a:ext cx="2711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262" baseline="13888" dirty="0">
                <a:latin typeface="MS UI Gothic"/>
                <a:cs typeface="MS UI Gothic"/>
              </a:rPr>
              <a:t>L</a:t>
            </a:r>
            <a:r>
              <a:rPr sz="1050" i="1" spc="15" baseline="7936" dirty="0">
                <a:latin typeface="Arial"/>
                <a:cs typeface="Arial"/>
              </a:rPr>
              <a:t>T</a:t>
            </a:r>
            <a:r>
              <a:rPr sz="500" i="1" spc="15" dirty="0">
                <a:latin typeface="Arial"/>
                <a:cs typeface="Arial"/>
              </a:rPr>
              <a:t>y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767658" y="1208609"/>
            <a:ext cx="2870200" cy="1217930"/>
            <a:chOff x="1767658" y="1208609"/>
            <a:chExt cx="2870200" cy="1217930"/>
          </a:xfrm>
        </p:grpSpPr>
        <p:sp>
          <p:nvSpPr>
            <p:cNvPr id="84" name="object 84"/>
            <p:cNvSpPr/>
            <p:nvPr/>
          </p:nvSpPr>
          <p:spPr>
            <a:xfrm>
              <a:off x="4618258" y="1211149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0"/>
                  </a:moveTo>
                  <a:lnTo>
                    <a:pt x="0" y="239637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599280" y="143054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348120" y="1211149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0"/>
                  </a:moveTo>
                  <a:lnTo>
                    <a:pt x="0" y="239637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329142" y="143054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617990" y="1211149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0"/>
                  </a:moveTo>
                  <a:lnTo>
                    <a:pt x="0" y="239637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599011" y="143054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887859" y="1211149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0"/>
                  </a:moveTo>
                  <a:lnTo>
                    <a:pt x="0" y="239637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868880" y="143054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786637" y="124151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767658" y="1211149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516768" y="124151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497789" y="1211149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246899" y="124151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227920" y="1211149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517037" y="124151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6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498058" y="1211149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618258" y="1851279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0"/>
                  </a:moveTo>
                  <a:lnTo>
                    <a:pt x="0" y="239637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599280" y="207067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348120" y="1851279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0"/>
                  </a:moveTo>
                  <a:lnTo>
                    <a:pt x="0" y="239637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329142" y="207067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617990" y="1851279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0"/>
                  </a:moveTo>
                  <a:lnTo>
                    <a:pt x="0" y="239637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599011" y="207067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887859" y="1851279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0"/>
                  </a:moveTo>
                  <a:lnTo>
                    <a:pt x="0" y="239637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868880" y="207067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008483" y="2407567"/>
              <a:ext cx="323850" cy="0"/>
            </a:xfrm>
            <a:custGeom>
              <a:avLst/>
              <a:gdLst/>
              <a:ahLst/>
              <a:cxnLst/>
              <a:rect l="l" t="t" r="r" b="b"/>
              <a:pathLst>
                <a:path w="323850">
                  <a:moveTo>
                    <a:pt x="323490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978117" y="2388588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50609" y="37957"/>
                  </a:moveTo>
                  <a:lnTo>
                    <a:pt x="43492" y="28112"/>
                  </a:lnTo>
                  <a:lnTo>
                    <a:pt x="41120" y="18978"/>
                  </a:lnTo>
                  <a:lnTo>
                    <a:pt x="43492" y="9845"/>
                  </a:lnTo>
                  <a:lnTo>
                    <a:pt x="50609" y="0"/>
                  </a:lnTo>
                  <a:lnTo>
                    <a:pt x="38076" y="7413"/>
                  </a:lnTo>
                  <a:lnTo>
                    <a:pt x="24356" y="12810"/>
                  </a:lnTo>
                  <a:lnTo>
                    <a:pt x="11110" y="16546"/>
                  </a:lnTo>
                  <a:lnTo>
                    <a:pt x="0" y="18978"/>
                  </a:lnTo>
                  <a:lnTo>
                    <a:pt x="11110" y="21410"/>
                  </a:lnTo>
                  <a:lnTo>
                    <a:pt x="24356" y="25146"/>
                  </a:lnTo>
                  <a:lnTo>
                    <a:pt x="38076" y="30543"/>
                  </a:lnTo>
                  <a:lnTo>
                    <a:pt x="50609" y="37957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462328" y="2407567"/>
              <a:ext cx="240029" cy="0"/>
            </a:xfrm>
            <a:custGeom>
              <a:avLst/>
              <a:gdLst/>
              <a:ahLst/>
              <a:cxnLst/>
              <a:rect l="l" t="t" r="r" b="b"/>
              <a:pathLst>
                <a:path w="240029">
                  <a:moveTo>
                    <a:pt x="239637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431962" y="2388588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50609" y="37957"/>
                  </a:moveTo>
                  <a:lnTo>
                    <a:pt x="43492" y="28112"/>
                  </a:lnTo>
                  <a:lnTo>
                    <a:pt x="41120" y="18978"/>
                  </a:lnTo>
                  <a:lnTo>
                    <a:pt x="43492" y="9845"/>
                  </a:lnTo>
                  <a:lnTo>
                    <a:pt x="50609" y="0"/>
                  </a:lnTo>
                  <a:lnTo>
                    <a:pt x="38076" y="7413"/>
                  </a:lnTo>
                  <a:lnTo>
                    <a:pt x="24356" y="12810"/>
                  </a:lnTo>
                  <a:lnTo>
                    <a:pt x="11110" y="16546"/>
                  </a:lnTo>
                  <a:lnTo>
                    <a:pt x="0" y="18978"/>
                  </a:lnTo>
                  <a:lnTo>
                    <a:pt x="11110" y="21410"/>
                  </a:lnTo>
                  <a:lnTo>
                    <a:pt x="24356" y="25146"/>
                  </a:lnTo>
                  <a:lnTo>
                    <a:pt x="38076" y="30543"/>
                  </a:lnTo>
                  <a:lnTo>
                    <a:pt x="50609" y="37957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002066" y="2407567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>
                  <a:moveTo>
                    <a:pt x="329638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971700" y="2388588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50609" y="37957"/>
                  </a:moveTo>
                  <a:lnTo>
                    <a:pt x="43492" y="28112"/>
                  </a:lnTo>
                  <a:lnTo>
                    <a:pt x="41120" y="18978"/>
                  </a:lnTo>
                  <a:lnTo>
                    <a:pt x="43492" y="9845"/>
                  </a:lnTo>
                  <a:lnTo>
                    <a:pt x="50609" y="0"/>
                  </a:lnTo>
                  <a:lnTo>
                    <a:pt x="38076" y="7413"/>
                  </a:lnTo>
                  <a:lnTo>
                    <a:pt x="24356" y="12810"/>
                  </a:lnTo>
                  <a:lnTo>
                    <a:pt x="11110" y="16546"/>
                  </a:lnTo>
                  <a:lnTo>
                    <a:pt x="0" y="18978"/>
                  </a:lnTo>
                  <a:lnTo>
                    <a:pt x="11110" y="21410"/>
                  </a:lnTo>
                  <a:lnTo>
                    <a:pt x="24356" y="25146"/>
                  </a:lnTo>
                  <a:lnTo>
                    <a:pt x="38076" y="30543"/>
                  </a:lnTo>
                  <a:lnTo>
                    <a:pt x="50609" y="37957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732197" y="2407567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>
                  <a:moveTo>
                    <a:pt x="329638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701831" y="2388588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50609" y="37957"/>
                  </a:moveTo>
                  <a:lnTo>
                    <a:pt x="43492" y="28112"/>
                  </a:lnTo>
                  <a:lnTo>
                    <a:pt x="41120" y="18978"/>
                  </a:lnTo>
                  <a:lnTo>
                    <a:pt x="43492" y="9845"/>
                  </a:lnTo>
                  <a:lnTo>
                    <a:pt x="50609" y="0"/>
                  </a:lnTo>
                  <a:lnTo>
                    <a:pt x="38076" y="7413"/>
                  </a:lnTo>
                  <a:lnTo>
                    <a:pt x="24356" y="12810"/>
                  </a:lnTo>
                  <a:lnTo>
                    <a:pt x="11110" y="16546"/>
                  </a:lnTo>
                  <a:lnTo>
                    <a:pt x="0" y="18978"/>
                  </a:lnTo>
                  <a:lnTo>
                    <a:pt x="11110" y="21410"/>
                  </a:lnTo>
                  <a:lnTo>
                    <a:pt x="24356" y="25146"/>
                  </a:lnTo>
                  <a:lnTo>
                    <a:pt x="38076" y="30543"/>
                  </a:lnTo>
                  <a:lnTo>
                    <a:pt x="50609" y="37957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4414291" y="502434"/>
            <a:ext cx="1301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75" dirty="0">
                <a:latin typeface="MS UI Gothic"/>
                <a:cs typeface="MS UI Gothic"/>
              </a:rPr>
              <a:t>L</a:t>
            </a:r>
            <a:endParaRPr sz="1200">
              <a:latin typeface="MS UI Gothic"/>
              <a:cs typeface="MS UI Gothic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1767658" y="604491"/>
            <a:ext cx="2768600" cy="236854"/>
            <a:chOff x="1767658" y="604491"/>
            <a:chExt cx="2768600" cy="236854"/>
          </a:xfrm>
        </p:grpSpPr>
        <p:sp>
          <p:nvSpPr>
            <p:cNvPr id="118" name="object 118"/>
            <p:cNvSpPr/>
            <p:nvPr/>
          </p:nvSpPr>
          <p:spPr>
            <a:xfrm>
              <a:off x="4517037" y="715019"/>
              <a:ext cx="0" cy="95885"/>
            </a:xfrm>
            <a:custGeom>
              <a:avLst/>
              <a:gdLst/>
              <a:ahLst/>
              <a:cxnLst/>
              <a:rect l="l" t="t" r="r" b="b"/>
              <a:pathLst>
                <a:path h="95884">
                  <a:moveTo>
                    <a:pt x="0" y="0"/>
                  </a:moveTo>
                  <a:lnTo>
                    <a:pt x="0" y="95637"/>
                  </a:lnTo>
                </a:path>
              </a:pathLst>
            </a:custGeom>
            <a:ln w="5060">
              <a:solidFill>
                <a:srgbClr val="CC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498058" y="79041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246899" y="607022"/>
              <a:ext cx="0" cy="203835"/>
            </a:xfrm>
            <a:custGeom>
              <a:avLst/>
              <a:gdLst/>
              <a:ahLst/>
              <a:cxnLst/>
              <a:rect l="l" t="t" r="r" b="b"/>
              <a:pathLst>
                <a:path h="203834">
                  <a:moveTo>
                    <a:pt x="0" y="0"/>
                  </a:moveTo>
                  <a:lnTo>
                    <a:pt x="0" y="203634"/>
                  </a:lnTo>
                </a:path>
              </a:pathLst>
            </a:custGeom>
            <a:ln w="5060">
              <a:solidFill>
                <a:srgbClr val="CC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227920" y="79041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516768" y="607022"/>
              <a:ext cx="0" cy="203835"/>
            </a:xfrm>
            <a:custGeom>
              <a:avLst/>
              <a:gdLst/>
              <a:ahLst/>
              <a:cxnLst/>
              <a:rect l="l" t="t" r="r" b="b"/>
              <a:pathLst>
                <a:path h="203834">
                  <a:moveTo>
                    <a:pt x="0" y="0"/>
                  </a:moveTo>
                  <a:lnTo>
                    <a:pt x="0" y="203634"/>
                  </a:lnTo>
                </a:path>
              </a:pathLst>
            </a:custGeom>
            <a:ln w="5060">
              <a:solidFill>
                <a:srgbClr val="CC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497789" y="79041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786637" y="607022"/>
              <a:ext cx="0" cy="203835"/>
            </a:xfrm>
            <a:custGeom>
              <a:avLst/>
              <a:gdLst/>
              <a:ahLst/>
              <a:cxnLst/>
              <a:rect l="l" t="t" r="r" b="b"/>
              <a:pathLst>
                <a:path h="203834">
                  <a:moveTo>
                    <a:pt x="0" y="0"/>
                  </a:moveTo>
                  <a:lnTo>
                    <a:pt x="0" y="203634"/>
                  </a:lnTo>
                </a:path>
              </a:pathLst>
            </a:custGeom>
            <a:ln w="5060">
              <a:solidFill>
                <a:srgbClr val="CC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767658" y="790413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786637" y="607022"/>
              <a:ext cx="2592705" cy="8255"/>
            </a:xfrm>
            <a:custGeom>
              <a:avLst/>
              <a:gdLst/>
              <a:ahLst/>
              <a:cxnLst/>
              <a:rect l="l" t="t" r="r" b="b"/>
              <a:pathLst>
                <a:path w="2592704" h="8254">
                  <a:moveTo>
                    <a:pt x="2592323" y="764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CC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1916518" y="2995693"/>
            <a:ext cx="192722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Back-propagation</a:t>
            </a:r>
            <a:r>
              <a:rPr sz="1050" spc="-1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through</a:t>
            </a:r>
            <a:r>
              <a:rPr sz="1050" spc="-1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time.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8294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/>
              <a:t>I</a:t>
            </a:r>
            <a:r>
              <a:rPr cap="small" spc="180" dirty="0"/>
              <a:t>n</a:t>
            </a:r>
            <a:r>
              <a:rPr spc="180" dirty="0"/>
              <a:t> </a:t>
            </a:r>
            <a:r>
              <a:rPr spc="-120" dirty="0"/>
              <a:t> </a:t>
            </a:r>
            <a:r>
              <a:rPr spc="520" dirty="0"/>
              <a:t>T</a:t>
            </a:r>
            <a:r>
              <a:rPr cap="small" spc="185" dirty="0"/>
              <a:t>his</a:t>
            </a:r>
            <a:r>
              <a:rPr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50" dirty="0"/>
              <a:t>egment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730567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73423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1023899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10275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317243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32092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61058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61425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903933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90760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EAEAF7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19726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220094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49" y="2490609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49429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78395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78762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029" y="591696"/>
            <a:ext cx="3757295" cy="23723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S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e</a:t>
            </a:r>
            <a:r>
              <a:rPr sz="1400" spc="175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q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uence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earning</a:t>
            </a:r>
            <a:endParaRPr sz="1400">
              <a:latin typeface="Calibri"/>
              <a:cs typeface="Calibri"/>
            </a:endParaRPr>
          </a:p>
          <a:p>
            <a:pPr marL="12700" marR="397510">
              <a:lnSpc>
                <a:spcPct val="137500"/>
              </a:lnSpc>
            </a:pP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ecurrent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1400" cap="small" spc="24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eural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et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w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ork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(RNN)</a:t>
            </a:r>
            <a:r>
              <a:rPr sz="1400" spc="12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T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ypes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of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2146935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earning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RNN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I</a:t>
            </a:r>
            <a:r>
              <a:rPr sz="1400" cap="small" spc="175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ssues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cap="small" spc="16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in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300" dirty="0">
                <a:solidFill>
                  <a:srgbClr val="3333B2"/>
                </a:solidFill>
                <a:latin typeface="Calibri"/>
                <a:cs typeface="Calibri"/>
                <a:hlinkClick r:id="rId9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L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ong</a:t>
            </a:r>
            <a:r>
              <a:rPr sz="1400" spc="19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ho</a:t>
            </a:r>
            <a:r>
              <a:rPr sz="1400" cap="small" spc="9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r</a:t>
            </a:r>
            <a:r>
              <a:rPr sz="1400" cap="small" spc="31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T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erm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M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em</a:t>
            </a:r>
            <a:r>
              <a:rPr sz="1400" cap="small" spc="18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o</a:t>
            </a:r>
            <a:r>
              <a:rPr sz="1400" cap="small" spc="17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r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y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31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(LST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M</a:t>
            </a:r>
            <a:r>
              <a:rPr sz="1400" spc="2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)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3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G</a:t>
            </a:r>
            <a:r>
              <a:rPr sz="1400" cap="small" spc="1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a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ted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ecurrent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(G</a:t>
            </a:r>
            <a:r>
              <a:rPr sz="1400" spc="2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U)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B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idirectional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313372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/>
              <a:t>I</a:t>
            </a:r>
            <a:r>
              <a:rPr cap="small" spc="204" dirty="0"/>
              <a:t>ssue</a:t>
            </a:r>
            <a:r>
              <a:rPr spc="204" dirty="0"/>
              <a:t> </a:t>
            </a:r>
            <a:r>
              <a:rPr spc="-120" dirty="0"/>
              <a:t> </a:t>
            </a:r>
            <a:r>
              <a:rPr cap="small" spc="250" dirty="0"/>
              <a:t>of</a:t>
            </a:r>
            <a:r>
              <a:rPr dirty="0"/>
              <a:t> </a:t>
            </a:r>
            <a:r>
              <a:rPr spc="-120" dirty="0"/>
              <a:t> </a:t>
            </a:r>
            <a:r>
              <a:rPr spc="245" dirty="0"/>
              <a:t>M</a:t>
            </a:r>
            <a:r>
              <a:rPr cap="small" spc="210" dirty="0"/>
              <a:t>ain</a:t>
            </a:r>
            <a:r>
              <a:rPr cap="small" spc="240" dirty="0"/>
              <a:t>t</a:t>
            </a:r>
            <a:r>
              <a:rPr cap="small" spc="204" dirty="0"/>
              <a:t>aining</a:t>
            </a:r>
            <a:r>
              <a:rPr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35" dirty="0"/>
              <a:t>t</a:t>
            </a:r>
            <a:r>
              <a:rPr cap="small" spc="155" dirty="0"/>
              <a:t>a</a:t>
            </a:r>
            <a:r>
              <a:rPr cap="small" spc="275" dirty="0"/>
              <a:t>tes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1139888"/>
            <a:ext cx="69850" cy="1283970"/>
            <a:chOff x="513702" y="1139888"/>
            <a:chExt cx="69850" cy="12839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139888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61313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949653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354541"/>
              <a:ext cx="69291" cy="69291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8290" marR="5080">
              <a:lnSpc>
                <a:spcPct val="126499"/>
              </a:lnSpc>
              <a:spcBef>
                <a:spcPts val="90"/>
              </a:spcBef>
            </a:pPr>
            <a:r>
              <a:rPr spc="10" dirty="0"/>
              <a:t>The</a:t>
            </a:r>
            <a:r>
              <a:rPr spc="25" dirty="0"/>
              <a:t> </a:t>
            </a:r>
            <a:r>
              <a:rPr spc="5" dirty="0"/>
              <a:t>old</a:t>
            </a:r>
            <a:r>
              <a:rPr spc="25" dirty="0"/>
              <a:t> </a:t>
            </a:r>
            <a:r>
              <a:rPr spc="5" dirty="0"/>
              <a:t>information</a:t>
            </a:r>
            <a:r>
              <a:rPr spc="25" dirty="0"/>
              <a:t> </a:t>
            </a:r>
            <a:r>
              <a:rPr spc="10" dirty="0"/>
              <a:t>gets</a:t>
            </a:r>
            <a:r>
              <a:rPr spc="30" dirty="0"/>
              <a:t> </a:t>
            </a:r>
            <a:r>
              <a:rPr spc="15" dirty="0"/>
              <a:t>morphed</a:t>
            </a:r>
            <a:r>
              <a:rPr spc="25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spc="10" dirty="0"/>
              <a:t>the</a:t>
            </a:r>
            <a:r>
              <a:rPr spc="30" dirty="0"/>
              <a:t> </a:t>
            </a:r>
            <a:r>
              <a:rPr spc="10" dirty="0"/>
              <a:t>current</a:t>
            </a:r>
            <a:r>
              <a:rPr spc="25" dirty="0"/>
              <a:t> </a:t>
            </a:r>
            <a:r>
              <a:rPr spc="5" dirty="0"/>
              <a:t>input</a:t>
            </a:r>
            <a:r>
              <a:rPr spc="25" dirty="0"/>
              <a:t> </a:t>
            </a:r>
            <a:r>
              <a:rPr spc="10" dirty="0"/>
              <a:t>at</a:t>
            </a:r>
            <a:r>
              <a:rPr spc="30" dirty="0"/>
              <a:t> </a:t>
            </a:r>
            <a:r>
              <a:rPr spc="10" dirty="0"/>
              <a:t>each</a:t>
            </a:r>
            <a:r>
              <a:rPr spc="25" dirty="0"/>
              <a:t> </a:t>
            </a:r>
            <a:r>
              <a:rPr spc="5" dirty="0"/>
              <a:t>new</a:t>
            </a:r>
            <a:r>
              <a:rPr spc="25" dirty="0"/>
              <a:t> </a:t>
            </a:r>
            <a:r>
              <a:rPr spc="10" dirty="0"/>
              <a:t>time</a:t>
            </a:r>
            <a:r>
              <a:rPr spc="30" dirty="0"/>
              <a:t> </a:t>
            </a:r>
            <a:r>
              <a:rPr dirty="0"/>
              <a:t>step. </a:t>
            </a:r>
            <a:r>
              <a:rPr spc="5" dirty="0"/>
              <a:t> </a:t>
            </a:r>
            <a:r>
              <a:rPr spc="10" dirty="0"/>
              <a:t>After</a:t>
            </a:r>
            <a:r>
              <a:rPr spc="20" dirty="0"/>
              <a:t> </a:t>
            </a:r>
            <a:r>
              <a:rPr i="1" spc="5" dirty="0">
                <a:latin typeface="Arial"/>
                <a:cs typeface="Arial"/>
              </a:rPr>
              <a:t>t</a:t>
            </a:r>
            <a:r>
              <a:rPr i="1" spc="100" dirty="0">
                <a:latin typeface="Arial"/>
                <a:cs typeface="Arial"/>
              </a:rPr>
              <a:t> </a:t>
            </a:r>
            <a:r>
              <a:rPr spc="10" dirty="0"/>
              <a:t>steps</a:t>
            </a:r>
            <a:r>
              <a:rPr spc="25" dirty="0"/>
              <a:t> </a:t>
            </a:r>
            <a:r>
              <a:rPr spc="10" dirty="0"/>
              <a:t>the</a:t>
            </a:r>
            <a:r>
              <a:rPr spc="20" dirty="0"/>
              <a:t> </a:t>
            </a:r>
            <a:r>
              <a:rPr spc="5" dirty="0"/>
              <a:t>information</a:t>
            </a:r>
            <a:r>
              <a:rPr spc="20" dirty="0"/>
              <a:t> </a:t>
            </a:r>
            <a:r>
              <a:rPr spc="10" dirty="0"/>
              <a:t>stored</a:t>
            </a:r>
            <a:r>
              <a:rPr spc="20" dirty="0"/>
              <a:t> </a:t>
            </a:r>
            <a:r>
              <a:rPr spc="10" dirty="0"/>
              <a:t>at</a:t>
            </a:r>
            <a:r>
              <a:rPr spc="25" dirty="0"/>
              <a:t> </a:t>
            </a:r>
            <a:r>
              <a:rPr spc="10" dirty="0"/>
              <a:t>time</a:t>
            </a:r>
            <a:r>
              <a:rPr spc="20" dirty="0"/>
              <a:t> </a:t>
            </a:r>
            <a:r>
              <a:rPr spc="10" dirty="0"/>
              <a:t>step</a:t>
            </a:r>
            <a:r>
              <a:rPr spc="15" dirty="0"/>
              <a:t> </a:t>
            </a:r>
            <a:r>
              <a:rPr i="1" spc="5" dirty="0">
                <a:latin typeface="Arial"/>
                <a:cs typeface="Arial"/>
              </a:rPr>
              <a:t>t</a:t>
            </a:r>
            <a:r>
              <a:rPr i="1" spc="75" dirty="0">
                <a:latin typeface="Arial"/>
                <a:cs typeface="Arial"/>
              </a:rPr>
              <a:t> </a:t>
            </a:r>
            <a:r>
              <a:rPr sz="1200" spc="125" dirty="0">
                <a:latin typeface="MS UI Gothic"/>
                <a:cs typeface="MS UI Gothic"/>
              </a:rPr>
              <a:t>−</a:t>
            </a:r>
            <a:r>
              <a:rPr sz="1200" spc="-100" dirty="0">
                <a:latin typeface="MS UI Gothic"/>
                <a:cs typeface="MS UI Gothic"/>
              </a:rPr>
              <a:t> </a:t>
            </a:r>
            <a:r>
              <a:rPr i="1" spc="10" dirty="0">
                <a:latin typeface="Arial"/>
                <a:cs typeface="Arial"/>
              </a:rPr>
              <a:t>k</a:t>
            </a:r>
            <a:r>
              <a:rPr i="1" spc="114" dirty="0">
                <a:latin typeface="Arial"/>
                <a:cs typeface="Arial"/>
              </a:rPr>
              <a:t> </a:t>
            </a:r>
            <a:r>
              <a:rPr dirty="0"/>
              <a:t>(for</a:t>
            </a:r>
            <a:r>
              <a:rPr spc="25" dirty="0"/>
              <a:t> </a:t>
            </a:r>
            <a:r>
              <a:rPr spc="15" dirty="0"/>
              <a:t>some</a:t>
            </a:r>
            <a:r>
              <a:rPr spc="20" dirty="0"/>
              <a:t> </a:t>
            </a:r>
            <a:r>
              <a:rPr i="1" spc="10" dirty="0">
                <a:latin typeface="Arial"/>
                <a:cs typeface="Arial"/>
              </a:rPr>
              <a:t>k</a:t>
            </a:r>
            <a:r>
              <a:rPr i="1" spc="150" dirty="0">
                <a:latin typeface="Arial"/>
                <a:cs typeface="Arial"/>
              </a:rPr>
              <a:t> </a:t>
            </a:r>
            <a:r>
              <a:rPr sz="1200" i="1" spc="-75" dirty="0">
                <a:latin typeface="Verdana"/>
                <a:cs typeface="Verdana"/>
              </a:rPr>
              <a:t>&lt;</a:t>
            </a:r>
            <a:r>
              <a:rPr sz="1200" i="1" spc="-90" dirty="0">
                <a:latin typeface="Verdana"/>
                <a:cs typeface="Verdana"/>
              </a:rPr>
              <a:t> </a:t>
            </a:r>
            <a:r>
              <a:rPr i="1" spc="5" dirty="0">
                <a:latin typeface="Arial"/>
                <a:cs typeface="Arial"/>
              </a:rPr>
              <a:t>t</a:t>
            </a:r>
            <a:r>
              <a:rPr i="1" spc="-195" dirty="0">
                <a:latin typeface="Arial"/>
                <a:cs typeface="Arial"/>
              </a:rPr>
              <a:t> </a:t>
            </a:r>
            <a:r>
              <a:rPr spc="5" dirty="0"/>
              <a:t>)</a:t>
            </a:r>
            <a:r>
              <a:rPr spc="20" dirty="0"/>
              <a:t> </a:t>
            </a:r>
            <a:r>
              <a:rPr spc="10" dirty="0"/>
              <a:t>gets</a:t>
            </a:r>
            <a:endParaRPr sz="1200">
              <a:latin typeface="Arial"/>
              <a:cs typeface="Arial"/>
            </a:endParaRPr>
          </a:p>
          <a:p>
            <a:pPr marL="288290" marR="5080">
              <a:lnSpc>
                <a:spcPct val="102699"/>
              </a:lnSpc>
              <a:spcBef>
                <a:spcPts val="120"/>
              </a:spcBef>
            </a:pPr>
            <a:r>
              <a:rPr spc="10" dirty="0"/>
              <a:t>completely</a:t>
            </a:r>
            <a:r>
              <a:rPr spc="25" dirty="0"/>
              <a:t> </a:t>
            </a:r>
            <a:r>
              <a:rPr spc="15" dirty="0"/>
              <a:t>morphed</a:t>
            </a:r>
            <a:r>
              <a:rPr spc="30" dirty="0"/>
              <a:t> </a:t>
            </a:r>
            <a:r>
              <a:rPr spc="10" dirty="0"/>
              <a:t>so</a:t>
            </a:r>
            <a:r>
              <a:rPr spc="25" dirty="0"/>
              <a:t> </a:t>
            </a:r>
            <a:r>
              <a:rPr spc="10" dirty="0"/>
              <a:t>much</a:t>
            </a:r>
            <a:r>
              <a:rPr spc="30" dirty="0"/>
              <a:t> </a:t>
            </a:r>
            <a:r>
              <a:rPr spc="10" dirty="0"/>
              <a:t>that</a:t>
            </a:r>
            <a:r>
              <a:rPr spc="25" dirty="0"/>
              <a:t> </a:t>
            </a:r>
            <a:r>
              <a:rPr dirty="0"/>
              <a:t>it</a:t>
            </a:r>
            <a:r>
              <a:rPr spc="30" dirty="0"/>
              <a:t> </a:t>
            </a:r>
            <a:r>
              <a:rPr spc="5" dirty="0"/>
              <a:t>would</a:t>
            </a:r>
            <a:r>
              <a:rPr spc="25" dirty="0"/>
              <a:t> </a:t>
            </a:r>
            <a:r>
              <a:rPr spc="10" dirty="0"/>
              <a:t>be</a:t>
            </a:r>
            <a:r>
              <a:rPr spc="30" dirty="0"/>
              <a:t> </a:t>
            </a:r>
            <a:r>
              <a:rPr spc="5" dirty="0"/>
              <a:t>impossible</a:t>
            </a:r>
            <a:r>
              <a:rPr spc="30" dirty="0"/>
              <a:t> </a:t>
            </a:r>
            <a:r>
              <a:rPr spc="10" dirty="0"/>
              <a:t>to</a:t>
            </a:r>
            <a:r>
              <a:rPr spc="25" dirty="0"/>
              <a:t> </a:t>
            </a:r>
            <a:r>
              <a:rPr dirty="0"/>
              <a:t>extract</a:t>
            </a:r>
            <a:r>
              <a:rPr spc="30" dirty="0"/>
              <a:t> </a:t>
            </a:r>
            <a:r>
              <a:rPr spc="10" dirty="0"/>
              <a:t>the</a:t>
            </a:r>
            <a:r>
              <a:rPr spc="25" dirty="0"/>
              <a:t> </a:t>
            </a:r>
            <a:r>
              <a:rPr spc="5" dirty="0"/>
              <a:t>original </a:t>
            </a:r>
            <a:r>
              <a:rPr spc="-260" dirty="0"/>
              <a:t> </a:t>
            </a:r>
            <a:r>
              <a:rPr spc="5" dirty="0"/>
              <a:t>in</a:t>
            </a:r>
            <a:r>
              <a:rPr spc="-30" dirty="0"/>
              <a:t>f</a:t>
            </a:r>
            <a:r>
              <a:rPr spc="10" dirty="0"/>
              <a:t>o</a:t>
            </a:r>
            <a:r>
              <a:rPr spc="30" dirty="0"/>
              <a:t>r</a:t>
            </a:r>
            <a:r>
              <a:rPr spc="10" dirty="0"/>
              <a:t>mation</a:t>
            </a:r>
            <a:r>
              <a:rPr spc="20" dirty="0"/>
              <a:t> </a:t>
            </a:r>
            <a:r>
              <a:rPr spc="10" dirty="0"/>
              <a:t>stored</a:t>
            </a:r>
            <a:r>
              <a:rPr spc="20" dirty="0"/>
              <a:t> </a:t>
            </a:r>
            <a:r>
              <a:rPr spc="10" dirty="0"/>
              <a:t>at</a:t>
            </a:r>
            <a:r>
              <a:rPr spc="20" dirty="0"/>
              <a:t> </a:t>
            </a:r>
            <a:r>
              <a:rPr spc="10" dirty="0"/>
              <a:t>time</a:t>
            </a:r>
            <a:r>
              <a:rPr spc="20" dirty="0"/>
              <a:t> </a:t>
            </a:r>
            <a:r>
              <a:rPr spc="10" dirty="0"/>
              <a:t>step</a:t>
            </a:r>
            <a:r>
              <a:rPr spc="20" dirty="0"/>
              <a:t> </a:t>
            </a:r>
            <a:r>
              <a:rPr i="1" spc="5" dirty="0">
                <a:latin typeface="Arial"/>
                <a:cs typeface="Arial"/>
              </a:rPr>
              <a:t>t</a:t>
            </a:r>
            <a:r>
              <a:rPr i="1" spc="70" dirty="0">
                <a:latin typeface="Arial"/>
                <a:cs typeface="Arial"/>
              </a:rPr>
              <a:t> </a:t>
            </a:r>
            <a:r>
              <a:rPr sz="1200" spc="125" dirty="0">
                <a:latin typeface="MS UI Gothic"/>
                <a:cs typeface="MS UI Gothic"/>
              </a:rPr>
              <a:t>−</a:t>
            </a:r>
            <a:r>
              <a:rPr sz="1200" spc="-100" dirty="0">
                <a:latin typeface="MS UI Gothic"/>
                <a:cs typeface="MS UI Gothic"/>
              </a:rPr>
              <a:t> </a:t>
            </a:r>
            <a:r>
              <a:rPr i="1" spc="10" dirty="0">
                <a:latin typeface="Arial"/>
                <a:cs typeface="Arial"/>
              </a:rPr>
              <a:t>k</a:t>
            </a:r>
            <a:r>
              <a:rPr i="1" spc="-185" dirty="0">
                <a:latin typeface="Arial"/>
                <a:cs typeface="Arial"/>
              </a:rPr>
              <a:t> </a:t>
            </a:r>
            <a:r>
              <a:rPr spc="5" dirty="0"/>
              <a:t>.</a:t>
            </a:r>
            <a:endParaRPr sz="1200">
              <a:latin typeface="Arial"/>
              <a:cs typeface="Arial"/>
            </a:endParaRPr>
          </a:p>
          <a:p>
            <a:pPr marL="288290" marR="100965">
              <a:lnSpc>
                <a:spcPct val="102699"/>
              </a:lnSpc>
              <a:spcBef>
                <a:spcPts val="420"/>
              </a:spcBef>
            </a:pPr>
            <a:r>
              <a:rPr spc="5" dirty="0"/>
              <a:t>It</a:t>
            </a:r>
            <a:r>
              <a:rPr spc="20" dirty="0"/>
              <a:t> </a:t>
            </a:r>
            <a:r>
              <a:rPr spc="5" dirty="0"/>
              <a:t>is</a:t>
            </a:r>
            <a:r>
              <a:rPr spc="25" dirty="0"/>
              <a:t> </a:t>
            </a:r>
            <a:r>
              <a:rPr spc="10" dirty="0"/>
              <a:t>very</a:t>
            </a:r>
            <a:r>
              <a:rPr spc="20" dirty="0"/>
              <a:t> </a:t>
            </a:r>
            <a:r>
              <a:rPr spc="10" dirty="0"/>
              <a:t>hard</a:t>
            </a:r>
            <a:r>
              <a:rPr spc="25" dirty="0"/>
              <a:t> </a:t>
            </a:r>
            <a:r>
              <a:rPr spc="10" dirty="0"/>
              <a:t>to</a:t>
            </a:r>
            <a:r>
              <a:rPr spc="25" dirty="0"/>
              <a:t> </a:t>
            </a:r>
            <a:r>
              <a:rPr spc="10" dirty="0"/>
              <a:t>assign</a:t>
            </a:r>
            <a:r>
              <a:rPr spc="20" dirty="0"/>
              <a:t> </a:t>
            </a:r>
            <a:r>
              <a:rPr spc="10" dirty="0"/>
              <a:t>the</a:t>
            </a:r>
            <a:r>
              <a:rPr spc="25" dirty="0"/>
              <a:t> </a:t>
            </a:r>
            <a:r>
              <a:rPr spc="5" dirty="0"/>
              <a:t>responsibility</a:t>
            </a:r>
            <a:r>
              <a:rPr spc="20" dirty="0"/>
              <a:t> </a:t>
            </a:r>
            <a:r>
              <a:rPr spc="10" dirty="0"/>
              <a:t>of</a:t>
            </a:r>
            <a:r>
              <a:rPr spc="25" dirty="0"/>
              <a:t> </a:t>
            </a:r>
            <a:r>
              <a:rPr spc="10" dirty="0"/>
              <a:t>the</a:t>
            </a:r>
            <a:r>
              <a:rPr spc="25" dirty="0"/>
              <a:t> </a:t>
            </a:r>
            <a:r>
              <a:rPr spc="10" dirty="0"/>
              <a:t>error</a:t>
            </a:r>
            <a:r>
              <a:rPr spc="20" dirty="0"/>
              <a:t> </a:t>
            </a:r>
            <a:r>
              <a:rPr spc="10" dirty="0"/>
              <a:t>caused</a:t>
            </a:r>
            <a:r>
              <a:rPr spc="25" dirty="0"/>
              <a:t> </a:t>
            </a:r>
            <a:r>
              <a:rPr spc="10" dirty="0"/>
              <a:t>at</a:t>
            </a:r>
            <a:r>
              <a:rPr spc="20" dirty="0"/>
              <a:t> </a:t>
            </a:r>
            <a:r>
              <a:rPr spc="10" dirty="0"/>
              <a:t>time</a:t>
            </a:r>
            <a:r>
              <a:rPr spc="25" dirty="0"/>
              <a:t> </a:t>
            </a:r>
            <a:r>
              <a:rPr spc="10" dirty="0"/>
              <a:t>step</a:t>
            </a:r>
            <a:r>
              <a:rPr spc="20" dirty="0"/>
              <a:t> </a:t>
            </a:r>
            <a:r>
              <a:rPr i="1" spc="5" dirty="0">
                <a:latin typeface="Arial"/>
                <a:cs typeface="Arial"/>
              </a:rPr>
              <a:t>t</a:t>
            </a:r>
            <a:r>
              <a:rPr i="1" spc="100" dirty="0">
                <a:latin typeface="Arial"/>
                <a:cs typeface="Arial"/>
              </a:rPr>
              <a:t> </a:t>
            </a:r>
            <a:r>
              <a:rPr spc="10" dirty="0"/>
              <a:t>to </a:t>
            </a:r>
            <a:r>
              <a:rPr spc="-260" dirty="0"/>
              <a:t> </a:t>
            </a:r>
            <a:r>
              <a:rPr spc="10" dirty="0"/>
              <a:t>the</a:t>
            </a:r>
            <a:r>
              <a:rPr spc="20" dirty="0"/>
              <a:t> </a:t>
            </a:r>
            <a:r>
              <a:rPr spc="-25" dirty="0"/>
              <a:t>e</a:t>
            </a:r>
            <a:r>
              <a:rPr spc="-20" dirty="0"/>
              <a:t>v</a:t>
            </a:r>
            <a:r>
              <a:rPr spc="10" dirty="0"/>
              <a:t>ents</a:t>
            </a:r>
            <a:r>
              <a:rPr spc="20" dirty="0"/>
              <a:t> </a:t>
            </a:r>
            <a:r>
              <a:rPr spc="10" dirty="0"/>
              <a:t>that</a:t>
            </a:r>
            <a:r>
              <a:rPr spc="20" dirty="0"/>
              <a:t> </a:t>
            </a:r>
            <a:r>
              <a:rPr spc="10" dirty="0"/>
              <a:t>occurred</a:t>
            </a:r>
            <a:r>
              <a:rPr spc="20" dirty="0"/>
              <a:t> </a:t>
            </a:r>
            <a:r>
              <a:rPr spc="10" dirty="0"/>
              <a:t>at</a:t>
            </a:r>
            <a:r>
              <a:rPr spc="20" dirty="0"/>
              <a:t> </a:t>
            </a:r>
            <a:r>
              <a:rPr spc="10" dirty="0"/>
              <a:t>time</a:t>
            </a:r>
            <a:r>
              <a:rPr spc="20" dirty="0"/>
              <a:t> </a:t>
            </a:r>
            <a:r>
              <a:rPr spc="10" dirty="0"/>
              <a:t>step</a:t>
            </a:r>
            <a:r>
              <a:rPr spc="15" dirty="0"/>
              <a:t> </a:t>
            </a:r>
            <a:r>
              <a:rPr i="1" spc="5" dirty="0">
                <a:latin typeface="Arial"/>
                <a:cs typeface="Arial"/>
              </a:rPr>
              <a:t>t</a:t>
            </a:r>
            <a:r>
              <a:rPr i="1" spc="70" dirty="0">
                <a:latin typeface="Arial"/>
                <a:cs typeface="Arial"/>
              </a:rPr>
              <a:t> </a:t>
            </a:r>
            <a:r>
              <a:rPr sz="1200" spc="125" dirty="0">
                <a:latin typeface="MS UI Gothic"/>
                <a:cs typeface="MS UI Gothic"/>
              </a:rPr>
              <a:t>−</a:t>
            </a:r>
            <a:r>
              <a:rPr sz="1200" spc="-100" dirty="0">
                <a:latin typeface="MS UI Gothic"/>
                <a:cs typeface="MS UI Gothic"/>
              </a:rPr>
              <a:t> </a:t>
            </a:r>
            <a:r>
              <a:rPr i="1" spc="10" dirty="0">
                <a:latin typeface="Arial"/>
                <a:cs typeface="Arial"/>
              </a:rPr>
              <a:t>k</a:t>
            </a:r>
            <a:r>
              <a:rPr i="1" spc="-185" dirty="0">
                <a:latin typeface="Arial"/>
                <a:cs typeface="Arial"/>
              </a:rPr>
              <a:t> </a:t>
            </a:r>
            <a:r>
              <a:rPr spc="5" dirty="0"/>
              <a:t>.</a:t>
            </a:r>
            <a:endParaRPr sz="1200">
              <a:latin typeface="Arial"/>
              <a:cs typeface="Arial"/>
            </a:endParaRPr>
          </a:p>
          <a:p>
            <a:pPr marL="288290">
              <a:lnSpc>
                <a:spcPct val="100000"/>
              </a:lnSpc>
              <a:spcBef>
                <a:spcPts val="455"/>
              </a:spcBef>
            </a:pPr>
            <a:r>
              <a:rPr spc="5" dirty="0"/>
              <a:t>Basically</a:t>
            </a:r>
            <a:r>
              <a:rPr spc="25" dirty="0"/>
              <a:t> </a:t>
            </a:r>
            <a:r>
              <a:rPr spc="10" dirty="0"/>
              <a:t>depends</a:t>
            </a:r>
            <a:r>
              <a:rPr spc="25" dirty="0"/>
              <a:t> </a:t>
            </a:r>
            <a:r>
              <a:rPr spc="10" dirty="0"/>
              <a:t>on</a:t>
            </a:r>
            <a:r>
              <a:rPr spc="25" dirty="0"/>
              <a:t> </a:t>
            </a:r>
            <a:r>
              <a:rPr spc="10" dirty="0"/>
              <a:t>the</a:t>
            </a:r>
            <a:r>
              <a:rPr spc="25" dirty="0"/>
              <a:t> </a:t>
            </a:r>
            <a:r>
              <a:rPr dirty="0"/>
              <a:t>size</a:t>
            </a:r>
            <a:r>
              <a:rPr spc="25" dirty="0"/>
              <a:t> </a:t>
            </a:r>
            <a:r>
              <a:rPr spc="10" dirty="0"/>
              <a:t>of</a:t>
            </a:r>
            <a:r>
              <a:rPr spc="25" dirty="0"/>
              <a:t> </a:t>
            </a:r>
            <a:r>
              <a:rPr spc="20" dirty="0"/>
              <a:t>memory</a:t>
            </a:r>
            <a:r>
              <a:rPr spc="25" dirty="0"/>
              <a:t> </a:t>
            </a:r>
            <a:r>
              <a:rPr spc="10" dirty="0"/>
              <a:t>that</a:t>
            </a:r>
            <a:r>
              <a:rPr spc="25" dirty="0"/>
              <a:t> </a:t>
            </a:r>
            <a:r>
              <a:rPr spc="5" dirty="0"/>
              <a:t>is</a:t>
            </a:r>
            <a:r>
              <a:rPr spc="25" dirty="0"/>
              <a:t> </a:t>
            </a:r>
            <a:r>
              <a:rPr spc="-5" dirty="0"/>
              <a:t>available.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329946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2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700" cap="small" spc="330" dirty="0">
                <a:solidFill>
                  <a:srgbClr val="FFFFFF"/>
                </a:solidFill>
                <a:latin typeface="Calibri"/>
                <a:cs typeface="Calibri"/>
              </a:rPr>
              <a:t>tr</a:t>
            </a:r>
            <a:r>
              <a:rPr sz="1700" cap="small" spc="1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cap="small" spc="325" dirty="0">
                <a:solidFill>
                  <a:srgbClr val="FFFFFF"/>
                </a:solidFill>
                <a:latin typeface="Calibri"/>
                <a:cs typeface="Calibri"/>
              </a:rPr>
              <a:t>tegy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27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2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700" cap="small" spc="210" dirty="0">
                <a:solidFill>
                  <a:srgbClr val="FFFFFF"/>
                </a:solidFill>
                <a:latin typeface="Calibri"/>
                <a:cs typeface="Calibri"/>
              </a:rPr>
              <a:t>ain</a:t>
            </a:r>
            <a:r>
              <a:rPr sz="1700" cap="small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700" cap="small" spc="210" dirty="0">
                <a:solidFill>
                  <a:srgbClr val="FFFFFF"/>
                </a:solidFill>
                <a:latin typeface="Calibri"/>
                <a:cs typeface="Calibri"/>
              </a:rPr>
              <a:t>ain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2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700" cap="small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700" cap="small" spc="1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cap="small" spc="275" dirty="0">
                <a:solidFill>
                  <a:srgbClr val="FFFFFF"/>
                </a:solidFill>
                <a:latin typeface="Calibri"/>
                <a:cs typeface="Calibri"/>
              </a:rPr>
              <a:t>tes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626" y="1313191"/>
            <a:ext cx="3686074" cy="6813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75"/>
              </a:spcBef>
              <a:buFont typeface="Wingdings" panose="05000000000000000000" pitchFamily="2" charset="2"/>
              <a:buChar char="Ø"/>
            </a:pPr>
            <a:r>
              <a:rPr sz="1050" spc="5" dirty="0">
                <a:latin typeface="Microsoft Sans Serif"/>
                <a:cs typeface="Microsoft Sans Serif"/>
              </a:rPr>
              <a:t>Selectively</a:t>
            </a:r>
            <a:r>
              <a:rPr sz="1050" spc="10" dirty="0">
                <a:latin typeface="Microsoft Sans Serif"/>
                <a:cs typeface="Microsoft Sans Serif"/>
              </a:rPr>
              <a:t> write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on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states.</a:t>
            </a:r>
            <a:endParaRPr sz="1050" dirty="0">
              <a:latin typeface="Microsoft Sans Serif"/>
              <a:cs typeface="Microsoft Sans Serif"/>
            </a:endParaRPr>
          </a:p>
          <a:p>
            <a:pPr marL="184150" marR="5080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5" dirty="0">
                <a:latin typeface="Microsoft Sans Serif"/>
                <a:cs typeface="Microsoft Sans Serif"/>
              </a:rPr>
              <a:t>Selectively</a:t>
            </a:r>
            <a:r>
              <a:rPr sz="1050" spc="10" dirty="0">
                <a:latin typeface="Microsoft Sans Serif"/>
                <a:cs typeface="Microsoft Sans Serif"/>
              </a:rPr>
              <a:t> read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already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written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content.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endParaRPr lang="en-IN" sz="1050" spc="-265" dirty="0" smtClean="0">
              <a:latin typeface="Microsoft Sans Serif"/>
              <a:cs typeface="Microsoft Sans Serif"/>
            </a:endParaRPr>
          </a:p>
          <a:p>
            <a:pPr marL="184150" marR="5080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5" dirty="0" smtClean="0">
                <a:latin typeface="Microsoft Sans Serif"/>
                <a:cs typeface="Microsoft Sans Serif"/>
              </a:rPr>
              <a:t>Selectively</a:t>
            </a:r>
            <a:r>
              <a:rPr sz="1050" spc="15" dirty="0" smtClean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forget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(erase)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some </a:t>
            </a:r>
            <a:r>
              <a:rPr sz="1050" spc="10" dirty="0">
                <a:latin typeface="Microsoft Sans Serif"/>
                <a:cs typeface="Microsoft Sans Serif"/>
              </a:rPr>
              <a:t>content.</a:t>
            </a:r>
            <a:endParaRPr sz="10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21856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/>
              <a:t>S</a:t>
            </a:r>
            <a:r>
              <a:rPr cap="small" spc="245" dirty="0"/>
              <a:t>entiment</a:t>
            </a:r>
            <a:r>
              <a:rPr spc="245" dirty="0"/>
              <a:t> </a:t>
            </a:r>
            <a:r>
              <a:rPr spc="-120" dirty="0"/>
              <a:t> </a:t>
            </a:r>
            <a:r>
              <a:rPr spc="415" dirty="0"/>
              <a:t>A</a:t>
            </a:r>
            <a:r>
              <a:rPr cap="small" spc="225" dirty="0"/>
              <a:t>na</a:t>
            </a:r>
            <a:r>
              <a:rPr cap="small" spc="200" dirty="0"/>
              <a:t>l</a:t>
            </a:r>
            <a:r>
              <a:rPr cap="small" spc="225" dirty="0"/>
              <a:t>ysis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646506"/>
            <a:ext cx="2276475" cy="22288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78100" y="535164"/>
            <a:ext cx="2971800" cy="24359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 marR="151765" indent="-171450" algn="just">
              <a:lnSpc>
                <a:spcPct val="114599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050" spc="15" dirty="0">
                <a:cs typeface="Microsoft Sans Serif"/>
              </a:rPr>
              <a:t>RNN </a:t>
            </a:r>
            <a:r>
              <a:rPr sz="1050" spc="10" dirty="0">
                <a:cs typeface="Microsoft Sans Serif"/>
              </a:rPr>
              <a:t>reads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document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from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left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right </a:t>
            </a:r>
            <a:r>
              <a:rPr sz="1050" spc="-26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and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after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every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word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updates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state.</a:t>
            </a:r>
            <a:endParaRPr sz="1050" dirty="0">
              <a:cs typeface="Microsoft Sans Serif"/>
            </a:endParaRPr>
          </a:p>
          <a:p>
            <a:pPr marL="209550" marR="40005" indent="-171450" algn="just">
              <a:lnSpc>
                <a:spcPct val="114700"/>
              </a:lnSpc>
              <a:spcBef>
                <a:spcPts val="295"/>
              </a:spcBef>
              <a:buFont typeface="Wingdings" panose="05000000000000000000" pitchFamily="2" charset="2"/>
              <a:buChar char="Ø"/>
            </a:pPr>
            <a:r>
              <a:rPr sz="1050" spc="15" dirty="0">
                <a:cs typeface="Microsoft Sans Serif"/>
              </a:rPr>
              <a:t>By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time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we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reach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end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 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document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information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obtained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from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 </a:t>
            </a:r>
            <a:r>
              <a:rPr sz="1050" spc="-26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first</a:t>
            </a:r>
            <a:r>
              <a:rPr sz="1050" spc="15" dirty="0">
                <a:cs typeface="Microsoft Sans Serif"/>
              </a:rPr>
              <a:t> </a:t>
            </a:r>
            <a:r>
              <a:rPr sz="1050" spc="-10" dirty="0">
                <a:cs typeface="Microsoft Sans Serif"/>
              </a:rPr>
              <a:t>few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words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completely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lost.</a:t>
            </a:r>
            <a:endParaRPr sz="1050" dirty="0">
              <a:cs typeface="Microsoft Sans Serif"/>
            </a:endParaRPr>
          </a:p>
          <a:p>
            <a:pPr marL="209550" indent="-171450" algn="just">
              <a:lnSpc>
                <a:spcPct val="100000"/>
              </a:lnSpc>
              <a:spcBef>
                <a:spcPts val="395"/>
              </a:spcBef>
              <a:buFont typeface="Wingdings" panose="05000000000000000000" pitchFamily="2" charset="2"/>
              <a:buChar char="Ø"/>
            </a:pPr>
            <a:r>
              <a:rPr sz="1050" spc="5" dirty="0">
                <a:cs typeface="Microsoft Sans Serif"/>
              </a:rPr>
              <a:t>Ideally we</a:t>
            </a:r>
            <a:r>
              <a:rPr sz="1050" spc="1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want </a:t>
            </a:r>
            <a:r>
              <a:rPr sz="1050" spc="10" dirty="0">
                <a:cs typeface="Microsoft Sans Serif"/>
              </a:rPr>
              <a:t>to</a:t>
            </a:r>
            <a:endParaRPr sz="1050" dirty="0">
              <a:cs typeface="Microsoft Sans Serif"/>
            </a:endParaRPr>
          </a:p>
          <a:p>
            <a:pPr marL="364490" marR="30480" indent="-171450" algn="just">
              <a:lnSpc>
                <a:spcPct val="118900"/>
              </a:lnSpc>
              <a:spcBef>
                <a:spcPts val="180"/>
              </a:spcBef>
              <a:buFont typeface="Courier New" panose="02070309020205020404" pitchFamily="49" charset="0"/>
              <a:buChar char="o"/>
            </a:pPr>
            <a:r>
              <a:rPr sz="950" spc="5" dirty="0" smtClean="0">
                <a:cs typeface="Microsoft Sans Serif"/>
              </a:rPr>
              <a:t>forget</a:t>
            </a:r>
            <a:r>
              <a:rPr sz="950" spc="20" dirty="0" smtClean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the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information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added</a:t>
            </a:r>
            <a:r>
              <a:rPr sz="950" spc="20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by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stop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words </a:t>
            </a:r>
            <a:r>
              <a:rPr sz="950" spc="-23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(a,</a:t>
            </a:r>
            <a:r>
              <a:rPr sz="950" spc="15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the,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etc.).</a:t>
            </a:r>
            <a:endParaRPr sz="950" dirty="0">
              <a:cs typeface="Microsoft Sans Serif"/>
            </a:endParaRPr>
          </a:p>
          <a:p>
            <a:pPr marL="364490" marR="125730" indent="-171450" algn="just">
              <a:lnSpc>
                <a:spcPct val="118900"/>
              </a:lnSpc>
              <a:buFont typeface="Courier New" panose="02070309020205020404" pitchFamily="49" charset="0"/>
              <a:buChar char="o"/>
            </a:pPr>
            <a:r>
              <a:rPr sz="950" spc="5" dirty="0" smtClean="0">
                <a:cs typeface="Microsoft Sans Serif"/>
              </a:rPr>
              <a:t>selectively</a:t>
            </a:r>
            <a:r>
              <a:rPr sz="950" spc="20" dirty="0" smtClean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read</a:t>
            </a:r>
            <a:r>
              <a:rPr sz="950" spc="2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the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information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added</a:t>
            </a:r>
            <a:r>
              <a:rPr sz="950" spc="25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by </a:t>
            </a:r>
            <a:r>
              <a:rPr sz="950" spc="-24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previous</a:t>
            </a:r>
            <a:r>
              <a:rPr sz="950" spc="1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sentiment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bearing </a:t>
            </a:r>
            <a:r>
              <a:rPr sz="950" spc="10" dirty="0">
                <a:cs typeface="Microsoft Sans Serif"/>
              </a:rPr>
              <a:t>words </a:t>
            </a:r>
            <a:r>
              <a:rPr sz="950" spc="1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(awesome,</a:t>
            </a:r>
            <a:r>
              <a:rPr sz="950" spc="15" dirty="0">
                <a:cs typeface="Microsoft Sans Serif"/>
              </a:rPr>
              <a:t> amazing,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etc.)</a:t>
            </a:r>
            <a:endParaRPr sz="950" dirty="0">
              <a:cs typeface="Microsoft Sans Serif"/>
            </a:endParaRPr>
          </a:p>
          <a:p>
            <a:pPr marL="364490" marR="109855" indent="-171450" algn="just">
              <a:lnSpc>
                <a:spcPct val="118900"/>
              </a:lnSpc>
              <a:buFont typeface="Courier New" panose="02070309020205020404" pitchFamily="49" charset="0"/>
              <a:buChar char="o"/>
            </a:pPr>
            <a:r>
              <a:rPr sz="950" spc="5" dirty="0" smtClean="0">
                <a:cs typeface="Microsoft Sans Serif"/>
              </a:rPr>
              <a:t>selectively</a:t>
            </a:r>
            <a:r>
              <a:rPr sz="950" spc="25" dirty="0" smtClean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write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new</a:t>
            </a:r>
            <a:r>
              <a:rPr sz="950" spc="2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information</a:t>
            </a:r>
            <a:r>
              <a:rPr sz="950" spc="25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from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the </a:t>
            </a:r>
            <a:r>
              <a:rPr sz="950" spc="-23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current</a:t>
            </a:r>
            <a:r>
              <a:rPr sz="950" spc="1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word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to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the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state.</a:t>
            </a:r>
            <a:endParaRPr sz="950" dirty="0"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9994" y="3047682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2272" y="3062817"/>
            <a:ext cx="9169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" dirty="0">
                <a:latin typeface="Microsoft Sans Serif"/>
                <a:cs typeface="Microsoft Sans Serif"/>
              </a:rPr>
              <a:t>Mitesh</a:t>
            </a:r>
            <a:r>
              <a:rPr sz="900" spc="-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M.</a:t>
            </a:r>
            <a:r>
              <a:rPr sz="900" spc="-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Khapra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86880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/>
              <a:t>S</a:t>
            </a:r>
            <a:r>
              <a:rPr cap="small" spc="290" dirty="0"/>
              <a:t>elective</a:t>
            </a:r>
            <a:r>
              <a:rPr spc="290" dirty="0"/>
              <a:t> </a:t>
            </a:r>
            <a:r>
              <a:rPr spc="-120" dirty="0"/>
              <a:t> </a:t>
            </a:r>
            <a:r>
              <a:rPr cap="small" spc="365" dirty="0"/>
              <a:t>write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9051"/>
            <a:ext cx="3529965" cy="2511425"/>
            <a:chOff x="359994" y="539051"/>
            <a:chExt cx="3529965" cy="2511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2317" y="539051"/>
              <a:ext cx="2057400" cy="179451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461577"/>
              <a:ext cx="69291" cy="692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9572" y="2297926"/>
            <a:ext cx="3308985" cy="92710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805"/>
              </a:spcBef>
            </a:pPr>
            <a:r>
              <a:rPr sz="1050" spc="5" dirty="0">
                <a:latin typeface="Microsoft Sans Serif"/>
                <a:cs typeface="Microsoft Sans Serif"/>
              </a:rPr>
              <a:t>Recall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that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RNNs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we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use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i="1" spc="65" dirty="0">
                <a:latin typeface="Arial"/>
                <a:cs typeface="Arial"/>
              </a:rPr>
              <a:t>s</a:t>
            </a:r>
            <a:r>
              <a:rPr sz="1050" i="1" spc="97" baseline="-15873" dirty="0">
                <a:latin typeface="Arial"/>
                <a:cs typeface="Arial"/>
              </a:rPr>
              <a:t>t</a:t>
            </a:r>
            <a:r>
              <a:rPr sz="1200" i="1" spc="97" baseline="-13888" dirty="0">
                <a:latin typeface="Arial"/>
                <a:cs typeface="Arial"/>
              </a:rPr>
              <a:t>−</a:t>
            </a:r>
            <a:r>
              <a:rPr sz="1050" spc="97" baseline="-15873" dirty="0">
                <a:latin typeface="Microsoft Sans Serif"/>
                <a:cs typeface="Microsoft Sans Serif"/>
              </a:rPr>
              <a:t>1</a:t>
            </a:r>
            <a:r>
              <a:rPr sz="1050" spc="247" baseline="-15873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compute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i="1" spc="5" dirty="0">
                <a:latin typeface="Arial"/>
                <a:cs typeface="Arial"/>
              </a:rPr>
              <a:t>s</a:t>
            </a:r>
            <a:r>
              <a:rPr sz="1050" i="1" spc="7" baseline="-15873" dirty="0">
                <a:latin typeface="Arial"/>
                <a:cs typeface="Arial"/>
              </a:rPr>
              <a:t>t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1719580">
              <a:lnSpc>
                <a:spcPct val="100000"/>
              </a:lnSpc>
              <a:spcBef>
                <a:spcPts val="750"/>
              </a:spcBef>
            </a:pP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spc="5" dirty="0">
                <a:latin typeface="Arial"/>
                <a:cs typeface="Arial"/>
              </a:rPr>
              <a:t>s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5" dirty="0">
                <a:latin typeface="Arial"/>
                <a:cs typeface="Arial"/>
              </a:rPr>
              <a:t>Ux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40" dirty="0">
                <a:latin typeface="Arial"/>
                <a:cs typeface="Arial"/>
              </a:rPr>
              <a:t>b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</a:pPr>
            <a:r>
              <a:rPr sz="900" spc="-5" dirty="0">
                <a:latin typeface="Microsoft Sans Serif"/>
                <a:cs typeface="Microsoft Sans Serif"/>
              </a:rPr>
              <a:t>Mitesh</a:t>
            </a:r>
            <a:r>
              <a:rPr sz="900" spc="-1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M.</a:t>
            </a:r>
            <a:r>
              <a:rPr sz="900" spc="-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Khapra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86880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/>
              <a:t>S</a:t>
            </a:r>
            <a:r>
              <a:rPr cap="small" spc="290" dirty="0"/>
              <a:t>elective</a:t>
            </a:r>
            <a:r>
              <a:rPr spc="290" dirty="0"/>
              <a:t> </a:t>
            </a:r>
            <a:r>
              <a:rPr spc="-120" dirty="0"/>
              <a:t> </a:t>
            </a:r>
            <a:r>
              <a:rPr cap="small" spc="365" dirty="0"/>
              <a:t>write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9051"/>
            <a:ext cx="3581400" cy="2511425"/>
            <a:chOff x="359994" y="539051"/>
            <a:chExt cx="3581400" cy="2511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0882" y="539051"/>
              <a:ext cx="2160270" cy="127730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96169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361476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577795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794114"/>
              <a:ext cx="69291" cy="6929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9572" y="1864689"/>
            <a:ext cx="4773930" cy="13601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280"/>
              </a:spcBef>
            </a:pPr>
            <a:r>
              <a:rPr sz="1050" spc="10" dirty="0">
                <a:latin typeface="Microsoft Sans Serif"/>
                <a:cs typeface="Microsoft Sans Serif"/>
              </a:rPr>
              <a:t>Introduce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vector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i="1" spc="70" dirty="0">
                <a:latin typeface="Arial"/>
                <a:cs typeface="Arial"/>
              </a:rPr>
              <a:t>o</a:t>
            </a:r>
            <a:r>
              <a:rPr sz="1050" i="1" spc="104" baseline="-15873" dirty="0">
                <a:latin typeface="Arial"/>
                <a:cs typeface="Arial"/>
              </a:rPr>
              <a:t>t</a:t>
            </a:r>
            <a:r>
              <a:rPr sz="1200" i="1" spc="104" baseline="-13888" dirty="0">
                <a:latin typeface="Arial"/>
                <a:cs typeface="Arial"/>
              </a:rPr>
              <a:t>−</a:t>
            </a:r>
            <a:r>
              <a:rPr sz="1050" spc="104" baseline="-15873" dirty="0">
                <a:latin typeface="Microsoft Sans Serif"/>
                <a:cs typeface="Microsoft Sans Serif"/>
              </a:rPr>
              <a:t>1</a:t>
            </a:r>
            <a:r>
              <a:rPr sz="1050" spc="247" baseline="-15873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which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decides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what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fraction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each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element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i="1" spc="65" dirty="0">
                <a:latin typeface="Arial"/>
                <a:cs typeface="Arial"/>
              </a:rPr>
              <a:t>s</a:t>
            </a:r>
            <a:r>
              <a:rPr sz="1050" i="1" spc="97" baseline="-15873" dirty="0">
                <a:latin typeface="Arial"/>
                <a:cs typeface="Arial"/>
              </a:rPr>
              <a:t>t</a:t>
            </a:r>
            <a:r>
              <a:rPr sz="1200" i="1" spc="97" baseline="-13888" dirty="0">
                <a:latin typeface="Arial"/>
                <a:cs typeface="Arial"/>
              </a:rPr>
              <a:t>−</a:t>
            </a:r>
            <a:r>
              <a:rPr sz="1050" spc="97" baseline="-15873" dirty="0">
                <a:latin typeface="Microsoft Sans Serif"/>
                <a:cs typeface="Microsoft Sans Serif"/>
              </a:rPr>
              <a:t>1</a:t>
            </a:r>
            <a:endParaRPr sz="1050" baseline="-15873">
              <a:latin typeface="Microsoft Sans Serif"/>
              <a:cs typeface="Microsoft Sans Serif"/>
            </a:endParaRPr>
          </a:p>
          <a:p>
            <a:pPr marL="117475">
              <a:lnSpc>
                <a:spcPct val="100000"/>
              </a:lnSpc>
              <a:spcBef>
                <a:spcPts val="185"/>
              </a:spcBef>
            </a:pPr>
            <a:r>
              <a:rPr sz="1050" spc="10" dirty="0">
                <a:latin typeface="Microsoft Sans Serif"/>
                <a:cs typeface="Microsoft Sans Serif"/>
              </a:rPr>
              <a:t>should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be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passed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to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next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state.</a:t>
            </a:r>
            <a:endParaRPr sz="1050">
              <a:latin typeface="Microsoft Sans Serif"/>
              <a:cs typeface="Microsoft Sans Serif"/>
            </a:endParaRPr>
          </a:p>
          <a:p>
            <a:pPr marL="117475" marR="55880">
              <a:lnSpc>
                <a:spcPct val="135200"/>
              </a:lnSpc>
            </a:pPr>
            <a:r>
              <a:rPr sz="1050" spc="10" dirty="0">
                <a:latin typeface="Microsoft Sans Serif"/>
                <a:cs typeface="Microsoft Sans Serif"/>
              </a:rPr>
              <a:t>Each element of </a:t>
            </a:r>
            <a:r>
              <a:rPr sz="1050" i="1" spc="70" dirty="0">
                <a:latin typeface="Arial"/>
                <a:cs typeface="Arial"/>
              </a:rPr>
              <a:t>o</a:t>
            </a:r>
            <a:r>
              <a:rPr sz="1050" i="1" spc="104" baseline="-15873" dirty="0">
                <a:latin typeface="Arial"/>
                <a:cs typeface="Arial"/>
              </a:rPr>
              <a:t>t</a:t>
            </a:r>
            <a:r>
              <a:rPr sz="1200" i="1" spc="104" baseline="-13888" dirty="0">
                <a:latin typeface="Arial"/>
                <a:cs typeface="Arial"/>
              </a:rPr>
              <a:t>−</a:t>
            </a:r>
            <a:r>
              <a:rPr sz="1050" spc="104" baseline="-15873" dirty="0">
                <a:latin typeface="Microsoft Sans Serif"/>
                <a:cs typeface="Microsoft Sans Serif"/>
              </a:rPr>
              <a:t>1</a:t>
            </a:r>
            <a:r>
              <a:rPr sz="1050" spc="112" baseline="-15873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gets </a:t>
            </a:r>
            <a:r>
              <a:rPr sz="1050" spc="5" dirty="0">
                <a:latin typeface="Microsoft Sans Serif"/>
                <a:cs typeface="Microsoft Sans Serif"/>
              </a:rPr>
              <a:t>multiplied with </a:t>
            </a:r>
            <a:r>
              <a:rPr sz="1050" spc="10" dirty="0">
                <a:latin typeface="Microsoft Sans Serif"/>
                <a:cs typeface="Microsoft Sans Serif"/>
              </a:rPr>
              <a:t>the corresponding element of </a:t>
            </a:r>
            <a:r>
              <a:rPr sz="1050" i="1" spc="65" dirty="0">
                <a:latin typeface="Arial"/>
                <a:cs typeface="Arial"/>
              </a:rPr>
              <a:t>s</a:t>
            </a:r>
            <a:r>
              <a:rPr sz="1050" i="1" spc="97" baseline="-15873" dirty="0">
                <a:latin typeface="Arial"/>
                <a:cs typeface="Arial"/>
              </a:rPr>
              <a:t>t</a:t>
            </a:r>
            <a:r>
              <a:rPr sz="1200" i="1" spc="97" baseline="-13888" dirty="0">
                <a:latin typeface="Arial"/>
                <a:cs typeface="Arial"/>
              </a:rPr>
              <a:t>−</a:t>
            </a:r>
            <a:r>
              <a:rPr sz="1050" spc="97" baseline="-15873" dirty="0">
                <a:latin typeface="Microsoft Sans Serif"/>
                <a:cs typeface="Microsoft Sans Serif"/>
              </a:rPr>
              <a:t>1</a:t>
            </a:r>
            <a:r>
              <a:rPr sz="1050" spc="65" dirty="0">
                <a:latin typeface="Microsoft Sans Serif"/>
                <a:cs typeface="Microsoft Sans Serif"/>
              </a:rPr>
              <a:t>.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Each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element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i="1" spc="70" dirty="0">
                <a:latin typeface="Arial"/>
                <a:cs typeface="Arial"/>
              </a:rPr>
              <a:t>o</a:t>
            </a:r>
            <a:r>
              <a:rPr sz="1050" i="1" spc="104" baseline="-15873" dirty="0">
                <a:latin typeface="Arial"/>
                <a:cs typeface="Arial"/>
              </a:rPr>
              <a:t>t</a:t>
            </a:r>
            <a:r>
              <a:rPr sz="1200" i="1" spc="104" baseline="-13888" dirty="0">
                <a:latin typeface="Arial"/>
                <a:cs typeface="Arial"/>
              </a:rPr>
              <a:t>−</a:t>
            </a:r>
            <a:r>
              <a:rPr sz="1050" spc="104" baseline="-15873" dirty="0">
                <a:latin typeface="Microsoft Sans Serif"/>
                <a:cs typeface="Microsoft Sans Serif"/>
              </a:rPr>
              <a:t>1</a:t>
            </a:r>
            <a:r>
              <a:rPr sz="1050" spc="247" baseline="-15873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restricted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be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between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0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1.</a:t>
            </a:r>
            <a:endParaRPr sz="1050">
              <a:latin typeface="Microsoft Sans Serif"/>
              <a:cs typeface="Microsoft Sans Serif"/>
            </a:endParaRPr>
          </a:p>
          <a:p>
            <a:pPr marL="117475">
              <a:lnSpc>
                <a:spcPct val="100000"/>
              </a:lnSpc>
              <a:spcBef>
                <a:spcPts val="290"/>
              </a:spcBef>
            </a:pP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RNN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has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learn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i="1" spc="70" dirty="0">
                <a:latin typeface="Arial"/>
                <a:cs typeface="Arial"/>
              </a:rPr>
              <a:t>o</a:t>
            </a:r>
            <a:r>
              <a:rPr sz="1050" i="1" spc="104" baseline="-15873" dirty="0">
                <a:latin typeface="Arial"/>
                <a:cs typeface="Arial"/>
              </a:rPr>
              <a:t>t</a:t>
            </a:r>
            <a:r>
              <a:rPr sz="1200" i="1" spc="104" baseline="-13888" dirty="0">
                <a:latin typeface="Arial"/>
                <a:cs typeface="Arial"/>
              </a:rPr>
              <a:t>−</a:t>
            </a:r>
            <a:r>
              <a:rPr sz="1050" spc="104" baseline="-15873" dirty="0">
                <a:latin typeface="Microsoft Sans Serif"/>
                <a:cs typeface="Microsoft Sans Serif"/>
              </a:rPr>
              <a:t>1</a:t>
            </a:r>
            <a:r>
              <a:rPr sz="1050" spc="247" baseline="-15873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along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with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other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parameters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200" spc="15" dirty="0">
                <a:latin typeface="Tahoma"/>
                <a:cs typeface="Tahoma"/>
              </a:rPr>
              <a:t>(</a:t>
            </a:r>
            <a:r>
              <a:rPr sz="1050" i="1" spc="15" dirty="0">
                <a:latin typeface="Arial"/>
                <a:cs typeface="Arial"/>
              </a:rPr>
              <a:t>W</a:t>
            </a:r>
            <a:r>
              <a:rPr sz="1200" i="1" spc="15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-10" dirty="0">
                <a:latin typeface="Arial"/>
                <a:cs typeface="Arial"/>
              </a:rPr>
              <a:t>U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5" dirty="0">
                <a:latin typeface="Arial"/>
                <a:cs typeface="Arial"/>
              </a:rPr>
              <a:t>V</a:t>
            </a:r>
            <a:r>
              <a:rPr sz="1050" i="1" spc="-15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050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25400">
              <a:lnSpc>
                <a:spcPct val="100000"/>
              </a:lnSpc>
              <a:spcBef>
                <a:spcPts val="1405"/>
              </a:spcBef>
            </a:pPr>
            <a:r>
              <a:rPr sz="900" spc="-5" dirty="0">
                <a:latin typeface="Microsoft Sans Serif"/>
                <a:cs typeface="Microsoft Sans Serif"/>
              </a:rPr>
              <a:t>Mitesh</a:t>
            </a:r>
            <a:r>
              <a:rPr sz="900" spc="-1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M.</a:t>
            </a:r>
            <a:r>
              <a:rPr sz="900" spc="-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Khapra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86880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/>
              <a:t>S</a:t>
            </a:r>
            <a:r>
              <a:rPr cap="small" spc="290" dirty="0"/>
              <a:t>elective</a:t>
            </a:r>
            <a:r>
              <a:rPr spc="290" dirty="0"/>
              <a:t> </a:t>
            </a:r>
            <a:r>
              <a:rPr spc="-120" dirty="0"/>
              <a:t> </a:t>
            </a:r>
            <a:r>
              <a:rPr cap="small" spc="365" dirty="0"/>
              <a:t>write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5929"/>
            <a:ext cx="2289810" cy="1954530"/>
            <a:chOff x="359994" y="605929"/>
            <a:chExt cx="2289810" cy="19545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129055"/>
              <a:ext cx="2160270" cy="127730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0119" y="605929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0119" y="1497926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0119" y="2086279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0119" y="2491155"/>
              <a:ext cx="69291" cy="692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685656" y="528401"/>
            <a:ext cx="2562225" cy="24415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125"/>
              </a:spcBef>
            </a:pPr>
            <a:r>
              <a:rPr sz="1050" spc="15" dirty="0">
                <a:latin typeface="Microsoft Sans Serif"/>
                <a:cs typeface="Microsoft Sans Serif"/>
              </a:rPr>
              <a:t>Compute</a:t>
            </a:r>
            <a:r>
              <a:rPr sz="1050" spc="5" dirty="0">
                <a:latin typeface="Microsoft Sans Serif"/>
                <a:cs typeface="Microsoft Sans Serif"/>
              </a:rPr>
              <a:t> </a:t>
            </a:r>
            <a:r>
              <a:rPr sz="1050" i="1" spc="70" dirty="0">
                <a:latin typeface="Arial"/>
                <a:cs typeface="Arial"/>
              </a:rPr>
              <a:t>o</a:t>
            </a:r>
            <a:r>
              <a:rPr sz="1050" i="1" spc="104" baseline="-15873" dirty="0">
                <a:latin typeface="Arial"/>
                <a:cs typeface="Arial"/>
              </a:rPr>
              <a:t>t</a:t>
            </a:r>
            <a:r>
              <a:rPr sz="1200" i="1" spc="104" baseline="-13888" dirty="0">
                <a:latin typeface="Arial"/>
                <a:cs typeface="Arial"/>
              </a:rPr>
              <a:t>−</a:t>
            </a:r>
            <a:r>
              <a:rPr sz="1050" spc="104" baseline="-15873" dirty="0">
                <a:latin typeface="Microsoft Sans Serif"/>
                <a:cs typeface="Microsoft Sans Serif"/>
              </a:rPr>
              <a:t>1</a:t>
            </a:r>
            <a:r>
              <a:rPr sz="1050" spc="209" baseline="-15873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and</a:t>
            </a:r>
            <a:r>
              <a:rPr sz="1050" spc="5" dirty="0">
                <a:latin typeface="Microsoft Sans Serif"/>
                <a:cs typeface="Microsoft Sans Serif"/>
              </a:rPr>
              <a:t> </a:t>
            </a:r>
            <a:r>
              <a:rPr sz="1050" i="1" spc="70" dirty="0">
                <a:latin typeface="Arial"/>
                <a:cs typeface="Arial"/>
              </a:rPr>
              <a:t>h</a:t>
            </a:r>
            <a:r>
              <a:rPr sz="1050" i="1" spc="104" baseline="-15873" dirty="0">
                <a:latin typeface="Arial"/>
                <a:cs typeface="Arial"/>
              </a:rPr>
              <a:t>t</a:t>
            </a:r>
            <a:r>
              <a:rPr sz="1200" i="1" spc="104" baseline="-13888" dirty="0">
                <a:latin typeface="Arial"/>
                <a:cs typeface="Arial"/>
              </a:rPr>
              <a:t>−</a:t>
            </a:r>
            <a:r>
              <a:rPr sz="1050" spc="104" baseline="-15873" dirty="0">
                <a:latin typeface="Microsoft Sans Serif"/>
                <a:cs typeface="Microsoft Sans Serif"/>
              </a:rPr>
              <a:t>1</a:t>
            </a:r>
            <a:r>
              <a:rPr sz="1050" spc="217" baseline="-15873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as</a:t>
            </a:r>
            <a:endParaRPr sz="1050">
              <a:latin typeface="Microsoft Sans Serif"/>
              <a:cs typeface="Microsoft Sans Serif"/>
            </a:endParaRPr>
          </a:p>
          <a:p>
            <a:pPr marL="377190">
              <a:lnSpc>
                <a:spcPct val="100000"/>
              </a:lnSpc>
              <a:spcBef>
                <a:spcPts val="1230"/>
              </a:spcBef>
            </a:pPr>
            <a:r>
              <a:rPr sz="1050" i="1" spc="10" dirty="0">
                <a:latin typeface="Arial"/>
                <a:cs typeface="Arial"/>
              </a:rPr>
              <a:t>o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15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spc="112" baseline="-15873" dirty="0">
                <a:latin typeface="Arial"/>
                <a:cs typeface="Arial"/>
              </a:rPr>
              <a:t>o</a:t>
            </a:r>
            <a:r>
              <a:rPr sz="1050" i="1" spc="10" dirty="0">
                <a:latin typeface="Arial"/>
                <a:cs typeface="Arial"/>
              </a:rPr>
              <a:t>h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2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5" dirty="0">
                <a:latin typeface="Arial"/>
                <a:cs typeface="Arial"/>
              </a:rPr>
              <a:t>U</a:t>
            </a:r>
            <a:r>
              <a:rPr sz="1050" i="1" spc="112" baseline="-15873" dirty="0">
                <a:latin typeface="Arial"/>
                <a:cs typeface="Arial"/>
              </a:rPr>
              <a:t>o</a:t>
            </a: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spc="7" baseline="-15873" dirty="0">
                <a:latin typeface="Arial"/>
                <a:cs typeface="Arial"/>
              </a:rPr>
              <a:t>o</a:t>
            </a:r>
            <a:r>
              <a:rPr sz="1050" i="1" spc="-187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377190">
              <a:lnSpc>
                <a:spcPct val="100000"/>
              </a:lnSpc>
              <a:spcBef>
                <a:spcPts val="480"/>
              </a:spcBef>
            </a:pPr>
            <a:r>
              <a:rPr sz="1575" i="1" spc="15" baseline="10582" dirty="0">
                <a:latin typeface="Arial"/>
                <a:cs typeface="Arial"/>
              </a:rPr>
              <a:t>h</a:t>
            </a:r>
            <a:r>
              <a:rPr sz="700" i="1" spc="60" dirty="0">
                <a:latin typeface="Arial"/>
                <a:cs typeface="Arial"/>
              </a:rPr>
              <a:t>t</a:t>
            </a:r>
            <a:r>
              <a:rPr sz="800" i="1" spc="190" dirty="0">
                <a:latin typeface="Arial"/>
                <a:cs typeface="Arial"/>
              </a:rPr>
              <a:t>−</a:t>
            </a:r>
            <a:r>
              <a:rPr sz="700" spc="5" dirty="0">
                <a:latin typeface="Microsoft Sans Serif"/>
                <a:cs typeface="Microsoft Sans Serif"/>
              </a:rPr>
              <a:t>1</a:t>
            </a:r>
            <a:r>
              <a:rPr sz="700" dirty="0">
                <a:latin typeface="Microsoft Sans Serif"/>
                <a:cs typeface="Microsoft Sans Serif"/>
              </a:rPr>
              <a:t> </a:t>
            </a:r>
            <a:r>
              <a:rPr sz="700" spc="10" dirty="0">
                <a:latin typeface="Microsoft Sans Serif"/>
                <a:cs typeface="Microsoft Sans Serif"/>
              </a:rPr>
              <a:t> </a:t>
            </a:r>
            <a:r>
              <a:rPr sz="1800" spc="52" baseline="9259" dirty="0">
                <a:latin typeface="Tahoma"/>
                <a:cs typeface="Tahoma"/>
              </a:rPr>
              <a:t>=</a:t>
            </a:r>
            <a:r>
              <a:rPr sz="1800" spc="-67" baseline="9259" dirty="0">
                <a:latin typeface="Tahoma"/>
                <a:cs typeface="Tahoma"/>
              </a:rPr>
              <a:t> </a:t>
            </a:r>
            <a:r>
              <a:rPr sz="1575" i="1" spc="15" baseline="10582" dirty="0">
                <a:latin typeface="Arial"/>
                <a:cs typeface="Arial"/>
              </a:rPr>
              <a:t>o</a:t>
            </a:r>
            <a:r>
              <a:rPr sz="700" i="1" spc="60" dirty="0">
                <a:latin typeface="Arial"/>
                <a:cs typeface="Arial"/>
              </a:rPr>
              <a:t>t</a:t>
            </a:r>
            <a:r>
              <a:rPr sz="800" i="1" spc="190" dirty="0">
                <a:latin typeface="Arial"/>
                <a:cs typeface="Arial"/>
              </a:rPr>
              <a:t>−</a:t>
            </a:r>
            <a:r>
              <a:rPr sz="700" spc="5" dirty="0">
                <a:latin typeface="Microsoft Sans Serif"/>
                <a:cs typeface="Microsoft Sans Serif"/>
              </a:rPr>
              <a:t>1</a:t>
            </a:r>
            <a:r>
              <a:rPr sz="700" dirty="0">
                <a:latin typeface="Microsoft Sans Serif"/>
                <a:cs typeface="Microsoft Sans Serif"/>
              </a:rPr>
              <a:t> </a:t>
            </a:r>
            <a:r>
              <a:rPr sz="700" spc="-60" dirty="0">
                <a:latin typeface="Microsoft Sans Serif"/>
                <a:cs typeface="Microsoft Sans Serif"/>
              </a:rPr>
              <a:t> </a:t>
            </a:r>
            <a:r>
              <a:rPr sz="1800" spc="-412" baseline="9259" dirty="0">
                <a:latin typeface="MS UI Gothic"/>
                <a:cs typeface="MS UI Gothic"/>
              </a:rPr>
              <a:t>Ⓢ</a:t>
            </a:r>
            <a:r>
              <a:rPr sz="1800" spc="-150" baseline="9259" dirty="0">
                <a:latin typeface="MS UI Gothic"/>
                <a:cs typeface="MS UI Gothic"/>
              </a:rPr>
              <a:t> </a:t>
            </a:r>
            <a:r>
              <a:rPr sz="1800" i="1" spc="-82" baseline="9259" dirty="0">
                <a:latin typeface="Verdana"/>
                <a:cs typeface="Verdana"/>
              </a:rPr>
              <a:t>σ</a:t>
            </a:r>
            <a:r>
              <a:rPr sz="1800" spc="-15" baseline="9259" dirty="0">
                <a:latin typeface="Tahoma"/>
                <a:cs typeface="Tahoma"/>
              </a:rPr>
              <a:t>(</a:t>
            </a:r>
            <a:r>
              <a:rPr sz="1575" i="1" spc="15" baseline="10582" dirty="0">
                <a:latin typeface="Arial"/>
                <a:cs typeface="Arial"/>
              </a:rPr>
              <a:t>s</a:t>
            </a:r>
            <a:r>
              <a:rPr sz="700" i="1" spc="60" dirty="0">
                <a:latin typeface="Arial"/>
                <a:cs typeface="Arial"/>
              </a:rPr>
              <a:t>t</a:t>
            </a:r>
            <a:r>
              <a:rPr sz="800" i="1" spc="190" dirty="0">
                <a:latin typeface="Arial"/>
                <a:cs typeface="Arial"/>
              </a:rPr>
              <a:t>−</a:t>
            </a:r>
            <a:r>
              <a:rPr sz="700" spc="50" dirty="0">
                <a:latin typeface="Microsoft Sans Serif"/>
                <a:cs typeface="Microsoft Sans Serif"/>
              </a:rPr>
              <a:t>1</a:t>
            </a:r>
            <a:r>
              <a:rPr sz="1800" spc="-15" baseline="9259" dirty="0">
                <a:latin typeface="Tahoma"/>
                <a:cs typeface="Tahoma"/>
              </a:rPr>
              <a:t>)</a:t>
            </a:r>
            <a:endParaRPr sz="1800" baseline="9259">
              <a:latin typeface="Tahoma"/>
              <a:cs typeface="Tahoma"/>
            </a:endParaRPr>
          </a:p>
          <a:p>
            <a:pPr marL="38100" marR="50800" algn="just">
              <a:lnSpc>
                <a:spcPct val="110700"/>
              </a:lnSpc>
              <a:spcBef>
                <a:spcPts val="869"/>
              </a:spcBef>
            </a:pP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pa</a:t>
            </a:r>
            <a:r>
              <a:rPr sz="1050" spc="-10" dirty="0">
                <a:latin typeface="Microsoft Sans Serif"/>
                <a:cs typeface="Microsoft Sans Serif"/>
              </a:rPr>
              <a:t>r</a:t>
            </a:r>
            <a:r>
              <a:rPr sz="1050" spc="10" dirty="0">
                <a:latin typeface="Microsoft Sans Serif"/>
                <a:cs typeface="Microsoft Sans Serif"/>
              </a:rPr>
              <a:t>ameters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spc="112" baseline="-15873" dirty="0">
                <a:latin typeface="Arial"/>
                <a:cs typeface="Arial"/>
              </a:rPr>
              <a:t>o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5" dirty="0">
                <a:latin typeface="Arial"/>
                <a:cs typeface="Arial"/>
              </a:rPr>
              <a:t>U</a:t>
            </a:r>
            <a:r>
              <a:rPr sz="1050" i="1" spc="112" baseline="-15873" dirty="0">
                <a:latin typeface="Arial"/>
                <a:cs typeface="Arial"/>
              </a:rPr>
              <a:t>o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spc="7" baseline="-15873" dirty="0">
                <a:latin typeface="Arial"/>
                <a:cs typeface="Arial"/>
              </a:rPr>
              <a:t>o</a:t>
            </a:r>
            <a:r>
              <a:rPr sz="1050" i="1" spc="-187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are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lea</a:t>
            </a:r>
            <a:r>
              <a:rPr sz="1050" spc="30" dirty="0">
                <a:latin typeface="Microsoft Sans Serif"/>
                <a:cs typeface="Microsoft Sans Serif"/>
              </a:rPr>
              <a:t>r</a:t>
            </a:r>
            <a:r>
              <a:rPr sz="1050" spc="10" dirty="0">
                <a:latin typeface="Microsoft Sans Serif"/>
                <a:cs typeface="Microsoft Sans Serif"/>
              </a:rPr>
              <a:t>ned  along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with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existing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parameters</a:t>
            </a:r>
            <a:endParaRPr sz="1050">
              <a:latin typeface="Microsoft Sans Serif"/>
              <a:cs typeface="Microsoft Sans Serif"/>
            </a:endParaRPr>
          </a:p>
          <a:p>
            <a:pPr marL="38100" algn="just">
              <a:lnSpc>
                <a:spcPct val="100000"/>
              </a:lnSpc>
              <a:spcBef>
                <a:spcPts val="35"/>
              </a:spcBef>
            </a:pP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165" dirty="0">
                <a:latin typeface="Arial"/>
                <a:cs typeface="Arial"/>
              </a:rPr>
              <a:t>W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95" dirty="0">
                <a:latin typeface="Arial"/>
                <a:cs typeface="Arial"/>
              </a:rPr>
              <a:t>U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5" dirty="0">
                <a:latin typeface="Arial"/>
                <a:cs typeface="Arial"/>
              </a:rPr>
              <a:t>V</a:t>
            </a:r>
            <a:r>
              <a:rPr sz="1050" i="1" spc="-150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r>
              <a:rPr sz="1050" spc="5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38100" marR="236854" algn="just">
              <a:lnSpc>
                <a:spcPct val="114700"/>
              </a:lnSpc>
              <a:spcBef>
                <a:spcPts val="265"/>
              </a:spcBef>
            </a:pPr>
            <a:r>
              <a:rPr sz="1050" spc="10" dirty="0">
                <a:latin typeface="Microsoft Sans Serif"/>
                <a:cs typeface="Microsoft Sans Serif"/>
              </a:rPr>
              <a:t>The sigmoid function ensures that the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values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are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between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0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1.</a:t>
            </a:r>
            <a:endParaRPr sz="1050">
              <a:latin typeface="Microsoft Sans Serif"/>
              <a:cs typeface="Microsoft Sans Serif"/>
            </a:endParaRPr>
          </a:p>
          <a:p>
            <a:pPr marL="38100" marR="30480" algn="just">
              <a:lnSpc>
                <a:spcPct val="114700"/>
              </a:lnSpc>
              <a:spcBef>
                <a:spcPts val="300"/>
              </a:spcBef>
            </a:pPr>
            <a:r>
              <a:rPr sz="1050" i="1" spc="5" dirty="0">
                <a:latin typeface="Arial"/>
                <a:cs typeface="Arial"/>
              </a:rPr>
              <a:t>o</a:t>
            </a:r>
            <a:r>
              <a:rPr sz="1050" i="1" spc="7" baseline="-15873" dirty="0">
                <a:latin typeface="Arial"/>
                <a:cs typeface="Arial"/>
              </a:rPr>
              <a:t>t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 called </a:t>
            </a:r>
            <a:r>
              <a:rPr sz="1050" spc="10" dirty="0">
                <a:latin typeface="Microsoft Sans Serif"/>
                <a:cs typeface="Microsoft Sans Serif"/>
              </a:rPr>
              <a:t>the </a:t>
            </a:r>
            <a:r>
              <a:rPr sz="1050" b="1" spc="10" dirty="0">
                <a:latin typeface="Arial"/>
                <a:cs typeface="Arial"/>
              </a:rPr>
              <a:t>output gate </a:t>
            </a:r>
            <a:r>
              <a:rPr sz="1050" spc="10" dirty="0">
                <a:latin typeface="Microsoft Sans Serif"/>
                <a:cs typeface="Microsoft Sans Serif"/>
              </a:rPr>
              <a:t>as </a:t>
            </a:r>
            <a:r>
              <a:rPr sz="1050" dirty="0">
                <a:latin typeface="Microsoft Sans Serif"/>
                <a:cs typeface="Microsoft Sans Serif"/>
              </a:rPr>
              <a:t>it </a:t>
            </a:r>
            <a:r>
              <a:rPr sz="1050" spc="10" dirty="0">
                <a:latin typeface="Microsoft Sans Serif"/>
                <a:cs typeface="Microsoft Sans Serif"/>
              </a:rPr>
              <a:t>decides 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how </a:t>
            </a:r>
            <a:r>
              <a:rPr sz="1050" spc="10" dirty="0">
                <a:latin typeface="Microsoft Sans Serif"/>
                <a:cs typeface="Microsoft Sans Serif"/>
              </a:rPr>
              <a:t>much to pass (write) to the </a:t>
            </a:r>
            <a:r>
              <a:rPr sz="1050" dirty="0">
                <a:latin typeface="Microsoft Sans Serif"/>
                <a:cs typeface="Microsoft Sans Serif"/>
              </a:rPr>
              <a:t>next </a:t>
            </a:r>
            <a:r>
              <a:rPr sz="1050" spc="10" dirty="0">
                <a:latin typeface="Microsoft Sans Serif"/>
                <a:cs typeface="Microsoft Sans Serif"/>
              </a:rPr>
              <a:t>time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step.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9994" y="3047682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2272" y="3062817"/>
            <a:ext cx="9169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" dirty="0">
                <a:latin typeface="Microsoft Sans Serif"/>
                <a:cs typeface="Microsoft Sans Serif"/>
              </a:rPr>
              <a:t>Mitesh</a:t>
            </a:r>
            <a:r>
              <a:rPr sz="900" spc="-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M.</a:t>
            </a:r>
            <a:r>
              <a:rPr sz="900" spc="-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Khapra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707514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45" dirty="0"/>
              <a:t>C</a:t>
            </a:r>
            <a:r>
              <a:rPr cap="small" spc="235" dirty="0"/>
              <a:t>ompute</a:t>
            </a:r>
            <a:r>
              <a:rPr spc="235"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35" dirty="0"/>
              <a:t>t</a:t>
            </a:r>
            <a:r>
              <a:rPr cap="small" spc="155" dirty="0"/>
              <a:t>a</a:t>
            </a:r>
            <a:r>
              <a:rPr cap="small" spc="325" dirty="0"/>
              <a:t>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655040"/>
            <a:ext cx="3843020" cy="1581150"/>
            <a:chOff x="513702" y="655040"/>
            <a:chExt cx="3843020" cy="1581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5580" y="655040"/>
              <a:ext cx="2990850" cy="13620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166721"/>
              <a:ext cx="69291" cy="6929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19226" y="2089193"/>
            <a:ext cx="4168140" cy="5283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70" dirty="0">
                <a:latin typeface="Arial"/>
                <a:cs typeface="Arial"/>
              </a:rPr>
              <a:t>h</a:t>
            </a:r>
            <a:r>
              <a:rPr sz="1050" i="1" spc="104" baseline="-15873" dirty="0">
                <a:latin typeface="Arial"/>
                <a:cs typeface="Arial"/>
              </a:rPr>
              <a:t>t</a:t>
            </a:r>
            <a:r>
              <a:rPr sz="1200" i="1" spc="104" baseline="-13888" dirty="0">
                <a:latin typeface="Arial"/>
                <a:cs typeface="Arial"/>
              </a:rPr>
              <a:t>−</a:t>
            </a:r>
            <a:r>
              <a:rPr sz="1050" spc="104" baseline="-15873" dirty="0">
                <a:latin typeface="Microsoft Sans Serif"/>
                <a:cs typeface="Microsoft Sans Serif"/>
              </a:rPr>
              <a:t>1</a:t>
            </a:r>
            <a:r>
              <a:rPr sz="1050" spc="240" baseline="-15873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and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i="1" spc="5" dirty="0">
                <a:latin typeface="Arial"/>
                <a:cs typeface="Arial"/>
              </a:rPr>
              <a:t>x</a:t>
            </a:r>
            <a:r>
              <a:rPr sz="1050" i="1" spc="7" baseline="-15873" dirty="0">
                <a:latin typeface="Arial"/>
                <a:cs typeface="Arial"/>
              </a:rPr>
              <a:t>t</a:t>
            </a:r>
            <a:r>
              <a:rPr sz="1050" i="1" spc="37" baseline="-15873" dirty="0">
                <a:latin typeface="Arial"/>
                <a:cs typeface="Arial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are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used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compute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new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state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next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time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step.</a:t>
            </a:r>
            <a:endParaRPr sz="1050">
              <a:latin typeface="Microsoft Sans Serif"/>
              <a:cs typeface="Microsoft Sans Serif"/>
            </a:endParaRPr>
          </a:p>
          <a:p>
            <a:pPr marL="1635125">
              <a:lnSpc>
                <a:spcPct val="100000"/>
              </a:lnSpc>
              <a:spcBef>
                <a:spcPts val="1230"/>
              </a:spcBef>
            </a:pPr>
            <a:r>
              <a:rPr sz="1800" spc="-982" baseline="2314" dirty="0">
                <a:latin typeface="Tahoma"/>
                <a:cs typeface="Tahoma"/>
              </a:rPr>
              <a:t>˜</a:t>
            </a: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15" dirty="0">
                <a:latin typeface="Arial"/>
                <a:cs typeface="Arial"/>
              </a:rPr>
              <a:t>Wh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5" dirty="0">
                <a:latin typeface="Arial"/>
                <a:cs typeface="Arial"/>
              </a:rPr>
              <a:t>Ux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40" dirty="0">
                <a:latin typeface="Arial"/>
                <a:cs typeface="Arial"/>
              </a:rPr>
              <a:t>b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9994" y="3047682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2272" y="3062817"/>
            <a:ext cx="9169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" dirty="0">
                <a:latin typeface="Microsoft Sans Serif"/>
                <a:cs typeface="Microsoft Sans Serif"/>
              </a:rPr>
              <a:t>Mitesh</a:t>
            </a:r>
            <a:r>
              <a:rPr sz="900" spc="-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M.</a:t>
            </a:r>
            <a:r>
              <a:rPr sz="900" spc="-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Khapra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74498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/>
              <a:t>S</a:t>
            </a:r>
            <a:r>
              <a:rPr cap="small" spc="290" dirty="0"/>
              <a:t>elective</a:t>
            </a:r>
            <a:r>
              <a:rPr spc="290" dirty="0"/>
              <a:t> </a:t>
            </a:r>
            <a:r>
              <a:rPr spc="-120" dirty="0"/>
              <a:t> </a:t>
            </a:r>
            <a:r>
              <a:rPr spc="450" dirty="0"/>
              <a:t>R</a:t>
            </a:r>
            <a:r>
              <a:rPr cap="small" spc="270" dirty="0"/>
              <a:t>ead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9051"/>
            <a:ext cx="4074160" cy="2511425"/>
            <a:chOff x="359994" y="539051"/>
            <a:chExt cx="4074160" cy="2511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7970" y="539051"/>
              <a:ext cx="3146107" cy="12687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926221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293721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9572" y="1815256"/>
            <a:ext cx="4636135" cy="14097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7475" marR="55880" indent="-1270">
              <a:lnSpc>
                <a:spcPct val="110700"/>
              </a:lnSpc>
              <a:spcBef>
                <a:spcPts val="85"/>
              </a:spcBef>
            </a:pPr>
            <a:r>
              <a:rPr sz="1800" spc="-322" baseline="2314" dirty="0">
                <a:latin typeface="Tahoma"/>
                <a:cs typeface="Tahoma"/>
              </a:rPr>
              <a:t>˜</a:t>
            </a:r>
            <a:r>
              <a:rPr sz="1050" i="1" spc="-215" dirty="0">
                <a:latin typeface="Arial"/>
                <a:cs typeface="Arial"/>
              </a:rPr>
              <a:t>s</a:t>
            </a:r>
            <a:r>
              <a:rPr sz="1050" i="1" spc="-322" baseline="-15873" dirty="0">
                <a:latin typeface="Arial"/>
                <a:cs typeface="Arial"/>
              </a:rPr>
              <a:t>t</a:t>
            </a:r>
            <a:r>
              <a:rPr sz="1050" i="1" spc="330" baseline="-15873" dirty="0">
                <a:latin typeface="Arial"/>
                <a:cs typeface="Arial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captures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all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information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from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3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previous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state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i="1" spc="70" dirty="0">
                <a:latin typeface="Arial"/>
                <a:cs typeface="Arial"/>
              </a:rPr>
              <a:t>h</a:t>
            </a:r>
            <a:r>
              <a:rPr sz="1050" i="1" spc="104" baseline="-15873" dirty="0">
                <a:latin typeface="Arial"/>
                <a:cs typeface="Arial"/>
              </a:rPr>
              <a:t>t</a:t>
            </a:r>
            <a:r>
              <a:rPr sz="1200" i="1" spc="104" baseline="-13888" dirty="0">
                <a:latin typeface="Arial"/>
                <a:cs typeface="Arial"/>
              </a:rPr>
              <a:t>−</a:t>
            </a:r>
            <a:r>
              <a:rPr sz="1050" spc="104" baseline="-15873" dirty="0">
                <a:latin typeface="Microsoft Sans Serif"/>
                <a:cs typeface="Microsoft Sans Serif"/>
              </a:rPr>
              <a:t>1</a:t>
            </a:r>
            <a:r>
              <a:rPr sz="1050" spc="247" baseline="-15873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and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current </a:t>
            </a:r>
            <a:r>
              <a:rPr sz="1050" spc="-26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input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i="1" spc="5" dirty="0">
                <a:latin typeface="Arial"/>
                <a:cs typeface="Arial"/>
              </a:rPr>
              <a:t>x</a:t>
            </a:r>
            <a:r>
              <a:rPr sz="1050" i="1" spc="7" baseline="-15873" dirty="0">
                <a:latin typeface="Arial"/>
                <a:cs typeface="Arial"/>
              </a:rPr>
              <a:t>t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117475">
              <a:lnSpc>
                <a:spcPct val="100000"/>
              </a:lnSpc>
              <a:spcBef>
                <a:spcPts val="190"/>
              </a:spcBef>
            </a:pPr>
            <a:r>
              <a:rPr sz="1050" spc="-50" dirty="0">
                <a:latin typeface="Microsoft Sans Serif"/>
                <a:cs typeface="Microsoft Sans Serif"/>
              </a:rPr>
              <a:t>To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do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selective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read,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introduce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another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gate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called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b="1" spc="10" dirty="0">
                <a:latin typeface="Arial"/>
                <a:cs typeface="Arial"/>
              </a:rPr>
              <a:t>input gate</a:t>
            </a:r>
            <a:r>
              <a:rPr sz="1050" spc="10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2176145">
              <a:lnSpc>
                <a:spcPct val="100000"/>
              </a:lnSpc>
              <a:spcBef>
                <a:spcPts val="540"/>
              </a:spcBef>
            </a:pPr>
            <a:r>
              <a:rPr sz="1050" i="1" dirty="0">
                <a:latin typeface="Arial"/>
                <a:cs typeface="Arial"/>
              </a:rPr>
              <a:t>i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50" i="1" spc="10" dirty="0">
                <a:latin typeface="Arial"/>
                <a:cs typeface="Arial"/>
              </a:rPr>
              <a:t>h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5" dirty="0">
                <a:latin typeface="Arial"/>
                <a:cs typeface="Arial"/>
              </a:rPr>
              <a:t>U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50" i="1" spc="5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1194435">
              <a:lnSpc>
                <a:spcPct val="100000"/>
              </a:lnSpc>
              <a:spcBef>
                <a:spcPts val="305"/>
              </a:spcBef>
            </a:pPr>
            <a:r>
              <a:rPr sz="1050" spc="5" dirty="0">
                <a:latin typeface="Microsoft Sans Serif"/>
                <a:cs typeface="Microsoft Sans Serif"/>
              </a:rPr>
              <a:t>Selecti</a:t>
            </a:r>
            <a:r>
              <a:rPr sz="1050" spc="-20" dirty="0">
                <a:latin typeface="Microsoft Sans Serif"/>
                <a:cs typeface="Microsoft Sans Serif"/>
              </a:rPr>
              <a:t>v</a:t>
            </a:r>
            <a:r>
              <a:rPr sz="1050" spc="5" dirty="0">
                <a:latin typeface="Microsoft Sans Serif"/>
                <a:cs typeface="Microsoft Sans Serif"/>
              </a:rPr>
              <a:t>ely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Read</a:t>
            </a:r>
            <a:r>
              <a:rPr sz="1050" dirty="0">
                <a:latin typeface="Microsoft Sans Serif"/>
                <a:cs typeface="Microsoft Sans Serif"/>
              </a:rPr>
              <a:t> </a:t>
            </a:r>
            <a:r>
              <a:rPr sz="1050" spc="70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050" i="1" spc="5" dirty="0">
                <a:latin typeface="Arial"/>
                <a:cs typeface="Arial"/>
              </a:rPr>
              <a:t>i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-275" dirty="0">
                <a:latin typeface="MS UI Gothic"/>
                <a:cs typeface="MS UI Gothic"/>
              </a:rPr>
              <a:t>Ⓢ</a:t>
            </a:r>
            <a:r>
              <a:rPr sz="1200" spc="-110" dirty="0">
                <a:latin typeface="MS UI Gothic"/>
                <a:cs typeface="MS UI Gothic"/>
              </a:rPr>
              <a:t> </a:t>
            </a:r>
            <a:r>
              <a:rPr sz="1800" spc="-982" baseline="2314" dirty="0">
                <a:latin typeface="Tahoma"/>
                <a:cs typeface="Tahoma"/>
              </a:rPr>
              <a:t>˜</a:t>
            </a: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</a:t>
            </a:r>
            <a:endParaRPr sz="1050" baseline="-15873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650"/>
              </a:spcBef>
            </a:pPr>
            <a:r>
              <a:rPr sz="900" spc="-5" dirty="0">
                <a:latin typeface="Microsoft Sans Serif"/>
                <a:cs typeface="Microsoft Sans Serif"/>
              </a:rPr>
              <a:t>Mitesh</a:t>
            </a:r>
            <a:r>
              <a:rPr sz="900" spc="-1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M.</a:t>
            </a:r>
            <a:r>
              <a:rPr sz="900" spc="-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Khapra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74498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/>
              <a:t>S</a:t>
            </a:r>
            <a:r>
              <a:rPr cap="small" spc="290" dirty="0"/>
              <a:t>elective</a:t>
            </a:r>
            <a:r>
              <a:rPr spc="290" dirty="0"/>
              <a:t> </a:t>
            </a:r>
            <a:r>
              <a:rPr spc="-120" dirty="0"/>
              <a:t> </a:t>
            </a:r>
            <a:r>
              <a:rPr spc="450" dirty="0"/>
              <a:t>R</a:t>
            </a:r>
            <a:r>
              <a:rPr cap="small" spc="270" dirty="0"/>
              <a:t>ead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9051"/>
            <a:ext cx="4074160" cy="2511425"/>
            <a:chOff x="359994" y="539051"/>
            <a:chExt cx="4074160" cy="2511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7970" y="539051"/>
              <a:ext cx="3146107" cy="12687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954618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356180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9572" y="1843627"/>
            <a:ext cx="4648835" cy="13817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7475" marR="68580" indent="-1270">
              <a:lnSpc>
                <a:spcPct val="110700"/>
              </a:lnSpc>
              <a:spcBef>
                <a:spcPts val="85"/>
              </a:spcBef>
            </a:pPr>
            <a:r>
              <a:rPr sz="1800" spc="-322" baseline="2314" dirty="0">
                <a:latin typeface="Tahoma"/>
                <a:cs typeface="Tahoma"/>
              </a:rPr>
              <a:t>˜</a:t>
            </a:r>
            <a:r>
              <a:rPr sz="1050" i="1" spc="-215" dirty="0">
                <a:latin typeface="Arial"/>
                <a:cs typeface="Arial"/>
              </a:rPr>
              <a:t>s</a:t>
            </a:r>
            <a:r>
              <a:rPr sz="1050" i="1" spc="-322" baseline="-15873" dirty="0">
                <a:latin typeface="Arial"/>
                <a:cs typeface="Arial"/>
              </a:rPr>
              <a:t>t</a:t>
            </a:r>
            <a:r>
              <a:rPr sz="1050" i="1" spc="330" baseline="-15873" dirty="0">
                <a:latin typeface="Arial"/>
                <a:cs typeface="Arial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captures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all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information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from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3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previous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state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i="1" spc="70" dirty="0">
                <a:latin typeface="Arial"/>
                <a:cs typeface="Arial"/>
              </a:rPr>
              <a:t>h</a:t>
            </a:r>
            <a:r>
              <a:rPr sz="1050" i="1" spc="104" baseline="-15873" dirty="0">
                <a:latin typeface="Arial"/>
                <a:cs typeface="Arial"/>
              </a:rPr>
              <a:t>t</a:t>
            </a:r>
            <a:r>
              <a:rPr sz="1200" i="1" spc="104" baseline="-13888" dirty="0">
                <a:latin typeface="Arial"/>
                <a:cs typeface="Arial"/>
              </a:rPr>
              <a:t>−</a:t>
            </a:r>
            <a:r>
              <a:rPr sz="1050" spc="104" baseline="-15873" dirty="0">
                <a:latin typeface="Microsoft Sans Serif"/>
                <a:cs typeface="Microsoft Sans Serif"/>
              </a:rPr>
              <a:t>1</a:t>
            </a:r>
            <a:r>
              <a:rPr sz="1050" spc="247" baseline="-15873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and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current </a:t>
            </a:r>
            <a:r>
              <a:rPr sz="1050" spc="-26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input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i="1" spc="5" dirty="0">
                <a:latin typeface="Arial"/>
                <a:cs typeface="Arial"/>
              </a:rPr>
              <a:t>x</a:t>
            </a:r>
            <a:r>
              <a:rPr sz="1050" i="1" spc="7" baseline="-15873" dirty="0">
                <a:latin typeface="Arial"/>
                <a:cs typeface="Arial"/>
              </a:rPr>
              <a:t>t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117475">
              <a:lnSpc>
                <a:spcPct val="100000"/>
              </a:lnSpc>
              <a:spcBef>
                <a:spcPts val="455"/>
              </a:spcBef>
            </a:pPr>
            <a:r>
              <a:rPr sz="1050" spc="-50" dirty="0">
                <a:latin typeface="Microsoft Sans Serif"/>
                <a:cs typeface="Microsoft Sans Serif"/>
              </a:rPr>
              <a:t>To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do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selective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read,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introduce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another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gate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called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b="1" spc="10" dirty="0">
                <a:latin typeface="Arial"/>
                <a:cs typeface="Arial"/>
              </a:rPr>
              <a:t>input gate</a:t>
            </a:r>
            <a:r>
              <a:rPr sz="1050" spc="10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Microsoft Sans Serif"/>
              <a:cs typeface="Microsoft Sans Serif"/>
            </a:endParaRPr>
          </a:p>
          <a:p>
            <a:pPr marL="314325" algn="ctr">
              <a:lnSpc>
                <a:spcPct val="100000"/>
              </a:lnSpc>
            </a:pP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050" i="1" spc="5" dirty="0">
                <a:latin typeface="Arial"/>
                <a:cs typeface="Arial"/>
              </a:rPr>
              <a:t>s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-275" dirty="0">
                <a:latin typeface="MS UI Gothic"/>
                <a:cs typeface="MS UI Gothic"/>
              </a:rPr>
              <a:t>Ⓢ</a:t>
            </a:r>
            <a:r>
              <a:rPr sz="1200" spc="-110" dirty="0">
                <a:latin typeface="MS UI Gothic"/>
                <a:cs typeface="MS UI Gothic"/>
              </a:rPr>
              <a:t> </a:t>
            </a:r>
            <a:r>
              <a:rPr sz="1800" spc="-982" baseline="2314" dirty="0">
                <a:latin typeface="Tahoma"/>
                <a:cs typeface="Tahoma"/>
              </a:rPr>
              <a:t>˜</a:t>
            </a: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</a:t>
            </a:r>
            <a:endParaRPr sz="1050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900" spc="-5" dirty="0">
                <a:latin typeface="Microsoft Sans Serif"/>
                <a:cs typeface="Microsoft Sans Serif"/>
              </a:rPr>
              <a:t>Mitesh</a:t>
            </a:r>
            <a:r>
              <a:rPr sz="900" spc="-1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M.</a:t>
            </a:r>
            <a:r>
              <a:rPr sz="900" spc="-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Khapra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98437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/>
              <a:t>S</a:t>
            </a:r>
            <a:r>
              <a:rPr cap="small" spc="290" dirty="0"/>
              <a:t>elective</a:t>
            </a:r>
            <a:r>
              <a:rPr spc="290" dirty="0"/>
              <a:t> </a:t>
            </a:r>
            <a:r>
              <a:rPr spc="-120" dirty="0"/>
              <a:t> </a:t>
            </a:r>
            <a:r>
              <a:rPr spc="390" dirty="0"/>
              <a:t>F</a:t>
            </a:r>
            <a:r>
              <a:rPr cap="small" spc="275" dirty="0"/>
              <a:t>o</a:t>
            </a:r>
            <a:r>
              <a:rPr cap="small" spc="185" dirty="0"/>
              <a:t>r</a:t>
            </a:r>
            <a:r>
              <a:rPr cap="small" spc="300" dirty="0"/>
              <a:t>get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14095"/>
            <a:ext cx="4203065" cy="2436495"/>
            <a:chOff x="359994" y="614095"/>
            <a:chExt cx="4203065" cy="24364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9383" y="614095"/>
              <a:ext cx="3403282" cy="1243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006714"/>
              <a:ext cx="69291" cy="692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1926" y="1929185"/>
            <a:ext cx="4178300" cy="7493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050" spc="-50" dirty="0">
                <a:latin typeface="Microsoft Sans Serif"/>
                <a:cs typeface="Microsoft Sans Serif"/>
              </a:rPr>
              <a:t>To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do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selective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forget,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introduce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another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gate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called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b="1" spc="5" dirty="0">
                <a:latin typeface="Arial"/>
                <a:cs typeface="Arial"/>
              </a:rPr>
              <a:t>forget </a:t>
            </a:r>
            <a:r>
              <a:rPr sz="1050" b="1" spc="10" dirty="0">
                <a:latin typeface="Arial"/>
                <a:cs typeface="Arial"/>
              </a:rPr>
              <a:t>gate</a:t>
            </a:r>
            <a:r>
              <a:rPr sz="1050" spc="10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589405">
              <a:lnSpc>
                <a:spcPct val="100000"/>
              </a:lnSpc>
            </a:pPr>
            <a:r>
              <a:rPr sz="1050" i="1" spc="5" dirty="0">
                <a:latin typeface="Arial"/>
                <a:cs typeface="Arial"/>
              </a:rPr>
              <a:t>f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baseline="-15873" dirty="0">
                <a:latin typeface="Arial"/>
                <a:cs typeface="Arial"/>
              </a:rPr>
              <a:t>f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1050" i="1" spc="10" dirty="0">
                <a:latin typeface="Arial"/>
                <a:cs typeface="Arial"/>
              </a:rPr>
              <a:t>h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5" dirty="0">
                <a:latin typeface="Arial"/>
                <a:cs typeface="Arial"/>
              </a:rPr>
              <a:t>U</a:t>
            </a:r>
            <a:r>
              <a:rPr sz="1050" i="1" baseline="-15873" dirty="0">
                <a:latin typeface="Arial"/>
                <a:cs typeface="Arial"/>
              </a:rPr>
              <a:t>f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baseline="-15873" dirty="0">
                <a:latin typeface="Arial"/>
                <a:cs typeface="Arial"/>
              </a:rPr>
              <a:t>f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1558925">
              <a:lnSpc>
                <a:spcPct val="100000"/>
              </a:lnSpc>
              <a:spcBef>
                <a:spcPts val="305"/>
              </a:spcBef>
            </a:pP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050" i="1" spc="5" dirty="0">
                <a:latin typeface="Arial"/>
                <a:cs typeface="Arial"/>
              </a:rPr>
              <a:t>f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-275" dirty="0">
                <a:latin typeface="MS UI Gothic"/>
                <a:cs typeface="MS UI Gothic"/>
              </a:rPr>
              <a:t>Ⓢ</a:t>
            </a:r>
            <a:r>
              <a:rPr sz="1200" spc="-100" dirty="0">
                <a:latin typeface="MS UI Gothic"/>
                <a:cs typeface="MS UI Gothic"/>
              </a:rPr>
              <a:t> </a:t>
            </a: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-275" dirty="0">
                <a:latin typeface="MS UI Gothic"/>
                <a:cs typeface="MS UI Gothic"/>
              </a:rPr>
              <a:t>Ⓢ</a:t>
            </a:r>
            <a:r>
              <a:rPr sz="1200" spc="-110" dirty="0">
                <a:latin typeface="MS UI Gothic"/>
                <a:cs typeface="MS UI Gothic"/>
              </a:rPr>
              <a:t> </a:t>
            </a:r>
            <a:r>
              <a:rPr sz="1800" spc="-982" baseline="2314" dirty="0">
                <a:latin typeface="Tahoma"/>
                <a:cs typeface="Tahoma"/>
              </a:rPr>
              <a:t>˜</a:t>
            </a: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</a:t>
            </a:r>
            <a:endParaRPr sz="1050" baseline="-15873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2272" y="3062817"/>
            <a:ext cx="9169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" dirty="0">
                <a:latin typeface="Microsoft Sans Serif"/>
                <a:cs typeface="Microsoft Sans Serif"/>
              </a:rPr>
              <a:t>Mitesh</a:t>
            </a:r>
            <a:r>
              <a:rPr sz="900" spc="-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M.</a:t>
            </a:r>
            <a:r>
              <a:rPr sz="900" spc="-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Khapra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29413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40" dirty="0"/>
              <a:t>F</a:t>
            </a:r>
            <a:r>
              <a:rPr cap="small" spc="270" dirty="0"/>
              <a:t>ull</a:t>
            </a:r>
            <a:r>
              <a:rPr spc="270" dirty="0"/>
              <a:t> </a:t>
            </a:r>
            <a:r>
              <a:rPr spc="-120" dirty="0"/>
              <a:t> </a:t>
            </a:r>
            <a:r>
              <a:rPr spc="375" dirty="0"/>
              <a:t>LSTM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539051"/>
            <a:ext cx="4415155" cy="1451610"/>
            <a:chOff x="513702" y="539051"/>
            <a:chExt cx="4415155" cy="1451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1189" y="539051"/>
              <a:ext cx="4097655" cy="12344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921294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0537" y="1810588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44626" y="1843765"/>
            <a:ext cx="473709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3</a:t>
            </a:r>
            <a:r>
              <a:rPr sz="1050" spc="-4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gates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3275" y="2124647"/>
            <a:ext cx="1830070" cy="4686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05"/>
              </a:spcBef>
            </a:pPr>
            <a:r>
              <a:rPr sz="1050" i="1" spc="10" dirty="0">
                <a:latin typeface="Arial"/>
                <a:cs typeface="Arial"/>
              </a:rPr>
              <a:t>o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spc="112" baseline="-15873" dirty="0">
                <a:latin typeface="Arial"/>
                <a:cs typeface="Arial"/>
              </a:rPr>
              <a:t>o</a:t>
            </a:r>
            <a:r>
              <a:rPr sz="1050" i="1" spc="10" dirty="0">
                <a:latin typeface="Arial"/>
                <a:cs typeface="Arial"/>
              </a:rPr>
              <a:t>h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5" dirty="0">
                <a:latin typeface="Arial"/>
                <a:cs typeface="Arial"/>
              </a:rPr>
              <a:t>U</a:t>
            </a:r>
            <a:r>
              <a:rPr sz="1050" i="1" spc="112" baseline="-15873" dirty="0">
                <a:latin typeface="Arial"/>
                <a:cs typeface="Arial"/>
              </a:rPr>
              <a:t>o</a:t>
            </a: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spc="7" baseline="-15873" dirty="0">
                <a:latin typeface="Arial"/>
                <a:cs typeface="Arial"/>
              </a:rPr>
              <a:t>o</a:t>
            </a:r>
            <a:r>
              <a:rPr sz="1050" i="1" spc="-187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95885">
              <a:lnSpc>
                <a:spcPct val="100000"/>
              </a:lnSpc>
              <a:spcBef>
                <a:spcPts val="300"/>
              </a:spcBef>
            </a:pPr>
            <a:r>
              <a:rPr sz="1050" i="1" spc="5" dirty="0">
                <a:latin typeface="Arial"/>
                <a:cs typeface="Arial"/>
              </a:rPr>
              <a:t>i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50" i="1" spc="10" dirty="0">
                <a:latin typeface="Arial"/>
                <a:cs typeface="Arial"/>
              </a:rPr>
              <a:t>h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5" dirty="0">
                <a:latin typeface="Arial"/>
                <a:cs typeface="Arial"/>
              </a:rPr>
              <a:t>U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50" i="1" spc="10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960" y="2606723"/>
            <a:ext cx="17208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5" dirty="0">
                <a:latin typeface="Arial"/>
                <a:cs typeface="Arial"/>
              </a:rPr>
              <a:t>f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baseline="-15873" dirty="0">
                <a:latin typeface="Arial"/>
                <a:cs typeface="Arial"/>
              </a:rPr>
              <a:t>f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1050" i="1" spc="10" dirty="0">
                <a:latin typeface="Arial"/>
                <a:cs typeface="Arial"/>
              </a:rPr>
              <a:t>h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5" dirty="0">
                <a:latin typeface="Arial"/>
                <a:cs typeface="Arial"/>
              </a:rPr>
              <a:t>U</a:t>
            </a:r>
            <a:r>
              <a:rPr sz="1050" i="1" baseline="-15873" dirty="0">
                <a:latin typeface="Arial"/>
                <a:cs typeface="Arial"/>
              </a:rPr>
              <a:t>f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1050" i="1" spc="5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baseline="-15873" dirty="0">
                <a:latin typeface="Arial"/>
                <a:cs typeface="Arial"/>
              </a:rPr>
              <a:t>f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61474" y="1733059"/>
            <a:ext cx="50419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10" dirty="0">
                <a:latin typeface="Microsoft Sans Serif"/>
                <a:cs typeface="Microsoft Sans Serif"/>
              </a:rPr>
              <a:t>3</a:t>
            </a:r>
            <a:r>
              <a:rPr sz="1050" spc="-4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states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42118" y="2053168"/>
            <a:ext cx="16230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982" baseline="2314" dirty="0">
                <a:latin typeface="Tahoma"/>
                <a:cs typeface="Tahoma"/>
              </a:rPr>
              <a:t>˜</a:t>
            </a:r>
            <a:r>
              <a:rPr sz="1050" i="1" spc="5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15" dirty="0">
                <a:latin typeface="Arial"/>
                <a:cs typeface="Arial"/>
              </a:rPr>
              <a:t>Wh</a:t>
            </a:r>
            <a:r>
              <a:rPr sz="1050" i="1" spc="89" baseline="-15873" dirty="0">
                <a:latin typeface="Arial"/>
                <a:cs typeface="Arial"/>
              </a:rPr>
              <a:t>t</a:t>
            </a:r>
            <a:r>
              <a:rPr sz="1200" i="1" spc="284" baseline="-13888" dirty="0">
                <a:latin typeface="Arial"/>
                <a:cs typeface="Arial"/>
              </a:rPr>
              <a:t>−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5" dirty="0">
                <a:latin typeface="Arial"/>
                <a:cs typeface="Arial"/>
              </a:rPr>
              <a:t>Ux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40" dirty="0">
                <a:latin typeface="Arial"/>
                <a:cs typeface="Arial"/>
              </a:rPr>
              <a:t>b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41939" y="2347974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90" dirty="0">
                <a:latin typeface="Arial"/>
                <a:cs typeface="Arial"/>
              </a:rPr>
              <a:t>−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43147" y="2274592"/>
            <a:ext cx="14230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5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050" i="1" spc="5" dirty="0">
                <a:latin typeface="Arial"/>
                <a:cs typeface="Arial"/>
              </a:rPr>
              <a:t>f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-275" dirty="0">
                <a:latin typeface="MS UI Gothic"/>
                <a:cs typeface="MS UI Gothic"/>
              </a:rPr>
              <a:t>Ⓢ</a:t>
            </a:r>
            <a:r>
              <a:rPr sz="1200" spc="-100" dirty="0">
                <a:latin typeface="MS UI Gothic"/>
                <a:cs typeface="MS UI Gothic"/>
              </a:rPr>
              <a:t> </a:t>
            </a: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   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1050" spc="7" baseline="-15873" dirty="0">
                <a:latin typeface="Microsoft Sans Serif"/>
                <a:cs typeface="Microsoft Sans Serif"/>
              </a:rPr>
              <a:t>1</a:t>
            </a:r>
            <a:r>
              <a:rPr sz="1050" baseline="-15873" dirty="0">
                <a:latin typeface="Microsoft Sans Serif"/>
                <a:cs typeface="Microsoft Sans Serif"/>
              </a:rPr>
              <a:t> </a:t>
            </a:r>
            <a:r>
              <a:rPr sz="1050" spc="-89" baseline="-15873" dirty="0">
                <a:latin typeface="Microsoft Sans Serif"/>
                <a:cs typeface="Microsoft Sans Serif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5" dirty="0">
                <a:latin typeface="Arial"/>
                <a:cs typeface="Arial"/>
              </a:rPr>
              <a:t>i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-275" dirty="0">
                <a:latin typeface="MS UI Gothic"/>
                <a:cs typeface="MS UI Gothic"/>
              </a:rPr>
              <a:t>Ⓢ</a:t>
            </a:r>
            <a:r>
              <a:rPr sz="1200" spc="-110" dirty="0">
                <a:latin typeface="MS UI Gothic"/>
                <a:cs typeface="MS UI Gothic"/>
              </a:rPr>
              <a:t> </a:t>
            </a:r>
            <a:r>
              <a:rPr sz="1800" spc="-982" baseline="2314" dirty="0">
                <a:latin typeface="Tahoma"/>
                <a:cs typeface="Tahoma"/>
              </a:rPr>
              <a:t>˜</a:t>
            </a: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</a:t>
            </a:r>
            <a:endParaRPr sz="1050" baseline="-1587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36861" y="2579521"/>
            <a:ext cx="36703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28295" algn="l"/>
              </a:tabLst>
            </a:pPr>
            <a:r>
              <a:rPr sz="700" i="1" dirty="0">
                <a:latin typeface="Arial"/>
                <a:cs typeface="Arial"/>
              </a:rPr>
              <a:t>t	t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5489" y="2496004"/>
            <a:ext cx="10071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10" dirty="0">
                <a:latin typeface="Arial"/>
                <a:cs typeface="Arial"/>
              </a:rPr>
              <a:t>h </a:t>
            </a:r>
            <a:r>
              <a:rPr sz="1050" i="1" spc="60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o</a:t>
            </a:r>
            <a:r>
              <a:rPr sz="1050" i="1" dirty="0">
                <a:latin typeface="Arial"/>
                <a:cs typeface="Arial"/>
              </a:rPr>
              <a:t> 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200" spc="-275" dirty="0">
                <a:latin typeface="MS UI Gothic"/>
                <a:cs typeface="MS UI Gothic"/>
              </a:rPr>
              <a:t>Ⓢ</a:t>
            </a:r>
            <a:r>
              <a:rPr sz="1200" spc="-100" dirty="0">
                <a:latin typeface="MS UI Gothic"/>
                <a:cs typeface="MS UI Gothic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10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3147" y="2717429"/>
            <a:ext cx="10414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500" dirty="0">
                <a:latin typeface="Arial"/>
                <a:cs typeface="Arial"/>
              </a:rPr>
              <a:t>y</a:t>
            </a:r>
            <a:r>
              <a:rPr sz="1800" spc="-232" baseline="2314" dirty="0">
                <a:latin typeface="Tahoma"/>
                <a:cs typeface="Tahoma"/>
              </a:rPr>
              <a:t>ˆ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050" i="1" spc="65" dirty="0">
                <a:latin typeface="Arial"/>
                <a:cs typeface="Arial"/>
              </a:rPr>
              <a:t>g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15" dirty="0">
                <a:latin typeface="Arial"/>
                <a:cs typeface="Arial"/>
              </a:rPr>
              <a:t>Vs</a:t>
            </a:r>
            <a:r>
              <a:rPr sz="1050" i="1" baseline="-15873" dirty="0">
                <a:latin typeface="Arial"/>
                <a:cs typeface="Arial"/>
              </a:rPr>
              <a:t>t </a:t>
            </a:r>
            <a:r>
              <a:rPr sz="1050" i="1" spc="-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65" dirty="0">
                <a:latin typeface="Arial"/>
                <a:cs typeface="Arial"/>
              </a:rPr>
              <a:t>c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9994" y="312299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52272" y="3138128"/>
            <a:ext cx="9169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" dirty="0">
                <a:latin typeface="Microsoft Sans Serif"/>
                <a:cs typeface="Microsoft Sans Serif"/>
              </a:rPr>
              <a:t>Mitesh</a:t>
            </a:r>
            <a:r>
              <a:rPr sz="900" spc="-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M.</a:t>
            </a:r>
            <a:r>
              <a:rPr sz="900" spc="-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Khapra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8294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/>
              <a:t>I</a:t>
            </a:r>
            <a:r>
              <a:rPr cap="small" spc="180" dirty="0"/>
              <a:t>n</a:t>
            </a:r>
            <a:r>
              <a:rPr spc="180" dirty="0"/>
              <a:t> </a:t>
            </a:r>
            <a:r>
              <a:rPr spc="-120" dirty="0"/>
              <a:t> </a:t>
            </a:r>
            <a:r>
              <a:rPr spc="520" dirty="0"/>
              <a:t>T</a:t>
            </a:r>
            <a:r>
              <a:rPr cap="small" spc="185" dirty="0"/>
              <a:t>his</a:t>
            </a:r>
            <a:r>
              <a:rPr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50" dirty="0"/>
              <a:t>egment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730567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73423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1023899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10275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317243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32092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61058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61425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903933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90760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49" y="219726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220094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EAEAF7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49" y="2490609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49429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78395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78762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029" y="591696"/>
            <a:ext cx="3757295" cy="23723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S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</a:t>
            </a:r>
            <a:r>
              <a:rPr sz="1400" spc="17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q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uence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earning</a:t>
            </a:r>
            <a:endParaRPr sz="1400">
              <a:latin typeface="Calibri"/>
              <a:cs typeface="Calibri"/>
            </a:endParaRPr>
          </a:p>
          <a:p>
            <a:pPr marL="12700" marR="397510">
              <a:lnSpc>
                <a:spcPct val="137500"/>
              </a:lnSpc>
            </a:pP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ecurrent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et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w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ork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(RNN)</a:t>
            </a:r>
            <a:r>
              <a:rPr sz="1400" spc="12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T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ypes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of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2146935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earning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RNN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</a:t>
            </a:r>
            <a:r>
              <a:rPr sz="1400" cap="small" spc="17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ssues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37500"/>
              </a:lnSpc>
            </a:pPr>
            <a:r>
              <a:rPr sz="1400" spc="39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L</a:t>
            </a:r>
            <a:r>
              <a:rPr sz="1400" cap="small" spc="19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ong</a:t>
            </a:r>
            <a:r>
              <a:rPr sz="1400" spc="19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9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S</a:t>
            </a:r>
            <a:r>
              <a:rPr sz="1400" cap="small" spc="22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ho</a:t>
            </a:r>
            <a:r>
              <a:rPr sz="1400" cap="small" spc="9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1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44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cap="small" spc="21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erm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cap="small" spc="19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em</a:t>
            </a:r>
            <a:r>
              <a:rPr sz="1400" cap="small" spc="18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o</a:t>
            </a:r>
            <a:r>
              <a:rPr sz="1400" cap="small" spc="17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4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y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6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U</a:t>
            </a:r>
            <a:r>
              <a:rPr sz="1400" cap="small" spc="21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nit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31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(LST</a:t>
            </a:r>
            <a:r>
              <a:rPr sz="1400" spc="21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spc="20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)</a:t>
            </a:r>
            <a:r>
              <a:rPr sz="1400" spc="14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3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G</a:t>
            </a:r>
            <a:r>
              <a:rPr sz="1400" cap="small" spc="1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ted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ecurrent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9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(G</a:t>
            </a:r>
            <a:r>
              <a:rPr sz="1400" spc="2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U)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4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B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idirectional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450405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L</a:t>
            </a:r>
            <a:r>
              <a:rPr cap="small" spc="210" dirty="0"/>
              <a:t>ong</a:t>
            </a:r>
            <a:r>
              <a:rPr spc="210"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04" dirty="0"/>
              <a:t>ho</a:t>
            </a:r>
            <a:r>
              <a:rPr cap="small" spc="180" dirty="0"/>
              <a:t>r</a:t>
            </a:r>
            <a:r>
              <a:rPr cap="small" spc="355" dirty="0"/>
              <a:t>t</a:t>
            </a:r>
            <a:r>
              <a:rPr dirty="0"/>
              <a:t> </a:t>
            </a:r>
            <a:r>
              <a:rPr spc="-120" dirty="0"/>
              <a:t> </a:t>
            </a:r>
            <a:r>
              <a:rPr spc="520" dirty="0"/>
              <a:t>T</a:t>
            </a:r>
            <a:r>
              <a:rPr cap="small" spc="240" dirty="0"/>
              <a:t>erm</a:t>
            </a:r>
            <a:r>
              <a:rPr dirty="0"/>
              <a:t> </a:t>
            </a:r>
            <a:r>
              <a:rPr spc="-120" dirty="0"/>
              <a:t> </a:t>
            </a:r>
            <a:r>
              <a:rPr spc="245" dirty="0"/>
              <a:t>M</a:t>
            </a:r>
            <a:r>
              <a:rPr cap="small" spc="204" dirty="0"/>
              <a:t>emo</a:t>
            </a:r>
            <a:r>
              <a:rPr cap="small" spc="185" dirty="0"/>
              <a:t>r</a:t>
            </a:r>
            <a:r>
              <a:rPr cap="small" spc="395" dirty="0"/>
              <a:t>y</a:t>
            </a:r>
            <a:r>
              <a:rPr dirty="0"/>
              <a:t> </a:t>
            </a:r>
            <a:r>
              <a:rPr spc="-120" dirty="0"/>
              <a:t> </a:t>
            </a:r>
            <a:r>
              <a:rPr spc="305" dirty="0"/>
              <a:t>U</a:t>
            </a:r>
            <a:r>
              <a:rPr cap="small" spc="240" dirty="0"/>
              <a:t>nit</a:t>
            </a:r>
            <a:r>
              <a:rPr dirty="0"/>
              <a:t> </a:t>
            </a:r>
            <a:r>
              <a:rPr spc="-120" dirty="0"/>
              <a:t> </a:t>
            </a:r>
            <a:r>
              <a:rPr spc="325" dirty="0"/>
              <a:t>(LSTM)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815784"/>
            <a:ext cx="69850" cy="290830"/>
            <a:chOff x="513702" y="815784"/>
            <a:chExt cx="69850" cy="2908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815784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037209"/>
              <a:ext cx="69291" cy="6929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19226" y="700242"/>
            <a:ext cx="4337050" cy="189483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sz="1050" spc="10" dirty="0">
                <a:latin typeface="Microsoft Sans Serif"/>
                <a:cs typeface="Microsoft Sans Serif"/>
              </a:rPr>
              <a:t>Another</a:t>
            </a:r>
            <a:r>
              <a:rPr sz="1050" spc="-1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representation</a:t>
            </a:r>
            <a:endParaRPr sz="105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050" spc="10" dirty="0">
                <a:latin typeface="Microsoft Sans Serif"/>
                <a:cs typeface="Microsoft Sans Serif"/>
              </a:rPr>
              <a:t>3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gates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are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used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290" dirty="0">
                <a:latin typeface="Microsoft Sans Serif"/>
                <a:cs typeface="Microsoft Sans Serif"/>
              </a:rPr>
              <a:t>–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Update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gate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200" spc="15" dirty="0">
                <a:latin typeface="Tahoma"/>
                <a:cs typeface="Tahoma"/>
              </a:rPr>
              <a:t>Γ</a:t>
            </a:r>
            <a:r>
              <a:rPr sz="1050" i="1" spc="22" baseline="-15873" dirty="0">
                <a:latin typeface="Arial"/>
                <a:cs typeface="Arial"/>
              </a:rPr>
              <a:t>u</a:t>
            </a:r>
            <a:r>
              <a:rPr sz="1050" i="1" spc="-172" baseline="-15873" dirty="0">
                <a:latin typeface="Arial"/>
                <a:cs typeface="Arial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,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Forget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gate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200" spc="10" dirty="0">
                <a:latin typeface="Tahoma"/>
                <a:cs typeface="Tahoma"/>
              </a:rPr>
              <a:t>Γ</a:t>
            </a:r>
            <a:r>
              <a:rPr sz="1050" i="1" spc="15" baseline="-15873" dirty="0">
                <a:latin typeface="Arial"/>
                <a:cs typeface="Arial"/>
              </a:rPr>
              <a:t>f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and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Output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gate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200" spc="15" dirty="0">
                <a:latin typeface="Tahoma"/>
                <a:cs typeface="Tahoma"/>
              </a:rPr>
              <a:t>Γ</a:t>
            </a:r>
            <a:r>
              <a:rPr sz="1050" i="1" spc="22" baseline="-15873" dirty="0">
                <a:latin typeface="Arial"/>
                <a:cs typeface="Arial"/>
              </a:rPr>
              <a:t>o</a:t>
            </a:r>
            <a:r>
              <a:rPr sz="1050" i="1" spc="-187" baseline="-15873" dirty="0">
                <a:latin typeface="Arial"/>
                <a:cs typeface="Arial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1291590" marR="801370" algn="ctr">
              <a:lnSpc>
                <a:spcPct val="121100"/>
              </a:lnSpc>
              <a:spcBef>
                <a:spcPts val="900"/>
              </a:spcBef>
            </a:pPr>
            <a:r>
              <a:rPr sz="1050" i="1" spc="-525" dirty="0">
                <a:latin typeface="Arial"/>
                <a:cs typeface="Arial"/>
              </a:rPr>
              <a:t>c</a:t>
            </a:r>
            <a:r>
              <a:rPr sz="1800" spc="-104" baseline="2314" dirty="0">
                <a:latin typeface="Tahoma"/>
                <a:cs typeface="Tahoma"/>
              </a:rPr>
              <a:t>˜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baseline="39682" dirty="0">
                <a:latin typeface="Arial"/>
                <a:cs typeface="Arial"/>
              </a:rPr>
              <a:t>t</a:t>
            </a:r>
            <a:r>
              <a:rPr sz="1050" i="1" spc="-195" baseline="39682" dirty="0">
                <a:latin typeface="Arial"/>
                <a:cs typeface="Arial"/>
              </a:rPr>
              <a:t> </a:t>
            </a:r>
            <a:r>
              <a:rPr sz="1200" i="1" baseline="34722" dirty="0">
                <a:latin typeface="Verdana"/>
                <a:cs typeface="Verdana"/>
              </a:rPr>
              <a:t>&gt;</a:t>
            </a:r>
            <a:r>
              <a:rPr sz="1200" i="1" spc="150" baseline="34722" dirty="0">
                <a:latin typeface="Verdana"/>
                <a:cs typeface="Verdana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tanh(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spc="7" baseline="-15873" dirty="0">
                <a:latin typeface="Arial"/>
                <a:cs typeface="Arial"/>
              </a:rPr>
              <a:t>c</a:t>
            </a:r>
            <a:r>
              <a:rPr sz="1050" i="1" spc="-165" baseline="-15873" dirty="0">
                <a:latin typeface="Arial"/>
                <a:cs typeface="Arial"/>
              </a:rPr>
              <a:t> </a:t>
            </a:r>
            <a:r>
              <a:rPr sz="1200" spc="-125" dirty="0">
                <a:latin typeface="Tahoma"/>
                <a:cs typeface="Tahoma"/>
              </a:rPr>
              <a:t>[</a:t>
            </a:r>
            <a:r>
              <a:rPr sz="1050" i="1" spc="10" dirty="0">
                <a:latin typeface="Arial"/>
                <a:cs typeface="Arial"/>
              </a:rPr>
              <a:t>a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spc="284" baseline="34722" dirty="0">
                <a:latin typeface="Arial"/>
                <a:cs typeface="Arial"/>
              </a:rPr>
              <a:t>−</a:t>
            </a:r>
            <a:r>
              <a:rPr sz="1050" spc="7" baseline="39682" dirty="0">
                <a:latin typeface="Microsoft Sans Serif"/>
                <a:cs typeface="Microsoft Sans Serif"/>
              </a:rPr>
              <a:t>1</a:t>
            </a:r>
            <a:r>
              <a:rPr sz="1200" i="1" spc="75" baseline="34722" dirty="0">
                <a:latin typeface="Verdana"/>
                <a:cs typeface="Verdana"/>
              </a:rPr>
              <a:t>&gt;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10" dirty="0">
                <a:latin typeface="Arial"/>
                <a:cs typeface="Arial"/>
              </a:rPr>
              <a:t>x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spc="75" baseline="34722" dirty="0">
                <a:latin typeface="Verdana"/>
                <a:cs typeface="Verdana"/>
              </a:rPr>
              <a:t>&gt;</a:t>
            </a:r>
            <a:r>
              <a:rPr sz="1200" spc="-125" dirty="0">
                <a:latin typeface="Tahoma"/>
                <a:cs typeface="Tahoma"/>
              </a:rPr>
              <a:t>]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spc="7" baseline="-15873" dirty="0">
                <a:latin typeface="Arial"/>
                <a:cs typeface="Arial"/>
              </a:rPr>
              <a:t>c</a:t>
            </a:r>
            <a:r>
              <a:rPr sz="1050" i="1" spc="-165" baseline="-15873" dirty="0">
                <a:latin typeface="Arial"/>
                <a:cs typeface="Arial"/>
              </a:rPr>
              <a:t> </a:t>
            </a:r>
            <a:r>
              <a:rPr sz="1200" spc="-5" dirty="0">
                <a:latin typeface="Tahoma"/>
                <a:cs typeface="Tahoma"/>
              </a:rPr>
              <a:t>)  </a:t>
            </a:r>
            <a:r>
              <a:rPr sz="1200" spc="20" dirty="0">
                <a:latin typeface="Tahoma"/>
                <a:cs typeface="Tahoma"/>
              </a:rPr>
              <a:t>Γ</a:t>
            </a:r>
            <a:r>
              <a:rPr sz="1050" i="1" spc="7" baseline="-15873" dirty="0">
                <a:latin typeface="Arial"/>
                <a:cs typeface="Arial"/>
              </a:rPr>
              <a:t>u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50" i="1" spc="30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spc="7" baseline="-15873" dirty="0">
                <a:latin typeface="Arial"/>
                <a:cs typeface="Arial"/>
              </a:rPr>
              <a:t>u</a:t>
            </a:r>
            <a:r>
              <a:rPr sz="1050" i="1" spc="-172" baseline="-15873" dirty="0">
                <a:latin typeface="Arial"/>
                <a:cs typeface="Arial"/>
              </a:rPr>
              <a:t> </a:t>
            </a:r>
            <a:r>
              <a:rPr sz="1200" spc="-125" dirty="0">
                <a:latin typeface="Tahoma"/>
                <a:cs typeface="Tahoma"/>
              </a:rPr>
              <a:t>[</a:t>
            </a:r>
            <a:r>
              <a:rPr sz="1050" i="1" spc="10" dirty="0">
                <a:latin typeface="Arial"/>
                <a:cs typeface="Arial"/>
              </a:rPr>
              <a:t>a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spc="284" baseline="34722" dirty="0">
                <a:latin typeface="Arial"/>
                <a:cs typeface="Arial"/>
              </a:rPr>
              <a:t>−</a:t>
            </a:r>
            <a:r>
              <a:rPr sz="1050" spc="7" baseline="39682" dirty="0">
                <a:latin typeface="Microsoft Sans Serif"/>
                <a:cs typeface="Microsoft Sans Serif"/>
              </a:rPr>
              <a:t>1</a:t>
            </a:r>
            <a:r>
              <a:rPr sz="1200" i="1" spc="75" baseline="34722" dirty="0">
                <a:latin typeface="Verdana"/>
                <a:cs typeface="Verdana"/>
              </a:rPr>
              <a:t>&gt;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10" dirty="0">
                <a:latin typeface="Arial"/>
                <a:cs typeface="Arial"/>
              </a:rPr>
              <a:t>x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baseline="34722" dirty="0">
                <a:latin typeface="Verdana"/>
                <a:cs typeface="Verdana"/>
              </a:rPr>
              <a:t>&gt;</a:t>
            </a:r>
            <a:r>
              <a:rPr sz="1200" i="1" spc="44" baseline="34722" dirty="0">
                <a:latin typeface="Verdana"/>
                <a:cs typeface="Verdana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spc="7" baseline="-15873" dirty="0">
                <a:latin typeface="Arial"/>
                <a:cs typeface="Arial"/>
              </a:rPr>
              <a:t>u</a:t>
            </a:r>
            <a:r>
              <a:rPr sz="1050" i="1" spc="-172" baseline="-15873" dirty="0">
                <a:latin typeface="Arial"/>
                <a:cs typeface="Arial"/>
              </a:rPr>
              <a:t> </a:t>
            </a:r>
            <a:r>
              <a:rPr sz="1200" spc="-65" dirty="0">
                <a:latin typeface="Tahoma"/>
                <a:cs typeface="Tahoma"/>
              </a:rPr>
              <a:t>])</a:t>
            </a:r>
            <a:endParaRPr sz="1200">
              <a:latin typeface="Tahoma"/>
              <a:cs typeface="Tahoma"/>
            </a:endParaRPr>
          </a:p>
          <a:p>
            <a:pPr marL="1434465" marR="982980" indent="-15875" algn="ctr">
              <a:lnSpc>
                <a:spcPct val="121100"/>
              </a:lnSpc>
            </a:pPr>
            <a:r>
              <a:rPr sz="1200" spc="20" dirty="0">
                <a:latin typeface="Tahoma"/>
                <a:cs typeface="Tahoma"/>
              </a:rPr>
              <a:t>Γ</a:t>
            </a:r>
            <a:r>
              <a:rPr sz="1050" i="1" baseline="-15873" dirty="0">
                <a:latin typeface="Arial"/>
                <a:cs typeface="Arial"/>
              </a:rPr>
              <a:t>f </a:t>
            </a:r>
            <a:r>
              <a:rPr sz="1050" i="1" spc="13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baseline="-15873" dirty="0">
                <a:latin typeface="Arial"/>
                <a:cs typeface="Arial"/>
              </a:rPr>
              <a:t>f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1200" spc="-125" dirty="0">
                <a:latin typeface="Tahoma"/>
                <a:cs typeface="Tahoma"/>
              </a:rPr>
              <a:t>[</a:t>
            </a:r>
            <a:r>
              <a:rPr sz="1050" i="1" spc="10" dirty="0">
                <a:latin typeface="Arial"/>
                <a:cs typeface="Arial"/>
              </a:rPr>
              <a:t>a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spc="284" baseline="34722" dirty="0">
                <a:latin typeface="Arial"/>
                <a:cs typeface="Arial"/>
              </a:rPr>
              <a:t>−</a:t>
            </a:r>
            <a:r>
              <a:rPr sz="1050" spc="7" baseline="39682" dirty="0">
                <a:latin typeface="Microsoft Sans Serif"/>
                <a:cs typeface="Microsoft Sans Serif"/>
              </a:rPr>
              <a:t>1</a:t>
            </a:r>
            <a:r>
              <a:rPr sz="1200" i="1" spc="75" baseline="34722" dirty="0">
                <a:latin typeface="Verdana"/>
                <a:cs typeface="Verdana"/>
              </a:rPr>
              <a:t>&gt;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10" dirty="0">
                <a:latin typeface="Arial"/>
                <a:cs typeface="Arial"/>
              </a:rPr>
              <a:t>x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baseline="34722" dirty="0">
                <a:latin typeface="Verdana"/>
                <a:cs typeface="Verdana"/>
              </a:rPr>
              <a:t>&gt;</a:t>
            </a:r>
            <a:r>
              <a:rPr sz="1200" i="1" spc="44" baseline="34722" dirty="0">
                <a:latin typeface="Verdana"/>
                <a:cs typeface="Verdana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baseline="-15873" dirty="0">
                <a:latin typeface="Arial"/>
                <a:cs typeface="Arial"/>
              </a:rPr>
              <a:t>f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1200" spc="-60" dirty="0">
                <a:latin typeface="Tahoma"/>
                <a:cs typeface="Tahoma"/>
              </a:rPr>
              <a:t>])  </a:t>
            </a:r>
            <a:r>
              <a:rPr sz="1200" spc="20" dirty="0">
                <a:latin typeface="Tahoma"/>
                <a:cs typeface="Tahoma"/>
              </a:rPr>
              <a:t>Γ</a:t>
            </a:r>
            <a:r>
              <a:rPr sz="1050" i="1" spc="7" baseline="-15873" dirty="0">
                <a:latin typeface="Arial"/>
                <a:cs typeface="Arial"/>
              </a:rPr>
              <a:t>o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spc="7" baseline="-15873" dirty="0">
                <a:latin typeface="Arial"/>
                <a:cs typeface="Arial"/>
              </a:rPr>
              <a:t>o</a:t>
            </a:r>
            <a:r>
              <a:rPr sz="1050" i="1" spc="-187" baseline="-15873" dirty="0">
                <a:latin typeface="Arial"/>
                <a:cs typeface="Arial"/>
              </a:rPr>
              <a:t> </a:t>
            </a:r>
            <a:r>
              <a:rPr sz="1200" spc="-125" dirty="0">
                <a:latin typeface="Tahoma"/>
                <a:cs typeface="Tahoma"/>
              </a:rPr>
              <a:t>[</a:t>
            </a:r>
            <a:r>
              <a:rPr sz="1050" i="1" spc="10" dirty="0">
                <a:latin typeface="Arial"/>
                <a:cs typeface="Arial"/>
              </a:rPr>
              <a:t>a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spc="284" baseline="34722" dirty="0">
                <a:latin typeface="Arial"/>
                <a:cs typeface="Arial"/>
              </a:rPr>
              <a:t>−</a:t>
            </a:r>
            <a:r>
              <a:rPr sz="1050" spc="7" baseline="39682" dirty="0">
                <a:latin typeface="Microsoft Sans Serif"/>
                <a:cs typeface="Microsoft Sans Serif"/>
              </a:rPr>
              <a:t>1</a:t>
            </a:r>
            <a:r>
              <a:rPr sz="1200" i="1" spc="75" baseline="34722" dirty="0">
                <a:latin typeface="Verdana"/>
                <a:cs typeface="Verdana"/>
              </a:rPr>
              <a:t>&gt;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10" dirty="0">
                <a:latin typeface="Arial"/>
                <a:cs typeface="Arial"/>
              </a:rPr>
              <a:t>x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baseline="34722" dirty="0">
                <a:latin typeface="Verdana"/>
                <a:cs typeface="Verdana"/>
              </a:rPr>
              <a:t>&gt;</a:t>
            </a:r>
            <a:r>
              <a:rPr sz="1200" i="1" spc="44" baseline="34722" dirty="0">
                <a:latin typeface="Verdana"/>
                <a:cs typeface="Verdana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spc="7" baseline="-15873" dirty="0">
                <a:latin typeface="Arial"/>
                <a:cs typeface="Arial"/>
              </a:rPr>
              <a:t>o</a:t>
            </a:r>
            <a:r>
              <a:rPr sz="1050" i="1" spc="-187" baseline="-15873" dirty="0">
                <a:latin typeface="Arial"/>
                <a:cs typeface="Arial"/>
              </a:rPr>
              <a:t> </a:t>
            </a:r>
            <a:r>
              <a:rPr sz="1200" spc="-65" dirty="0">
                <a:latin typeface="Tahoma"/>
                <a:cs typeface="Tahoma"/>
              </a:rPr>
              <a:t>])</a:t>
            </a:r>
            <a:endParaRPr sz="1200">
              <a:latin typeface="Tahoma"/>
              <a:cs typeface="Tahoma"/>
            </a:endParaRPr>
          </a:p>
          <a:p>
            <a:pPr marL="1291590">
              <a:lnSpc>
                <a:spcPts val="1250"/>
              </a:lnSpc>
            </a:pPr>
            <a:r>
              <a:rPr sz="1575" i="1" spc="97" baseline="-26455" dirty="0">
                <a:latin typeface="Arial"/>
                <a:cs typeface="Arial"/>
              </a:rPr>
              <a:t>c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i="1" spc="60" dirty="0">
                <a:latin typeface="Arial"/>
                <a:cs typeface="Arial"/>
              </a:rPr>
              <a:t>t</a:t>
            </a:r>
            <a:r>
              <a:rPr sz="800" i="1" dirty="0">
                <a:latin typeface="Verdana"/>
                <a:cs typeface="Verdana"/>
              </a:rPr>
              <a:t>&gt;</a:t>
            </a:r>
            <a:r>
              <a:rPr sz="800" i="1" spc="100" dirty="0">
                <a:latin typeface="Verdana"/>
                <a:cs typeface="Verdana"/>
              </a:rPr>
              <a:t> </a:t>
            </a:r>
            <a:r>
              <a:rPr sz="1800" spc="52" baseline="-23148" dirty="0">
                <a:latin typeface="Tahoma"/>
                <a:cs typeface="Tahoma"/>
              </a:rPr>
              <a:t>=</a:t>
            </a:r>
            <a:r>
              <a:rPr sz="1800" spc="-67" baseline="-23148" dirty="0">
                <a:latin typeface="Tahoma"/>
                <a:cs typeface="Tahoma"/>
              </a:rPr>
              <a:t> </a:t>
            </a:r>
            <a:r>
              <a:rPr sz="1800" spc="30" baseline="-23148" dirty="0">
                <a:latin typeface="Tahoma"/>
                <a:cs typeface="Tahoma"/>
              </a:rPr>
              <a:t>Γ</a:t>
            </a:r>
            <a:r>
              <a:rPr sz="1050" i="1" spc="7" baseline="-51587" dirty="0">
                <a:latin typeface="Arial"/>
                <a:cs typeface="Arial"/>
              </a:rPr>
              <a:t>u</a:t>
            </a:r>
            <a:r>
              <a:rPr sz="1050" i="1" baseline="-51587" dirty="0">
                <a:latin typeface="Arial"/>
                <a:cs typeface="Arial"/>
              </a:rPr>
              <a:t> </a:t>
            </a:r>
            <a:r>
              <a:rPr sz="1050" i="1" spc="-67" baseline="-51587" dirty="0">
                <a:latin typeface="Arial"/>
                <a:cs typeface="Arial"/>
              </a:rPr>
              <a:t> </a:t>
            </a:r>
            <a:r>
              <a:rPr sz="1800" spc="-7" baseline="-23148" dirty="0">
                <a:latin typeface="MS UI Gothic"/>
                <a:cs typeface="MS UI Gothic"/>
              </a:rPr>
              <a:t>∗</a:t>
            </a:r>
            <a:r>
              <a:rPr sz="1800" spc="-150" baseline="-23148" dirty="0">
                <a:latin typeface="MS UI Gothic"/>
                <a:cs typeface="MS UI Gothic"/>
              </a:rPr>
              <a:t> </a:t>
            </a:r>
            <a:r>
              <a:rPr sz="1575" i="1" spc="-787" baseline="-26455" dirty="0">
                <a:latin typeface="Arial"/>
                <a:cs typeface="Arial"/>
              </a:rPr>
              <a:t>c</a:t>
            </a:r>
            <a:r>
              <a:rPr sz="1800" spc="-104" baseline="-20833" dirty="0">
                <a:latin typeface="Tahoma"/>
                <a:cs typeface="Tahoma"/>
              </a:rPr>
              <a:t>˜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i="1" dirty="0">
                <a:latin typeface="Arial"/>
                <a:cs typeface="Arial"/>
              </a:rPr>
              <a:t>t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&gt;</a:t>
            </a:r>
            <a:r>
              <a:rPr sz="800" i="1" spc="30" dirty="0">
                <a:latin typeface="Verdana"/>
                <a:cs typeface="Verdana"/>
              </a:rPr>
              <a:t> </a:t>
            </a:r>
            <a:r>
              <a:rPr sz="1800" spc="52" baseline="-23148" dirty="0">
                <a:latin typeface="Tahoma"/>
                <a:cs typeface="Tahoma"/>
              </a:rPr>
              <a:t>+</a:t>
            </a:r>
            <a:r>
              <a:rPr sz="1800" spc="-165" baseline="-23148" dirty="0">
                <a:latin typeface="Tahoma"/>
                <a:cs typeface="Tahoma"/>
              </a:rPr>
              <a:t> </a:t>
            </a:r>
            <a:r>
              <a:rPr sz="1800" spc="30" baseline="-23148" dirty="0">
                <a:latin typeface="Tahoma"/>
                <a:cs typeface="Tahoma"/>
              </a:rPr>
              <a:t>Γ</a:t>
            </a:r>
            <a:r>
              <a:rPr sz="1050" i="1" baseline="-51587" dirty="0">
                <a:latin typeface="Arial"/>
                <a:cs typeface="Arial"/>
              </a:rPr>
              <a:t>f </a:t>
            </a:r>
            <a:r>
              <a:rPr sz="1050" i="1" spc="37" baseline="-51587" dirty="0">
                <a:latin typeface="Arial"/>
                <a:cs typeface="Arial"/>
              </a:rPr>
              <a:t> </a:t>
            </a:r>
            <a:r>
              <a:rPr sz="1800" spc="-7" baseline="-23148" dirty="0">
                <a:latin typeface="MS UI Gothic"/>
                <a:cs typeface="MS UI Gothic"/>
              </a:rPr>
              <a:t>∗</a:t>
            </a:r>
            <a:r>
              <a:rPr sz="1800" spc="-150" baseline="-23148" dirty="0">
                <a:latin typeface="MS UI Gothic"/>
                <a:cs typeface="MS UI Gothic"/>
              </a:rPr>
              <a:t> </a:t>
            </a:r>
            <a:r>
              <a:rPr sz="1575" i="1" spc="97" baseline="-26455" dirty="0">
                <a:latin typeface="Arial"/>
                <a:cs typeface="Arial"/>
              </a:rPr>
              <a:t>c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i="1" spc="60" dirty="0">
                <a:latin typeface="Arial"/>
                <a:cs typeface="Arial"/>
              </a:rPr>
              <a:t>t</a:t>
            </a:r>
            <a:r>
              <a:rPr sz="800" i="1" spc="190" dirty="0">
                <a:latin typeface="Arial"/>
                <a:cs typeface="Arial"/>
              </a:rPr>
              <a:t>−</a:t>
            </a:r>
            <a:r>
              <a:rPr sz="700" spc="5" dirty="0">
                <a:latin typeface="Microsoft Sans Serif"/>
                <a:cs typeface="Microsoft Sans Serif"/>
              </a:rPr>
              <a:t>1</a:t>
            </a:r>
            <a:r>
              <a:rPr sz="800" i="1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  <a:p>
            <a:pPr marL="1290955">
              <a:lnSpc>
                <a:spcPct val="100000"/>
              </a:lnSpc>
              <a:spcBef>
                <a:spcPts val="795"/>
              </a:spcBef>
            </a:pPr>
            <a:r>
              <a:rPr sz="1050" i="1" spc="10" dirty="0">
                <a:latin typeface="Arial"/>
                <a:cs typeface="Arial"/>
              </a:rPr>
              <a:t>a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baseline="34722" dirty="0">
                <a:latin typeface="Verdana"/>
                <a:cs typeface="Verdana"/>
              </a:rPr>
              <a:t>&gt;</a:t>
            </a:r>
            <a:r>
              <a:rPr sz="1200" i="1" spc="150" baseline="34722" dirty="0">
                <a:latin typeface="Verdana"/>
                <a:cs typeface="Verdana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Γ</a:t>
            </a:r>
            <a:r>
              <a:rPr sz="1050" i="1" spc="7" baseline="-15873" dirty="0">
                <a:latin typeface="Arial"/>
                <a:cs typeface="Arial"/>
              </a:rPr>
              <a:t>o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1200" spc="-5" dirty="0">
                <a:latin typeface="MS UI Gothic"/>
                <a:cs typeface="MS UI Gothic"/>
              </a:rPr>
              <a:t>∗</a:t>
            </a:r>
            <a:r>
              <a:rPr sz="1200" spc="-100" dirty="0">
                <a:latin typeface="MS UI Gothic"/>
                <a:cs typeface="MS UI Gothic"/>
              </a:rPr>
              <a:t> </a:t>
            </a:r>
            <a:r>
              <a:rPr sz="1200" spc="-40" dirty="0">
                <a:latin typeface="Tahoma"/>
                <a:cs typeface="Tahoma"/>
              </a:rPr>
              <a:t>tanh(</a:t>
            </a:r>
            <a:r>
              <a:rPr sz="1050" i="1" spc="65" dirty="0">
                <a:latin typeface="Arial"/>
                <a:cs typeface="Arial"/>
              </a:rPr>
              <a:t>c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spc="75" baseline="34722" dirty="0">
                <a:latin typeface="Verdana"/>
                <a:cs typeface="Verdana"/>
              </a:rPr>
              <a:t>&gt;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69659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375" dirty="0">
                <a:solidFill>
                  <a:srgbClr val="FFFFFF"/>
                </a:solidFill>
                <a:latin typeface="Calibri"/>
                <a:cs typeface="Calibri"/>
              </a:rPr>
              <a:t>LSTM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2870" y="1993796"/>
            <a:ext cx="433705" cy="324485"/>
          </a:xfrm>
          <a:prstGeom prst="rect">
            <a:avLst/>
          </a:prstGeom>
          <a:ln w="9109">
            <a:solidFill>
              <a:srgbClr val="0000FF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65"/>
              </a:spcBef>
            </a:pPr>
            <a:r>
              <a:rPr sz="950" dirty="0">
                <a:latin typeface="Microsoft Sans Serif"/>
                <a:cs typeface="Microsoft Sans Serif"/>
              </a:rPr>
              <a:t>Forget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9693" y="1993796"/>
            <a:ext cx="478790" cy="324485"/>
          </a:xfrm>
          <a:prstGeom prst="rect">
            <a:avLst/>
          </a:prstGeom>
          <a:ln w="9109">
            <a:solidFill>
              <a:srgbClr val="0000FF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75"/>
              </a:spcBef>
            </a:pPr>
            <a:r>
              <a:rPr sz="950" spc="5" dirty="0">
                <a:latin typeface="Microsoft Sans Serif"/>
                <a:cs typeface="Microsoft Sans Serif"/>
              </a:rPr>
              <a:t>Update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71280" y="1993796"/>
            <a:ext cx="332105" cy="324485"/>
          </a:xfrm>
          <a:custGeom>
            <a:avLst/>
            <a:gdLst/>
            <a:ahLst/>
            <a:cxnLst/>
            <a:rect l="l" t="t" r="r" b="b"/>
            <a:pathLst>
              <a:path w="332104" h="324485">
                <a:moveTo>
                  <a:pt x="0" y="324003"/>
                </a:moveTo>
                <a:lnTo>
                  <a:pt x="331630" y="324003"/>
                </a:lnTo>
                <a:lnTo>
                  <a:pt x="331630" y="0"/>
                </a:lnTo>
                <a:lnTo>
                  <a:pt x="0" y="0"/>
                </a:lnTo>
                <a:lnTo>
                  <a:pt x="0" y="324003"/>
                </a:lnTo>
                <a:close/>
              </a:path>
            </a:pathLst>
          </a:custGeom>
          <a:ln w="910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99554" y="2053907"/>
            <a:ext cx="27559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30" dirty="0">
                <a:latin typeface="Tahoma"/>
                <a:cs typeface="Tahoma"/>
              </a:rPr>
              <a:t>tanh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6025" y="1993796"/>
            <a:ext cx="451484" cy="324485"/>
          </a:xfrm>
          <a:prstGeom prst="rect">
            <a:avLst/>
          </a:prstGeom>
          <a:ln w="9109">
            <a:solidFill>
              <a:srgbClr val="0000FF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80"/>
              </a:spcBef>
            </a:pPr>
            <a:r>
              <a:rPr sz="950" spc="5" dirty="0">
                <a:latin typeface="Microsoft Sans Serif"/>
                <a:cs typeface="Microsoft Sans Serif"/>
              </a:rPr>
              <a:t>Output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2799" y="763379"/>
            <a:ext cx="1042669" cy="254000"/>
            <a:chOff x="1582799" y="763379"/>
            <a:chExt cx="1042669" cy="254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2799" y="763379"/>
              <a:ext cx="253849" cy="2538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2680" y="764730"/>
              <a:ext cx="252498" cy="25249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648424" y="775142"/>
            <a:ext cx="1320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15" dirty="0">
                <a:latin typeface="MS UI Gothic"/>
                <a:cs typeface="MS UI Gothic"/>
              </a:rPr>
              <a:t>Ⓢ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37620" y="775816"/>
            <a:ext cx="129539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50" dirty="0">
                <a:latin typeface="Tahoma"/>
                <a:cs typeface="Tahoma"/>
              </a:rPr>
              <a:t>+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2005" y="1411387"/>
            <a:ext cx="253849" cy="2538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437620" y="1423143"/>
            <a:ext cx="1320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15" dirty="0">
                <a:latin typeface="MS UI Gothic"/>
                <a:cs typeface="MS UI Gothic"/>
              </a:rPr>
              <a:t>Ⓢ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95795" y="1012674"/>
            <a:ext cx="332105" cy="324485"/>
          </a:xfrm>
          <a:custGeom>
            <a:avLst/>
            <a:gdLst/>
            <a:ahLst/>
            <a:cxnLst/>
            <a:rect l="l" t="t" r="r" b="b"/>
            <a:pathLst>
              <a:path w="332104" h="324484">
                <a:moveTo>
                  <a:pt x="0" y="324003"/>
                </a:moveTo>
                <a:lnTo>
                  <a:pt x="331630" y="324003"/>
                </a:lnTo>
                <a:lnTo>
                  <a:pt x="331630" y="0"/>
                </a:lnTo>
                <a:lnTo>
                  <a:pt x="0" y="0"/>
                </a:lnTo>
                <a:lnTo>
                  <a:pt x="0" y="324003"/>
                </a:lnTo>
                <a:close/>
              </a:path>
            </a:pathLst>
          </a:custGeom>
          <a:ln w="910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824056" y="1072790"/>
            <a:ext cx="27559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30" dirty="0">
                <a:latin typeface="Tahoma"/>
                <a:cs typeface="Tahoma"/>
              </a:rPr>
              <a:t>tanh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4685" y="1492388"/>
            <a:ext cx="253849" cy="2538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900282" y="1504136"/>
            <a:ext cx="1320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15" dirty="0">
                <a:latin typeface="MS UI Gothic"/>
                <a:cs typeface="MS UI Gothic"/>
              </a:rPr>
              <a:t>Ⓢ</a:t>
            </a:r>
            <a:endParaRPr sz="1050">
              <a:latin typeface="MS UI Gothic"/>
              <a:cs typeface="MS UI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2114" y="1960838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89919" y="194959"/>
                </a:moveTo>
                <a:lnTo>
                  <a:pt x="384770" y="150256"/>
                </a:lnTo>
                <a:lnTo>
                  <a:pt x="370104" y="109220"/>
                </a:lnTo>
                <a:lnTo>
                  <a:pt x="347089" y="73021"/>
                </a:lnTo>
                <a:lnTo>
                  <a:pt x="316897" y="42830"/>
                </a:lnTo>
                <a:lnTo>
                  <a:pt x="280698" y="19815"/>
                </a:lnTo>
                <a:lnTo>
                  <a:pt x="239662" y="5148"/>
                </a:lnTo>
                <a:lnTo>
                  <a:pt x="194959" y="0"/>
                </a:lnTo>
                <a:lnTo>
                  <a:pt x="150257" y="5148"/>
                </a:lnTo>
                <a:lnTo>
                  <a:pt x="109220" y="19815"/>
                </a:lnTo>
                <a:lnTo>
                  <a:pt x="73021" y="42830"/>
                </a:lnTo>
                <a:lnTo>
                  <a:pt x="42830" y="73021"/>
                </a:lnTo>
                <a:lnTo>
                  <a:pt x="19815" y="109220"/>
                </a:lnTo>
                <a:lnTo>
                  <a:pt x="5148" y="150256"/>
                </a:lnTo>
                <a:lnTo>
                  <a:pt x="0" y="194959"/>
                </a:lnTo>
                <a:lnTo>
                  <a:pt x="5148" y="239662"/>
                </a:lnTo>
                <a:lnTo>
                  <a:pt x="19815" y="280698"/>
                </a:lnTo>
                <a:lnTo>
                  <a:pt x="42830" y="316897"/>
                </a:lnTo>
                <a:lnTo>
                  <a:pt x="73021" y="347089"/>
                </a:lnTo>
                <a:lnTo>
                  <a:pt x="109220" y="370103"/>
                </a:lnTo>
                <a:lnTo>
                  <a:pt x="150257" y="384770"/>
                </a:lnTo>
                <a:lnTo>
                  <a:pt x="194959" y="389919"/>
                </a:lnTo>
                <a:lnTo>
                  <a:pt x="239662" y="384770"/>
                </a:lnTo>
                <a:lnTo>
                  <a:pt x="280698" y="370103"/>
                </a:lnTo>
                <a:lnTo>
                  <a:pt x="316897" y="347089"/>
                </a:lnTo>
                <a:lnTo>
                  <a:pt x="347089" y="316897"/>
                </a:lnTo>
                <a:lnTo>
                  <a:pt x="370104" y="280698"/>
                </a:lnTo>
                <a:lnTo>
                  <a:pt x="384770" y="239662"/>
                </a:lnTo>
                <a:lnTo>
                  <a:pt x="389919" y="194959"/>
                </a:lnTo>
                <a:close/>
              </a:path>
            </a:pathLst>
          </a:custGeom>
          <a:ln w="45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99378" y="2023190"/>
            <a:ext cx="44704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25" i="1" spc="67" baseline="-23391" dirty="0">
                <a:latin typeface="Arial"/>
                <a:cs typeface="Arial"/>
              </a:rPr>
              <a:t>a</a:t>
            </a:r>
            <a:r>
              <a:rPr sz="700" i="1" spc="45" dirty="0">
                <a:latin typeface="Verdana"/>
                <a:cs typeface="Verdana"/>
              </a:rPr>
              <a:t>&lt;</a:t>
            </a:r>
            <a:r>
              <a:rPr sz="650" i="1" spc="45" dirty="0">
                <a:latin typeface="Arial"/>
                <a:cs typeface="Arial"/>
              </a:rPr>
              <a:t>t</a:t>
            </a:r>
            <a:r>
              <a:rPr sz="700" i="1" spc="45" dirty="0">
                <a:latin typeface="Arial"/>
                <a:cs typeface="Arial"/>
              </a:rPr>
              <a:t>−</a:t>
            </a:r>
            <a:r>
              <a:rPr sz="650" spc="45" dirty="0">
                <a:latin typeface="Microsoft Sans Serif"/>
                <a:cs typeface="Microsoft Sans Serif"/>
              </a:rPr>
              <a:t>1</a:t>
            </a:r>
            <a:r>
              <a:rPr sz="700" i="1" spc="45" dirty="0">
                <a:latin typeface="Verdana"/>
                <a:cs typeface="Verdana"/>
              </a:rPr>
              <a:t>&gt;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15629" y="2648636"/>
            <a:ext cx="388620" cy="388620"/>
          </a:xfrm>
          <a:custGeom>
            <a:avLst/>
            <a:gdLst/>
            <a:ahLst/>
            <a:cxnLst/>
            <a:rect l="l" t="t" r="r" b="b"/>
            <a:pathLst>
              <a:path w="388619" h="388619">
                <a:moveTo>
                  <a:pt x="388190" y="194095"/>
                </a:moveTo>
                <a:lnTo>
                  <a:pt x="383064" y="149590"/>
                </a:lnTo>
                <a:lnTo>
                  <a:pt x="368462" y="108736"/>
                </a:lnTo>
                <a:lnTo>
                  <a:pt x="345550" y="72698"/>
                </a:lnTo>
                <a:lnTo>
                  <a:pt x="315492" y="42640"/>
                </a:lnTo>
                <a:lnTo>
                  <a:pt x="279454" y="19727"/>
                </a:lnTo>
                <a:lnTo>
                  <a:pt x="238600" y="5126"/>
                </a:lnTo>
                <a:lnTo>
                  <a:pt x="194095" y="0"/>
                </a:lnTo>
                <a:lnTo>
                  <a:pt x="149590" y="5126"/>
                </a:lnTo>
                <a:lnTo>
                  <a:pt x="108736" y="19727"/>
                </a:lnTo>
                <a:lnTo>
                  <a:pt x="72698" y="42640"/>
                </a:lnTo>
                <a:lnTo>
                  <a:pt x="42640" y="72698"/>
                </a:lnTo>
                <a:lnTo>
                  <a:pt x="19727" y="108736"/>
                </a:lnTo>
                <a:lnTo>
                  <a:pt x="5126" y="149590"/>
                </a:lnTo>
                <a:lnTo>
                  <a:pt x="0" y="194095"/>
                </a:lnTo>
                <a:lnTo>
                  <a:pt x="5126" y="238600"/>
                </a:lnTo>
                <a:lnTo>
                  <a:pt x="19727" y="279454"/>
                </a:lnTo>
                <a:lnTo>
                  <a:pt x="42640" y="315492"/>
                </a:lnTo>
                <a:lnTo>
                  <a:pt x="72698" y="345550"/>
                </a:lnTo>
                <a:lnTo>
                  <a:pt x="108736" y="368462"/>
                </a:lnTo>
                <a:lnTo>
                  <a:pt x="149590" y="383064"/>
                </a:lnTo>
                <a:lnTo>
                  <a:pt x="194095" y="388190"/>
                </a:lnTo>
                <a:lnTo>
                  <a:pt x="238600" y="383064"/>
                </a:lnTo>
                <a:lnTo>
                  <a:pt x="279454" y="368462"/>
                </a:lnTo>
                <a:lnTo>
                  <a:pt x="315492" y="345550"/>
                </a:lnTo>
                <a:lnTo>
                  <a:pt x="345550" y="315492"/>
                </a:lnTo>
                <a:lnTo>
                  <a:pt x="368462" y="279454"/>
                </a:lnTo>
                <a:lnTo>
                  <a:pt x="383064" y="238600"/>
                </a:lnTo>
                <a:lnTo>
                  <a:pt x="388190" y="194095"/>
                </a:lnTo>
                <a:close/>
              </a:path>
            </a:pathLst>
          </a:custGeom>
          <a:ln w="45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42020" y="2709676"/>
            <a:ext cx="33020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25" i="1" spc="67" baseline="-23391" dirty="0">
                <a:latin typeface="Arial"/>
                <a:cs typeface="Arial"/>
              </a:rPr>
              <a:t>x</a:t>
            </a:r>
            <a:r>
              <a:rPr sz="700" i="1" spc="45" dirty="0">
                <a:latin typeface="Verdana"/>
                <a:cs typeface="Verdana"/>
              </a:rPr>
              <a:t>&lt;</a:t>
            </a:r>
            <a:r>
              <a:rPr sz="650" i="1" spc="45" dirty="0">
                <a:latin typeface="Arial"/>
                <a:cs typeface="Arial"/>
              </a:rPr>
              <a:t>t</a:t>
            </a:r>
            <a:r>
              <a:rPr sz="700" i="1" spc="45" dirty="0">
                <a:latin typeface="Verdana"/>
                <a:cs typeface="Verdana"/>
              </a:rPr>
              <a:t>&gt;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14816" y="1424353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89919" y="194960"/>
                </a:moveTo>
                <a:lnTo>
                  <a:pt x="384770" y="150257"/>
                </a:lnTo>
                <a:lnTo>
                  <a:pt x="370104" y="109220"/>
                </a:lnTo>
                <a:lnTo>
                  <a:pt x="347089" y="73021"/>
                </a:lnTo>
                <a:lnTo>
                  <a:pt x="316898" y="42830"/>
                </a:lnTo>
                <a:lnTo>
                  <a:pt x="280699" y="19815"/>
                </a:lnTo>
                <a:lnTo>
                  <a:pt x="239662" y="5148"/>
                </a:lnTo>
                <a:lnTo>
                  <a:pt x="194960" y="0"/>
                </a:lnTo>
                <a:lnTo>
                  <a:pt x="150257" y="5148"/>
                </a:lnTo>
                <a:lnTo>
                  <a:pt x="109220" y="19815"/>
                </a:lnTo>
                <a:lnTo>
                  <a:pt x="73021" y="42830"/>
                </a:lnTo>
                <a:lnTo>
                  <a:pt x="42830" y="73021"/>
                </a:lnTo>
                <a:lnTo>
                  <a:pt x="19815" y="109220"/>
                </a:lnTo>
                <a:lnTo>
                  <a:pt x="5148" y="150257"/>
                </a:lnTo>
                <a:lnTo>
                  <a:pt x="0" y="194960"/>
                </a:lnTo>
                <a:lnTo>
                  <a:pt x="5148" y="239662"/>
                </a:lnTo>
                <a:lnTo>
                  <a:pt x="19815" y="280699"/>
                </a:lnTo>
                <a:lnTo>
                  <a:pt x="42830" y="316898"/>
                </a:lnTo>
                <a:lnTo>
                  <a:pt x="73021" y="347089"/>
                </a:lnTo>
                <a:lnTo>
                  <a:pt x="109220" y="370104"/>
                </a:lnTo>
                <a:lnTo>
                  <a:pt x="150257" y="384770"/>
                </a:lnTo>
                <a:lnTo>
                  <a:pt x="194960" y="389919"/>
                </a:lnTo>
                <a:lnTo>
                  <a:pt x="239662" y="384770"/>
                </a:lnTo>
                <a:lnTo>
                  <a:pt x="280699" y="370104"/>
                </a:lnTo>
                <a:lnTo>
                  <a:pt x="316898" y="347089"/>
                </a:lnTo>
                <a:lnTo>
                  <a:pt x="347089" y="316898"/>
                </a:lnTo>
                <a:lnTo>
                  <a:pt x="370104" y="280699"/>
                </a:lnTo>
                <a:lnTo>
                  <a:pt x="384770" y="239662"/>
                </a:lnTo>
                <a:lnTo>
                  <a:pt x="389919" y="194960"/>
                </a:lnTo>
                <a:close/>
              </a:path>
            </a:pathLst>
          </a:custGeom>
          <a:ln w="45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42039" y="1485260"/>
            <a:ext cx="32575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25" i="1" spc="37" baseline="-23391" dirty="0">
                <a:latin typeface="Arial"/>
                <a:cs typeface="Arial"/>
              </a:rPr>
              <a:t>a</a:t>
            </a:r>
            <a:r>
              <a:rPr sz="700" i="1" spc="25" dirty="0">
                <a:latin typeface="Verdana"/>
                <a:cs typeface="Verdana"/>
              </a:rPr>
              <a:t>&lt;</a:t>
            </a:r>
            <a:r>
              <a:rPr sz="650" i="1" spc="25" dirty="0">
                <a:latin typeface="Arial"/>
                <a:cs typeface="Arial"/>
              </a:rPr>
              <a:t>t</a:t>
            </a:r>
            <a:r>
              <a:rPr sz="700" i="1" spc="25" dirty="0">
                <a:latin typeface="Verdana"/>
                <a:cs typeface="Verdana"/>
              </a:rPr>
              <a:t>&gt;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09451" y="2142832"/>
            <a:ext cx="400685" cy="400685"/>
          </a:xfrm>
          <a:custGeom>
            <a:avLst/>
            <a:gdLst/>
            <a:ahLst/>
            <a:cxnLst/>
            <a:rect l="l" t="t" r="r" b="b"/>
            <a:pathLst>
              <a:path w="400685" h="400685">
                <a:moveTo>
                  <a:pt x="400651" y="200325"/>
                </a:moveTo>
                <a:lnTo>
                  <a:pt x="395360" y="154392"/>
                </a:lnTo>
                <a:lnTo>
                  <a:pt x="380290" y="112226"/>
                </a:lnTo>
                <a:lnTo>
                  <a:pt x="356642" y="75031"/>
                </a:lnTo>
                <a:lnTo>
                  <a:pt x="325619" y="44008"/>
                </a:lnTo>
                <a:lnTo>
                  <a:pt x="288424" y="20361"/>
                </a:lnTo>
                <a:lnTo>
                  <a:pt x="246258" y="5290"/>
                </a:lnTo>
                <a:lnTo>
                  <a:pt x="200325" y="0"/>
                </a:lnTo>
                <a:lnTo>
                  <a:pt x="154392" y="5290"/>
                </a:lnTo>
                <a:lnTo>
                  <a:pt x="112226" y="20361"/>
                </a:lnTo>
                <a:lnTo>
                  <a:pt x="75031" y="44008"/>
                </a:lnTo>
                <a:lnTo>
                  <a:pt x="44008" y="75031"/>
                </a:lnTo>
                <a:lnTo>
                  <a:pt x="20361" y="112226"/>
                </a:lnTo>
                <a:lnTo>
                  <a:pt x="5290" y="154392"/>
                </a:lnTo>
                <a:lnTo>
                  <a:pt x="0" y="200325"/>
                </a:lnTo>
                <a:lnTo>
                  <a:pt x="5290" y="246258"/>
                </a:lnTo>
                <a:lnTo>
                  <a:pt x="20361" y="288424"/>
                </a:lnTo>
                <a:lnTo>
                  <a:pt x="44008" y="325619"/>
                </a:lnTo>
                <a:lnTo>
                  <a:pt x="75031" y="356642"/>
                </a:lnTo>
                <a:lnTo>
                  <a:pt x="112226" y="380290"/>
                </a:lnTo>
                <a:lnTo>
                  <a:pt x="154392" y="395360"/>
                </a:lnTo>
                <a:lnTo>
                  <a:pt x="200325" y="400651"/>
                </a:lnTo>
                <a:lnTo>
                  <a:pt x="246258" y="395360"/>
                </a:lnTo>
                <a:lnTo>
                  <a:pt x="288424" y="380290"/>
                </a:lnTo>
                <a:lnTo>
                  <a:pt x="325619" y="356642"/>
                </a:lnTo>
                <a:lnTo>
                  <a:pt x="356642" y="325619"/>
                </a:lnTo>
                <a:lnTo>
                  <a:pt x="380290" y="288424"/>
                </a:lnTo>
                <a:lnTo>
                  <a:pt x="395360" y="246258"/>
                </a:lnTo>
                <a:lnTo>
                  <a:pt x="400651" y="200325"/>
                </a:lnTo>
                <a:close/>
              </a:path>
            </a:pathLst>
          </a:custGeom>
          <a:ln w="45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442039" y="2196949"/>
            <a:ext cx="33083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25" i="1" spc="67" baseline="-23391" dirty="0">
                <a:latin typeface="Arial"/>
                <a:cs typeface="Arial"/>
              </a:rPr>
              <a:t>y</a:t>
            </a:r>
            <a:r>
              <a:rPr sz="700" i="1" spc="45" dirty="0">
                <a:latin typeface="Verdana"/>
                <a:cs typeface="Verdana"/>
              </a:rPr>
              <a:t>&lt;</a:t>
            </a:r>
            <a:r>
              <a:rPr sz="650" i="1" spc="45" dirty="0">
                <a:latin typeface="Arial"/>
                <a:cs typeface="Arial"/>
              </a:rPr>
              <a:t>t</a:t>
            </a:r>
            <a:r>
              <a:rPr sz="700" i="1" spc="45" dirty="0">
                <a:latin typeface="Verdana"/>
                <a:cs typeface="Verdana"/>
              </a:rPr>
              <a:t>&gt;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71481" y="696019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89919" y="194960"/>
                </a:moveTo>
                <a:lnTo>
                  <a:pt x="384770" y="150257"/>
                </a:lnTo>
                <a:lnTo>
                  <a:pt x="370104" y="109220"/>
                </a:lnTo>
                <a:lnTo>
                  <a:pt x="347089" y="73021"/>
                </a:lnTo>
                <a:lnTo>
                  <a:pt x="316897" y="42830"/>
                </a:lnTo>
                <a:lnTo>
                  <a:pt x="280698" y="19815"/>
                </a:lnTo>
                <a:lnTo>
                  <a:pt x="239662" y="5148"/>
                </a:lnTo>
                <a:lnTo>
                  <a:pt x="194959" y="0"/>
                </a:lnTo>
                <a:lnTo>
                  <a:pt x="150256" y="5148"/>
                </a:lnTo>
                <a:lnTo>
                  <a:pt x="109220" y="19815"/>
                </a:lnTo>
                <a:lnTo>
                  <a:pt x="73021" y="42830"/>
                </a:lnTo>
                <a:lnTo>
                  <a:pt x="42830" y="73021"/>
                </a:lnTo>
                <a:lnTo>
                  <a:pt x="19815" y="109220"/>
                </a:lnTo>
                <a:lnTo>
                  <a:pt x="5148" y="150257"/>
                </a:lnTo>
                <a:lnTo>
                  <a:pt x="0" y="194960"/>
                </a:lnTo>
                <a:lnTo>
                  <a:pt x="5148" y="239662"/>
                </a:lnTo>
                <a:lnTo>
                  <a:pt x="19815" y="280699"/>
                </a:lnTo>
                <a:lnTo>
                  <a:pt x="42830" y="316898"/>
                </a:lnTo>
                <a:lnTo>
                  <a:pt x="73021" y="347089"/>
                </a:lnTo>
                <a:lnTo>
                  <a:pt x="109220" y="370104"/>
                </a:lnTo>
                <a:lnTo>
                  <a:pt x="150256" y="384770"/>
                </a:lnTo>
                <a:lnTo>
                  <a:pt x="194959" y="389919"/>
                </a:lnTo>
                <a:lnTo>
                  <a:pt x="239662" y="384770"/>
                </a:lnTo>
                <a:lnTo>
                  <a:pt x="280698" y="370104"/>
                </a:lnTo>
                <a:lnTo>
                  <a:pt x="316897" y="347089"/>
                </a:lnTo>
                <a:lnTo>
                  <a:pt x="347089" y="316898"/>
                </a:lnTo>
                <a:lnTo>
                  <a:pt x="370104" y="280699"/>
                </a:lnTo>
                <a:lnTo>
                  <a:pt x="384770" y="239662"/>
                </a:lnTo>
                <a:lnTo>
                  <a:pt x="389919" y="194960"/>
                </a:lnTo>
                <a:close/>
              </a:path>
            </a:pathLst>
          </a:custGeom>
          <a:ln w="45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598699" y="756929"/>
            <a:ext cx="16700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25" i="1" spc="37" baseline="-23391" dirty="0">
                <a:latin typeface="Arial"/>
                <a:cs typeface="Arial"/>
              </a:rPr>
              <a:t>c</a:t>
            </a:r>
            <a:r>
              <a:rPr sz="650" i="1" spc="25" dirty="0">
                <a:latin typeface="Arial"/>
                <a:cs typeface="Arial"/>
              </a:rPr>
              <a:t>t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66598" y="695344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89919" y="194959"/>
                </a:moveTo>
                <a:lnTo>
                  <a:pt x="384770" y="150257"/>
                </a:lnTo>
                <a:lnTo>
                  <a:pt x="370104" y="109220"/>
                </a:lnTo>
                <a:lnTo>
                  <a:pt x="347089" y="73021"/>
                </a:lnTo>
                <a:lnTo>
                  <a:pt x="316898" y="42830"/>
                </a:lnTo>
                <a:lnTo>
                  <a:pt x="280699" y="19815"/>
                </a:lnTo>
                <a:lnTo>
                  <a:pt x="239662" y="5148"/>
                </a:lnTo>
                <a:lnTo>
                  <a:pt x="194960" y="0"/>
                </a:lnTo>
                <a:lnTo>
                  <a:pt x="150257" y="5148"/>
                </a:lnTo>
                <a:lnTo>
                  <a:pt x="109220" y="19815"/>
                </a:lnTo>
                <a:lnTo>
                  <a:pt x="73021" y="42830"/>
                </a:lnTo>
                <a:lnTo>
                  <a:pt x="42830" y="73021"/>
                </a:lnTo>
                <a:lnTo>
                  <a:pt x="19815" y="109220"/>
                </a:lnTo>
                <a:lnTo>
                  <a:pt x="5148" y="150257"/>
                </a:lnTo>
                <a:lnTo>
                  <a:pt x="0" y="194959"/>
                </a:lnTo>
                <a:lnTo>
                  <a:pt x="5148" y="239662"/>
                </a:lnTo>
                <a:lnTo>
                  <a:pt x="19815" y="280698"/>
                </a:lnTo>
                <a:lnTo>
                  <a:pt x="42830" y="316897"/>
                </a:lnTo>
                <a:lnTo>
                  <a:pt x="73021" y="347089"/>
                </a:lnTo>
                <a:lnTo>
                  <a:pt x="109220" y="370104"/>
                </a:lnTo>
                <a:lnTo>
                  <a:pt x="150257" y="384770"/>
                </a:lnTo>
                <a:lnTo>
                  <a:pt x="194960" y="389919"/>
                </a:lnTo>
                <a:lnTo>
                  <a:pt x="239662" y="384770"/>
                </a:lnTo>
                <a:lnTo>
                  <a:pt x="280699" y="370104"/>
                </a:lnTo>
                <a:lnTo>
                  <a:pt x="316898" y="347089"/>
                </a:lnTo>
                <a:lnTo>
                  <a:pt x="347089" y="316897"/>
                </a:lnTo>
                <a:lnTo>
                  <a:pt x="370104" y="280698"/>
                </a:lnTo>
                <a:lnTo>
                  <a:pt x="384770" y="239662"/>
                </a:lnTo>
                <a:lnTo>
                  <a:pt x="389919" y="194959"/>
                </a:lnTo>
                <a:close/>
              </a:path>
            </a:pathLst>
          </a:custGeom>
          <a:ln w="45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93870" y="757718"/>
            <a:ext cx="29527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25" i="1" spc="104" baseline="-23391" dirty="0">
                <a:latin typeface="Arial"/>
                <a:cs typeface="Arial"/>
              </a:rPr>
              <a:t>c</a:t>
            </a:r>
            <a:r>
              <a:rPr sz="650" i="1" spc="70" dirty="0">
                <a:latin typeface="Arial"/>
                <a:cs typeface="Arial"/>
              </a:rPr>
              <a:t>t</a:t>
            </a:r>
            <a:r>
              <a:rPr sz="700" i="1" spc="70" dirty="0">
                <a:latin typeface="Arial"/>
                <a:cs typeface="Arial"/>
              </a:rPr>
              <a:t>−</a:t>
            </a:r>
            <a:r>
              <a:rPr sz="650" spc="70" dirty="0">
                <a:latin typeface="Microsoft Sans Serif"/>
                <a:cs typeface="Microsoft Sans Serif"/>
              </a:rPr>
              <a:t>1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254033" y="868099"/>
            <a:ext cx="3315335" cy="1126490"/>
            <a:chOff x="1254033" y="868099"/>
            <a:chExt cx="3315335" cy="1126490"/>
          </a:xfrm>
        </p:grpSpPr>
        <p:sp>
          <p:nvSpPr>
            <p:cNvPr id="32" name="object 32"/>
            <p:cNvSpPr/>
            <p:nvPr/>
          </p:nvSpPr>
          <p:spPr>
            <a:xfrm>
              <a:off x="1258796" y="890304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>
                  <a:moveTo>
                    <a:pt x="0" y="0"/>
                  </a:moveTo>
                  <a:lnTo>
                    <a:pt x="288475" y="0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23586" y="868099"/>
              <a:ext cx="59690" cy="44450"/>
            </a:xfrm>
            <a:custGeom>
              <a:avLst/>
              <a:gdLst/>
              <a:ahLst/>
              <a:cxnLst/>
              <a:rect l="l" t="t" r="r" b="b"/>
              <a:pathLst>
                <a:path w="59690" h="44450">
                  <a:moveTo>
                    <a:pt x="0" y="0"/>
                  </a:moveTo>
                  <a:lnTo>
                    <a:pt x="8326" y="11518"/>
                  </a:lnTo>
                  <a:lnTo>
                    <a:pt x="11102" y="22204"/>
                  </a:lnTo>
                  <a:lnTo>
                    <a:pt x="8326" y="32891"/>
                  </a:lnTo>
                  <a:lnTo>
                    <a:pt x="0" y="44409"/>
                  </a:lnTo>
                  <a:lnTo>
                    <a:pt x="14664" y="35736"/>
                  </a:lnTo>
                  <a:lnTo>
                    <a:pt x="30716" y="29421"/>
                  </a:lnTo>
                  <a:lnTo>
                    <a:pt x="46213" y="25049"/>
                  </a:lnTo>
                  <a:lnTo>
                    <a:pt x="59213" y="22204"/>
                  </a:lnTo>
                  <a:lnTo>
                    <a:pt x="46213" y="19359"/>
                  </a:lnTo>
                  <a:lnTo>
                    <a:pt x="30716" y="14988"/>
                  </a:lnTo>
                  <a:lnTo>
                    <a:pt x="14664" y="8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36647" y="890410"/>
              <a:ext cx="501015" cy="635"/>
            </a:xfrm>
            <a:custGeom>
              <a:avLst/>
              <a:gdLst/>
              <a:ahLst/>
              <a:cxnLst/>
              <a:rect l="l" t="t" r="r" b="b"/>
              <a:pathLst>
                <a:path w="501014" h="634">
                  <a:moveTo>
                    <a:pt x="0" y="0"/>
                  </a:moveTo>
                  <a:lnTo>
                    <a:pt x="500507" y="432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13451" y="868617"/>
              <a:ext cx="59690" cy="44450"/>
            </a:xfrm>
            <a:custGeom>
              <a:avLst/>
              <a:gdLst/>
              <a:ahLst/>
              <a:cxnLst/>
              <a:rect l="l" t="t" r="r" b="b"/>
              <a:pathLst>
                <a:path w="59689" h="44450">
                  <a:moveTo>
                    <a:pt x="38" y="0"/>
                  </a:moveTo>
                  <a:lnTo>
                    <a:pt x="8355" y="11525"/>
                  </a:lnTo>
                  <a:lnTo>
                    <a:pt x="11121" y="22214"/>
                  </a:lnTo>
                  <a:lnTo>
                    <a:pt x="8336" y="32897"/>
                  </a:lnTo>
                  <a:lnTo>
                    <a:pt x="0" y="44409"/>
                  </a:lnTo>
                  <a:lnTo>
                    <a:pt x="14671" y="35748"/>
                  </a:lnTo>
                  <a:lnTo>
                    <a:pt x="30729" y="29447"/>
                  </a:lnTo>
                  <a:lnTo>
                    <a:pt x="46229" y="25089"/>
                  </a:lnTo>
                  <a:lnTo>
                    <a:pt x="59231" y="22256"/>
                  </a:lnTo>
                  <a:lnTo>
                    <a:pt x="46234" y="19399"/>
                  </a:lnTo>
                  <a:lnTo>
                    <a:pt x="30741" y="15014"/>
                  </a:lnTo>
                  <a:lnTo>
                    <a:pt x="14695" y="8686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25179" y="890979"/>
              <a:ext cx="1908810" cy="0"/>
            </a:xfrm>
            <a:custGeom>
              <a:avLst/>
              <a:gdLst/>
              <a:ahLst/>
              <a:cxnLst/>
              <a:rect l="l" t="t" r="r" b="b"/>
              <a:pathLst>
                <a:path w="1908810">
                  <a:moveTo>
                    <a:pt x="0" y="0"/>
                  </a:moveTo>
                  <a:lnTo>
                    <a:pt x="1908496" y="0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09990" y="868774"/>
              <a:ext cx="59690" cy="44450"/>
            </a:xfrm>
            <a:custGeom>
              <a:avLst/>
              <a:gdLst/>
              <a:ahLst/>
              <a:cxnLst/>
              <a:rect l="l" t="t" r="r" b="b"/>
              <a:pathLst>
                <a:path w="59689" h="44450">
                  <a:moveTo>
                    <a:pt x="0" y="0"/>
                  </a:moveTo>
                  <a:lnTo>
                    <a:pt x="8326" y="11518"/>
                  </a:lnTo>
                  <a:lnTo>
                    <a:pt x="11102" y="22204"/>
                  </a:lnTo>
                  <a:lnTo>
                    <a:pt x="8326" y="32891"/>
                  </a:lnTo>
                  <a:lnTo>
                    <a:pt x="0" y="44409"/>
                  </a:lnTo>
                  <a:lnTo>
                    <a:pt x="14664" y="35736"/>
                  </a:lnTo>
                  <a:lnTo>
                    <a:pt x="30716" y="29421"/>
                  </a:lnTo>
                  <a:lnTo>
                    <a:pt x="46213" y="25049"/>
                  </a:lnTo>
                  <a:lnTo>
                    <a:pt x="59213" y="22204"/>
                  </a:lnTo>
                  <a:lnTo>
                    <a:pt x="46213" y="19359"/>
                  </a:lnTo>
                  <a:lnTo>
                    <a:pt x="30716" y="14988"/>
                  </a:lnTo>
                  <a:lnTo>
                    <a:pt x="14664" y="8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09724" y="1052757"/>
              <a:ext cx="0" cy="936625"/>
            </a:xfrm>
            <a:custGeom>
              <a:avLst/>
              <a:gdLst/>
              <a:ahLst/>
              <a:cxnLst/>
              <a:rect l="l" t="t" r="r" b="b"/>
              <a:pathLst>
                <a:path h="936625">
                  <a:moveTo>
                    <a:pt x="0" y="936484"/>
                  </a:moveTo>
                  <a:lnTo>
                    <a:pt x="0" y="0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87519" y="1017229"/>
              <a:ext cx="44450" cy="59690"/>
            </a:xfrm>
            <a:custGeom>
              <a:avLst/>
              <a:gdLst/>
              <a:ahLst/>
              <a:cxnLst/>
              <a:rect l="l" t="t" r="r" b="b"/>
              <a:pathLst>
                <a:path w="44450" h="59690">
                  <a:moveTo>
                    <a:pt x="0" y="59213"/>
                  </a:moveTo>
                  <a:lnTo>
                    <a:pt x="11518" y="50886"/>
                  </a:lnTo>
                  <a:lnTo>
                    <a:pt x="22204" y="48110"/>
                  </a:lnTo>
                  <a:lnTo>
                    <a:pt x="32891" y="50886"/>
                  </a:lnTo>
                  <a:lnTo>
                    <a:pt x="44409" y="59213"/>
                  </a:lnTo>
                  <a:lnTo>
                    <a:pt x="35736" y="44548"/>
                  </a:lnTo>
                  <a:lnTo>
                    <a:pt x="29421" y="28496"/>
                  </a:lnTo>
                  <a:lnTo>
                    <a:pt x="25049" y="12999"/>
                  </a:lnTo>
                  <a:lnTo>
                    <a:pt x="22204" y="0"/>
                  </a:lnTo>
                  <a:lnTo>
                    <a:pt x="19359" y="12999"/>
                  </a:lnTo>
                  <a:lnTo>
                    <a:pt x="14988" y="28496"/>
                  </a:lnTo>
                  <a:lnTo>
                    <a:pt x="8673" y="44548"/>
                  </a:lnTo>
                  <a:lnTo>
                    <a:pt x="0" y="5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728557" y="1370194"/>
            <a:ext cx="15049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25" i="1" spc="7" baseline="-23391" dirty="0">
                <a:solidFill>
                  <a:srgbClr val="BF003F"/>
                </a:solidFill>
                <a:latin typeface="Arial"/>
                <a:cs typeface="Arial"/>
              </a:rPr>
              <a:t>f</a:t>
            </a:r>
            <a:r>
              <a:rPr sz="1425" i="1" spc="-202" baseline="-23391" dirty="0">
                <a:solidFill>
                  <a:srgbClr val="BF003F"/>
                </a:solidFill>
                <a:latin typeface="Arial"/>
                <a:cs typeface="Arial"/>
              </a:rPr>
              <a:t> </a:t>
            </a:r>
            <a:r>
              <a:rPr sz="650" i="1" spc="-5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476725" y="1665237"/>
            <a:ext cx="44450" cy="328930"/>
            <a:chOff x="2476725" y="1665237"/>
            <a:chExt cx="44450" cy="328930"/>
          </a:xfrm>
        </p:grpSpPr>
        <p:sp>
          <p:nvSpPr>
            <p:cNvPr id="42" name="object 42"/>
            <p:cNvSpPr/>
            <p:nvPr/>
          </p:nvSpPr>
          <p:spPr>
            <a:xfrm>
              <a:off x="2498930" y="1700765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h="288925">
                  <a:moveTo>
                    <a:pt x="0" y="288475"/>
                  </a:moveTo>
                  <a:lnTo>
                    <a:pt x="0" y="0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76725" y="1665237"/>
              <a:ext cx="44450" cy="59690"/>
            </a:xfrm>
            <a:custGeom>
              <a:avLst/>
              <a:gdLst/>
              <a:ahLst/>
              <a:cxnLst/>
              <a:rect l="l" t="t" r="r" b="b"/>
              <a:pathLst>
                <a:path w="44450" h="59689">
                  <a:moveTo>
                    <a:pt x="0" y="59213"/>
                  </a:moveTo>
                  <a:lnTo>
                    <a:pt x="11518" y="50886"/>
                  </a:lnTo>
                  <a:lnTo>
                    <a:pt x="22204" y="48110"/>
                  </a:lnTo>
                  <a:lnTo>
                    <a:pt x="32891" y="50886"/>
                  </a:lnTo>
                  <a:lnTo>
                    <a:pt x="44409" y="59213"/>
                  </a:lnTo>
                  <a:lnTo>
                    <a:pt x="35736" y="44548"/>
                  </a:lnTo>
                  <a:lnTo>
                    <a:pt x="29421" y="28496"/>
                  </a:lnTo>
                  <a:lnTo>
                    <a:pt x="25049" y="12999"/>
                  </a:lnTo>
                  <a:lnTo>
                    <a:pt x="22204" y="0"/>
                  </a:lnTo>
                  <a:lnTo>
                    <a:pt x="19359" y="12999"/>
                  </a:lnTo>
                  <a:lnTo>
                    <a:pt x="14988" y="28496"/>
                  </a:lnTo>
                  <a:lnTo>
                    <a:pt x="8673" y="44548"/>
                  </a:lnTo>
                  <a:lnTo>
                    <a:pt x="0" y="5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294171" y="1693183"/>
            <a:ext cx="17335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25" i="1" spc="30" baseline="-23391" dirty="0">
                <a:solidFill>
                  <a:srgbClr val="BF003F"/>
                </a:solidFill>
                <a:latin typeface="Arial"/>
                <a:cs typeface="Arial"/>
              </a:rPr>
              <a:t>u</a:t>
            </a:r>
            <a:r>
              <a:rPr sz="650" i="1" spc="20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476725" y="1017229"/>
            <a:ext cx="594995" cy="1001394"/>
            <a:chOff x="2476725" y="1017229"/>
            <a:chExt cx="594995" cy="1001394"/>
          </a:xfrm>
        </p:grpSpPr>
        <p:sp>
          <p:nvSpPr>
            <p:cNvPr id="46" name="object 46"/>
            <p:cNvSpPr/>
            <p:nvPr/>
          </p:nvSpPr>
          <p:spPr>
            <a:xfrm>
              <a:off x="2498930" y="1052757"/>
              <a:ext cx="0" cy="358775"/>
            </a:xfrm>
            <a:custGeom>
              <a:avLst/>
              <a:gdLst/>
              <a:ahLst/>
              <a:cxnLst/>
              <a:rect l="l" t="t" r="r" b="b"/>
              <a:pathLst>
                <a:path h="358775">
                  <a:moveTo>
                    <a:pt x="0" y="358630"/>
                  </a:moveTo>
                  <a:lnTo>
                    <a:pt x="0" y="0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76725" y="1017229"/>
              <a:ext cx="44450" cy="59690"/>
            </a:xfrm>
            <a:custGeom>
              <a:avLst/>
              <a:gdLst/>
              <a:ahLst/>
              <a:cxnLst/>
              <a:rect l="l" t="t" r="r" b="b"/>
              <a:pathLst>
                <a:path w="44450" h="59690">
                  <a:moveTo>
                    <a:pt x="0" y="59213"/>
                  </a:moveTo>
                  <a:lnTo>
                    <a:pt x="11518" y="50886"/>
                  </a:lnTo>
                  <a:lnTo>
                    <a:pt x="22204" y="48110"/>
                  </a:lnTo>
                  <a:lnTo>
                    <a:pt x="32891" y="50886"/>
                  </a:lnTo>
                  <a:lnTo>
                    <a:pt x="44409" y="59213"/>
                  </a:lnTo>
                  <a:lnTo>
                    <a:pt x="35736" y="44548"/>
                  </a:lnTo>
                  <a:lnTo>
                    <a:pt x="29421" y="28496"/>
                  </a:lnTo>
                  <a:lnTo>
                    <a:pt x="25049" y="12999"/>
                  </a:lnTo>
                  <a:lnTo>
                    <a:pt x="22204" y="0"/>
                  </a:lnTo>
                  <a:lnTo>
                    <a:pt x="19359" y="12999"/>
                  </a:lnTo>
                  <a:lnTo>
                    <a:pt x="14988" y="28496"/>
                  </a:lnTo>
                  <a:lnTo>
                    <a:pt x="8673" y="44548"/>
                  </a:lnTo>
                  <a:lnTo>
                    <a:pt x="0" y="5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623527" y="1642546"/>
              <a:ext cx="443230" cy="370840"/>
            </a:xfrm>
            <a:custGeom>
              <a:avLst/>
              <a:gdLst/>
              <a:ahLst/>
              <a:cxnLst/>
              <a:rect l="l" t="t" r="r" b="b"/>
              <a:pathLst>
                <a:path w="443230" h="370839">
                  <a:moveTo>
                    <a:pt x="443198" y="370809"/>
                  </a:moveTo>
                  <a:lnTo>
                    <a:pt x="0" y="0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96279" y="1619749"/>
              <a:ext cx="59690" cy="55244"/>
            </a:xfrm>
            <a:custGeom>
              <a:avLst/>
              <a:gdLst/>
              <a:ahLst/>
              <a:cxnLst/>
              <a:rect l="l" t="t" r="r" b="b"/>
              <a:pathLst>
                <a:path w="59689" h="55244">
                  <a:moveTo>
                    <a:pt x="31164" y="55024"/>
                  </a:moveTo>
                  <a:lnTo>
                    <a:pt x="32169" y="40847"/>
                  </a:lnTo>
                  <a:lnTo>
                    <a:pt x="36897" y="30870"/>
                  </a:lnTo>
                  <a:lnTo>
                    <a:pt x="45883" y="24456"/>
                  </a:lnTo>
                  <a:lnTo>
                    <a:pt x="59660" y="20964"/>
                  </a:lnTo>
                  <a:lnTo>
                    <a:pt x="42848" y="18207"/>
                  </a:lnTo>
                  <a:lnTo>
                    <a:pt x="26485" y="12750"/>
                  </a:lnTo>
                  <a:lnTo>
                    <a:pt x="11795" y="6159"/>
                  </a:lnTo>
                  <a:lnTo>
                    <a:pt x="0" y="0"/>
                  </a:lnTo>
                  <a:lnTo>
                    <a:pt x="8144" y="10522"/>
                  </a:lnTo>
                  <a:lnTo>
                    <a:pt x="17224" y="23819"/>
                  </a:lnTo>
                  <a:lnTo>
                    <a:pt x="25483" y="38962"/>
                  </a:lnTo>
                  <a:lnTo>
                    <a:pt x="31164" y="55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850320" y="1718414"/>
            <a:ext cx="16700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50" i="1" spc="-175" dirty="0">
                <a:solidFill>
                  <a:srgbClr val="BF003F"/>
                </a:solidFill>
                <a:latin typeface="Arial"/>
                <a:cs typeface="Arial"/>
              </a:rPr>
              <a:t>c</a:t>
            </a:r>
            <a:r>
              <a:rPr sz="1575" spc="-262" baseline="2645" dirty="0">
                <a:solidFill>
                  <a:srgbClr val="BF003F"/>
                </a:solidFill>
                <a:latin typeface="Tahoma"/>
                <a:cs typeface="Tahoma"/>
              </a:rPr>
              <a:t>˜</a:t>
            </a:r>
            <a:r>
              <a:rPr sz="975" i="1" spc="-262" baseline="34188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975" baseline="34188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939406" y="1746238"/>
            <a:ext cx="44450" cy="248285"/>
            <a:chOff x="3939406" y="1746238"/>
            <a:chExt cx="44450" cy="248285"/>
          </a:xfrm>
        </p:grpSpPr>
        <p:sp>
          <p:nvSpPr>
            <p:cNvPr id="52" name="object 52"/>
            <p:cNvSpPr/>
            <p:nvPr/>
          </p:nvSpPr>
          <p:spPr>
            <a:xfrm>
              <a:off x="3961610" y="1781766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207474"/>
                  </a:moveTo>
                  <a:lnTo>
                    <a:pt x="0" y="0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39406" y="1746238"/>
              <a:ext cx="44450" cy="59690"/>
            </a:xfrm>
            <a:custGeom>
              <a:avLst/>
              <a:gdLst/>
              <a:ahLst/>
              <a:cxnLst/>
              <a:rect l="l" t="t" r="r" b="b"/>
              <a:pathLst>
                <a:path w="44450" h="59689">
                  <a:moveTo>
                    <a:pt x="0" y="59213"/>
                  </a:moveTo>
                  <a:lnTo>
                    <a:pt x="11518" y="50886"/>
                  </a:lnTo>
                  <a:lnTo>
                    <a:pt x="22204" y="48110"/>
                  </a:lnTo>
                  <a:lnTo>
                    <a:pt x="32891" y="50886"/>
                  </a:lnTo>
                  <a:lnTo>
                    <a:pt x="44409" y="59213"/>
                  </a:lnTo>
                  <a:lnTo>
                    <a:pt x="35736" y="44548"/>
                  </a:lnTo>
                  <a:lnTo>
                    <a:pt x="29421" y="28496"/>
                  </a:lnTo>
                  <a:lnTo>
                    <a:pt x="25049" y="12999"/>
                  </a:lnTo>
                  <a:lnTo>
                    <a:pt x="22204" y="0"/>
                  </a:lnTo>
                  <a:lnTo>
                    <a:pt x="19359" y="12999"/>
                  </a:lnTo>
                  <a:lnTo>
                    <a:pt x="14988" y="28496"/>
                  </a:lnTo>
                  <a:lnTo>
                    <a:pt x="8673" y="44548"/>
                  </a:lnTo>
                  <a:lnTo>
                    <a:pt x="0" y="5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980416" y="1733680"/>
            <a:ext cx="17145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25" i="1" spc="22" baseline="-23391" dirty="0">
                <a:solidFill>
                  <a:srgbClr val="BF003F"/>
                </a:solidFill>
                <a:latin typeface="Arial"/>
                <a:cs typeface="Arial"/>
              </a:rPr>
              <a:t>o</a:t>
            </a:r>
            <a:r>
              <a:rPr sz="650" i="1" spc="15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939406" y="1336470"/>
            <a:ext cx="692785" cy="804545"/>
            <a:chOff x="3939406" y="1336470"/>
            <a:chExt cx="692785" cy="804545"/>
          </a:xfrm>
        </p:grpSpPr>
        <p:sp>
          <p:nvSpPr>
            <p:cNvPr id="56" name="object 56"/>
            <p:cNvSpPr/>
            <p:nvPr/>
          </p:nvSpPr>
          <p:spPr>
            <a:xfrm>
              <a:off x="3961610" y="1341233"/>
              <a:ext cx="0" cy="116205"/>
            </a:xfrm>
            <a:custGeom>
              <a:avLst/>
              <a:gdLst/>
              <a:ahLst/>
              <a:cxnLst/>
              <a:rect l="l" t="t" r="r" b="b"/>
              <a:pathLst>
                <a:path h="116205">
                  <a:moveTo>
                    <a:pt x="0" y="0"/>
                  </a:moveTo>
                  <a:lnTo>
                    <a:pt x="0" y="115627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39406" y="1433175"/>
              <a:ext cx="44450" cy="59690"/>
            </a:xfrm>
            <a:custGeom>
              <a:avLst/>
              <a:gdLst/>
              <a:ahLst/>
              <a:cxnLst/>
              <a:rect l="l" t="t" r="r" b="b"/>
              <a:pathLst>
                <a:path w="44450" h="59690">
                  <a:moveTo>
                    <a:pt x="44409" y="0"/>
                  </a:moveTo>
                  <a:lnTo>
                    <a:pt x="32891" y="8326"/>
                  </a:lnTo>
                  <a:lnTo>
                    <a:pt x="22204" y="11102"/>
                  </a:lnTo>
                  <a:lnTo>
                    <a:pt x="11518" y="8326"/>
                  </a:lnTo>
                  <a:lnTo>
                    <a:pt x="0" y="0"/>
                  </a:lnTo>
                  <a:lnTo>
                    <a:pt x="8673" y="14664"/>
                  </a:lnTo>
                  <a:lnTo>
                    <a:pt x="14988" y="30716"/>
                  </a:lnTo>
                  <a:lnTo>
                    <a:pt x="19359" y="46213"/>
                  </a:lnTo>
                  <a:lnTo>
                    <a:pt x="22204" y="59213"/>
                  </a:lnTo>
                  <a:lnTo>
                    <a:pt x="25049" y="46213"/>
                  </a:lnTo>
                  <a:lnTo>
                    <a:pt x="29421" y="30716"/>
                  </a:lnTo>
                  <a:lnTo>
                    <a:pt x="35736" y="14664"/>
                  </a:lnTo>
                  <a:lnTo>
                    <a:pt x="444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088535" y="1619313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>
                  <a:moveTo>
                    <a:pt x="0" y="0"/>
                  </a:moveTo>
                  <a:lnTo>
                    <a:pt x="288476" y="0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353326" y="1597108"/>
              <a:ext cx="59690" cy="44450"/>
            </a:xfrm>
            <a:custGeom>
              <a:avLst/>
              <a:gdLst/>
              <a:ahLst/>
              <a:cxnLst/>
              <a:rect l="l" t="t" r="r" b="b"/>
              <a:pathLst>
                <a:path w="59689" h="44450">
                  <a:moveTo>
                    <a:pt x="0" y="0"/>
                  </a:moveTo>
                  <a:lnTo>
                    <a:pt x="8326" y="11518"/>
                  </a:lnTo>
                  <a:lnTo>
                    <a:pt x="11102" y="22204"/>
                  </a:lnTo>
                  <a:lnTo>
                    <a:pt x="8326" y="32891"/>
                  </a:lnTo>
                  <a:lnTo>
                    <a:pt x="0" y="44409"/>
                  </a:lnTo>
                  <a:lnTo>
                    <a:pt x="14664" y="35736"/>
                  </a:lnTo>
                  <a:lnTo>
                    <a:pt x="30716" y="29421"/>
                  </a:lnTo>
                  <a:lnTo>
                    <a:pt x="46213" y="25049"/>
                  </a:lnTo>
                  <a:lnTo>
                    <a:pt x="59213" y="22204"/>
                  </a:lnTo>
                  <a:lnTo>
                    <a:pt x="46213" y="19359"/>
                  </a:lnTo>
                  <a:lnTo>
                    <a:pt x="30716" y="14988"/>
                  </a:lnTo>
                  <a:lnTo>
                    <a:pt x="14664" y="8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609777" y="1816551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h="288925">
                  <a:moveTo>
                    <a:pt x="0" y="0"/>
                  </a:moveTo>
                  <a:lnTo>
                    <a:pt x="0" y="288475"/>
                  </a:lnTo>
                </a:path>
              </a:pathLst>
            </a:custGeom>
            <a:ln w="9109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87572" y="2081341"/>
              <a:ext cx="44450" cy="59690"/>
            </a:xfrm>
            <a:custGeom>
              <a:avLst/>
              <a:gdLst/>
              <a:ahLst/>
              <a:cxnLst/>
              <a:rect l="l" t="t" r="r" b="b"/>
              <a:pathLst>
                <a:path w="44450" h="59689">
                  <a:moveTo>
                    <a:pt x="44409" y="0"/>
                  </a:moveTo>
                  <a:lnTo>
                    <a:pt x="32891" y="8326"/>
                  </a:lnTo>
                  <a:lnTo>
                    <a:pt x="22204" y="11102"/>
                  </a:lnTo>
                  <a:lnTo>
                    <a:pt x="11518" y="8326"/>
                  </a:lnTo>
                  <a:lnTo>
                    <a:pt x="0" y="0"/>
                  </a:lnTo>
                  <a:lnTo>
                    <a:pt x="8673" y="14664"/>
                  </a:lnTo>
                  <a:lnTo>
                    <a:pt x="14988" y="30716"/>
                  </a:lnTo>
                  <a:lnTo>
                    <a:pt x="19359" y="46213"/>
                  </a:lnTo>
                  <a:lnTo>
                    <a:pt x="22204" y="59213"/>
                  </a:lnTo>
                  <a:lnTo>
                    <a:pt x="25049" y="46213"/>
                  </a:lnTo>
                  <a:lnTo>
                    <a:pt x="29421" y="30716"/>
                  </a:lnTo>
                  <a:lnTo>
                    <a:pt x="35736" y="14664"/>
                  </a:lnTo>
                  <a:lnTo>
                    <a:pt x="44409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4505935" y="1886785"/>
            <a:ext cx="45656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5" dirty="0">
                <a:solidFill>
                  <a:srgbClr val="BF003F"/>
                </a:solidFill>
                <a:latin typeface="Microsoft Sans Serif"/>
                <a:cs typeface="Microsoft Sans Serif"/>
              </a:rPr>
              <a:t>softmax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962519" y="681389"/>
            <a:ext cx="3311525" cy="1965325"/>
            <a:chOff x="962519" y="681389"/>
            <a:chExt cx="3311525" cy="1965325"/>
          </a:xfrm>
        </p:grpSpPr>
        <p:sp>
          <p:nvSpPr>
            <p:cNvPr id="64" name="object 64"/>
            <p:cNvSpPr/>
            <p:nvPr/>
          </p:nvSpPr>
          <p:spPr>
            <a:xfrm>
              <a:off x="3990464" y="890979"/>
              <a:ext cx="12065" cy="82550"/>
            </a:xfrm>
            <a:custGeom>
              <a:avLst/>
              <a:gdLst/>
              <a:ahLst/>
              <a:cxnLst/>
              <a:rect l="l" t="t" r="r" b="b"/>
              <a:pathLst>
                <a:path w="12064" h="82550">
                  <a:moveTo>
                    <a:pt x="11732" y="0"/>
                  </a:moveTo>
                  <a:lnTo>
                    <a:pt x="0" y="81971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971840" y="946360"/>
              <a:ext cx="44450" cy="62230"/>
            </a:xfrm>
            <a:custGeom>
              <a:avLst/>
              <a:gdLst/>
              <a:ahLst/>
              <a:cxnLst/>
              <a:rect l="l" t="t" r="r" b="b"/>
              <a:pathLst>
                <a:path w="44450" h="62230">
                  <a:moveTo>
                    <a:pt x="43960" y="6291"/>
                  </a:moveTo>
                  <a:lnTo>
                    <a:pt x="31378" y="12901"/>
                  </a:lnTo>
                  <a:lnTo>
                    <a:pt x="20407" y="14135"/>
                  </a:lnTo>
                  <a:lnTo>
                    <a:pt x="10222" y="9874"/>
                  </a:lnTo>
                  <a:lnTo>
                    <a:pt x="0" y="0"/>
                  </a:lnTo>
                  <a:lnTo>
                    <a:pt x="6508" y="15744"/>
                  </a:lnTo>
                  <a:lnTo>
                    <a:pt x="10485" y="32528"/>
                  </a:lnTo>
                  <a:lnTo>
                    <a:pt x="12617" y="48488"/>
                  </a:lnTo>
                  <a:lnTo>
                    <a:pt x="13591" y="61758"/>
                  </a:lnTo>
                  <a:lnTo>
                    <a:pt x="18249" y="49294"/>
                  </a:lnTo>
                  <a:lnTo>
                    <a:pt x="24772" y="34573"/>
                  </a:lnTo>
                  <a:lnTo>
                    <a:pt x="33296" y="19578"/>
                  </a:lnTo>
                  <a:lnTo>
                    <a:pt x="43960" y="62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67073" y="2353035"/>
              <a:ext cx="742950" cy="131445"/>
            </a:xfrm>
            <a:custGeom>
              <a:avLst/>
              <a:gdLst/>
              <a:ahLst/>
              <a:cxnLst/>
              <a:rect l="l" t="t" r="r" b="b"/>
              <a:pathLst>
                <a:path w="742950" h="131444">
                  <a:moveTo>
                    <a:pt x="0" y="0"/>
                  </a:moveTo>
                  <a:lnTo>
                    <a:pt x="0" y="119880"/>
                  </a:lnTo>
                </a:path>
                <a:path w="742950" h="131444">
                  <a:moveTo>
                    <a:pt x="0" y="119880"/>
                  </a:moveTo>
                  <a:lnTo>
                    <a:pt x="742650" y="131321"/>
                  </a:lnTo>
                </a:path>
                <a:path w="742950" h="131444">
                  <a:moveTo>
                    <a:pt x="742650" y="131321"/>
                  </a:moveTo>
                  <a:lnTo>
                    <a:pt x="742650" y="4847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687519" y="2322355"/>
              <a:ext cx="44450" cy="59690"/>
            </a:xfrm>
            <a:custGeom>
              <a:avLst/>
              <a:gdLst/>
              <a:ahLst/>
              <a:cxnLst/>
              <a:rect l="l" t="t" r="r" b="b"/>
              <a:pathLst>
                <a:path w="44450" h="59689">
                  <a:moveTo>
                    <a:pt x="0" y="59213"/>
                  </a:moveTo>
                  <a:lnTo>
                    <a:pt x="11518" y="50886"/>
                  </a:lnTo>
                  <a:lnTo>
                    <a:pt x="22204" y="48110"/>
                  </a:lnTo>
                  <a:lnTo>
                    <a:pt x="32891" y="50886"/>
                  </a:lnTo>
                  <a:lnTo>
                    <a:pt x="44409" y="59213"/>
                  </a:lnTo>
                  <a:lnTo>
                    <a:pt x="35736" y="44548"/>
                  </a:lnTo>
                  <a:lnTo>
                    <a:pt x="29421" y="28496"/>
                  </a:lnTo>
                  <a:lnTo>
                    <a:pt x="25049" y="12999"/>
                  </a:lnTo>
                  <a:lnTo>
                    <a:pt x="22204" y="0"/>
                  </a:lnTo>
                  <a:lnTo>
                    <a:pt x="19359" y="12999"/>
                  </a:lnTo>
                  <a:lnTo>
                    <a:pt x="14988" y="28496"/>
                  </a:lnTo>
                  <a:lnTo>
                    <a:pt x="8673" y="44548"/>
                  </a:lnTo>
                  <a:lnTo>
                    <a:pt x="0" y="5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709724" y="2357882"/>
              <a:ext cx="789305" cy="127000"/>
            </a:xfrm>
            <a:custGeom>
              <a:avLst/>
              <a:gdLst/>
              <a:ahLst/>
              <a:cxnLst/>
              <a:rect l="l" t="t" r="r" b="b"/>
              <a:pathLst>
                <a:path w="789305" h="127000">
                  <a:moveTo>
                    <a:pt x="0" y="126473"/>
                  </a:moveTo>
                  <a:lnTo>
                    <a:pt x="789205" y="126473"/>
                  </a:lnTo>
                </a:path>
                <a:path w="789305" h="127000">
                  <a:moveTo>
                    <a:pt x="789205" y="126473"/>
                  </a:moveTo>
                  <a:lnTo>
                    <a:pt x="789205" y="0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476725" y="2322355"/>
              <a:ext cx="44450" cy="59690"/>
            </a:xfrm>
            <a:custGeom>
              <a:avLst/>
              <a:gdLst/>
              <a:ahLst/>
              <a:cxnLst/>
              <a:rect l="l" t="t" r="r" b="b"/>
              <a:pathLst>
                <a:path w="44450" h="59689">
                  <a:moveTo>
                    <a:pt x="0" y="59213"/>
                  </a:moveTo>
                  <a:lnTo>
                    <a:pt x="11518" y="50886"/>
                  </a:lnTo>
                  <a:lnTo>
                    <a:pt x="22204" y="48110"/>
                  </a:lnTo>
                  <a:lnTo>
                    <a:pt x="32891" y="50886"/>
                  </a:lnTo>
                  <a:lnTo>
                    <a:pt x="44409" y="59213"/>
                  </a:lnTo>
                  <a:lnTo>
                    <a:pt x="35736" y="44548"/>
                  </a:lnTo>
                  <a:lnTo>
                    <a:pt x="29421" y="28496"/>
                  </a:lnTo>
                  <a:lnTo>
                    <a:pt x="25049" y="12999"/>
                  </a:lnTo>
                  <a:lnTo>
                    <a:pt x="22204" y="0"/>
                  </a:lnTo>
                  <a:lnTo>
                    <a:pt x="19359" y="12999"/>
                  </a:lnTo>
                  <a:lnTo>
                    <a:pt x="14988" y="28496"/>
                  </a:lnTo>
                  <a:lnTo>
                    <a:pt x="8673" y="44548"/>
                  </a:lnTo>
                  <a:lnTo>
                    <a:pt x="0" y="5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498930" y="2357882"/>
              <a:ext cx="738505" cy="127000"/>
            </a:xfrm>
            <a:custGeom>
              <a:avLst/>
              <a:gdLst/>
              <a:ahLst/>
              <a:cxnLst/>
              <a:rect l="l" t="t" r="r" b="b"/>
              <a:pathLst>
                <a:path w="738505" h="127000">
                  <a:moveTo>
                    <a:pt x="0" y="126473"/>
                  </a:moveTo>
                  <a:lnTo>
                    <a:pt x="738166" y="126473"/>
                  </a:lnTo>
                </a:path>
                <a:path w="738505" h="127000">
                  <a:moveTo>
                    <a:pt x="738166" y="126473"/>
                  </a:moveTo>
                  <a:lnTo>
                    <a:pt x="738166" y="0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14891" y="2322355"/>
              <a:ext cx="44450" cy="59690"/>
            </a:xfrm>
            <a:custGeom>
              <a:avLst/>
              <a:gdLst/>
              <a:ahLst/>
              <a:cxnLst/>
              <a:rect l="l" t="t" r="r" b="b"/>
              <a:pathLst>
                <a:path w="44450" h="59689">
                  <a:moveTo>
                    <a:pt x="0" y="59213"/>
                  </a:moveTo>
                  <a:lnTo>
                    <a:pt x="11518" y="50886"/>
                  </a:lnTo>
                  <a:lnTo>
                    <a:pt x="22204" y="48110"/>
                  </a:lnTo>
                  <a:lnTo>
                    <a:pt x="32891" y="50886"/>
                  </a:lnTo>
                  <a:lnTo>
                    <a:pt x="44409" y="59213"/>
                  </a:lnTo>
                  <a:lnTo>
                    <a:pt x="35736" y="44548"/>
                  </a:lnTo>
                  <a:lnTo>
                    <a:pt x="29421" y="28496"/>
                  </a:lnTo>
                  <a:lnTo>
                    <a:pt x="25049" y="12999"/>
                  </a:lnTo>
                  <a:lnTo>
                    <a:pt x="22204" y="0"/>
                  </a:lnTo>
                  <a:lnTo>
                    <a:pt x="19359" y="12999"/>
                  </a:lnTo>
                  <a:lnTo>
                    <a:pt x="14988" y="28496"/>
                  </a:lnTo>
                  <a:lnTo>
                    <a:pt x="8673" y="44548"/>
                  </a:lnTo>
                  <a:lnTo>
                    <a:pt x="0" y="5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37096" y="2357882"/>
              <a:ext cx="724535" cy="127000"/>
            </a:xfrm>
            <a:custGeom>
              <a:avLst/>
              <a:gdLst/>
              <a:ahLst/>
              <a:cxnLst/>
              <a:rect l="l" t="t" r="r" b="b"/>
              <a:pathLst>
                <a:path w="724535" h="127000">
                  <a:moveTo>
                    <a:pt x="0" y="126473"/>
                  </a:moveTo>
                  <a:lnTo>
                    <a:pt x="724514" y="126473"/>
                  </a:lnTo>
                </a:path>
                <a:path w="724535" h="127000">
                  <a:moveTo>
                    <a:pt x="724514" y="126473"/>
                  </a:moveTo>
                  <a:lnTo>
                    <a:pt x="724514" y="0"/>
                  </a:lnTo>
                </a:path>
              </a:pathLst>
            </a:custGeom>
            <a:ln w="91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939405" y="2322355"/>
              <a:ext cx="44450" cy="59690"/>
            </a:xfrm>
            <a:custGeom>
              <a:avLst/>
              <a:gdLst/>
              <a:ahLst/>
              <a:cxnLst/>
              <a:rect l="l" t="t" r="r" b="b"/>
              <a:pathLst>
                <a:path w="44450" h="59689">
                  <a:moveTo>
                    <a:pt x="0" y="59213"/>
                  </a:moveTo>
                  <a:lnTo>
                    <a:pt x="11518" y="50886"/>
                  </a:lnTo>
                  <a:lnTo>
                    <a:pt x="22204" y="48110"/>
                  </a:lnTo>
                  <a:lnTo>
                    <a:pt x="32891" y="50886"/>
                  </a:lnTo>
                  <a:lnTo>
                    <a:pt x="44409" y="59213"/>
                  </a:lnTo>
                  <a:lnTo>
                    <a:pt x="35736" y="44548"/>
                  </a:lnTo>
                  <a:lnTo>
                    <a:pt x="29421" y="28496"/>
                  </a:lnTo>
                  <a:lnTo>
                    <a:pt x="25049" y="12999"/>
                  </a:lnTo>
                  <a:lnTo>
                    <a:pt x="22204" y="0"/>
                  </a:lnTo>
                  <a:lnTo>
                    <a:pt x="19359" y="12999"/>
                  </a:lnTo>
                  <a:lnTo>
                    <a:pt x="14988" y="28496"/>
                  </a:lnTo>
                  <a:lnTo>
                    <a:pt x="8673" y="44548"/>
                  </a:lnTo>
                  <a:lnTo>
                    <a:pt x="0" y="5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709724" y="2519884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126474"/>
                  </a:moveTo>
                  <a:lnTo>
                    <a:pt x="0" y="0"/>
                  </a:lnTo>
                </a:path>
              </a:pathLst>
            </a:custGeom>
            <a:ln w="910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687519" y="2484357"/>
              <a:ext cx="44450" cy="59690"/>
            </a:xfrm>
            <a:custGeom>
              <a:avLst/>
              <a:gdLst/>
              <a:ahLst/>
              <a:cxnLst/>
              <a:rect l="l" t="t" r="r" b="b"/>
              <a:pathLst>
                <a:path w="44450" h="59689">
                  <a:moveTo>
                    <a:pt x="0" y="59213"/>
                  </a:moveTo>
                  <a:lnTo>
                    <a:pt x="11518" y="50886"/>
                  </a:lnTo>
                  <a:lnTo>
                    <a:pt x="22204" y="48110"/>
                  </a:lnTo>
                  <a:lnTo>
                    <a:pt x="32891" y="50886"/>
                  </a:lnTo>
                  <a:lnTo>
                    <a:pt x="44409" y="59213"/>
                  </a:lnTo>
                  <a:lnTo>
                    <a:pt x="35736" y="44548"/>
                  </a:lnTo>
                  <a:lnTo>
                    <a:pt x="29421" y="28496"/>
                  </a:lnTo>
                  <a:lnTo>
                    <a:pt x="25049" y="12999"/>
                  </a:lnTo>
                  <a:lnTo>
                    <a:pt x="22204" y="0"/>
                  </a:lnTo>
                  <a:lnTo>
                    <a:pt x="19359" y="12999"/>
                  </a:lnTo>
                  <a:lnTo>
                    <a:pt x="14988" y="28496"/>
                  </a:lnTo>
                  <a:lnTo>
                    <a:pt x="8673" y="44548"/>
                  </a:lnTo>
                  <a:lnTo>
                    <a:pt x="0" y="5921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408603" y="683667"/>
              <a:ext cx="2863215" cy="1718945"/>
            </a:xfrm>
            <a:custGeom>
              <a:avLst/>
              <a:gdLst/>
              <a:ahLst/>
              <a:cxnLst/>
              <a:rect l="l" t="t" r="r" b="b"/>
              <a:pathLst>
                <a:path w="2863215" h="1718945">
                  <a:moveTo>
                    <a:pt x="0" y="1718399"/>
                  </a:moveTo>
                  <a:lnTo>
                    <a:pt x="2862859" y="1718399"/>
                  </a:lnTo>
                  <a:lnTo>
                    <a:pt x="2862859" y="0"/>
                  </a:lnTo>
                  <a:lnTo>
                    <a:pt x="0" y="0"/>
                  </a:lnTo>
                  <a:lnTo>
                    <a:pt x="0" y="1718399"/>
                  </a:lnTo>
                  <a:close/>
                </a:path>
              </a:pathLst>
            </a:custGeom>
            <a:ln w="4554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69659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75" dirty="0"/>
              <a:t>LSTM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3091" y="1601268"/>
            <a:ext cx="202565" cy="151765"/>
          </a:xfrm>
          <a:prstGeom prst="rect">
            <a:avLst/>
          </a:prstGeom>
          <a:ln w="4251">
            <a:solidFill>
              <a:srgbClr val="0000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254"/>
              </a:spcBef>
            </a:pPr>
            <a:r>
              <a:rPr sz="450" spc="-5" dirty="0">
                <a:latin typeface="Microsoft Sans Serif"/>
                <a:cs typeface="Microsoft Sans Serif"/>
              </a:rPr>
              <a:t>Forget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60936" y="1601268"/>
            <a:ext cx="223520" cy="151765"/>
          </a:xfrm>
          <a:prstGeom prst="rect">
            <a:avLst/>
          </a:prstGeom>
          <a:ln w="4251">
            <a:solidFill>
              <a:srgbClr val="0000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260"/>
              </a:spcBef>
            </a:pPr>
            <a:r>
              <a:rPr sz="450" dirty="0">
                <a:latin typeface="Microsoft Sans Serif"/>
                <a:cs typeface="Microsoft Sans Serif"/>
              </a:rPr>
              <a:t>Update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39656" y="1601268"/>
            <a:ext cx="154940" cy="151765"/>
          </a:xfrm>
          <a:custGeom>
            <a:avLst/>
            <a:gdLst/>
            <a:ahLst/>
            <a:cxnLst/>
            <a:rect l="l" t="t" r="r" b="b"/>
            <a:pathLst>
              <a:path w="154939" h="151764">
                <a:moveTo>
                  <a:pt x="0" y="151201"/>
                </a:moveTo>
                <a:lnTo>
                  <a:pt x="154761" y="151201"/>
                </a:lnTo>
                <a:lnTo>
                  <a:pt x="154761" y="0"/>
                </a:lnTo>
                <a:lnTo>
                  <a:pt x="0" y="0"/>
                </a:lnTo>
                <a:lnTo>
                  <a:pt x="0" y="151201"/>
                </a:lnTo>
                <a:close/>
              </a:path>
            </a:pathLst>
          </a:custGeom>
          <a:ln w="42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46076" y="1622542"/>
            <a:ext cx="14224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0" dirty="0">
                <a:latin typeface="Tahoma"/>
                <a:cs typeface="Tahoma"/>
              </a:rPr>
              <a:t>tanh</a:t>
            </a:r>
            <a:endParaRPr sz="5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9835" y="1601268"/>
            <a:ext cx="210820" cy="151765"/>
          </a:xfrm>
          <a:prstGeom prst="rect">
            <a:avLst/>
          </a:prstGeom>
          <a:ln w="4251">
            <a:solidFill>
              <a:srgbClr val="0000FF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265"/>
              </a:spcBef>
            </a:pPr>
            <a:r>
              <a:rPr sz="450" dirty="0">
                <a:latin typeface="Microsoft Sans Serif"/>
                <a:cs typeface="Microsoft Sans Serif"/>
              </a:rPr>
              <a:t>Output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46121" y="1028140"/>
            <a:ext cx="116839" cy="116839"/>
          </a:xfrm>
          <a:custGeom>
            <a:avLst/>
            <a:gdLst/>
            <a:ahLst/>
            <a:cxnLst/>
            <a:rect l="l" t="t" r="r" b="b"/>
            <a:pathLst>
              <a:path w="116840" h="116840">
                <a:moveTo>
                  <a:pt x="116337" y="58168"/>
                </a:moveTo>
                <a:lnTo>
                  <a:pt x="111766" y="35526"/>
                </a:lnTo>
                <a:lnTo>
                  <a:pt x="99300" y="17037"/>
                </a:lnTo>
                <a:lnTo>
                  <a:pt x="80810" y="4571"/>
                </a:lnTo>
                <a:lnTo>
                  <a:pt x="58168" y="0"/>
                </a:lnTo>
                <a:lnTo>
                  <a:pt x="35526" y="4571"/>
                </a:lnTo>
                <a:lnTo>
                  <a:pt x="17037" y="17037"/>
                </a:lnTo>
                <a:lnTo>
                  <a:pt x="4571" y="35526"/>
                </a:lnTo>
                <a:lnTo>
                  <a:pt x="0" y="58168"/>
                </a:lnTo>
                <a:lnTo>
                  <a:pt x="4571" y="80810"/>
                </a:lnTo>
                <a:lnTo>
                  <a:pt x="17037" y="99300"/>
                </a:lnTo>
                <a:lnTo>
                  <a:pt x="35526" y="111766"/>
                </a:lnTo>
                <a:lnTo>
                  <a:pt x="58168" y="116337"/>
                </a:lnTo>
                <a:lnTo>
                  <a:pt x="80810" y="111766"/>
                </a:lnTo>
                <a:lnTo>
                  <a:pt x="99300" y="99300"/>
                </a:lnTo>
                <a:lnTo>
                  <a:pt x="111766" y="80810"/>
                </a:lnTo>
                <a:lnTo>
                  <a:pt x="116337" y="58168"/>
                </a:lnTo>
                <a:close/>
              </a:path>
            </a:pathLst>
          </a:custGeom>
          <a:ln w="3175">
            <a:solidFill>
              <a:srgbClr val="BF00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68909" y="1025790"/>
            <a:ext cx="755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110" dirty="0">
                <a:latin typeface="MS UI Gothic"/>
                <a:cs typeface="MS UI Gothic"/>
              </a:rPr>
              <a:t>Ⓢ</a:t>
            </a:r>
            <a:endParaRPr sz="500">
              <a:latin typeface="MS UI Gothic"/>
              <a:cs typeface="MS UI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14711" y="1028771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5" h="116205">
                <a:moveTo>
                  <a:pt x="115707" y="57853"/>
                </a:moveTo>
                <a:lnTo>
                  <a:pt x="111160" y="35334"/>
                </a:lnTo>
                <a:lnTo>
                  <a:pt x="98762" y="16944"/>
                </a:lnTo>
                <a:lnTo>
                  <a:pt x="80372" y="4546"/>
                </a:lnTo>
                <a:lnTo>
                  <a:pt x="57853" y="0"/>
                </a:lnTo>
                <a:lnTo>
                  <a:pt x="35334" y="4546"/>
                </a:lnTo>
                <a:lnTo>
                  <a:pt x="16944" y="16944"/>
                </a:lnTo>
                <a:lnTo>
                  <a:pt x="4546" y="35334"/>
                </a:lnTo>
                <a:lnTo>
                  <a:pt x="0" y="57853"/>
                </a:lnTo>
                <a:lnTo>
                  <a:pt x="4546" y="80372"/>
                </a:lnTo>
                <a:lnTo>
                  <a:pt x="16944" y="98762"/>
                </a:lnTo>
                <a:lnTo>
                  <a:pt x="35334" y="111160"/>
                </a:lnTo>
                <a:lnTo>
                  <a:pt x="57853" y="115707"/>
                </a:lnTo>
                <a:lnTo>
                  <a:pt x="80372" y="111160"/>
                </a:lnTo>
                <a:lnTo>
                  <a:pt x="98762" y="98762"/>
                </a:lnTo>
                <a:lnTo>
                  <a:pt x="111160" y="80372"/>
                </a:lnTo>
                <a:lnTo>
                  <a:pt x="115707" y="57853"/>
                </a:lnTo>
                <a:close/>
              </a:path>
            </a:pathLst>
          </a:custGeom>
          <a:ln w="3175">
            <a:solidFill>
              <a:srgbClr val="BF00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37179" y="1026104"/>
            <a:ext cx="7429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15" dirty="0">
                <a:latin typeface="Tahoma"/>
                <a:cs typeface="Tahoma"/>
              </a:rPr>
              <a:t>+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3333" y="1329481"/>
            <a:ext cx="118463" cy="11846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37179" y="1328190"/>
            <a:ext cx="755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110" dirty="0">
                <a:latin typeface="MS UI Gothic"/>
                <a:cs typeface="MS UI Gothic"/>
              </a:rPr>
              <a:t>Ⓢ</a:t>
            </a:r>
            <a:endParaRPr sz="500">
              <a:latin typeface="MS UI Gothic"/>
              <a:cs typeface="MS UI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77681" y="1143415"/>
            <a:ext cx="154940" cy="151765"/>
          </a:xfrm>
          <a:custGeom>
            <a:avLst/>
            <a:gdLst/>
            <a:ahLst/>
            <a:cxnLst/>
            <a:rect l="l" t="t" r="r" b="b"/>
            <a:pathLst>
              <a:path w="154939" h="151765">
                <a:moveTo>
                  <a:pt x="0" y="151201"/>
                </a:moveTo>
                <a:lnTo>
                  <a:pt x="154761" y="151201"/>
                </a:lnTo>
                <a:lnTo>
                  <a:pt x="154761" y="0"/>
                </a:lnTo>
                <a:lnTo>
                  <a:pt x="0" y="0"/>
                </a:lnTo>
                <a:lnTo>
                  <a:pt x="0" y="151201"/>
                </a:lnTo>
                <a:close/>
              </a:path>
            </a:pathLst>
          </a:custGeom>
          <a:ln w="42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84097" y="1164692"/>
            <a:ext cx="14224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0" dirty="0">
                <a:latin typeface="Tahoma"/>
                <a:cs typeface="Tahoma"/>
              </a:rPr>
              <a:t>tanh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5830" y="1367282"/>
            <a:ext cx="118463" cy="11846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19670" y="1365987"/>
            <a:ext cx="755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110" dirty="0">
                <a:latin typeface="MS UI Gothic"/>
                <a:cs typeface="MS UI Gothic"/>
              </a:rPr>
              <a:t>Ⓢ</a:t>
            </a:r>
            <a:endParaRPr sz="500">
              <a:latin typeface="MS UI Gothic"/>
              <a:cs typeface="MS UI Gothic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679" y="1584825"/>
            <a:ext cx="184088" cy="18408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59152" y="1608207"/>
            <a:ext cx="249554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44" baseline="-24691" dirty="0">
                <a:latin typeface="Arial"/>
                <a:cs typeface="Arial"/>
              </a:rPr>
              <a:t>a</a:t>
            </a:r>
            <a:r>
              <a:rPr sz="300" i="1" spc="30" dirty="0">
                <a:latin typeface="Verdana"/>
                <a:cs typeface="Verdana"/>
              </a:rPr>
              <a:t>&lt;</a:t>
            </a:r>
            <a:r>
              <a:rPr sz="300" i="1" spc="30" dirty="0">
                <a:latin typeface="Arial"/>
                <a:cs typeface="Arial"/>
              </a:rPr>
              <a:t>t−</a:t>
            </a:r>
            <a:r>
              <a:rPr sz="300" spc="30" dirty="0">
                <a:latin typeface="Microsoft Sans Serif"/>
                <a:cs typeface="Microsoft Sans Serif"/>
              </a:rPr>
              <a:t>1</a:t>
            </a:r>
            <a:r>
              <a:rPr sz="300" i="1" spc="30" dirty="0">
                <a:latin typeface="Verdana"/>
                <a:cs typeface="Verdana"/>
              </a:rPr>
              <a:t>&gt;</a:t>
            </a:r>
            <a:endParaRPr sz="300">
              <a:latin typeface="Verdana"/>
              <a:cs typeface="Verdan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2649" y="1905794"/>
            <a:ext cx="183281" cy="18328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305712" y="1928567"/>
            <a:ext cx="19494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44" baseline="-24691" dirty="0">
                <a:latin typeface="Arial"/>
                <a:cs typeface="Arial"/>
              </a:rPr>
              <a:t>x</a:t>
            </a:r>
            <a:r>
              <a:rPr sz="300" i="1" spc="30" dirty="0">
                <a:latin typeface="Verdana"/>
                <a:cs typeface="Verdana"/>
              </a:rPr>
              <a:t>&lt;</a:t>
            </a:r>
            <a:r>
              <a:rPr sz="300" i="1" spc="30" dirty="0">
                <a:latin typeface="Arial"/>
                <a:cs typeface="Arial"/>
              </a:rPr>
              <a:t>t</a:t>
            </a:r>
            <a:r>
              <a:rPr sz="300" i="1" spc="30" dirty="0">
                <a:latin typeface="Verdana"/>
                <a:cs typeface="Verdana"/>
              </a:rPr>
              <a:t>&gt;</a:t>
            </a:r>
            <a:endParaRPr sz="300">
              <a:latin typeface="Verdana"/>
              <a:cs typeface="Verdan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5446" y="1334480"/>
            <a:ext cx="184088" cy="184088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658895" y="1357189"/>
            <a:ext cx="19304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30" baseline="-24691" dirty="0">
                <a:latin typeface="Arial"/>
                <a:cs typeface="Arial"/>
              </a:rPr>
              <a:t>a</a:t>
            </a:r>
            <a:r>
              <a:rPr sz="300" i="1" spc="20" dirty="0">
                <a:latin typeface="Verdana"/>
                <a:cs typeface="Verdana"/>
              </a:rPr>
              <a:t>&lt;</a:t>
            </a:r>
            <a:r>
              <a:rPr sz="300" i="1" spc="20" dirty="0">
                <a:latin typeface="Arial"/>
                <a:cs typeface="Arial"/>
              </a:rPr>
              <a:t>t</a:t>
            </a:r>
            <a:r>
              <a:rPr sz="300" i="1" spc="20" dirty="0">
                <a:latin typeface="Verdana"/>
                <a:cs typeface="Verdana"/>
              </a:rPr>
              <a:t>&gt;</a:t>
            </a:r>
            <a:endParaRPr sz="300">
              <a:latin typeface="Verdana"/>
              <a:cs typeface="Verdan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62882" y="1669777"/>
            <a:ext cx="189096" cy="18909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2658836" y="1689316"/>
            <a:ext cx="19558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44" baseline="-24691" dirty="0">
                <a:latin typeface="Arial"/>
                <a:cs typeface="Arial"/>
              </a:rPr>
              <a:t>y</a:t>
            </a:r>
            <a:r>
              <a:rPr sz="300" i="1" spc="30" dirty="0">
                <a:latin typeface="Verdana"/>
                <a:cs typeface="Verdana"/>
              </a:rPr>
              <a:t>&lt;</a:t>
            </a:r>
            <a:r>
              <a:rPr sz="300" i="1" spc="30" dirty="0">
                <a:latin typeface="Arial"/>
                <a:cs typeface="Arial"/>
              </a:rPr>
              <a:t>t</a:t>
            </a:r>
            <a:r>
              <a:rPr sz="300" i="1" spc="30" dirty="0">
                <a:latin typeface="Verdana"/>
                <a:cs typeface="Verdana"/>
              </a:rPr>
              <a:t>&gt;</a:t>
            </a:r>
            <a:endParaRPr sz="300">
              <a:latin typeface="Verdana"/>
              <a:cs typeface="Verdan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38673" y="994606"/>
            <a:ext cx="184088" cy="184088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2732120" y="1017317"/>
            <a:ext cx="11874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15" baseline="-24691" dirty="0">
                <a:latin typeface="Arial"/>
                <a:cs typeface="Arial"/>
              </a:rPr>
              <a:t>c</a:t>
            </a:r>
            <a:r>
              <a:rPr sz="300" i="1" spc="10" dirty="0">
                <a:latin typeface="Arial"/>
                <a:cs typeface="Arial"/>
              </a:rPr>
              <a:t>t</a:t>
            </a:r>
            <a:endParaRPr sz="3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10833" y="995354"/>
            <a:ext cx="182245" cy="182245"/>
          </a:xfrm>
          <a:custGeom>
            <a:avLst/>
            <a:gdLst/>
            <a:ahLst/>
            <a:cxnLst/>
            <a:rect l="l" t="t" r="r" b="b"/>
            <a:pathLst>
              <a:path w="182244" h="182244">
                <a:moveTo>
                  <a:pt x="181962" y="90981"/>
                </a:moveTo>
                <a:lnTo>
                  <a:pt x="174812" y="55567"/>
                </a:lnTo>
                <a:lnTo>
                  <a:pt x="155315" y="26647"/>
                </a:lnTo>
                <a:lnTo>
                  <a:pt x="126395" y="7149"/>
                </a:lnTo>
                <a:lnTo>
                  <a:pt x="90981" y="0"/>
                </a:lnTo>
                <a:lnTo>
                  <a:pt x="55567" y="7149"/>
                </a:lnTo>
                <a:lnTo>
                  <a:pt x="26647" y="26647"/>
                </a:lnTo>
                <a:lnTo>
                  <a:pt x="7149" y="55567"/>
                </a:lnTo>
                <a:lnTo>
                  <a:pt x="0" y="90981"/>
                </a:lnTo>
                <a:lnTo>
                  <a:pt x="7149" y="126395"/>
                </a:lnTo>
                <a:lnTo>
                  <a:pt x="26647" y="155315"/>
                </a:lnTo>
                <a:lnTo>
                  <a:pt x="55567" y="174813"/>
                </a:lnTo>
                <a:lnTo>
                  <a:pt x="90981" y="181962"/>
                </a:lnTo>
                <a:lnTo>
                  <a:pt x="126395" y="174813"/>
                </a:lnTo>
                <a:lnTo>
                  <a:pt x="155315" y="155315"/>
                </a:lnTo>
                <a:lnTo>
                  <a:pt x="174812" y="126395"/>
                </a:lnTo>
                <a:lnTo>
                  <a:pt x="181962" y="90981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03243" y="1017685"/>
            <a:ext cx="17843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52" baseline="-24691" dirty="0">
                <a:latin typeface="Arial"/>
                <a:cs typeface="Arial"/>
              </a:rPr>
              <a:t>c</a:t>
            </a:r>
            <a:r>
              <a:rPr sz="300" i="1" spc="35" dirty="0">
                <a:latin typeface="Arial"/>
                <a:cs typeface="Arial"/>
              </a:rPr>
              <a:t>t−</a:t>
            </a:r>
            <a:r>
              <a:rPr sz="300" spc="35" dirty="0">
                <a:latin typeface="Microsoft Sans Serif"/>
                <a:cs typeface="Microsoft Sans Serif"/>
              </a:rPr>
              <a:t>1</a:t>
            </a:r>
            <a:endParaRPr sz="3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191644" y="1075987"/>
            <a:ext cx="1547495" cy="525780"/>
            <a:chOff x="1191644" y="1075987"/>
            <a:chExt cx="1547495" cy="525780"/>
          </a:xfrm>
        </p:grpSpPr>
        <p:sp>
          <p:nvSpPr>
            <p:cNvPr id="31" name="object 31"/>
            <p:cNvSpPr/>
            <p:nvPr/>
          </p:nvSpPr>
          <p:spPr>
            <a:xfrm>
              <a:off x="1193866" y="1086347"/>
              <a:ext cx="134620" cy="635"/>
            </a:xfrm>
            <a:custGeom>
              <a:avLst/>
              <a:gdLst/>
              <a:ahLst/>
              <a:cxnLst/>
              <a:rect l="l" t="t" r="r" b="b"/>
              <a:pathLst>
                <a:path w="134619" h="634">
                  <a:moveTo>
                    <a:pt x="0" y="18"/>
                  </a:moveTo>
                  <a:lnTo>
                    <a:pt x="134615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17427" y="1075987"/>
              <a:ext cx="27940" cy="20955"/>
            </a:xfrm>
            <a:custGeom>
              <a:avLst/>
              <a:gdLst/>
              <a:ahLst/>
              <a:cxnLst/>
              <a:rect l="l" t="t" r="r" b="b"/>
              <a:pathLst>
                <a:path w="27940" h="20955">
                  <a:moveTo>
                    <a:pt x="0" y="0"/>
                  </a:moveTo>
                  <a:lnTo>
                    <a:pt x="6909" y="7597"/>
                  </a:lnTo>
                  <a:lnTo>
                    <a:pt x="6909" y="13124"/>
                  </a:lnTo>
                  <a:lnTo>
                    <a:pt x="2" y="20724"/>
                  </a:lnTo>
                  <a:lnTo>
                    <a:pt x="6845" y="16675"/>
                  </a:lnTo>
                  <a:lnTo>
                    <a:pt x="14336" y="13727"/>
                  </a:lnTo>
                  <a:lnTo>
                    <a:pt x="21567" y="11686"/>
                  </a:lnTo>
                  <a:lnTo>
                    <a:pt x="27633" y="10358"/>
                  </a:lnTo>
                  <a:lnTo>
                    <a:pt x="21567" y="9031"/>
                  </a:lnTo>
                  <a:lnTo>
                    <a:pt x="14335" y="6992"/>
                  </a:lnTo>
                  <a:lnTo>
                    <a:pt x="6843" y="4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63517" y="1086391"/>
              <a:ext cx="233679" cy="635"/>
            </a:xfrm>
            <a:custGeom>
              <a:avLst/>
              <a:gdLst/>
              <a:ahLst/>
              <a:cxnLst/>
              <a:rect l="l" t="t" r="r" b="b"/>
              <a:pathLst>
                <a:path w="233680" h="634">
                  <a:moveTo>
                    <a:pt x="0" y="0"/>
                  </a:moveTo>
                  <a:lnTo>
                    <a:pt x="233538" y="199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685994" y="1076219"/>
              <a:ext cx="27940" cy="20955"/>
            </a:xfrm>
            <a:custGeom>
              <a:avLst/>
              <a:gdLst/>
              <a:ahLst/>
              <a:cxnLst/>
              <a:rect l="l" t="t" r="r" b="b"/>
              <a:pathLst>
                <a:path w="27939" h="20955">
                  <a:moveTo>
                    <a:pt x="17" y="0"/>
                  </a:moveTo>
                  <a:lnTo>
                    <a:pt x="6919" y="7604"/>
                  </a:lnTo>
                  <a:lnTo>
                    <a:pt x="6914" y="13131"/>
                  </a:lnTo>
                  <a:lnTo>
                    <a:pt x="0" y="20724"/>
                  </a:lnTo>
                  <a:lnTo>
                    <a:pt x="6846" y="16682"/>
                  </a:lnTo>
                  <a:lnTo>
                    <a:pt x="14340" y="13741"/>
                  </a:lnTo>
                  <a:lnTo>
                    <a:pt x="21573" y="11707"/>
                  </a:lnTo>
                  <a:lnTo>
                    <a:pt x="27640" y="10385"/>
                  </a:lnTo>
                  <a:lnTo>
                    <a:pt x="21575" y="9052"/>
                  </a:lnTo>
                  <a:lnTo>
                    <a:pt x="14345" y="7006"/>
                  </a:lnTo>
                  <a:lnTo>
                    <a:pt x="6857" y="405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31461" y="1086653"/>
              <a:ext cx="890905" cy="635"/>
            </a:xfrm>
            <a:custGeom>
              <a:avLst/>
              <a:gdLst/>
              <a:ahLst/>
              <a:cxnLst/>
              <a:rect l="l" t="t" r="r" b="b"/>
              <a:pathLst>
                <a:path w="890905" h="634">
                  <a:moveTo>
                    <a:pt x="0" y="0"/>
                  </a:moveTo>
                  <a:lnTo>
                    <a:pt x="890573" y="23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10981" y="1076314"/>
              <a:ext cx="27940" cy="20955"/>
            </a:xfrm>
            <a:custGeom>
              <a:avLst/>
              <a:gdLst/>
              <a:ahLst/>
              <a:cxnLst/>
              <a:rect l="l" t="t" r="r" b="b"/>
              <a:pathLst>
                <a:path w="27939" h="20955">
                  <a:moveTo>
                    <a:pt x="0" y="0"/>
                  </a:moveTo>
                  <a:lnTo>
                    <a:pt x="6908" y="7599"/>
                  </a:lnTo>
                  <a:lnTo>
                    <a:pt x="6908" y="13125"/>
                  </a:lnTo>
                  <a:lnTo>
                    <a:pt x="0" y="20724"/>
                  </a:lnTo>
                  <a:lnTo>
                    <a:pt x="6843" y="16676"/>
                  </a:lnTo>
                  <a:lnTo>
                    <a:pt x="14334" y="13730"/>
                  </a:lnTo>
                  <a:lnTo>
                    <a:pt x="21566" y="11690"/>
                  </a:lnTo>
                  <a:lnTo>
                    <a:pt x="27632" y="10362"/>
                  </a:lnTo>
                  <a:lnTo>
                    <a:pt x="21566" y="9034"/>
                  </a:lnTo>
                  <a:lnTo>
                    <a:pt x="14334" y="6994"/>
                  </a:lnTo>
                  <a:lnTo>
                    <a:pt x="6843" y="4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04289" y="1162144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h="437515">
                  <a:moveTo>
                    <a:pt x="0" y="437002"/>
                  </a:moveTo>
                  <a:lnTo>
                    <a:pt x="0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93927" y="1145564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40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89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392758" y="1303492"/>
            <a:ext cx="11112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75" i="1" baseline="-24691" dirty="0">
                <a:solidFill>
                  <a:srgbClr val="BF003F"/>
                </a:solidFill>
                <a:latin typeface="Arial"/>
                <a:cs typeface="Arial"/>
              </a:rPr>
              <a:t>f</a:t>
            </a:r>
            <a:r>
              <a:rPr sz="675" i="1" spc="-97" baseline="-24691" dirty="0">
                <a:solidFill>
                  <a:srgbClr val="BF003F"/>
                </a:solidFill>
                <a:latin typeface="Arial"/>
                <a:cs typeface="Arial"/>
              </a:rPr>
              <a:t> </a:t>
            </a:r>
            <a:r>
              <a:rPr sz="300" i="1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762186" y="1447955"/>
            <a:ext cx="20955" cy="153670"/>
            <a:chOff x="1762186" y="1447955"/>
            <a:chExt cx="20955" cy="153670"/>
          </a:xfrm>
        </p:grpSpPr>
        <p:sp>
          <p:nvSpPr>
            <p:cNvPr id="41" name="object 41"/>
            <p:cNvSpPr/>
            <p:nvPr/>
          </p:nvSpPr>
          <p:spPr>
            <a:xfrm>
              <a:off x="1772548" y="1464534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19">
                  <a:moveTo>
                    <a:pt x="5" y="134612"/>
                  </a:moveTo>
                  <a:lnTo>
                    <a:pt x="0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62186" y="1447955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40">
                  <a:moveTo>
                    <a:pt x="0" y="27632"/>
                  </a:moveTo>
                  <a:lnTo>
                    <a:pt x="7598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8"/>
                  </a:lnTo>
                  <a:lnTo>
                    <a:pt x="13729" y="13297"/>
                  </a:lnTo>
                  <a:lnTo>
                    <a:pt x="11689" y="6066"/>
                  </a:lnTo>
                  <a:lnTo>
                    <a:pt x="10361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656679" y="1454215"/>
            <a:ext cx="12192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15" baseline="-24691" dirty="0">
                <a:solidFill>
                  <a:srgbClr val="BF003F"/>
                </a:solidFill>
                <a:latin typeface="Arial"/>
                <a:cs typeface="Arial"/>
              </a:rPr>
              <a:t>u</a:t>
            </a:r>
            <a:r>
              <a:rPr sz="300" i="1" spc="10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762182" y="1145563"/>
            <a:ext cx="277495" cy="467359"/>
            <a:chOff x="1762182" y="1145563"/>
            <a:chExt cx="277495" cy="467359"/>
          </a:xfrm>
        </p:grpSpPr>
        <p:sp>
          <p:nvSpPr>
            <p:cNvPr id="45" name="object 45"/>
            <p:cNvSpPr/>
            <p:nvPr/>
          </p:nvSpPr>
          <p:spPr>
            <a:xfrm>
              <a:off x="1772543" y="1162143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h="167640">
                  <a:moveTo>
                    <a:pt x="0" y="167354"/>
                  </a:moveTo>
                  <a:lnTo>
                    <a:pt x="1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762182" y="1145563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40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90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7"/>
                  </a:lnTo>
                  <a:lnTo>
                    <a:pt x="4047" y="20788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17973" y="1426730"/>
              <a:ext cx="221654" cy="185798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916199" y="1465994"/>
            <a:ext cx="11874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" i="1" spc="-85" dirty="0">
                <a:solidFill>
                  <a:srgbClr val="BF003F"/>
                </a:solidFill>
                <a:latin typeface="Arial"/>
                <a:cs typeface="Arial"/>
              </a:rPr>
              <a:t>c</a:t>
            </a:r>
            <a:r>
              <a:rPr sz="500" spc="-85" dirty="0">
                <a:solidFill>
                  <a:srgbClr val="BF003F"/>
                </a:solidFill>
                <a:latin typeface="Tahoma"/>
                <a:cs typeface="Tahoma"/>
              </a:rPr>
              <a:t>˜</a:t>
            </a:r>
            <a:r>
              <a:rPr sz="450" i="1" spc="-127" baseline="37037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450" baseline="37037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444655" y="1485754"/>
            <a:ext cx="20955" cy="116205"/>
            <a:chOff x="2444655" y="1485754"/>
            <a:chExt cx="20955" cy="116205"/>
          </a:xfrm>
        </p:grpSpPr>
        <p:sp>
          <p:nvSpPr>
            <p:cNvPr id="50" name="object 50"/>
            <p:cNvSpPr/>
            <p:nvPr/>
          </p:nvSpPr>
          <p:spPr>
            <a:xfrm>
              <a:off x="2455016" y="1502333"/>
              <a:ext cx="635" cy="97155"/>
            </a:xfrm>
            <a:custGeom>
              <a:avLst/>
              <a:gdLst/>
              <a:ahLst/>
              <a:cxnLst/>
              <a:rect l="l" t="t" r="r" b="b"/>
              <a:pathLst>
                <a:path w="635" h="97155">
                  <a:moveTo>
                    <a:pt x="8" y="96813"/>
                  </a:moveTo>
                  <a:lnTo>
                    <a:pt x="0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444655" y="1485754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40">
                  <a:moveTo>
                    <a:pt x="0" y="27633"/>
                  </a:moveTo>
                  <a:lnTo>
                    <a:pt x="7598" y="20724"/>
                  </a:lnTo>
                  <a:lnTo>
                    <a:pt x="13124" y="20723"/>
                  </a:lnTo>
                  <a:lnTo>
                    <a:pt x="20724" y="27631"/>
                  </a:lnTo>
                  <a:lnTo>
                    <a:pt x="16675" y="20788"/>
                  </a:lnTo>
                  <a:lnTo>
                    <a:pt x="13728" y="13297"/>
                  </a:lnTo>
                  <a:lnTo>
                    <a:pt x="11688" y="6066"/>
                  </a:lnTo>
                  <a:lnTo>
                    <a:pt x="10359" y="0"/>
                  </a:lnTo>
                  <a:lnTo>
                    <a:pt x="9032" y="6066"/>
                  </a:lnTo>
                  <a:lnTo>
                    <a:pt x="6993" y="13298"/>
                  </a:lnTo>
                  <a:lnTo>
                    <a:pt x="4047" y="20789"/>
                  </a:lnTo>
                  <a:lnTo>
                    <a:pt x="0" y="276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443476" y="1473113"/>
            <a:ext cx="12065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7" baseline="-24691" dirty="0">
                <a:solidFill>
                  <a:srgbClr val="BF003F"/>
                </a:solidFill>
                <a:latin typeface="Arial"/>
                <a:cs typeface="Arial"/>
              </a:rPr>
              <a:t>o</a:t>
            </a:r>
            <a:r>
              <a:rPr sz="300" i="1" spc="5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444633" y="1294537"/>
            <a:ext cx="323215" cy="375285"/>
            <a:chOff x="2444633" y="1294537"/>
            <a:chExt cx="323215" cy="375285"/>
          </a:xfrm>
        </p:grpSpPr>
        <p:sp>
          <p:nvSpPr>
            <p:cNvPr id="54" name="object 54"/>
            <p:cNvSpPr/>
            <p:nvPr/>
          </p:nvSpPr>
          <p:spPr>
            <a:xfrm>
              <a:off x="2454984" y="1296759"/>
              <a:ext cx="635" cy="53975"/>
            </a:xfrm>
            <a:custGeom>
              <a:avLst/>
              <a:gdLst/>
              <a:ahLst/>
              <a:cxnLst/>
              <a:rect l="l" t="t" r="r" b="b"/>
              <a:pathLst>
                <a:path w="635" h="53975">
                  <a:moveTo>
                    <a:pt x="0" y="0"/>
                  </a:moveTo>
                  <a:lnTo>
                    <a:pt x="13" y="53957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444633" y="1339662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40">
                  <a:moveTo>
                    <a:pt x="20724" y="0"/>
                  </a:moveTo>
                  <a:lnTo>
                    <a:pt x="13126" y="6909"/>
                  </a:lnTo>
                  <a:lnTo>
                    <a:pt x="7600" y="6911"/>
                  </a:lnTo>
                  <a:lnTo>
                    <a:pt x="0" y="4"/>
                  </a:lnTo>
                  <a:lnTo>
                    <a:pt x="4049" y="6847"/>
                  </a:lnTo>
                  <a:lnTo>
                    <a:pt x="6997" y="14337"/>
                  </a:lnTo>
                  <a:lnTo>
                    <a:pt x="9039" y="21568"/>
                  </a:lnTo>
                  <a:lnTo>
                    <a:pt x="10368" y="27634"/>
                  </a:lnTo>
                  <a:lnTo>
                    <a:pt x="11694" y="21568"/>
                  </a:lnTo>
                  <a:lnTo>
                    <a:pt x="13733" y="14335"/>
                  </a:lnTo>
                  <a:lnTo>
                    <a:pt x="16678" y="6844"/>
                  </a:lnTo>
                  <a:lnTo>
                    <a:pt x="20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14243" y="1426530"/>
              <a:ext cx="134620" cy="0"/>
            </a:xfrm>
            <a:custGeom>
              <a:avLst/>
              <a:gdLst/>
              <a:ahLst/>
              <a:cxnLst/>
              <a:rect l="l" t="t" r="r" b="b"/>
              <a:pathLst>
                <a:path w="134619">
                  <a:moveTo>
                    <a:pt x="0" y="0"/>
                  </a:moveTo>
                  <a:lnTo>
                    <a:pt x="134567" y="5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637758" y="1416173"/>
              <a:ext cx="27940" cy="20955"/>
            </a:xfrm>
            <a:custGeom>
              <a:avLst/>
              <a:gdLst/>
              <a:ahLst/>
              <a:cxnLst/>
              <a:rect l="l" t="t" r="r" b="b"/>
              <a:pathLst>
                <a:path w="27939" h="20955">
                  <a:moveTo>
                    <a:pt x="0" y="0"/>
                  </a:moveTo>
                  <a:lnTo>
                    <a:pt x="6908" y="7599"/>
                  </a:lnTo>
                  <a:lnTo>
                    <a:pt x="6908" y="13125"/>
                  </a:lnTo>
                  <a:lnTo>
                    <a:pt x="0" y="20724"/>
                  </a:lnTo>
                  <a:lnTo>
                    <a:pt x="6843" y="16676"/>
                  </a:lnTo>
                  <a:lnTo>
                    <a:pt x="14334" y="13730"/>
                  </a:lnTo>
                  <a:lnTo>
                    <a:pt x="21566" y="11690"/>
                  </a:lnTo>
                  <a:lnTo>
                    <a:pt x="27632" y="10362"/>
                  </a:lnTo>
                  <a:lnTo>
                    <a:pt x="21566" y="9034"/>
                  </a:lnTo>
                  <a:lnTo>
                    <a:pt x="14334" y="6994"/>
                  </a:lnTo>
                  <a:lnTo>
                    <a:pt x="6843" y="4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757371" y="1518574"/>
              <a:ext cx="635" cy="134620"/>
            </a:xfrm>
            <a:custGeom>
              <a:avLst/>
              <a:gdLst/>
              <a:ahLst/>
              <a:cxnLst/>
              <a:rect l="l" t="t" r="r" b="b"/>
              <a:pathLst>
                <a:path w="635" h="134619">
                  <a:moveTo>
                    <a:pt x="13" y="0"/>
                  </a:moveTo>
                  <a:lnTo>
                    <a:pt x="0" y="134624"/>
                  </a:lnTo>
                </a:path>
              </a:pathLst>
            </a:custGeom>
            <a:ln w="4251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747010" y="1642145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39">
                  <a:moveTo>
                    <a:pt x="20724" y="1"/>
                  </a:moveTo>
                  <a:lnTo>
                    <a:pt x="13124" y="6909"/>
                  </a:lnTo>
                  <a:lnTo>
                    <a:pt x="7598" y="6908"/>
                  </a:lnTo>
                  <a:lnTo>
                    <a:pt x="0" y="0"/>
                  </a:lnTo>
                  <a:lnTo>
                    <a:pt x="4047" y="6843"/>
                  </a:lnTo>
                  <a:lnTo>
                    <a:pt x="6993" y="14334"/>
                  </a:lnTo>
                  <a:lnTo>
                    <a:pt x="9032" y="21566"/>
                  </a:lnTo>
                  <a:lnTo>
                    <a:pt x="10359" y="27633"/>
                  </a:lnTo>
                  <a:lnTo>
                    <a:pt x="11688" y="21567"/>
                  </a:lnTo>
                  <a:lnTo>
                    <a:pt x="13728" y="14335"/>
                  </a:lnTo>
                  <a:lnTo>
                    <a:pt x="16675" y="6844"/>
                  </a:lnTo>
                  <a:lnTo>
                    <a:pt x="20724" y="1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2702148" y="1544572"/>
            <a:ext cx="22669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dirty="0">
                <a:solidFill>
                  <a:srgbClr val="BF003F"/>
                </a:solidFill>
                <a:latin typeface="Microsoft Sans Serif"/>
                <a:cs typeface="Microsoft Sans Serif"/>
              </a:rPr>
              <a:t>softmax</a:t>
            </a:r>
            <a:endParaRPr sz="450">
              <a:latin typeface="Microsoft Sans Serif"/>
              <a:cs typeface="Microsoft Sans Serif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055532" y="988650"/>
            <a:ext cx="1545590" cy="919480"/>
            <a:chOff x="1055532" y="988650"/>
            <a:chExt cx="1545590" cy="919480"/>
          </a:xfrm>
        </p:grpSpPr>
        <p:sp>
          <p:nvSpPr>
            <p:cNvPr id="62" name="object 62"/>
            <p:cNvSpPr/>
            <p:nvPr/>
          </p:nvSpPr>
          <p:spPr>
            <a:xfrm>
              <a:off x="2468512" y="1086677"/>
              <a:ext cx="5715" cy="38735"/>
            </a:xfrm>
            <a:custGeom>
              <a:avLst/>
              <a:gdLst/>
              <a:ahLst/>
              <a:cxnLst/>
              <a:rect l="l" t="t" r="r" b="b"/>
              <a:pathLst>
                <a:path w="5714" h="38734">
                  <a:moveTo>
                    <a:pt x="5510" y="0"/>
                  </a:moveTo>
                  <a:lnTo>
                    <a:pt x="0" y="38227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459833" y="1112486"/>
              <a:ext cx="20955" cy="29209"/>
            </a:xfrm>
            <a:custGeom>
              <a:avLst/>
              <a:gdLst/>
              <a:ahLst/>
              <a:cxnLst/>
              <a:rect l="l" t="t" r="r" b="b"/>
              <a:pathLst>
                <a:path w="20955" h="29209">
                  <a:moveTo>
                    <a:pt x="20511" y="2955"/>
                  </a:moveTo>
                  <a:lnTo>
                    <a:pt x="12005" y="8709"/>
                  </a:lnTo>
                  <a:lnTo>
                    <a:pt x="6535" y="7921"/>
                  </a:lnTo>
                  <a:lnTo>
                    <a:pt x="0" y="0"/>
                  </a:lnTo>
                  <a:lnTo>
                    <a:pt x="3030" y="7350"/>
                  </a:lnTo>
                  <a:lnTo>
                    <a:pt x="4878" y="15184"/>
                  </a:lnTo>
                  <a:lnTo>
                    <a:pt x="5866" y="22633"/>
                  </a:lnTo>
                  <a:lnTo>
                    <a:pt x="6314" y="28826"/>
                  </a:lnTo>
                  <a:lnTo>
                    <a:pt x="8494" y="23012"/>
                  </a:lnTo>
                  <a:lnTo>
                    <a:pt x="11544" y="16145"/>
                  </a:lnTo>
                  <a:lnTo>
                    <a:pt x="15529" y="9151"/>
                  </a:lnTo>
                  <a:lnTo>
                    <a:pt x="20511" y="2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57754" y="1768908"/>
              <a:ext cx="346710" cy="61594"/>
            </a:xfrm>
            <a:custGeom>
              <a:avLst/>
              <a:gdLst/>
              <a:ahLst/>
              <a:cxnLst/>
              <a:rect l="l" t="t" r="r" b="b"/>
              <a:pathLst>
                <a:path w="346709" h="61594">
                  <a:moveTo>
                    <a:pt x="2" y="0"/>
                  </a:moveTo>
                  <a:lnTo>
                    <a:pt x="0" y="55938"/>
                  </a:lnTo>
                </a:path>
                <a:path w="346709" h="61594">
                  <a:moveTo>
                    <a:pt x="0" y="55938"/>
                  </a:moveTo>
                  <a:lnTo>
                    <a:pt x="346534" y="61278"/>
                  </a:lnTo>
                </a:path>
                <a:path w="346709" h="61594">
                  <a:moveTo>
                    <a:pt x="346534" y="61278"/>
                  </a:moveTo>
                  <a:lnTo>
                    <a:pt x="346534" y="2264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393927" y="1754593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39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89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404289" y="1771172"/>
              <a:ext cx="368300" cy="59055"/>
            </a:xfrm>
            <a:custGeom>
              <a:avLst/>
              <a:gdLst/>
              <a:ahLst/>
              <a:cxnLst/>
              <a:rect l="l" t="t" r="r" b="b"/>
              <a:pathLst>
                <a:path w="368300" h="59055">
                  <a:moveTo>
                    <a:pt x="0" y="59014"/>
                  </a:moveTo>
                  <a:lnTo>
                    <a:pt x="368258" y="59014"/>
                  </a:lnTo>
                </a:path>
                <a:path w="368300" h="59055">
                  <a:moveTo>
                    <a:pt x="368258" y="59014"/>
                  </a:moveTo>
                  <a:lnTo>
                    <a:pt x="368259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762186" y="1754593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39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90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7"/>
                  </a:lnTo>
                  <a:lnTo>
                    <a:pt x="4047" y="20788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772548" y="1771172"/>
              <a:ext cx="344805" cy="59055"/>
            </a:xfrm>
            <a:custGeom>
              <a:avLst/>
              <a:gdLst/>
              <a:ahLst/>
              <a:cxnLst/>
              <a:rect l="l" t="t" r="r" b="b"/>
              <a:pathLst>
                <a:path w="344805" h="59055">
                  <a:moveTo>
                    <a:pt x="0" y="59014"/>
                  </a:moveTo>
                  <a:lnTo>
                    <a:pt x="344425" y="59014"/>
                  </a:lnTo>
                </a:path>
                <a:path w="344805" h="59055">
                  <a:moveTo>
                    <a:pt x="344425" y="59014"/>
                  </a:moveTo>
                  <a:lnTo>
                    <a:pt x="344425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06611" y="1754593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39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89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16973" y="1771172"/>
              <a:ext cx="338455" cy="59055"/>
            </a:xfrm>
            <a:custGeom>
              <a:avLst/>
              <a:gdLst/>
              <a:ahLst/>
              <a:cxnLst/>
              <a:rect l="l" t="t" r="r" b="b"/>
              <a:pathLst>
                <a:path w="338455" h="59055">
                  <a:moveTo>
                    <a:pt x="0" y="59014"/>
                  </a:moveTo>
                  <a:lnTo>
                    <a:pt x="338041" y="59014"/>
                  </a:lnTo>
                </a:path>
                <a:path w="338455" h="59055">
                  <a:moveTo>
                    <a:pt x="338041" y="59014"/>
                  </a:moveTo>
                  <a:lnTo>
                    <a:pt x="338042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444653" y="1754593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39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89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404289" y="1846766"/>
              <a:ext cx="0" cy="59055"/>
            </a:xfrm>
            <a:custGeom>
              <a:avLst/>
              <a:gdLst/>
              <a:ahLst/>
              <a:cxnLst/>
              <a:rect l="l" t="t" r="r" b="b"/>
              <a:pathLst>
                <a:path h="59055">
                  <a:moveTo>
                    <a:pt x="0" y="59017"/>
                  </a:moveTo>
                  <a:lnTo>
                    <a:pt x="0" y="0"/>
                  </a:lnTo>
                </a:path>
              </a:pathLst>
            </a:custGeom>
            <a:ln w="4251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393927" y="1830187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39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89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263747" y="989920"/>
              <a:ext cx="1336040" cy="802005"/>
            </a:xfrm>
            <a:custGeom>
              <a:avLst/>
              <a:gdLst/>
              <a:ahLst/>
              <a:cxnLst/>
              <a:rect l="l" t="t" r="r" b="b"/>
              <a:pathLst>
                <a:path w="1336039" h="802005">
                  <a:moveTo>
                    <a:pt x="0" y="801884"/>
                  </a:moveTo>
                  <a:lnTo>
                    <a:pt x="1335884" y="801884"/>
                  </a:lnTo>
                  <a:lnTo>
                    <a:pt x="1335884" y="0"/>
                  </a:lnTo>
                  <a:lnTo>
                    <a:pt x="0" y="0"/>
                  </a:lnTo>
                  <a:lnTo>
                    <a:pt x="0" y="801884"/>
                  </a:lnTo>
                  <a:close/>
                </a:path>
              </a:pathLst>
            </a:custGeom>
            <a:ln w="3175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571119" y="1601268"/>
            <a:ext cx="202565" cy="151765"/>
          </a:xfrm>
          <a:prstGeom prst="rect">
            <a:avLst/>
          </a:prstGeom>
          <a:ln w="4251">
            <a:solidFill>
              <a:srgbClr val="0000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254"/>
              </a:spcBef>
            </a:pPr>
            <a:r>
              <a:rPr sz="450" spc="-5" dirty="0">
                <a:latin typeface="Microsoft Sans Serif"/>
                <a:cs typeface="Microsoft Sans Serif"/>
              </a:rPr>
              <a:t>Forget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928965" y="1601268"/>
            <a:ext cx="223520" cy="151765"/>
          </a:xfrm>
          <a:prstGeom prst="rect">
            <a:avLst/>
          </a:prstGeom>
          <a:ln w="4251">
            <a:solidFill>
              <a:srgbClr val="0000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260"/>
              </a:spcBef>
            </a:pPr>
            <a:r>
              <a:rPr sz="450" dirty="0">
                <a:latin typeface="Microsoft Sans Serif"/>
                <a:cs typeface="Microsoft Sans Serif"/>
              </a:rPr>
              <a:t>Update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307684" y="1601268"/>
            <a:ext cx="154940" cy="151765"/>
          </a:xfrm>
          <a:custGeom>
            <a:avLst/>
            <a:gdLst/>
            <a:ahLst/>
            <a:cxnLst/>
            <a:rect l="l" t="t" r="r" b="b"/>
            <a:pathLst>
              <a:path w="154939" h="151764">
                <a:moveTo>
                  <a:pt x="0" y="151201"/>
                </a:moveTo>
                <a:lnTo>
                  <a:pt x="154761" y="151201"/>
                </a:lnTo>
                <a:lnTo>
                  <a:pt x="154761" y="0"/>
                </a:lnTo>
                <a:lnTo>
                  <a:pt x="0" y="0"/>
                </a:lnTo>
                <a:lnTo>
                  <a:pt x="0" y="151201"/>
                </a:lnTo>
                <a:close/>
              </a:path>
            </a:pathLst>
          </a:custGeom>
          <a:ln w="42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4314077" y="1622542"/>
            <a:ext cx="14224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0" dirty="0">
                <a:latin typeface="Tahoma"/>
                <a:cs typeface="Tahoma"/>
              </a:rPr>
              <a:t>tanh</a:t>
            </a:r>
            <a:endParaRPr sz="500">
              <a:latin typeface="Tahoma"/>
              <a:cs typeface="Tahom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617863" y="1601268"/>
            <a:ext cx="210820" cy="151765"/>
          </a:xfrm>
          <a:prstGeom prst="rect">
            <a:avLst/>
          </a:prstGeom>
          <a:ln w="4251">
            <a:solidFill>
              <a:srgbClr val="0000FF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265"/>
              </a:spcBef>
            </a:pPr>
            <a:r>
              <a:rPr sz="450" dirty="0">
                <a:latin typeface="Microsoft Sans Serif"/>
                <a:cs typeface="Microsoft Sans Serif"/>
              </a:rPr>
              <a:t>Output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614149" y="1028140"/>
            <a:ext cx="116839" cy="116839"/>
          </a:xfrm>
          <a:custGeom>
            <a:avLst/>
            <a:gdLst/>
            <a:ahLst/>
            <a:cxnLst/>
            <a:rect l="l" t="t" r="r" b="b"/>
            <a:pathLst>
              <a:path w="116839" h="116840">
                <a:moveTo>
                  <a:pt x="116337" y="58168"/>
                </a:moveTo>
                <a:lnTo>
                  <a:pt x="111766" y="35526"/>
                </a:lnTo>
                <a:lnTo>
                  <a:pt x="99300" y="17037"/>
                </a:lnTo>
                <a:lnTo>
                  <a:pt x="80810" y="4571"/>
                </a:lnTo>
                <a:lnTo>
                  <a:pt x="58168" y="0"/>
                </a:lnTo>
                <a:lnTo>
                  <a:pt x="35526" y="4571"/>
                </a:lnTo>
                <a:lnTo>
                  <a:pt x="17037" y="17037"/>
                </a:lnTo>
                <a:lnTo>
                  <a:pt x="4571" y="35526"/>
                </a:lnTo>
                <a:lnTo>
                  <a:pt x="0" y="58168"/>
                </a:lnTo>
                <a:lnTo>
                  <a:pt x="4571" y="80810"/>
                </a:lnTo>
                <a:lnTo>
                  <a:pt x="17037" y="99300"/>
                </a:lnTo>
                <a:lnTo>
                  <a:pt x="35526" y="111766"/>
                </a:lnTo>
                <a:lnTo>
                  <a:pt x="58168" y="116337"/>
                </a:lnTo>
                <a:lnTo>
                  <a:pt x="80810" y="111766"/>
                </a:lnTo>
                <a:lnTo>
                  <a:pt x="99300" y="99300"/>
                </a:lnTo>
                <a:lnTo>
                  <a:pt x="111766" y="80810"/>
                </a:lnTo>
                <a:lnTo>
                  <a:pt x="116337" y="58168"/>
                </a:lnTo>
                <a:close/>
              </a:path>
            </a:pathLst>
          </a:custGeom>
          <a:ln w="3175">
            <a:solidFill>
              <a:srgbClr val="BF00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3636910" y="1025790"/>
            <a:ext cx="755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110" dirty="0">
                <a:latin typeface="MS UI Gothic"/>
                <a:cs typeface="MS UI Gothic"/>
              </a:rPr>
              <a:t>Ⓢ</a:t>
            </a:r>
            <a:endParaRPr sz="500">
              <a:latin typeface="MS UI Gothic"/>
              <a:cs typeface="MS UI Gothic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3982739" y="1028771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5">
                <a:moveTo>
                  <a:pt x="115707" y="57853"/>
                </a:moveTo>
                <a:lnTo>
                  <a:pt x="111160" y="35334"/>
                </a:lnTo>
                <a:lnTo>
                  <a:pt x="98762" y="16944"/>
                </a:lnTo>
                <a:lnTo>
                  <a:pt x="80372" y="4546"/>
                </a:lnTo>
                <a:lnTo>
                  <a:pt x="57853" y="0"/>
                </a:lnTo>
                <a:lnTo>
                  <a:pt x="35334" y="4546"/>
                </a:lnTo>
                <a:lnTo>
                  <a:pt x="16944" y="16944"/>
                </a:lnTo>
                <a:lnTo>
                  <a:pt x="4546" y="35334"/>
                </a:lnTo>
                <a:lnTo>
                  <a:pt x="0" y="57853"/>
                </a:lnTo>
                <a:lnTo>
                  <a:pt x="4546" y="80372"/>
                </a:lnTo>
                <a:lnTo>
                  <a:pt x="16944" y="98762"/>
                </a:lnTo>
                <a:lnTo>
                  <a:pt x="35334" y="111160"/>
                </a:lnTo>
                <a:lnTo>
                  <a:pt x="57853" y="115707"/>
                </a:lnTo>
                <a:lnTo>
                  <a:pt x="80372" y="111160"/>
                </a:lnTo>
                <a:lnTo>
                  <a:pt x="98762" y="98762"/>
                </a:lnTo>
                <a:lnTo>
                  <a:pt x="111160" y="80372"/>
                </a:lnTo>
                <a:lnTo>
                  <a:pt x="115707" y="57853"/>
                </a:lnTo>
                <a:close/>
              </a:path>
            </a:pathLst>
          </a:custGeom>
          <a:ln w="3175">
            <a:solidFill>
              <a:srgbClr val="BF00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4005180" y="1026104"/>
            <a:ext cx="7429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15" dirty="0">
                <a:latin typeface="Tahoma"/>
                <a:cs typeface="Tahoma"/>
              </a:rPr>
              <a:t>+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84" name="object 8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1361" y="1329481"/>
            <a:ext cx="118463" cy="118463"/>
          </a:xfrm>
          <a:prstGeom prst="rect">
            <a:avLst/>
          </a:prstGeom>
        </p:spPr>
      </p:pic>
      <p:sp>
        <p:nvSpPr>
          <p:cNvPr id="85" name="object 85"/>
          <p:cNvSpPr txBox="1"/>
          <p:nvPr/>
        </p:nvSpPr>
        <p:spPr>
          <a:xfrm>
            <a:off x="4005180" y="1328190"/>
            <a:ext cx="755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110" dirty="0">
                <a:latin typeface="MS UI Gothic"/>
                <a:cs typeface="MS UI Gothic"/>
              </a:rPr>
              <a:t>Ⓢ</a:t>
            </a:r>
            <a:endParaRPr sz="500">
              <a:latin typeface="MS UI Gothic"/>
              <a:cs typeface="MS UI Gothic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645709" y="1143415"/>
            <a:ext cx="154940" cy="151765"/>
          </a:xfrm>
          <a:custGeom>
            <a:avLst/>
            <a:gdLst/>
            <a:ahLst/>
            <a:cxnLst/>
            <a:rect l="l" t="t" r="r" b="b"/>
            <a:pathLst>
              <a:path w="154939" h="151765">
                <a:moveTo>
                  <a:pt x="0" y="151201"/>
                </a:moveTo>
                <a:lnTo>
                  <a:pt x="154761" y="151201"/>
                </a:lnTo>
                <a:lnTo>
                  <a:pt x="154761" y="0"/>
                </a:lnTo>
                <a:lnTo>
                  <a:pt x="0" y="0"/>
                </a:lnTo>
                <a:lnTo>
                  <a:pt x="0" y="151201"/>
                </a:lnTo>
                <a:close/>
              </a:path>
            </a:pathLst>
          </a:custGeom>
          <a:ln w="42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4652098" y="1164692"/>
            <a:ext cx="14224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0" dirty="0">
                <a:latin typeface="Tahoma"/>
                <a:cs typeface="Tahoma"/>
              </a:rPr>
              <a:t>tanh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88" name="object 8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3858" y="1367282"/>
            <a:ext cx="118463" cy="118463"/>
          </a:xfrm>
          <a:prstGeom prst="rect">
            <a:avLst/>
          </a:prstGeom>
        </p:spPr>
      </p:pic>
      <p:sp>
        <p:nvSpPr>
          <p:cNvPr id="89" name="object 89"/>
          <p:cNvSpPr txBox="1"/>
          <p:nvPr/>
        </p:nvSpPr>
        <p:spPr>
          <a:xfrm>
            <a:off x="4687671" y="1365987"/>
            <a:ext cx="755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110" dirty="0">
                <a:latin typeface="MS UI Gothic"/>
                <a:cs typeface="MS UI Gothic"/>
              </a:rPr>
              <a:t>Ⓢ</a:t>
            </a:r>
            <a:endParaRPr sz="500">
              <a:latin typeface="MS UI Gothic"/>
              <a:cs typeface="MS UI Gothic"/>
            </a:endParaRPr>
          </a:p>
        </p:txBody>
      </p:sp>
      <p:pic>
        <p:nvPicPr>
          <p:cNvPr id="90" name="object 9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33708" y="1584825"/>
            <a:ext cx="184088" cy="184088"/>
          </a:xfrm>
          <a:prstGeom prst="rect">
            <a:avLst/>
          </a:prstGeom>
        </p:spPr>
      </p:pic>
      <p:sp>
        <p:nvSpPr>
          <p:cNvPr id="91" name="object 91"/>
          <p:cNvSpPr txBox="1"/>
          <p:nvPr/>
        </p:nvSpPr>
        <p:spPr>
          <a:xfrm>
            <a:off x="3227147" y="1608212"/>
            <a:ext cx="249554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44" baseline="-24691" dirty="0">
                <a:latin typeface="Arial"/>
                <a:cs typeface="Arial"/>
              </a:rPr>
              <a:t>a</a:t>
            </a:r>
            <a:r>
              <a:rPr sz="300" i="1" spc="30" dirty="0">
                <a:latin typeface="Verdana"/>
                <a:cs typeface="Verdana"/>
              </a:rPr>
              <a:t>&lt;</a:t>
            </a:r>
            <a:r>
              <a:rPr sz="300" i="1" spc="30" dirty="0">
                <a:latin typeface="Arial"/>
                <a:cs typeface="Arial"/>
              </a:rPr>
              <a:t>t−</a:t>
            </a:r>
            <a:r>
              <a:rPr sz="300" spc="30" dirty="0">
                <a:latin typeface="Microsoft Sans Serif"/>
                <a:cs typeface="Microsoft Sans Serif"/>
              </a:rPr>
              <a:t>1</a:t>
            </a:r>
            <a:r>
              <a:rPr sz="300" i="1" spc="30" dirty="0">
                <a:latin typeface="Verdana"/>
                <a:cs typeface="Verdana"/>
              </a:rPr>
              <a:t>&gt;</a:t>
            </a:r>
            <a:endParaRPr sz="300">
              <a:latin typeface="Verdana"/>
              <a:cs typeface="Verdana"/>
            </a:endParaRPr>
          </a:p>
        </p:txBody>
      </p:sp>
      <p:pic>
        <p:nvPicPr>
          <p:cNvPr id="92" name="object 9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80677" y="1905794"/>
            <a:ext cx="183281" cy="183281"/>
          </a:xfrm>
          <a:prstGeom prst="rect">
            <a:avLst/>
          </a:prstGeom>
        </p:spPr>
      </p:pic>
      <p:sp>
        <p:nvSpPr>
          <p:cNvPr id="93" name="object 93"/>
          <p:cNvSpPr txBox="1"/>
          <p:nvPr/>
        </p:nvSpPr>
        <p:spPr>
          <a:xfrm>
            <a:off x="3573708" y="1928567"/>
            <a:ext cx="19494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44" baseline="-24691" dirty="0">
                <a:latin typeface="Arial"/>
                <a:cs typeface="Arial"/>
              </a:rPr>
              <a:t>x</a:t>
            </a:r>
            <a:r>
              <a:rPr sz="300" i="1" spc="30" dirty="0">
                <a:latin typeface="Verdana"/>
                <a:cs typeface="Verdana"/>
              </a:rPr>
              <a:t>&lt;</a:t>
            </a:r>
            <a:r>
              <a:rPr sz="300" i="1" spc="30" dirty="0">
                <a:latin typeface="Arial"/>
                <a:cs typeface="Arial"/>
              </a:rPr>
              <a:t>t</a:t>
            </a:r>
            <a:r>
              <a:rPr sz="300" i="1" spc="30" dirty="0">
                <a:latin typeface="Verdana"/>
                <a:cs typeface="Verdana"/>
              </a:rPr>
              <a:t>&gt;</a:t>
            </a:r>
            <a:endParaRPr sz="300">
              <a:latin typeface="Verdana"/>
              <a:cs typeface="Verdana"/>
            </a:endParaRPr>
          </a:p>
        </p:txBody>
      </p:sp>
      <p:pic>
        <p:nvPicPr>
          <p:cNvPr id="94" name="object 9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33474" y="1334480"/>
            <a:ext cx="184088" cy="184088"/>
          </a:xfrm>
          <a:prstGeom prst="rect">
            <a:avLst/>
          </a:prstGeom>
        </p:spPr>
      </p:pic>
      <p:sp>
        <p:nvSpPr>
          <p:cNvPr id="95" name="object 95"/>
          <p:cNvSpPr txBox="1"/>
          <p:nvPr/>
        </p:nvSpPr>
        <p:spPr>
          <a:xfrm>
            <a:off x="4926896" y="1357189"/>
            <a:ext cx="19304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30" baseline="-24691" dirty="0">
                <a:latin typeface="Arial"/>
                <a:cs typeface="Arial"/>
              </a:rPr>
              <a:t>a</a:t>
            </a:r>
            <a:r>
              <a:rPr sz="300" i="1" spc="20" dirty="0">
                <a:latin typeface="Verdana"/>
                <a:cs typeface="Verdana"/>
              </a:rPr>
              <a:t>&lt;</a:t>
            </a:r>
            <a:r>
              <a:rPr sz="300" i="1" spc="20" dirty="0">
                <a:latin typeface="Arial"/>
                <a:cs typeface="Arial"/>
              </a:rPr>
              <a:t>t</a:t>
            </a:r>
            <a:r>
              <a:rPr sz="300" i="1" spc="20" dirty="0">
                <a:latin typeface="Verdana"/>
                <a:cs typeface="Verdana"/>
              </a:rPr>
              <a:t>&gt;</a:t>
            </a:r>
            <a:endParaRPr sz="300">
              <a:latin typeface="Verdana"/>
              <a:cs typeface="Verdana"/>
            </a:endParaRPr>
          </a:p>
        </p:txBody>
      </p:sp>
      <p:pic>
        <p:nvPicPr>
          <p:cNvPr id="96" name="object 9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30910" y="1669777"/>
            <a:ext cx="189096" cy="189096"/>
          </a:xfrm>
          <a:prstGeom prst="rect">
            <a:avLst/>
          </a:prstGeom>
        </p:spPr>
      </p:pic>
      <p:sp>
        <p:nvSpPr>
          <p:cNvPr id="97" name="object 97"/>
          <p:cNvSpPr txBox="1"/>
          <p:nvPr/>
        </p:nvSpPr>
        <p:spPr>
          <a:xfrm>
            <a:off x="4926832" y="1689316"/>
            <a:ext cx="19558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44" baseline="-24691" dirty="0">
                <a:latin typeface="Arial"/>
                <a:cs typeface="Arial"/>
              </a:rPr>
              <a:t>y</a:t>
            </a:r>
            <a:r>
              <a:rPr sz="300" i="1" spc="30" dirty="0">
                <a:latin typeface="Verdana"/>
                <a:cs typeface="Verdana"/>
              </a:rPr>
              <a:t>&lt;</a:t>
            </a:r>
            <a:r>
              <a:rPr sz="300" i="1" spc="30" dirty="0">
                <a:latin typeface="Arial"/>
                <a:cs typeface="Arial"/>
              </a:rPr>
              <a:t>t</a:t>
            </a:r>
            <a:r>
              <a:rPr sz="300" i="1" spc="30" dirty="0">
                <a:latin typeface="Verdana"/>
                <a:cs typeface="Verdana"/>
              </a:rPr>
              <a:t>&gt;</a:t>
            </a:r>
            <a:endParaRPr sz="300">
              <a:latin typeface="Verdana"/>
              <a:cs typeface="Verdana"/>
            </a:endParaRPr>
          </a:p>
        </p:txBody>
      </p:sp>
      <p:pic>
        <p:nvPicPr>
          <p:cNvPr id="98" name="object 9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06701" y="994606"/>
            <a:ext cx="184088" cy="184088"/>
          </a:xfrm>
          <a:prstGeom prst="rect">
            <a:avLst/>
          </a:prstGeom>
        </p:spPr>
      </p:pic>
      <p:sp>
        <p:nvSpPr>
          <p:cNvPr id="99" name="object 99"/>
          <p:cNvSpPr txBox="1"/>
          <p:nvPr/>
        </p:nvSpPr>
        <p:spPr>
          <a:xfrm>
            <a:off x="5000121" y="1017317"/>
            <a:ext cx="11874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15" baseline="-24691" dirty="0">
                <a:latin typeface="Arial"/>
                <a:cs typeface="Arial"/>
              </a:rPr>
              <a:t>c</a:t>
            </a:r>
            <a:r>
              <a:rPr sz="300" i="1" spc="10" dirty="0">
                <a:latin typeface="Arial"/>
                <a:cs typeface="Arial"/>
              </a:rPr>
              <a:t>t</a:t>
            </a:r>
            <a:endParaRPr sz="30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3278861" y="995354"/>
            <a:ext cx="182245" cy="182245"/>
          </a:xfrm>
          <a:custGeom>
            <a:avLst/>
            <a:gdLst/>
            <a:ahLst/>
            <a:cxnLst/>
            <a:rect l="l" t="t" r="r" b="b"/>
            <a:pathLst>
              <a:path w="182245" h="182244">
                <a:moveTo>
                  <a:pt x="181962" y="90981"/>
                </a:moveTo>
                <a:lnTo>
                  <a:pt x="174812" y="55567"/>
                </a:lnTo>
                <a:lnTo>
                  <a:pt x="155315" y="26647"/>
                </a:lnTo>
                <a:lnTo>
                  <a:pt x="126395" y="7149"/>
                </a:lnTo>
                <a:lnTo>
                  <a:pt x="90981" y="0"/>
                </a:lnTo>
                <a:lnTo>
                  <a:pt x="55567" y="7149"/>
                </a:lnTo>
                <a:lnTo>
                  <a:pt x="26647" y="26647"/>
                </a:lnTo>
                <a:lnTo>
                  <a:pt x="7149" y="55567"/>
                </a:lnTo>
                <a:lnTo>
                  <a:pt x="0" y="90981"/>
                </a:lnTo>
                <a:lnTo>
                  <a:pt x="7149" y="126395"/>
                </a:lnTo>
                <a:lnTo>
                  <a:pt x="26647" y="155315"/>
                </a:lnTo>
                <a:lnTo>
                  <a:pt x="55567" y="174813"/>
                </a:lnTo>
                <a:lnTo>
                  <a:pt x="90981" y="181962"/>
                </a:lnTo>
                <a:lnTo>
                  <a:pt x="126395" y="174813"/>
                </a:lnTo>
                <a:lnTo>
                  <a:pt x="155315" y="155315"/>
                </a:lnTo>
                <a:lnTo>
                  <a:pt x="174812" y="126395"/>
                </a:lnTo>
                <a:lnTo>
                  <a:pt x="181962" y="90981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3271238" y="1017685"/>
            <a:ext cx="17843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52" baseline="-24691" dirty="0">
                <a:latin typeface="Arial"/>
                <a:cs typeface="Arial"/>
              </a:rPr>
              <a:t>c</a:t>
            </a:r>
            <a:r>
              <a:rPr sz="300" i="1" spc="35" dirty="0">
                <a:latin typeface="Arial"/>
                <a:cs typeface="Arial"/>
              </a:rPr>
              <a:t>t−</a:t>
            </a:r>
            <a:r>
              <a:rPr sz="300" spc="35" dirty="0">
                <a:latin typeface="Microsoft Sans Serif"/>
                <a:cs typeface="Microsoft Sans Serif"/>
              </a:rPr>
              <a:t>1</a:t>
            </a:r>
            <a:endParaRPr sz="300">
              <a:latin typeface="Microsoft Sans Serif"/>
              <a:cs typeface="Microsoft Sans Serif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3459672" y="1075987"/>
            <a:ext cx="1547495" cy="525780"/>
            <a:chOff x="3459672" y="1075987"/>
            <a:chExt cx="1547495" cy="525780"/>
          </a:xfrm>
        </p:grpSpPr>
        <p:sp>
          <p:nvSpPr>
            <p:cNvPr id="103" name="object 103"/>
            <p:cNvSpPr/>
            <p:nvPr/>
          </p:nvSpPr>
          <p:spPr>
            <a:xfrm>
              <a:off x="3461895" y="1086347"/>
              <a:ext cx="134620" cy="635"/>
            </a:xfrm>
            <a:custGeom>
              <a:avLst/>
              <a:gdLst/>
              <a:ahLst/>
              <a:cxnLst/>
              <a:rect l="l" t="t" r="r" b="b"/>
              <a:pathLst>
                <a:path w="134620" h="634">
                  <a:moveTo>
                    <a:pt x="0" y="18"/>
                  </a:moveTo>
                  <a:lnTo>
                    <a:pt x="134615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585456" y="1075987"/>
              <a:ext cx="27940" cy="20955"/>
            </a:xfrm>
            <a:custGeom>
              <a:avLst/>
              <a:gdLst/>
              <a:ahLst/>
              <a:cxnLst/>
              <a:rect l="l" t="t" r="r" b="b"/>
              <a:pathLst>
                <a:path w="27939" h="20955">
                  <a:moveTo>
                    <a:pt x="0" y="0"/>
                  </a:moveTo>
                  <a:lnTo>
                    <a:pt x="6909" y="7597"/>
                  </a:lnTo>
                  <a:lnTo>
                    <a:pt x="6909" y="13124"/>
                  </a:lnTo>
                  <a:lnTo>
                    <a:pt x="2" y="20724"/>
                  </a:lnTo>
                  <a:lnTo>
                    <a:pt x="6845" y="16675"/>
                  </a:lnTo>
                  <a:lnTo>
                    <a:pt x="14336" y="13727"/>
                  </a:lnTo>
                  <a:lnTo>
                    <a:pt x="21567" y="11686"/>
                  </a:lnTo>
                  <a:lnTo>
                    <a:pt x="27633" y="10358"/>
                  </a:lnTo>
                  <a:lnTo>
                    <a:pt x="21567" y="9031"/>
                  </a:lnTo>
                  <a:lnTo>
                    <a:pt x="14335" y="6992"/>
                  </a:lnTo>
                  <a:lnTo>
                    <a:pt x="6843" y="4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731546" y="1086391"/>
              <a:ext cx="233679" cy="635"/>
            </a:xfrm>
            <a:custGeom>
              <a:avLst/>
              <a:gdLst/>
              <a:ahLst/>
              <a:cxnLst/>
              <a:rect l="l" t="t" r="r" b="b"/>
              <a:pathLst>
                <a:path w="233679" h="634">
                  <a:moveTo>
                    <a:pt x="0" y="0"/>
                  </a:moveTo>
                  <a:lnTo>
                    <a:pt x="233538" y="199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954022" y="1076219"/>
              <a:ext cx="27940" cy="20955"/>
            </a:xfrm>
            <a:custGeom>
              <a:avLst/>
              <a:gdLst/>
              <a:ahLst/>
              <a:cxnLst/>
              <a:rect l="l" t="t" r="r" b="b"/>
              <a:pathLst>
                <a:path w="27939" h="20955">
                  <a:moveTo>
                    <a:pt x="17" y="0"/>
                  </a:moveTo>
                  <a:lnTo>
                    <a:pt x="6919" y="7604"/>
                  </a:lnTo>
                  <a:lnTo>
                    <a:pt x="6914" y="13131"/>
                  </a:lnTo>
                  <a:lnTo>
                    <a:pt x="0" y="20724"/>
                  </a:lnTo>
                  <a:lnTo>
                    <a:pt x="6846" y="16682"/>
                  </a:lnTo>
                  <a:lnTo>
                    <a:pt x="14340" y="13741"/>
                  </a:lnTo>
                  <a:lnTo>
                    <a:pt x="21573" y="11707"/>
                  </a:lnTo>
                  <a:lnTo>
                    <a:pt x="27640" y="10385"/>
                  </a:lnTo>
                  <a:lnTo>
                    <a:pt x="21575" y="9052"/>
                  </a:lnTo>
                  <a:lnTo>
                    <a:pt x="14345" y="7006"/>
                  </a:lnTo>
                  <a:lnTo>
                    <a:pt x="6857" y="405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099489" y="1086653"/>
              <a:ext cx="890905" cy="635"/>
            </a:xfrm>
            <a:custGeom>
              <a:avLst/>
              <a:gdLst/>
              <a:ahLst/>
              <a:cxnLst/>
              <a:rect l="l" t="t" r="r" b="b"/>
              <a:pathLst>
                <a:path w="890904" h="634">
                  <a:moveTo>
                    <a:pt x="0" y="0"/>
                  </a:moveTo>
                  <a:lnTo>
                    <a:pt x="890573" y="23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979010" y="1076314"/>
              <a:ext cx="27940" cy="20955"/>
            </a:xfrm>
            <a:custGeom>
              <a:avLst/>
              <a:gdLst/>
              <a:ahLst/>
              <a:cxnLst/>
              <a:rect l="l" t="t" r="r" b="b"/>
              <a:pathLst>
                <a:path w="27939" h="20955">
                  <a:moveTo>
                    <a:pt x="0" y="0"/>
                  </a:moveTo>
                  <a:lnTo>
                    <a:pt x="6908" y="7599"/>
                  </a:lnTo>
                  <a:lnTo>
                    <a:pt x="6908" y="13125"/>
                  </a:lnTo>
                  <a:lnTo>
                    <a:pt x="0" y="20724"/>
                  </a:lnTo>
                  <a:lnTo>
                    <a:pt x="6843" y="16676"/>
                  </a:lnTo>
                  <a:lnTo>
                    <a:pt x="14334" y="13730"/>
                  </a:lnTo>
                  <a:lnTo>
                    <a:pt x="21566" y="11690"/>
                  </a:lnTo>
                  <a:lnTo>
                    <a:pt x="27632" y="10362"/>
                  </a:lnTo>
                  <a:lnTo>
                    <a:pt x="21566" y="9034"/>
                  </a:lnTo>
                  <a:lnTo>
                    <a:pt x="14334" y="6994"/>
                  </a:lnTo>
                  <a:lnTo>
                    <a:pt x="6843" y="4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672317" y="1162144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h="437515">
                  <a:moveTo>
                    <a:pt x="0" y="437002"/>
                  </a:moveTo>
                  <a:lnTo>
                    <a:pt x="0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661955" y="1145564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4" h="27940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89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3660759" y="1303492"/>
            <a:ext cx="11112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75" i="1" baseline="-24691" dirty="0">
                <a:solidFill>
                  <a:srgbClr val="BF003F"/>
                </a:solidFill>
                <a:latin typeface="Arial"/>
                <a:cs typeface="Arial"/>
              </a:rPr>
              <a:t>f</a:t>
            </a:r>
            <a:r>
              <a:rPr sz="675" i="1" spc="-97" baseline="-24691" dirty="0">
                <a:solidFill>
                  <a:srgbClr val="BF003F"/>
                </a:solidFill>
                <a:latin typeface="Arial"/>
                <a:cs typeface="Arial"/>
              </a:rPr>
              <a:t> </a:t>
            </a:r>
            <a:r>
              <a:rPr sz="300" i="1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4030214" y="1447955"/>
            <a:ext cx="20955" cy="153670"/>
            <a:chOff x="4030214" y="1447955"/>
            <a:chExt cx="20955" cy="153670"/>
          </a:xfrm>
        </p:grpSpPr>
        <p:sp>
          <p:nvSpPr>
            <p:cNvPr id="113" name="object 113"/>
            <p:cNvSpPr/>
            <p:nvPr/>
          </p:nvSpPr>
          <p:spPr>
            <a:xfrm>
              <a:off x="4040576" y="1464534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19">
                  <a:moveTo>
                    <a:pt x="5" y="134612"/>
                  </a:moveTo>
                  <a:lnTo>
                    <a:pt x="0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030214" y="1447955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4" h="27940">
                  <a:moveTo>
                    <a:pt x="0" y="27632"/>
                  </a:moveTo>
                  <a:lnTo>
                    <a:pt x="7598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8"/>
                  </a:lnTo>
                  <a:lnTo>
                    <a:pt x="13729" y="13297"/>
                  </a:lnTo>
                  <a:lnTo>
                    <a:pt x="11689" y="6066"/>
                  </a:lnTo>
                  <a:lnTo>
                    <a:pt x="10361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3924680" y="1454215"/>
            <a:ext cx="12192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15" baseline="-24691" dirty="0">
                <a:solidFill>
                  <a:srgbClr val="BF003F"/>
                </a:solidFill>
                <a:latin typeface="Arial"/>
                <a:cs typeface="Arial"/>
              </a:rPr>
              <a:t>u</a:t>
            </a:r>
            <a:r>
              <a:rPr sz="300" i="1" spc="10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4030211" y="1145563"/>
            <a:ext cx="277495" cy="467359"/>
            <a:chOff x="4030211" y="1145563"/>
            <a:chExt cx="277495" cy="467359"/>
          </a:xfrm>
        </p:grpSpPr>
        <p:sp>
          <p:nvSpPr>
            <p:cNvPr id="117" name="object 117"/>
            <p:cNvSpPr/>
            <p:nvPr/>
          </p:nvSpPr>
          <p:spPr>
            <a:xfrm>
              <a:off x="4040572" y="1162143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h="167640">
                  <a:moveTo>
                    <a:pt x="0" y="167354"/>
                  </a:moveTo>
                  <a:lnTo>
                    <a:pt x="1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030211" y="1145563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4" h="27940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90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7"/>
                  </a:lnTo>
                  <a:lnTo>
                    <a:pt x="4047" y="20788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86002" y="1426730"/>
              <a:ext cx="221654" cy="185798"/>
            </a:xfrm>
            <a:prstGeom prst="rect">
              <a:avLst/>
            </a:prstGeom>
          </p:spPr>
        </p:pic>
      </p:grpSp>
      <p:sp>
        <p:nvSpPr>
          <p:cNvPr id="120" name="object 120"/>
          <p:cNvSpPr txBox="1"/>
          <p:nvPr/>
        </p:nvSpPr>
        <p:spPr>
          <a:xfrm>
            <a:off x="4184200" y="1465994"/>
            <a:ext cx="11874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" i="1" spc="-85" dirty="0">
                <a:solidFill>
                  <a:srgbClr val="BF003F"/>
                </a:solidFill>
                <a:latin typeface="Arial"/>
                <a:cs typeface="Arial"/>
              </a:rPr>
              <a:t>c</a:t>
            </a:r>
            <a:r>
              <a:rPr sz="500" spc="-85" dirty="0">
                <a:solidFill>
                  <a:srgbClr val="BF003F"/>
                </a:solidFill>
                <a:latin typeface="Tahoma"/>
                <a:cs typeface="Tahoma"/>
              </a:rPr>
              <a:t>˜</a:t>
            </a:r>
            <a:r>
              <a:rPr sz="450" i="1" spc="-127" baseline="37037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450" baseline="37037">
              <a:latin typeface="Arial"/>
              <a:cs typeface="Arial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4712683" y="1485754"/>
            <a:ext cx="20955" cy="116205"/>
            <a:chOff x="4712683" y="1485754"/>
            <a:chExt cx="20955" cy="116205"/>
          </a:xfrm>
        </p:grpSpPr>
        <p:sp>
          <p:nvSpPr>
            <p:cNvPr id="122" name="object 122"/>
            <p:cNvSpPr/>
            <p:nvPr/>
          </p:nvSpPr>
          <p:spPr>
            <a:xfrm>
              <a:off x="4723044" y="1502333"/>
              <a:ext cx="635" cy="97155"/>
            </a:xfrm>
            <a:custGeom>
              <a:avLst/>
              <a:gdLst/>
              <a:ahLst/>
              <a:cxnLst/>
              <a:rect l="l" t="t" r="r" b="b"/>
              <a:pathLst>
                <a:path w="635" h="97155">
                  <a:moveTo>
                    <a:pt x="8" y="96813"/>
                  </a:moveTo>
                  <a:lnTo>
                    <a:pt x="0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712683" y="1485754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4" h="27940">
                  <a:moveTo>
                    <a:pt x="0" y="27633"/>
                  </a:moveTo>
                  <a:lnTo>
                    <a:pt x="7598" y="20724"/>
                  </a:lnTo>
                  <a:lnTo>
                    <a:pt x="13124" y="20723"/>
                  </a:lnTo>
                  <a:lnTo>
                    <a:pt x="20724" y="27631"/>
                  </a:lnTo>
                  <a:lnTo>
                    <a:pt x="16675" y="20788"/>
                  </a:lnTo>
                  <a:lnTo>
                    <a:pt x="13728" y="13297"/>
                  </a:lnTo>
                  <a:lnTo>
                    <a:pt x="11688" y="6066"/>
                  </a:lnTo>
                  <a:lnTo>
                    <a:pt x="10359" y="0"/>
                  </a:lnTo>
                  <a:lnTo>
                    <a:pt x="9032" y="6066"/>
                  </a:lnTo>
                  <a:lnTo>
                    <a:pt x="6993" y="13298"/>
                  </a:lnTo>
                  <a:lnTo>
                    <a:pt x="4047" y="20789"/>
                  </a:lnTo>
                  <a:lnTo>
                    <a:pt x="0" y="276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4711477" y="1473113"/>
            <a:ext cx="12065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i="1" spc="7" baseline="-24691" dirty="0">
                <a:solidFill>
                  <a:srgbClr val="BF003F"/>
                </a:solidFill>
                <a:latin typeface="Arial"/>
                <a:cs typeface="Arial"/>
              </a:rPr>
              <a:t>o</a:t>
            </a:r>
            <a:r>
              <a:rPr sz="300" i="1" spc="5" dirty="0">
                <a:solidFill>
                  <a:srgbClr val="BF003F"/>
                </a:solidFill>
                <a:latin typeface="Arial"/>
                <a:cs typeface="Arial"/>
              </a:rPr>
              <a:t>t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4712661" y="1294537"/>
            <a:ext cx="323215" cy="375285"/>
            <a:chOff x="4712661" y="1294537"/>
            <a:chExt cx="323215" cy="375285"/>
          </a:xfrm>
        </p:grpSpPr>
        <p:sp>
          <p:nvSpPr>
            <p:cNvPr id="126" name="object 126"/>
            <p:cNvSpPr/>
            <p:nvPr/>
          </p:nvSpPr>
          <p:spPr>
            <a:xfrm>
              <a:off x="4723013" y="1296759"/>
              <a:ext cx="635" cy="53975"/>
            </a:xfrm>
            <a:custGeom>
              <a:avLst/>
              <a:gdLst/>
              <a:ahLst/>
              <a:cxnLst/>
              <a:rect l="l" t="t" r="r" b="b"/>
              <a:pathLst>
                <a:path w="635" h="53975">
                  <a:moveTo>
                    <a:pt x="0" y="0"/>
                  </a:moveTo>
                  <a:lnTo>
                    <a:pt x="13" y="53957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712661" y="1339662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4" h="27940">
                  <a:moveTo>
                    <a:pt x="20724" y="0"/>
                  </a:moveTo>
                  <a:lnTo>
                    <a:pt x="13126" y="6909"/>
                  </a:lnTo>
                  <a:lnTo>
                    <a:pt x="7600" y="6911"/>
                  </a:lnTo>
                  <a:lnTo>
                    <a:pt x="0" y="4"/>
                  </a:lnTo>
                  <a:lnTo>
                    <a:pt x="4049" y="6847"/>
                  </a:lnTo>
                  <a:lnTo>
                    <a:pt x="6997" y="14337"/>
                  </a:lnTo>
                  <a:lnTo>
                    <a:pt x="9039" y="21568"/>
                  </a:lnTo>
                  <a:lnTo>
                    <a:pt x="10368" y="27634"/>
                  </a:lnTo>
                  <a:lnTo>
                    <a:pt x="11694" y="21568"/>
                  </a:lnTo>
                  <a:lnTo>
                    <a:pt x="13733" y="14335"/>
                  </a:lnTo>
                  <a:lnTo>
                    <a:pt x="16678" y="6844"/>
                  </a:lnTo>
                  <a:lnTo>
                    <a:pt x="20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782271" y="1426530"/>
              <a:ext cx="134620" cy="0"/>
            </a:xfrm>
            <a:custGeom>
              <a:avLst/>
              <a:gdLst/>
              <a:ahLst/>
              <a:cxnLst/>
              <a:rect l="l" t="t" r="r" b="b"/>
              <a:pathLst>
                <a:path w="134620">
                  <a:moveTo>
                    <a:pt x="0" y="0"/>
                  </a:moveTo>
                  <a:lnTo>
                    <a:pt x="134567" y="5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905786" y="1416173"/>
              <a:ext cx="27940" cy="20955"/>
            </a:xfrm>
            <a:custGeom>
              <a:avLst/>
              <a:gdLst/>
              <a:ahLst/>
              <a:cxnLst/>
              <a:rect l="l" t="t" r="r" b="b"/>
              <a:pathLst>
                <a:path w="27939" h="20955">
                  <a:moveTo>
                    <a:pt x="0" y="0"/>
                  </a:moveTo>
                  <a:lnTo>
                    <a:pt x="6908" y="7599"/>
                  </a:lnTo>
                  <a:lnTo>
                    <a:pt x="6908" y="13125"/>
                  </a:lnTo>
                  <a:lnTo>
                    <a:pt x="0" y="20724"/>
                  </a:lnTo>
                  <a:lnTo>
                    <a:pt x="6843" y="16676"/>
                  </a:lnTo>
                  <a:lnTo>
                    <a:pt x="14334" y="13730"/>
                  </a:lnTo>
                  <a:lnTo>
                    <a:pt x="21566" y="11690"/>
                  </a:lnTo>
                  <a:lnTo>
                    <a:pt x="27632" y="10362"/>
                  </a:lnTo>
                  <a:lnTo>
                    <a:pt x="21566" y="9034"/>
                  </a:lnTo>
                  <a:lnTo>
                    <a:pt x="14334" y="6994"/>
                  </a:lnTo>
                  <a:lnTo>
                    <a:pt x="6843" y="4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025399" y="1518574"/>
              <a:ext cx="635" cy="134620"/>
            </a:xfrm>
            <a:custGeom>
              <a:avLst/>
              <a:gdLst/>
              <a:ahLst/>
              <a:cxnLst/>
              <a:rect l="l" t="t" r="r" b="b"/>
              <a:pathLst>
                <a:path w="635" h="134619">
                  <a:moveTo>
                    <a:pt x="13" y="0"/>
                  </a:moveTo>
                  <a:lnTo>
                    <a:pt x="0" y="134624"/>
                  </a:lnTo>
                </a:path>
              </a:pathLst>
            </a:custGeom>
            <a:ln w="4251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015038" y="1642145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4" h="27939">
                  <a:moveTo>
                    <a:pt x="20724" y="1"/>
                  </a:moveTo>
                  <a:lnTo>
                    <a:pt x="13124" y="6909"/>
                  </a:lnTo>
                  <a:lnTo>
                    <a:pt x="7598" y="6908"/>
                  </a:lnTo>
                  <a:lnTo>
                    <a:pt x="0" y="0"/>
                  </a:lnTo>
                  <a:lnTo>
                    <a:pt x="4047" y="6843"/>
                  </a:lnTo>
                  <a:lnTo>
                    <a:pt x="6993" y="14334"/>
                  </a:lnTo>
                  <a:lnTo>
                    <a:pt x="9032" y="21566"/>
                  </a:lnTo>
                  <a:lnTo>
                    <a:pt x="10359" y="27633"/>
                  </a:lnTo>
                  <a:lnTo>
                    <a:pt x="11688" y="21567"/>
                  </a:lnTo>
                  <a:lnTo>
                    <a:pt x="13728" y="14335"/>
                  </a:lnTo>
                  <a:lnTo>
                    <a:pt x="16675" y="6844"/>
                  </a:lnTo>
                  <a:lnTo>
                    <a:pt x="20724" y="1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4970148" y="1544572"/>
            <a:ext cx="22669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dirty="0">
                <a:solidFill>
                  <a:srgbClr val="BF003F"/>
                </a:solidFill>
                <a:latin typeface="Microsoft Sans Serif"/>
                <a:cs typeface="Microsoft Sans Serif"/>
              </a:rPr>
              <a:t>softmax</a:t>
            </a:r>
            <a:endParaRPr sz="450">
              <a:latin typeface="Microsoft Sans Serif"/>
              <a:cs typeface="Microsoft Sans Serif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3323657" y="988857"/>
            <a:ext cx="1545590" cy="916940"/>
            <a:chOff x="3323657" y="988857"/>
            <a:chExt cx="1545590" cy="916940"/>
          </a:xfrm>
        </p:grpSpPr>
        <p:sp>
          <p:nvSpPr>
            <p:cNvPr id="134" name="object 134"/>
            <p:cNvSpPr/>
            <p:nvPr/>
          </p:nvSpPr>
          <p:spPr>
            <a:xfrm>
              <a:off x="4736540" y="1086677"/>
              <a:ext cx="5715" cy="38735"/>
            </a:xfrm>
            <a:custGeom>
              <a:avLst/>
              <a:gdLst/>
              <a:ahLst/>
              <a:cxnLst/>
              <a:rect l="l" t="t" r="r" b="b"/>
              <a:pathLst>
                <a:path w="5714" h="38734">
                  <a:moveTo>
                    <a:pt x="5510" y="0"/>
                  </a:moveTo>
                  <a:lnTo>
                    <a:pt x="0" y="38227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727861" y="1112486"/>
              <a:ext cx="20955" cy="29209"/>
            </a:xfrm>
            <a:custGeom>
              <a:avLst/>
              <a:gdLst/>
              <a:ahLst/>
              <a:cxnLst/>
              <a:rect l="l" t="t" r="r" b="b"/>
              <a:pathLst>
                <a:path w="20954" h="29209">
                  <a:moveTo>
                    <a:pt x="20511" y="2955"/>
                  </a:moveTo>
                  <a:lnTo>
                    <a:pt x="12005" y="8709"/>
                  </a:lnTo>
                  <a:lnTo>
                    <a:pt x="6535" y="7921"/>
                  </a:lnTo>
                  <a:lnTo>
                    <a:pt x="0" y="0"/>
                  </a:lnTo>
                  <a:lnTo>
                    <a:pt x="3030" y="7350"/>
                  </a:lnTo>
                  <a:lnTo>
                    <a:pt x="4878" y="15184"/>
                  </a:lnTo>
                  <a:lnTo>
                    <a:pt x="5866" y="22633"/>
                  </a:lnTo>
                  <a:lnTo>
                    <a:pt x="6314" y="28826"/>
                  </a:lnTo>
                  <a:lnTo>
                    <a:pt x="8494" y="23012"/>
                  </a:lnTo>
                  <a:lnTo>
                    <a:pt x="11544" y="16145"/>
                  </a:lnTo>
                  <a:lnTo>
                    <a:pt x="15529" y="9151"/>
                  </a:lnTo>
                  <a:lnTo>
                    <a:pt x="20511" y="2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325782" y="1768908"/>
              <a:ext cx="346710" cy="61594"/>
            </a:xfrm>
            <a:custGeom>
              <a:avLst/>
              <a:gdLst/>
              <a:ahLst/>
              <a:cxnLst/>
              <a:rect l="l" t="t" r="r" b="b"/>
              <a:pathLst>
                <a:path w="346710" h="61594">
                  <a:moveTo>
                    <a:pt x="2" y="0"/>
                  </a:moveTo>
                  <a:lnTo>
                    <a:pt x="0" y="55938"/>
                  </a:lnTo>
                </a:path>
                <a:path w="346710" h="61594">
                  <a:moveTo>
                    <a:pt x="0" y="55938"/>
                  </a:moveTo>
                  <a:lnTo>
                    <a:pt x="346534" y="61278"/>
                  </a:lnTo>
                </a:path>
                <a:path w="346710" h="61594">
                  <a:moveTo>
                    <a:pt x="346534" y="61278"/>
                  </a:moveTo>
                  <a:lnTo>
                    <a:pt x="346534" y="2264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661955" y="1754592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4" h="27939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89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672317" y="1771172"/>
              <a:ext cx="368300" cy="59055"/>
            </a:xfrm>
            <a:custGeom>
              <a:avLst/>
              <a:gdLst/>
              <a:ahLst/>
              <a:cxnLst/>
              <a:rect l="l" t="t" r="r" b="b"/>
              <a:pathLst>
                <a:path w="368300" h="59055">
                  <a:moveTo>
                    <a:pt x="0" y="59014"/>
                  </a:moveTo>
                  <a:lnTo>
                    <a:pt x="368258" y="59014"/>
                  </a:lnTo>
                </a:path>
                <a:path w="368300" h="59055">
                  <a:moveTo>
                    <a:pt x="368258" y="59014"/>
                  </a:moveTo>
                  <a:lnTo>
                    <a:pt x="368259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030214" y="1754593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4" h="27939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90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7"/>
                  </a:lnTo>
                  <a:lnTo>
                    <a:pt x="4047" y="20788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040576" y="1771172"/>
              <a:ext cx="344805" cy="59055"/>
            </a:xfrm>
            <a:custGeom>
              <a:avLst/>
              <a:gdLst/>
              <a:ahLst/>
              <a:cxnLst/>
              <a:rect l="l" t="t" r="r" b="b"/>
              <a:pathLst>
                <a:path w="344804" h="59055">
                  <a:moveTo>
                    <a:pt x="0" y="59014"/>
                  </a:moveTo>
                  <a:lnTo>
                    <a:pt x="344425" y="59014"/>
                  </a:lnTo>
                </a:path>
                <a:path w="344804" h="59055">
                  <a:moveTo>
                    <a:pt x="344425" y="59014"/>
                  </a:moveTo>
                  <a:lnTo>
                    <a:pt x="344425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374639" y="1754592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4" h="27939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89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385001" y="1771172"/>
              <a:ext cx="338455" cy="59055"/>
            </a:xfrm>
            <a:custGeom>
              <a:avLst/>
              <a:gdLst/>
              <a:ahLst/>
              <a:cxnLst/>
              <a:rect l="l" t="t" r="r" b="b"/>
              <a:pathLst>
                <a:path w="338454" h="59055">
                  <a:moveTo>
                    <a:pt x="0" y="59014"/>
                  </a:moveTo>
                  <a:lnTo>
                    <a:pt x="338041" y="59014"/>
                  </a:lnTo>
                </a:path>
                <a:path w="338454" h="59055">
                  <a:moveTo>
                    <a:pt x="338041" y="59014"/>
                  </a:moveTo>
                  <a:lnTo>
                    <a:pt x="338042" y="0"/>
                  </a:lnTo>
                </a:path>
              </a:pathLst>
            </a:custGeom>
            <a:ln w="4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712681" y="1754592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4" h="27939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89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672317" y="1846766"/>
              <a:ext cx="0" cy="59055"/>
            </a:xfrm>
            <a:custGeom>
              <a:avLst/>
              <a:gdLst/>
              <a:ahLst/>
              <a:cxnLst/>
              <a:rect l="l" t="t" r="r" b="b"/>
              <a:pathLst>
                <a:path h="59055">
                  <a:moveTo>
                    <a:pt x="0" y="59017"/>
                  </a:moveTo>
                  <a:lnTo>
                    <a:pt x="0" y="0"/>
                  </a:lnTo>
                </a:path>
              </a:pathLst>
            </a:custGeom>
            <a:ln w="4251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661955" y="1830187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4" h="27939">
                  <a:moveTo>
                    <a:pt x="0" y="27632"/>
                  </a:moveTo>
                  <a:lnTo>
                    <a:pt x="7599" y="20724"/>
                  </a:lnTo>
                  <a:lnTo>
                    <a:pt x="13125" y="20724"/>
                  </a:lnTo>
                  <a:lnTo>
                    <a:pt x="20724" y="27632"/>
                  </a:lnTo>
                  <a:lnTo>
                    <a:pt x="16676" y="20789"/>
                  </a:lnTo>
                  <a:lnTo>
                    <a:pt x="13730" y="13298"/>
                  </a:lnTo>
                  <a:lnTo>
                    <a:pt x="11689" y="6066"/>
                  </a:lnTo>
                  <a:lnTo>
                    <a:pt x="10362" y="0"/>
                  </a:lnTo>
                  <a:lnTo>
                    <a:pt x="9034" y="6066"/>
                  </a:lnTo>
                  <a:lnTo>
                    <a:pt x="6994" y="13298"/>
                  </a:lnTo>
                  <a:lnTo>
                    <a:pt x="4047" y="20789"/>
                  </a:lnTo>
                  <a:lnTo>
                    <a:pt x="0" y="27632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531775" y="989920"/>
              <a:ext cx="1336040" cy="802005"/>
            </a:xfrm>
            <a:custGeom>
              <a:avLst/>
              <a:gdLst/>
              <a:ahLst/>
              <a:cxnLst/>
              <a:rect l="l" t="t" r="r" b="b"/>
              <a:pathLst>
                <a:path w="1336039" h="802005">
                  <a:moveTo>
                    <a:pt x="0" y="801884"/>
                  </a:moveTo>
                  <a:lnTo>
                    <a:pt x="1335884" y="801884"/>
                  </a:lnTo>
                  <a:lnTo>
                    <a:pt x="1335884" y="0"/>
                  </a:lnTo>
                  <a:lnTo>
                    <a:pt x="0" y="0"/>
                  </a:lnTo>
                  <a:lnTo>
                    <a:pt x="0" y="801884"/>
                  </a:lnTo>
                  <a:close/>
                </a:path>
              </a:pathLst>
            </a:custGeom>
            <a:ln w="3175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8294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/>
              <a:t>I</a:t>
            </a:r>
            <a:r>
              <a:rPr cap="small" spc="180" dirty="0"/>
              <a:t>n</a:t>
            </a:r>
            <a:r>
              <a:rPr spc="180" dirty="0"/>
              <a:t> </a:t>
            </a:r>
            <a:r>
              <a:rPr spc="-120" dirty="0"/>
              <a:t> </a:t>
            </a:r>
            <a:r>
              <a:rPr spc="520" dirty="0"/>
              <a:t>T</a:t>
            </a:r>
            <a:r>
              <a:rPr cap="small" spc="185" dirty="0"/>
              <a:t>his</a:t>
            </a:r>
            <a:r>
              <a:rPr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50" dirty="0"/>
              <a:t>egment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730567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73423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1023899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10275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317243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32092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61058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61425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903933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90760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19726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220094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49" y="2490609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49429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EAEAF7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78395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78762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029" y="591696"/>
            <a:ext cx="3757295" cy="23723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S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</a:t>
            </a:r>
            <a:r>
              <a:rPr sz="1400" spc="17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q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uence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earning</a:t>
            </a:r>
            <a:endParaRPr sz="1400">
              <a:latin typeface="Calibri"/>
              <a:cs typeface="Calibri"/>
            </a:endParaRPr>
          </a:p>
          <a:p>
            <a:pPr marL="12700" marR="397510">
              <a:lnSpc>
                <a:spcPct val="137500"/>
              </a:lnSpc>
            </a:pP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ecurrent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et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w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ork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(RNN)</a:t>
            </a:r>
            <a:r>
              <a:rPr sz="1400" spc="12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T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ypes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of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2146935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earning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RNN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</a:t>
            </a:r>
            <a:r>
              <a:rPr sz="1400" cap="small" spc="17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ssues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L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ong</a:t>
            </a:r>
            <a:r>
              <a:rPr sz="1400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ho</a:t>
            </a:r>
            <a:r>
              <a:rPr sz="1400" cap="small" spc="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erm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em</a:t>
            </a:r>
            <a:r>
              <a:rPr sz="1400" cap="small" spc="18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</a:t>
            </a:r>
            <a:r>
              <a:rPr sz="1400" cap="small" spc="17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y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3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(LST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spc="2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)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3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G</a:t>
            </a:r>
            <a:r>
              <a:rPr sz="1400" cap="small" spc="14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6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ted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38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cap="small" spc="24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ecurrent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6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U</a:t>
            </a:r>
            <a:r>
              <a:rPr sz="1400" cap="small" spc="21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nit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9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(G</a:t>
            </a:r>
            <a:r>
              <a:rPr sz="1400" spc="29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spc="229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U)</a:t>
            </a:r>
            <a:r>
              <a:rPr sz="1400" spc="1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34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B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idirectional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34061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90" dirty="0"/>
              <a:t>G</a:t>
            </a:r>
            <a:r>
              <a:rPr cap="small" spc="155" dirty="0"/>
              <a:t>a</a:t>
            </a:r>
            <a:r>
              <a:rPr cap="small" spc="300" dirty="0"/>
              <a:t>ted</a:t>
            </a:r>
            <a:r>
              <a:rPr dirty="0"/>
              <a:t> </a:t>
            </a:r>
            <a:r>
              <a:rPr spc="-120" dirty="0"/>
              <a:t> </a:t>
            </a:r>
            <a:r>
              <a:rPr spc="450" dirty="0"/>
              <a:t>R</a:t>
            </a:r>
            <a:r>
              <a:rPr cap="small" spc="275" dirty="0"/>
              <a:t>ecurrent</a:t>
            </a:r>
            <a:r>
              <a:rPr dirty="0"/>
              <a:t> </a:t>
            </a:r>
            <a:r>
              <a:rPr spc="-120" dirty="0"/>
              <a:t> </a:t>
            </a:r>
            <a:r>
              <a:rPr spc="305" dirty="0"/>
              <a:t>U</a:t>
            </a:r>
            <a:r>
              <a:rPr cap="small" spc="240" dirty="0"/>
              <a:t>nit</a:t>
            </a:r>
            <a:r>
              <a:rPr dirty="0"/>
              <a:t> </a:t>
            </a:r>
            <a:r>
              <a:rPr spc="-120" dirty="0"/>
              <a:t> </a:t>
            </a:r>
            <a:r>
              <a:rPr spc="340" dirty="0"/>
              <a:t>(G</a:t>
            </a:r>
            <a:r>
              <a:rPr spc="345" dirty="0"/>
              <a:t>R</a:t>
            </a:r>
            <a:r>
              <a:rPr spc="270" dirty="0"/>
              <a:t>U)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742403"/>
            <a:ext cx="69850" cy="512445"/>
            <a:chOff x="513702" y="742403"/>
            <a:chExt cx="69850" cy="5124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742403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963828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185240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68426" y="610464"/>
            <a:ext cx="4920615" cy="203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2055495">
              <a:lnSpc>
                <a:spcPct val="121100"/>
              </a:lnSpc>
              <a:spcBef>
                <a:spcPts val="100"/>
              </a:spcBef>
            </a:pPr>
            <a:r>
              <a:rPr sz="1050" spc="10" dirty="0">
                <a:latin typeface="Microsoft Sans Serif"/>
                <a:cs typeface="Microsoft Sans Serif"/>
              </a:rPr>
              <a:t>Introduce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20" dirty="0">
                <a:latin typeface="Microsoft Sans Serif"/>
                <a:cs typeface="Microsoft Sans Serif"/>
              </a:rPr>
              <a:t>memory </a:t>
            </a:r>
            <a:r>
              <a:rPr sz="1050" spc="5" dirty="0">
                <a:latin typeface="Microsoft Sans Serif"/>
                <a:cs typeface="Microsoft Sans Serif"/>
              </a:rPr>
              <a:t>cell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i="1" spc="35" dirty="0">
                <a:latin typeface="Arial"/>
                <a:cs typeface="Arial"/>
              </a:rPr>
              <a:t>c</a:t>
            </a:r>
            <a:r>
              <a:rPr sz="1200" i="1" spc="52" baseline="31250" dirty="0">
                <a:latin typeface="Verdana"/>
                <a:cs typeface="Verdana"/>
              </a:rPr>
              <a:t>&lt;</a:t>
            </a:r>
            <a:r>
              <a:rPr sz="1050" i="1" spc="52" baseline="35714" dirty="0">
                <a:latin typeface="Arial"/>
                <a:cs typeface="Arial"/>
              </a:rPr>
              <a:t>t</a:t>
            </a:r>
            <a:r>
              <a:rPr sz="1200" i="1" spc="52" baseline="31250" dirty="0">
                <a:latin typeface="Verdana"/>
                <a:cs typeface="Verdana"/>
              </a:rPr>
              <a:t>&gt;</a:t>
            </a:r>
            <a:r>
              <a:rPr sz="1200" i="1" spc="150" baseline="31250" dirty="0">
                <a:latin typeface="Verdana"/>
                <a:cs typeface="Verdana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050" i="1" spc="25" dirty="0">
                <a:latin typeface="Arial"/>
                <a:cs typeface="Arial"/>
              </a:rPr>
              <a:t>a</a:t>
            </a:r>
            <a:r>
              <a:rPr sz="1200" i="1" spc="37" baseline="31250" dirty="0">
                <a:latin typeface="Verdana"/>
                <a:cs typeface="Verdana"/>
              </a:rPr>
              <a:t>&lt;</a:t>
            </a:r>
            <a:r>
              <a:rPr sz="1050" i="1" spc="37" baseline="35714" dirty="0">
                <a:latin typeface="Arial"/>
                <a:cs typeface="Arial"/>
              </a:rPr>
              <a:t>t</a:t>
            </a:r>
            <a:r>
              <a:rPr sz="1200" i="1" spc="37" baseline="31250" dirty="0">
                <a:latin typeface="Verdana"/>
                <a:cs typeface="Verdana"/>
              </a:rPr>
              <a:t>&gt;</a:t>
            </a:r>
            <a:r>
              <a:rPr sz="1050" spc="25" dirty="0">
                <a:latin typeface="Microsoft Sans Serif"/>
                <a:cs typeface="Microsoft Sans Serif"/>
              </a:rPr>
              <a:t>. </a:t>
            </a:r>
            <a:r>
              <a:rPr sz="1050" spc="3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Candidate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-30" dirty="0">
                <a:latin typeface="Microsoft Sans Serif"/>
                <a:cs typeface="Microsoft Sans Serif"/>
              </a:rPr>
              <a:t>f</a:t>
            </a:r>
            <a:r>
              <a:rPr sz="1050" spc="10" dirty="0">
                <a:latin typeface="Microsoft Sans Serif"/>
                <a:cs typeface="Microsoft Sans Serif"/>
              </a:rPr>
              <a:t>or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replacing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i="1" spc="65" dirty="0">
                <a:latin typeface="Arial"/>
                <a:cs typeface="Arial"/>
              </a:rPr>
              <a:t>c</a:t>
            </a:r>
            <a:r>
              <a:rPr sz="1200" i="1" baseline="31250" dirty="0">
                <a:latin typeface="Verdana"/>
                <a:cs typeface="Verdana"/>
              </a:rPr>
              <a:t>&lt;</a:t>
            </a:r>
            <a:r>
              <a:rPr sz="1050" i="1" spc="89" baseline="35714" dirty="0">
                <a:latin typeface="Arial"/>
                <a:cs typeface="Arial"/>
              </a:rPr>
              <a:t>t</a:t>
            </a:r>
            <a:r>
              <a:rPr sz="1200" i="1" baseline="31250" dirty="0">
                <a:latin typeface="Verdana"/>
                <a:cs typeface="Verdana"/>
              </a:rPr>
              <a:t>&gt;</a:t>
            </a:r>
            <a:r>
              <a:rPr sz="1200" i="1" spc="97" baseline="31250" dirty="0">
                <a:latin typeface="Verdana"/>
                <a:cs typeface="Verdana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gi</a:t>
            </a:r>
            <a:r>
              <a:rPr sz="1050" spc="-20" dirty="0">
                <a:latin typeface="Microsoft Sans Serif"/>
                <a:cs typeface="Microsoft Sans Serif"/>
              </a:rPr>
              <a:t>v</a:t>
            </a:r>
            <a:r>
              <a:rPr sz="1050" spc="10" dirty="0">
                <a:latin typeface="Microsoft Sans Serif"/>
                <a:cs typeface="Microsoft Sans Serif"/>
              </a:rPr>
              <a:t>en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i="1" spc="-525" dirty="0">
                <a:latin typeface="Arial"/>
                <a:cs typeface="Arial"/>
              </a:rPr>
              <a:t>c</a:t>
            </a:r>
            <a:r>
              <a:rPr sz="1800" spc="-104" baseline="2314" dirty="0">
                <a:latin typeface="Tahoma"/>
                <a:cs typeface="Tahoma"/>
              </a:rPr>
              <a:t>˜</a:t>
            </a:r>
            <a:r>
              <a:rPr sz="1200" i="1" baseline="31250" dirty="0">
                <a:latin typeface="Verdana"/>
                <a:cs typeface="Verdana"/>
              </a:rPr>
              <a:t>&lt;</a:t>
            </a:r>
            <a:r>
              <a:rPr sz="1050" i="1" baseline="35714" dirty="0">
                <a:latin typeface="Arial"/>
                <a:cs typeface="Arial"/>
              </a:rPr>
              <a:t>t</a:t>
            </a:r>
            <a:r>
              <a:rPr sz="1050" i="1" spc="-195" baseline="35714" dirty="0">
                <a:latin typeface="Arial"/>
                <a:cs typeface="Arial"/>
              </a:rPr>
              <a:t> </a:t>
            </a:r>
            <a:r>
              <a:rPr sz="1200" i="1" spc="75" baseline="31250" dirty="0">
                <a:latin typeface="Verdana"/>
                <a:cs typeface="Verdana"/>
              </a:rPr>
              <a:t>&gt;</a:t>
            </a:r>
            <a:r>
              <a:rPr sz="1050" spc="5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88900">
              <a:lnSpc>
                <a:spcPct val="100000"/>
              </a:lnSpc>
              <a:spcBef>
                <a:spcPts val="305"/>
              </a:spcBef>
            </a:pPr>
            <a:r>
              <a:rPr sz="1050" spc="10" dirty="0">
                <a:latin typeface="Microsoft Sans Serif"/>
                <a:cs typeface="Microsoft Sans Serif"/>
              </a:rPr>
              <a:t>The decision whether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to update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i="1" spc="35" dirty="0">
                <a:latin typeface="Arial"/>
                <a:cs typeface="Arial"/>
              </a:rPr>
              <a:t>c</a:t>
            </a:r>
            <a:r>
              <a:rPr sz="1200" i="1" spc="52" baseline="31250" dirty="0">
                <a:latin typeface="Verdana"/>
                <a:cs typeface="Verdana"/>
              </a:rPr>
              <a:t>&lt;</a:t>
            </a:r>
            <a:r>
              <a:rPr sz="1050" i="1" spc="52" baseline="35714" dirty="0">
                <a:latin typeface="Arial"/>
                <a:cs typeface="Arial"/>
              </a:rPr>
              <a:t>t</a:t>
            </a:r>
            <a:r>
              <a:rPr sz="1200" i="1" spc="52" baseline="31250" dirty="0">
                <a:latin typeface="Verdana"/>
                <a:cs typeface="Verdana"/>
              </a:rPr>
              <a:t>&gt;</a:t>
            </a:r>
            <a:r>
              <a:rPr sz="1200" i="1" spc="89" baseline="31250" dirty="0">
                <a:latin typeface="Verdana"/>
                <a:cs typeface="Verdana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with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i="1" spc="-145" dirty="0">
                <a:latin typeface="Arial"/>
                <a:cs typeface="Arial"/>
              </a:rPr>
              <a:t>c</a:t>
            </a:r>
            <a:r>
              <a:rPr sz="1800" spc="-217" baseline="2314" dirty="0">
                <a:latin typeface="Tahoma"/>
                <a:cs typeface="Tahoma"/>
              </a:rPr>
              <a:t>˜</a:t>
            </a:r>
            <a:r>
              <a:rPr sz="1200" i="1" spc="-217" baseline="31250" dirty="0">
                <a:latin typeface="Verdana"/>
                <a:cs typeface="Verdana"/>
              </a:rPr>
              <a:t>&lt;</a:t>
            </a:r>
            <a:r>
              <a:rPr sz="1050" i="1" spc="-217" baseline="35714" dirty="0">
                <a:latin typeface="Arial"/>
                <a:cs typeface="Arial"/>
              </a:rPr>
              <a:t>t</a:t>
            </a:r>
            <a:r>
              <a:rPr sz="1050" i="1" spc="-195" baseline="35714" dirty="0">
                <a:latin typeface="Arial"/>
                <a:cs typeface="Arial"/>
              </a:rPr>
              <a:t> </a:t>
            </a:r>
            <a:r>
              <a:rPr sz="1200" i="1" baseline="31250" dirty="0">
                <a:latin typeface="Verdana"/>
                <a:cs typeface="Verdana"/>
              </a:rPr>
              <a:t>&gt;</a:t>
            </a:r>
            <a:r>
              <a:rPr sz="1200" i="1" spc="89" baseline="31250" dirty="0">
                <a:latin typeface="Verdana"/>
                <a:cs typeface="Verdana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given</a:t>
            </a:r>
            <a:r>
              <a:rPr sz="1050" spc="1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by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 </a:t>
            </a:r>
            <a:r>
              <a:rPr sz="1050" b="1" spc="10" dirty="0">
                <a:latin typeface="Arial"/>
                <a:cs typeface="Arial"/>
              </a:rPr>
              <a:t>update</a:t>
            </a:r>
            <a:r>
              <a:rPr sz="1050" b="1" dirty="0">
                <a:latin typeface="Arial"/>
                <a:cs typeface="Arial"/>
              </a:rPr>
              <a:t> </a:t>
            </a:r>
            <a:r>
              <a:rPr sz="1050" b="1" spc="10" dirty="0">
                <a:latin typeface="Arial"/>
                <a:cs typeface="Arial"/>
              </a:rPr>
              <a:t>gate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200" spc="15" dirty="0">
                <a:latin typeface="Tahoma"/>
                <a:cs typeface="Tahoma"/>
              </a:rPr>
              <a:t>Γ</a:t>
            </a:r>
            <a:r>
              <a:rPr sz="1050" i="1" spc="22" baseline="-15873" dirty="0">
                <a:latin typeface="Arial"/>
                <a:cs typeface="Arial"/>
              </a:rPr>
              <a:t>u</a:t>
            </a:r>
            <a:r>
              <a:rPr sz="1050" i="1" spc="-172" baseline="-15873" dirty="0">
                <a:latin typeface="Arial"/>
                <a:cs typeface="Arial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88900">
              <a:lnSpc>
                <a:spcPct val="100000"/>
              </a:lnSpc>
            </a:pPr>
            <a:r>
              <a:rPr sz="1200" spc="15" dirty="0">
                <a:latin typeface="Tahoma"/>
                <a:cs typeface="Tahoma"/>
              </a:rPr>
              <a:t>Γ</a:t>
            </a:r>
            <a:r>
              <a:rPr sz="1050" i="1" spc="22" baseline="-15873" dirty="0">
                <a:latin typeface="Arial"/>
                <a:cs typeface="Arial"/>
              </a:rPr>
              <a:t>u</a:t>
            </a:r>
            <a:r>
              <a:rPr sz="1050" i="1" spc="254" baseline="-15873" dirty="0">
                <a:latin typeface="Arial"/>
                <a:cs typeface="Arial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takes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 </a:t>
            </a:r>
            <a:r>
              <a:rPr sz="1050" spc="5" dirty="0">
                <a:latin typeface="Microsoft Sans Serif"/>
                <a:cs typeface="Microsoft Sans Serif"/>
              </a:rPr>
              <a:t>value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of 0 or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1.</a:t>
            </a:r>
            <a:endParaRPr sz="1050">
              <a:latin typeface="Microsoft Sans Serif"/>
              <a:cs typeface="Microsoft Sans Serif"/>
            </a:endParaRPr>
          </a:p>
          <a:p>
            <a:pPr marL="1348740" marR="1199515" indent="-141605">
              <a:lnSpc>
                <a:spcPct val="121100"/>
              </a:lnSpc>
              <a:spcBef>
                <a:spcPts val="900"/>
              </a:spcBef>
            </a:pPr>
            <a:r>
              <a:rPr sz="1050" i="1" spc="-525" dirty="0">
                <a:latin typeface="Arial"/>
                <a:cs typeface="Arial"/>
              </a:rPr>
              <a:t>c</a:t>
            </a:r>
            <a:r>
              <a:rPr sz="1800" spc="-104" baseline="2314" dirty="0">
                <a:latin typeface="Tahoma"/>
                <a:cs typeface="Tahoma"/>
              </a:rPr>
              <a:t>˜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baseline="39682" dirty="0">
                <a:latin typeface="Arial"/>
                <a:cs typeface="Arial"/>
              </a:rPr>
              <a:t>t</a:t>
            </a:r>
            <a:r>
              <a:rPr sz="1050" i="1" spc="-195" baseline="39682" dirty="0">
                <a:latin typeface="Arial"/>
                <a:cs typeface="Arial"/>
              </a:rPr>
              <a:t> </a:t>
            </a:r>
            <a:r>
              <a:rPr sz="1200" i="1" baseline="34722" dirty="0">
                <a:latin typeface="Verdana"/>
                <a:cs typeface="Verdana"/>
              </a:rPr>
              <a:t>&gt;</a:t>
            </a:r>
            <a:r>
              <a:rPr sz="1200" i="1" spc="150" baseline="34722" dirty="0">
                <a:latin typeface="Verdana"/>
                <a:cs typeface="Verdana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tanh(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spc="7" baseline="-15873" dirty="0">
                <a:latin typeface="Arial"/>
                <a:cs typeface="Arial"/>
              </a:rPr>
              <a:t>c</a:t>
            </a:r>
            <a:r>
              <a:rPr sz="1050" i="1" spc="-165" baseline="-15873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[Γ</a:t>
            </a:r>
            <a:r>
              <a:rPr sz="1050" i="1" spc="7" baseline="-15873" dirty="0">
                <a:latin typeface="Arial"/>
                <a:cs typeface="Arial"/>
              </a:rPr>
              <a:t>r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50" i="1" spc="7" baseline="-15873" dirty="0">
                <a:latin typeface="Arial"/>
                <a:cs typeface="Arial"/>
              </a:rPr>
              <a:t> </a:t>
            </a:r>
            <a:r>
              <a:rPr sz="1200" spc="-5" dirty="0">
                <a:latin typeface="MS UI Gothic"/>
                <a:cs typeface="MS UI Gothic"/>
              </a:rPr>
              <a:t>∗</a:t>
            </a:r>
            <a:r>
              <a:rPr sz="1200" spc="-100" dirty="0">
                <a:latin typeface="MS UI Gothic"/>
                <a:cs typeface="MS UI Gothic"/>
              </a:rPr>
              <a:t> </a:t>
            </a:r>
            <a:r>
              <a:rPr sz="1050" i="1" spc="65" dirty="0">
                <a:latin typeface="Arial"/>
                <a:cs typeface="Arial"/>
              </a:rPr>
              <a:t>c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spc="284" baseline="34722" dirty="0">
                <a:latin typeface="Arial"/>
                <a:cs typeface="Arial"/>
              </a:rPr>
              <a:t>−</a:t>
            </a:r>
            <a:r>
              <a:rPr sz="1050" spc="7" baseline="39682" dirty="0">
                <a:latin typeface="Microsoft Sans Serif"/>
                <a:cs typeface="Microsoft Sans Serif"/>
              </a:rPr>
              <a:t>1</a:t>
            </a:r>
            <a:r>
              <a:rPr sz="1200" i="1" spc="75" baseline="34722" dirty="0">
                <a:latin typeface="Verdana"/>
                <a:cs typeface="Verdana"/>
              </a:rPr>
              <a:t>&gt;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10" dirty="0">
                <a:latin typeface="Arial"/>
                <a:cs typeface="Arial"/>
              </a:rPr>
              <a:t>x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spc="75" baseline="34722" dirty="0">
                <a:latin typeface="Verdana"/>
                <a:cs typeface="Verdana"/>
              </a:rPr>
              <a:t>&gt;</a:t>
            </a:r>
            <a:r>
              <a:rPr sz="1200" spc="-125" dirty="0">
                <a:latin typeface="Tahoma"/>
                <a:cs typeface="Tahoma"/>
              </a:rPr>
              <a:t>]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spc="7" baseline="-15873" dirty="0">
                <a:latin typeface="Arial"/>
                <a:cs typeface="Arial"/>
              </a:rPr>
              <a:t>c</a:t>
            </a:r>
            <a:r>
              <a:rPr sz="1050" i="1" spc="-165" baseline="-15873" dirty="0">
                <a:latin typeface="Arial"/>
                <a:cs typeface="Arial"/>
              </a:rPr>
              <a:t> </a:t>
            </a:r>
            <a:r>
              <a:rPr sz="1200" spc="-5" dirty="0">
                <a:latin typeface="Tahoma"/>
                <a:cs typeface="Tahoma"/>
              </a:rPr>
              <a:t>)  </a:t>
            </a:r>
            <a:r>
              <a:rPr sz="1200" spc="20" dirty="0">
                <a:latin typeface="Tahoma"/>
                <a:cs typeface="Tahoma"/>
              </a:rPr>
              <a:t>Γ</a:t>
            </a:r>
            <a:r>
              <a:rPr sz="1050" i="1" spc="7" baseline="-15873" dirty="0">
                <a:latin typeface="Arial"/>
                <a:cs typeface="Arial"/>
              </a:rPr>
              <a:t>u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50" i="1" spc="30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spc="7" baseline="-15873" dirty="0">
                <a:latin typeface="Arial"/>
                <a:cs typeface="Arial"/>
              </a:rPr>
              <a:t>u</a:t>
            </a:r>
            <a:r>
              <a:rPr sz="1050" i="1" spc="-172" baseline="-15873" dirty="0">
                <a:latin typeface="Arial"/>
                <a:cs typeface="Arial"/>
              </a:rPr>
              <a:t> </a:t>
            </a:r>
            <a:r>
              <a:rPr sz="1200" spc="-125" dirty="0">
                <a:latin typeface="Tahoma"/>
                <a:cs typeface="Tahoma"/>
              </a:rPr>
              <a:t>[</a:t>
            </a:r>
            <a:r>
              <a:rPr sz="1050" i="1" spc="65" dirty="0">
                <a:latin typeface="Arial"/>
                <a:cs typeface="Arial"/>
              </a:rPr>
              <a:t>c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spc="284" baseline="34722" dirty="0">
                <a:latin typeface="Arial"/>
                <a:cs typeface="Arial"/>
              </a:rPr>
              <a:t>−</a:t>
            </a:r>
            <a:r>
              <a:rPr sz="1050" spc="7" baseline="39682" dirty="0">
                <a:latin typeface="Microsoft Sans Serif"/>
                <a:cs typeface="Microsoft Sans Serif"/>
              </a:rPr>
              <a:t>1</a:t>
            </a:r>
            <a:r>
              <a:rPr sz="1200" i="1" spc="75" baseline="34722" dirty="0">
                <a:latin typeface="Verdana"/>
                <a:cs typeface="Verdana"/>
              </a:rPr>
              <a:t>&gt;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10" dirty="0">
                <a:latin typeface="Arial"/>
                <a:cs typeface="Arial"/>
              </a:rPr>
              <a:t>x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baseline="34722" dirty="0">
                <a:latin typeface="Verdana"/>
                <a:cs typeface="Verdana"/>
              </a:rPr>
              <a:t>&gt;</a:t>
            </a:r>
            <a:r>
              <a:rPr sz="1200" i="1" spc="44" baseline="34722" dirty="0">
                <a:latin typeface="Verdana"/>
                <a:cs typeface="Verdana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spc="7" baseline="-15873" dirty="0">
                <a:latin typeface="Arial"/>
                <a:cs typeface="Arial"/>
              </a:rPr>
              <a:t>u</a:t>
            </a:r>
            <a:r>
              <a:rPr sz="1050" i="1" spc="-172" baseline="-15873" dirty="0">
                <a:latin typeface="Arial"/>
                <a:cs typeface="Arial"/>
              </a:rPr>
              <a:t> </a:t>
            </a:r>
            <a:r>
              <a:rPr sz="1200" spc="-65" dirty="0">
                <a:latin typeface="Tahoma"/>
                <a:cs typeface="Tahoma"/>
              </a:rPr>
              <a:t>])</a:t>
            </a:r>
            <a:endParaRPr sz="1200">
              <a:latin typeface="Tahoma"/>
              <a:cs typeface="Tahoma"/>
            </a:endParaRPr>
          </a:p>
          <a:p>
            <a:pPr marL="1362710">
              <a:lnSpc>
                <a:spcPct val="100000"/>
              </a:lnSpc>
              <a:spcBef>
                <a:spcPts val="300"/>
              </a:spcBef>
            </a:pPr>
            <a:r>
              <a:rPr sz="1200" spc="20" dirty="0">
                <a:latin typeface="Tahoma"/>
                <a:cs typeface="Tahoma"/>
              </a:rPr>
              <a:t>Γ</a:t>
            </a:r>
            <a:r>
              <a:rPr sz="1050" i="1" spc="7" baseline="-15873" dirty="0">
                <a:latin typeface="Arial"/>
                <a:cs typeface="Arial"/>
              </a:rPr>
              <a:t>r </a:t>
            </a:r>
            <a:r>
              <a:rPr sz="1050" i="1" spc="104" baseline="-15873" dirty="0">
                <a:latin typeface="Arial"/>
                <a:cs typeface="Arial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σ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i="1" spc="20" dirty="0">
                <a:latin typeface="Arial"/>
                <a:cs typeface="Arial"/>
              </a:rPr>
              <a:t>W</a:t>
            </a:r>
            <a:r>
              <a:rPr sz="1050" i="1" spc="7" baseline="-15873" dirty="0">
                <a:latin typeface="Arial"/>
                <a:cs typeface="Arial"/>
              </a:rPr>
              <a:t>r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1200" spc="-125" dirty="0">
                <a:latin typeface="Tahoma"/>
                <a:cs typeface="Tahoma"/>
              </a:rPr>
              <a:t>[</a:t>
            </a:r>
            <a:r>
              <a:rPr sz="1050" i="1" spc="65" dirty="0">
                <a:latin typeface="Arial"/>
                <a:cs typeface="Arial"/>
              </a:rPr>
              <a:t>c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spc="284" baseline="34722" dirty="0">
                <a:latin typeface="Arial"/>
                <a:cs typeface="Arial"/>
              </a:rPr>
              <a:t>−</a:t>
            </a:r>
            <a:r>
              <a:rPr sz="1050" spc="7" baseline="39682" dirty="0">
                <a:latin typeface="Microsoft Sans Serif"/>
                <a:cs typeface="Microsoft Sans Serif"/>
              </a:rPr>
              <a:t>1</a:t>
            </a:r>
            <a:r>
              <a:rPr sz="1200" i="1" spc="75" baseline="34722" dirty="0">
                <a:latin typeface="Verdana"/>
                <a:cs typeface="Verdana"/>
              </a:rPr>
              <a:t>&gt;</a:t>
            </a:r>
            <a:r>
              <a:rPr sz="1200" i="1" spc="-114" dirty="0">
                <a:latin typeface="Verdana"/>
                <a:cs typeface="Verdana"/>
              </a:rPr>
              <a:t>,</a:t>
            </a:r>
            <a:r>
              <a:rPr sz="1200" i="1" spc="-225" dirty="0">
                <a:latin typeface="Verdana"/>
                <a:cs typeface="Verdana"/>
              </a:rPr>
              <a:t> </a:t>
            </a:r>
            <a:r>
              <a:rPr sz="1050" i="1" spc="110" dirty="0">
                <a:latin typeface="Arial"/>
                <a:cs typeface="Arial"/>
              </a:rPr>
              <a:t>x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baseline="34722" dirty="0">
                <a:latin typeface="Verdana"/>
                <a:cs typeface="Verdana"/>
              </a:rPr>
              <a:t>&gt;</a:t>
            </a:r>
            <a:r>
              <a:rPr sz="1200" i="1" spc="44" baseline="34722" dirty="0">
                <a:latin typeface="Verdana"/>
                <a:cs typeface="Verdana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i="1" spc="10" dirty="0">
                <a:latin typeface="Arial"/>
                <a:cs typeface="Arial"/>
              </a:rPr>
              <a:t>b</a:t>
            </a:r>
            <a:r>
              <a:rPr sz="1050" i="1" spc="7" baseline="-15873" dirty="0">
                <a:latin typeface="Arial"/>
                <a:cs typeface="Arial"/>
              </a:rPr>
              <a:t>r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1200" spc="-65" dirty="0">
                <a:latin typeface="Tahoma"/>
                <a:cs typeface="Tahoma"/>
              </a:rPr>
              <a:t>])</a:t>
            </a:r>
            <a:endParaRPr sz="1200">
              <a:latin typeface="Tahoma"/>
              <a:cs typeface="Tahoma"/>
            </a:endParaRPr>
          </a:p>
          <a:p>
            <a:pPr marL="1206500" marR="1398905" indent="635">
              <a:lnSpc>
                <a:spcPts val="1250"/>
              </a:lnSpc>
              <a:spcBef>
                <a:spcPts val="505"/>
              </a:spcBef>
            </a:pPr>
            <a:r>
              <a:rPr sz="1050" i="1" spc="65" dirty="0">
                <a:latin typeface="Arial"/>
                <a:cs typeface="Arial"/>
              </a:rPr>
              <a:t>c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baseline="34722" dirty="0">
                <a:latin typeface="Verdana"/>
                <a:cs typeface="Verdana"/>
              </a:rPr>
              <a:t>&gt;</a:t>
            </a:r>
            <a:r>
              <a:rPr sz="1200" i="1" spc="150" baseline="34722" dirty="0">
                <a:latin typeface="Verdana"/>
                <a:cs typeface="Verdana"/>
              </a:rPr>
              <a:t> </a:t>
            </a:r>
            <a:r>
              <a:rPr sz="1200" spc="35" dirty="0">
                <a:latin typeface="Tahoma"/>
                <a:cs typeface="Tahoma"/>
              </a:rPr>
              <a:t>=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Γ</a:t>
            </a:r>
            <a:r>
              <a:rPr sz="1050" i="1" spc="7" baseline="-15873" dirty="0">
                <a:latin typeface="Arial"/>
                <a:cs typeface="Arial"/>
              </a:rPr>
              <a:t>u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50" i="1" spc="-67" baseline="-15873" dirty="0">
                <a:latin typeface="Arial"/>
                <a:cs typeface="Arial"/>
              </a:rPr>
              <a:t> </a:t>
            </a:r>
            <a:r>
              <a:rPr sz="1200" spc="-5" dirty="0">
                <a:latin typeface="MS UI Gothic"/>
                <a:cs typeface="MS UI Gothic"/>
              </a:rPr>
              <a:t>∗</a:t>
            </a:r>
            <a:r>
              <a:rPr sz="1200" spc="-100" dirty="0">
                <a:latin typeface="MS UI Gothic"/>
                <a:cs typeface="MS UI Gothic"/>
              </a:rPr>
              <a:t> </a:t>
            </a:r>
            <a:r>
              <a:rPr sz="1050" i="1" spc="-525" dirty="0">
                <a:latin typeface="Arial"/>
                <a:cs typeface="Arial"/>
              </a:rPr>
              <a:t>c</a:t>
            </a:r>
            <a:r>
              <a:rPr sz="1800" spc="-104" baseline="2314" dirty="0">
                <a:latin typeface="Tahoma"/>
                <a:cs typeface="Tahoma"/>
              </a:rPr>
              <a:t>˜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baseline="39682" dirty="0">
                <a:latin typeface="Arial"/>
                <a:cs typeface="Arial"/>
              </a:rPr>
              <a:t>t</a:t>
            </a:r>
            <a:r>
              <a:rPr sz="1050" i="1" spc="-195" baseline="39682" dirty="0">
                <a:latin typeface="Arial"/>
                <a:cs typeface="Arial"/>
              </a:rPr>
              <a:t> </a:t>
            </a:r>
            <a:r>
              <a:rPr sz="1200" i="1" baseline="34722" dirty="0">
                <a:latin typeface="Verdana"/>
                <a:cs typeface="Verdana"/>
              </a:rPr>
              <a:t>&gt;</a:t>
            </a:r>
            <a:r>
              <a:rPr sz="1200" i="1" spc="44" baseline="34722" dirty="0">
                <a:latin typeface="Verdana"/>
                <a:cs typeface="Verdana"/>
              </a:rPr>
              <a:t> </a:t>
            </a:r>
            <a:r>
              <a:rPr sz="1200" spc="35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10" dirty="0">
                <a:latin typeface="Microsoft Sans Serif"/>
                <a:cs typeface="Microsoft Sans Serif"/>
              </a:rPr>
              <a:t>1</a:t>
            </a:r>
            <a:r>
              <a:rPr sz="1050" spc="-15" dirty="0">
                <a:latin typeface="Microsoft Sans Serif"/>
                <a:cs typeface="Microsoft Sans Serif"/>
              </a:rPr>
              <a:t> </a:t>
            </a:r>
            <a:r>
              <a:rPr sz="1200" spc="125" dirty="0">
                <a:latin typeface="MS UI Gothic"/>
                <a:cs typeface="MS UI Gothic"/>
              </a:rPr>
              <a:t>−</a:t>
            </a:r>
            <a:r>
              <a:rPr sz="1200" spc="-100" dirty="0">
                <a:latin typeface="MS UI Gothic"/>
                <a:cs typeface="MS UI Gothic"/>
              </a:rPr>
              <a:t> </a:t>
            </a:r>
            <a:r>
              <a:rPr sz="1200" spc="20" dirty="0">
                <a:latin typeface="Tahoma"/>
                <a:cs typeface="Tahoma"/>
              </a:rPr>
              <a:t>Γ</a:t>
            </a:r>
            <a:r>
              <a:rPr sz="1050" i="1" spc="7" baseline="-15873" dirty="0">
                <a:latin typeface="Arial"/>
                <a:cs typeface="Arial"/>
              </a:rPr>
              <a:t>u</a:t>
            </a:r>
            <a:r>
              <a:rPr sz="1050" i="1" spc="-172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5" dirty="0">
                <a:latin typeface="MS UI Gothic"/>
                <a:cs typeface="MS UI Gothic"/>
              </a:rPr>
              <a:t>∗</a:t>
            </a:r>
            <a:r>
              <a:rPr sz="1200" spc="-100" dirty="0">
                <a:latin typeface="MS UI Gothic"/>
                <a:cs typeface="MS UI Gothic"/>
              </a:rPr>
              <a:t> </a:t>
            </a:r>
            <a:r>
              <a:rPr sz="1050" i="1" spc="65" dirty="0">
                <a:latin typeface="Arial"/>
                <a:cs typeface="Arial"/>
              </a:rPr>
              <a:t>c</a:t>
            </a:r>
            <a:r>
              <a:rPr sz="1200" i="1" baseline="34722" dirty="0">
                <a:latin typeface="Verdana"/>
                <a:cs typeface="Verdana"/>
              </a:rPr>
              <a:t>&lt;</a:t>
            </a:r>
            <a:r>
              <a:rPr sz="1050" i="1" spc="89" baseline="39682" dirty="0">
                <a:latin typeface="Arial"/>
                <a:cs typeface="Arial"/>
              </a:rPr>
              <a:t>t</a:t>
            </a:r>
            <a:r>
              <a:rPr sz="1200" i="1" spc="284" baseline="34722" dirty="0">
                <a:latin typeface="Arial"/>
                <a:cs typeface="Arial"/>
              </a:rPr>
              <a:t>−</a:t>
            </a:r>
            <a:r>
              <a:rPr sz="1050" spc="7" baseline="39682" dirty="0">
                <a:latin typeface="Microsoft Sans Serif"/>
                <a:cs typeface="Microsoft Sans Serif"/>
              </a:rPr>
              <a:t>1</a:t>
            </a:r>
            <a:r>
              <a:rPr sz="1200" i="1" baseline="34722" dirty="0">
                <a:latin typeface="Verdana"/>
                <a:cs typeface="Verdana"/>
              </a:rPr>
              <a:t>&gt;  </a:t>
            </a:r>
            <a:r>
              <a:rPr sz="1575" i="1" spc="30" baseline="-26455" dirty="0">
                <a:latin typeface="Arial"/>
                <a:cs typeface="Arial"/>
              </a:rPr>
              <a:t>a</a:t>
            </a:r>
            <a:r>
              <a:rPr sz="800" i="1" spc="20" dirty="0">
                <a:latin typeface="Verdana"/>
                <a:cs typeface="Verdana"/>
              </a:rPr>
              <a:t>&lt;</a:t>
            </a:r>
            <a:r>
              <a:rPr sz="700" i="1" spc="20" dirty="0">
                <a:latin typeface="Arial"/>
                <a:cs typeface="Arial"/>
              </a:rPr>
              <a:t>t</a:t>
            </a:r>
            <a:r>
              <a:rPr sz="800" i="1" spc="20" dirty="0">
                <a:latin typeface="Verdana"/>
                <a:cs typeface="Verdana"/>
              </a:rPr>
              <a:t>&gt;</a:t>
            </a:r>
            <a:r>
              <a:rPr sz="800" i="1" spc="95" dirty="0">
                <a:latin typeface="Verdana"/>
                <a:cs typeface="Verdana"/>
              </a:rPr>
              <a:t> </a:t>
            </a:r>
            <a:r>
              <a:rPr sz="1800" spc="52" baseline="-23148" dirty="0">
                <a:latin typeface="Tahoma"/>
                <a:cs typeface="Tahoma"/>
              </a:rPr>
              <a:t>=</a:t>
            </a:r>
            <a:r>
              <a:rPr sz="1800" spc="-67" baseline="-23148" dirty="0">
                <a:latin typeface="Tahoma"/>
                <a:cs typeface="Tahoma"/>
              </a:rPr>
              <a:t> </a:t>
            </a:r>
            <a:r>
              <a:rPr sz="1575" i="1" spc="52" baseline="-26455" dirty="0">
                <a:latin typeface="Arial"/>
                <a:cs typeface="Arial"/>
              </a:rPr>
              <a:t>c</a:t>
            </a:r>
            <a:r>
              <a:rPr sz="800" i="1" spc="35" dirty="0">
                <a:latin typeface="Verdana"/>
                <a:cs typeface="Verdana"/>
              </a:rPr>
              <a:t>&lt;</a:t>
            </a:r>
            <a:r>
              <a:rPr sz="700" i="1" spc="35" dirty="0">
                <a:latin typeface="Arial"/>
                <a:cs typeface="Arial"/>
              </a:rPr>
              <a:t>t</a:t>
            </a:r>
            <a:r>
              <a:rPr sz="800" i="1" spc="35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34061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3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700" cap="small" spc="1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cap="small" spc="300" dirty="0">
                <a:solidFill>
                  <a:srgbClr val="FFFFFF"/>
                </a:solidFill>
                <a:latin typeface="Calibri"/>
                <a:cs typeface="Calibri"/>
              </a:rPr>
              <a:t>ted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700" cap="small" spc="275" dirty="0">
                <a:solidFill>
                  <a:srgbClr val="FFFFFF"/>
                </a:solidFill>
                <a:latin typeface="Calibri"/>
                <a:cs typeface="Calibri"/>
              </a:rPr>
              <a:t>ecurrent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30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700" cap="small" spc="240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340" dirty="0">
                <a:solidFill>
                  <a:srgbClr val="FFFFFF"/>
                </a:solidFill>
                <a:latin typeface="Calibri"/>
                <a:cs typeface="Calibri"/>
              </a:rPr>
              <a:t>(G</a:t>
            </a:r>
            <a:r>
              <a:rPr sz="1700" spc="3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700" spc="270" dirty="0">
                <a:solidFill>
                  <a:srgbClr val="FFFFFF"/>
                </a:solidFill>
                <a:latin typeface="Calibri"/>
                <a:cs typeface="Calibri"/>
              </a:rPr>
              <a:t>U)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89840" y="2017812"/>
            <a:ext cx="309245" cy="288290"/>
          </a:xfrm>
          <a:custGeom>
            <a:avLst/>
            <a:gdLst/>
            <a:ahLst/>
            <a:cxnLst/>
            <a:rect l="l" t="t" r="r" b="b"/>
            <a:pathLst>
              <a:path w="309244" h="288289">
                <a:moveTo>
                  <a:pt x="0" y="288003"/>
                </a:moveTo>
                <a:lnTo>
                  <a:pt x="308888" y="288003"/>
                </a:lnTo>
                <a:lnTo>
                  <a:pt x="308888" y="0"/>
                </a:lnTo>
                <a:lnTo>
                  <a:pt x="0" y="0"/>
                </a:lnTo>
                <a:lnTo>
                  <a:pt x="0" y="288003"/>
                </a:lnTo>
                <a:close/>
              </a:path>
            </a:pathLst>
          </a:custGeom>
          <a:ln w="809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3576" y="2078384"/>
            <a:ext cx="26162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100" dirty="0">
                <a:latin typeface="Microsoft Sans Serif"/>
                <a:cs typeface="Microsoft Sans Serif"/>
              </a:rPr>
              <a:t>T</a:t>
            </a:r>
            <a:r>
              <a:rPr sz="850" spc="5" dirty="0">
                <a:latin typeface="Microsoft Sans Serif"/>
                <a:cs typeface="Microsoft Sans Serif"/>
              </a:rPr>
              <a:t>anh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94829" y="2017812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288003"/>
                </a:moveTo>
                <a:lnTo>
                  <a:pt x="288003" y="288003"/>
                </a:lnTo>
                <a:lnTo>
                  <a:pt x="288003" y="0"/>
                </a:lnTo>
                <a:lnTo>
                  <a:pt x="0" y="0"/>
                </a:lnTo>
                <a:lnTo>
                  <a:pt x="0" y="288003"/>
                </a:lnTo>
                <a:close/>
              </a:path>
            </a:pathLst>
          </a:custGeom>
          <a:ln w="809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90151" y="2053801"/>
            <a:ext cx="9334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i="1" spc="-70" dirty="0">
                <a:latin typeface="Verdana"/>
                <a:cs typeface="Verdana"/>
              </a:rPr>
              <a:t>σ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48755" y="1289627"/>
            <a:ext cx="1336040" cy="614680"/>
            <a:chOff x="1748755" y="1289627"/>
            <a:chExt cx="1336040" cy="614680"/>
          </a:xfrm>
        </p:grpSpPr>
        <p:sp>
          <p:nvSpPr>
            <p:cNvPr id="8" name="object 8"/>
            <p:cNvSpPr/>
            <p:nvPr/>
          </p:nvSpPr>
          <p:spPr>
            <a:xfrm>
              <a:off x="2792335" y="12937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288003" y="0"/>
                  </a:moveTo>
                  <a:lnTo>
                    <a:pt x="0" y="0"/>
                  </a:lnTo>
                  <a:lnTo>
                    <a:pt x="0" y="288003"/>
                  </a:lnTo>
                  <a:lnTo>
                    <a:pt x="288003" y="288003"/>
                  </a:lnTo>
                  <a:lnTo>
                    <a:pt x="288003" y="0"/>
                  </a:lnTo>
                  <a:close/>
                </a:path>
              </a:pathLst>
            </a:custGeom>
            <a:solidFill>
              <a:srgbClr val="BF00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92335" y="12937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0" y="288003"/>
                  </a:moveTo>
                  <a:lnTo>
                    <a:pt x="288003" y="288003"/>
                  </a:lnTo>
                  <a:lnTo>
                    <a:pt x="288003" y="0"/>
                  </a:lnTo>
                  <a:lnTo>
                    <a:pt x="0" y="0"/>
                  </a:lnTo>
                  <a:lnTo>
                    <a:pt x="0" y="288003"/>
                  </a:lnTo>
                  <a:close/>
                </a:path>
              </a:pathLst>
            </a:custGeom>
            <a:ln w="8097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50977" y="1554980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595" y="173297"/>
                  </a:moveTo>
                  <a:lnTo>
                    <a:pt x="340405" y="127227"/>
                  </a:lnTo>
                  <a:lnTo>
                    <a:pt x="322935" y="85830"/>
                  </a:lnTo>
                  <a:lnTo>
                    <a:pt x="295838" y="50757"/>
                  </a:lnTo>
                  <a:lnTo>
                    <a:pt x="260764" y="23659"/>
                  </a:lnTo>
                  <a:lnTo>
                    <a:pt x="219367" y="6190"/>
                  </a:lnTo>
                  <a:lnTo>
                    <a:pt x="173297" y="0"/>
                  </a:lnTo>
                  <a:lnTo>
                    <a:pt x="127227" y="6190"/>
                  </a:lnTo>
                  <a:lnTo>
                    <a:pt x="85830" y="23659"/>
                  </a:lnTo>
                  <a:lnTo>
                    <a:pt x="50757" y="50757"/>
                  </a:lnTo>
                  <a:lnTo>
                    <a:pt x="23659" y="85830"/>
                  </a:lnTo>
                  <a:lnTo>
                    <a:pt x="6190" y="127227"/>
                  </a:lnTo>
                  <a:lnTo>
                    <a:pt x="0" y="173297"/>
                  </a:lnTo>
                  <a:lnTo>
                    <a:pt x="6190" y="219367"/>
                  </a:lnTo>
                  <a:lnTo>
                    <a:pt x="23659" y="260764"/>
                  </a:lnTo>
                  <a:lnTo>
                    <a:pt x="50757" y="295838"/>
                  </a:lnTo>
                  <a:lnTo>
                    <a:pt x="85830" y="322935"/>
                  </a:lnTo>
                  <a:lnTo>
                    <a:pt x="127227" y="340405"/>
                  </a:lnTo>
                  <a:lnTo>
                    <a:pt x="173297" y="346595"/>
                  </a:lnTo>
                  <a:lnTo>
                    <a:pt x="219367" y="340405"/>
                  </a:lnTo>
                  <a:lnTo>
                    <a:pt x="260764" y="322935"/>
                  </a:lnTo>
                  <a:lnTo>
                    <a:pt x="295838" y="295838"/>
                  </a:lnTo>
                  <a:lnTo>
                    <a:pt x="322935" y="260764"/>
                  </a:lnTo>
                  <a:lnTo>
                    <a:pt x="340405" y="219367"/>
                  </a:lnTo>
                  <a:lnTo>
                    <a:pt x="346595" y="173297"/>
                  </a:lnTo>
                  <a:close/>
                </a:path>
              </a:pathLst>
            </a:custGeom>
            <a:ln w="404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70982" y="1608992"/>
            <a:ext cx="40513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75" i="1" spc="89" baseline="-22875" dirty="0">
                <a:latin typeface="Arial"/>
                <a:cs typeface="Arial"/>
              </a:rPr>
              <a:t>c</a:t>
            </a:r>
            <a:r>
              <a:rPr sz="600" i="1" spc="60" dirty="0">
                <a:latin typeface="Verdana"/>
                <a:cs typeface="Verdana"/>
              </a:rPr>
              <a:t>&lt;</a:t>
            </a:r>
            <a:r>
              <a:rPr sz="550" i="1" spc="60" dirty="0">
                <a:latin typeface="Arial"/>
                <a:cs typeface="Arial"/>
              </a:rPr>
              <a:t>t</a:t>
            </a:r>
            <a:r>
              <a:rPr sz="600" i="1" spc="60" dirty="0">
                <a:latin typeface="Arial"/>
                <a:cs typeface="Arial"/>
              </a:rPr>
              <a:t>−</a:t>
            </a:r>
            <a:r>
              <a:rPr sz="550" spc="60" dirty="0">
                <a:latin typeface="Microsoft Sans Serif"/>
                <a:cs typeface="Microsoft Sans Serif"/>
              </a:rPr>
              <a:t>1</a:t>
            </a:r>
            <a:r>
              <a:rPr sz="600" i="1" spc="60" dirty="0">
                <a:latin typeface="Verdana"/>
                <a:cs typeface="Verdana"/>
              </a:rPr>
              <a:t>&gt;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62419" y="1264458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595" y="173297"/>
                </a:moveTo>
                <a:lnTo>
                  <a:pt x="340405" y="127227"/>
                </a:lnTo>
                <a:lnTo>
                  <a:pt x="322935" y="85830"/>
                </a:lnTo>
                <a:lnTo>
                  <a:pt x="295838" y="50757"/>
                </a:lnTo>
                <a:lnTo>
                  <a:pt x="260764" y="23659"/>
                </a:lnTo>
                <a:lnTo>
                  <a:pt x="219367" y="6190"/>
                </a:lnTo>
                <a:lnTo>
                  <a:pt x="173297" y="0"/>
                </a:lnTo>
                <a:lnTo>
                  <a:pt x="127227" y="6190"/>
                </a:lnTo>
                <a:lnTo>
                  <a:pt x="85830" y="23659"/>
                </a:lnTo>
                <a:lnTo>
                  <a:pt x="50757" y="50757"/>
                </a:lnTo>
                <a:lnTo>
                  <a:pt x="23659" y="85830"/>
                </a:lnTo>
                <a:lnTo>
                  <a:pt x="6190" y="127227"/>
                </a:lnTo>
                <a:lnTo>
                  <a:pt x="0" y="173297"/>
                </a:lnTo>
                <a:lnTo>
                  <a:pt x="6190" y="219367"/>
                </a:lnTo>
                <a:lnTo>
                  <a:pt x="23659" y="260764"/>
                </a:lnTo>
                <a:lnTo>
                  <a:pt x="50757" y="295838"/>
                </a:lnTo>
                <a:lnTo>
                  <a:pt x="85830" y="322935"/>
                </a:lnTo>
                <a:lnTo>
                  <a:pt x="127227" y="340405"/>
                </a:lnTo>
                <a:lnTo>
                  <a:pt x="173297" y="346595"/>
                </a:lnTo>
                <a:lnTo>
                  <a:pt x="219367" y="340405"/>
                </a:lnTo>
                <a:lnTo>
                  <a:pt x="260764" y="322935"/>
                </a:lnTo>
                <a:lnTo>
                  <a:pt x="295838" y="295838"/>
                </a:lnTo>
                <a:lnTo>
                  <a:pt x="322935" y="260764"/>
                </a:lnTo>
                <a:lnTo>
                  <a:pt x="340405" y="219367"/>
                </a:lnTo>
                <a:lnTo>
                  <a:pt x="346595" y="173297"/>
                </a:lnTo>
                <a:close/>
              </a:path>
            </a:pathLst>
          </a:custGeom>
          <a:ln w="404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82403" y="1317187"/>
            <a:ext cx="29781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75" i="1" spc="60" baseline="-22875" dirty="0">
                <a:latin typeface="Arial"/>
                <a:cs typeface="Arial"/>
              </a:rPr>
              <a:t>c</a:t>
            </a:r>
            <a:r>
              <a:rPr sz="600" i="1" spc="40" dirty="0">
                <a:latin typeface="Verdana"/>
                <a:cs typeface="Verdana"/>
              </a:rPr>
              <a:t>&lt;</a:t>
            </a:r>
            <a:r>
              <a:rPr sz="550" i="1" spc="40" dirty="0">
                <a:latin typeface="Arial"/>
                <a:cs typeface="Arial"/>
              </a:rPr>
              <a:t>t</a:t>
            </a:r>
            <a:r>
              <a:rPr sz="600" i="1" spc="40" dirty="0">
                <a:latin typeface="Verdana"/>
                <a:cs typeface="Verdana"/>
              </a:rPr>
              <a:t>&gt;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58269" y="643543"/>
            <a:ext cx="356235" cy="356235"/>
          </a:xfrm>
          <a:custGeom>
            <a:avLst/>
            <a:gdLst/>
            <a:ahLst/>
            <a:cxnLst/>
            <a:rect l="l" t="t" r="r" b="b"/>
            <a:pathLst>
              <a:path w="356235" h="356234">
                <a:moveTo>
                  <a:pt x="356134" y="178067"/>
                </a:moveTo>
                <a:lnTo>
                  <a:pt x="349773" y="130729"/>
                </a:lnTo>
                <a:lnTo>
                  <a:pt x="331823" y="88192"/>
                </a:lnTo>
                <a:lnTo>
                  <a:pt x="303980" y="52154"/>
                </a:lnTo>
                <a:lnTo>
                  <a:pt x="267941" y="24311"/>
                </a:lnTo>
                <a:lnTo>
                  <a:pt x="225404" y="6360"/>
                </a:lnTo>
                <a:lnTo>
                  <a:pt x="178067" y="0"/>
                </a:lnTo>
                <a:lnTo>
                  <a:pt x="130729" y="6360"/>
                </a:lnTo>
                <a:lnTo>
                  <a:pt x="88192" y="24311"/>
                </a:lnTo>
                <a:lnTo>
                  <a:pt x="52154" y="52154"/>
                </a:lnTo>
                <a:lnTo>
                  <a:pt x="24311" y="88192"/>
                </a:lnTo>
                <a:lnTo>
                  <a:pt x="6360" y="130729"/>
                </a:lnTo>
                <a:lnTo>
                  <a:pt x="0" y="178067"/>
                </a:lnTo>
                <a:lnTo>
                  <a:pt x="6360" y="225405"/>
                </a:lnTo>
                <a:lnTo>
                  <a:pt x="24311" y="267941"/>
                </a:lnTo>
                <a:lnTo>
                  <a:pt x="52154" y="303980"/>
                </a:lnTo>
                <a:lnTo>
                  <a:pt x="88192" y="331823"/>
                </a:lnTo>
                <a:lnTo>
                  <a:pt x="130729" y="349773"/>
                </a:lnTo>
                <a:lnTo>
                  <a:pt x="178067" y="356134"/>
                </a:lnTo>
                <a:lnTo>
                  <a:pt x="225404" y="349773"/>
                </a:lnTo>
                <a:lnTo>
                  <a:pt x="267941" y="331823"/>
                </a:lnTo>
                <a:lnTo>
                  <a:pt x="303980" y="303980"/>
                </a:lnTo>
                <a:lnTo>
                  <a:pt x="331823" y="267941"/>
                </a:lnTo>
                <a:lnTo>
                  <a:pt x="349773" y="225405"/>
                </a:lnTo>
                <a:lnTo>
                  <a:pt x="356134" y="178067"/>
                </a:lnTo>
                <a:close/>
              </a:path>
            </a:pathLst>
          </a:custGeom>
          <a:ln w="404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783029" y="690253"/>
            <a:ext cx="30289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75" i="1" spc="75" baseline="-22875" dirty="0">
                <a:latin typeface="Arial"/>
                <a:cs typeface="Arial"/>
              </a:rPr>
              <a:t>y</a:t>
            </a:r>
            <a:r>
              <a:rPr sz="600" i="1" spc="50" dirty="0">
                <a:latin typeface="Verdana"/>
                <a:cs typeface="Verdana"/>
              </a:rPr>
              <a:t>&lt;</a:t>
            </a:r>
            <a:r>
              <a:rPr sz="550" i="1" spc="50" dirty="0">
                <a:latin typeface="Arial"/>
                <a:cs typeface="Arial"/>
              </a:rPr>
              <a:t>t</a:t>
            </a:r>
            <a:r>
              <a:rPr sz="600" i="1" spc="50" dirty="0">
                <a:latin typeface="Verdana"/>
                <a:cs typeface="Verdana"/>
              </a:rPr>
              <a:t>&gt;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63807" y="2739846"/>
            <a:ext cx="345440" cy="345440"/>
          </a:xfrm>
          <a:custGeom>
            <a:avLst/>
            <a:gdLst/>
            <a:ahLst/>
            <a:cxnLst/>
            <a:rect l="l" t="t" r="r" b="b"/>
            <a:pathLst>
              <a:path w="345439" h="345439">
                <a:moveTo>
                  <a:pt x="345058" y="172529"/>
                </a:moveTo>
                <a:lnTo>
                  <a:pt x="338895" y="126663"/>
                </a:lnTo>
                <a:lnTo>
                  <a:pt x="321503" y="85449"/>
                </a:lnTo>
                <a:lnTo>
                  <a:pt x="294526" y="50532"/>
                </a:lnTo>
                <a:lnTo>
                  <a:pt x="259608" y="23555"/>
                </a:lnTo>
                <a:lnTo>
                  <a:pt x="218394" y="6162"/>
                </a:lnTo>
                <a:lnTo>
                  <a:pt x="172529" y="0"/>
                </a:lnTo>
                <a:lnTo>
                  <a:pt x="126663" y="6162"/>
                </a:lnTo>
                <a:lnTo>
                  <a:pt x="85449" y="23555"/>
                </a:lnTo>
                <a:lnTo>
                  <a:pt x="50532" y="50532"/>
                </a:lnTo>
                <a:lnTo>
                  <a:pt x="23555" y="85449"/>
                </a:lnTo>
                <a:lnTo>
                  <a:pt x="6162" y="126663"/>
                </a:lnTo>
                <a:lnTo>
                  <a:pt x="0" y="172529"/>
                </a:lnTo>
                <a:lnTo>
                  <a:pt x="6162" y="218394"/>
                </a:lnTo>
                <a:lnTo>
                  <a:pt x="23555" y="259608"/>
                </a:lnTo>
                <a:lnTo>
                  <a:pt x="50532" y="294526"/>
                </a:lnTo>
                <a:lnTo>
                  <a:pt x="85449" y="321503"/>
                </a:lnTo>
                <a:lnTo>
                  <a:pt x="126663" y="338895"/>
                </a:lnTo>
                <a:lnTo>
                  <a:pt x="172529" y="345058"/>
                </a:lnTo>
                <a:lnTo>
                  <a:pt x="218394" y="338895"/>
                </a:lnTo>
                <a:lnTo>
                  <a:pt x="259608" y="321503"/>
                </a:lnTo>
                <a:lnTo>
                  <a:pt x="294526" y="294526"/>
                </a:lnTo>
                <a:lnTo>
                  <a:pt x="321503" y="259608"/>
                </a:lnTo>
                <a:lnTo>
                  <a:pt x="338895" y="218394"/>
                </a:lnTo>
                <a:lnTo>
                  <a:pt x="345058" y="172529"/>
                </a:lnTo>
                <a:close/>
              </a:path>
            </a:pathLst>
          </a:custGeom>
          <a:ln w="404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783029" y="2792683"/>
            <a:ext cx="30226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75" i="1" spc="75" baseline="-22875" dirty="0">
                <a:latin typeface="Arial"/>
                <a:cs typeface="Arial"/>
              </a:rPr>
              <a:t>x</a:t>
            </a:r>
            <a:r>
              <a:rPr sz="600" i="1" spc="50" dirty="0">
                <a:latin typeface="Verdana"/>
                <a:cs typeface="Verdana"/>
              </a:rPr>
              <a:t>&lt;</a:t>
            </a:r>
            <a:r>
              <a:rPr sz="550" i="1" spc="50" dirty="0">
                <a:latin typeface="Arial"/>
                <a:cs typeface="Arial"/>
              </a:rPr>
              <a:t>t</a:t>
            </a:r>
            <a:r>
              <a:rPr sz="600" i="1" spc="50" dirty="0">
                <a:latin typeface="Verdana"/>
                <a:cs typeface="Verdana"/>
              </a:rPr>
              <a:t>&gt;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70336" y="1001702"/>
            <a:ext cx="1590675" cy="1753235"/>
            <a:chOff x="2070336" y="1001702"/>
            <a:chExt cx="1590675" cy="1753235"/>
          </a:xfrm>
        </p:grpSpPr>
        <p:sp>
          <p:nvSpPr>
            <p:cNvPr id="19" name="object 19"/>
            <p:cNvSpPr/>
            <p:nvPr/>
          </p:nvSpPr>
          <p:spPr>
            <a:xfrm>
              <a:off x="2074463" y="1818721"/>
              <a:ext cx="384810" cy="231775"/>
            </a:xfrm>
            <a:custGeom>
              <a:avLst/>
              <a:gdLst/>
              <a:ahLst/>
              <a:cxnLst/>
              <a:rect l="l" t="t" r="r" b="b"/>
              <a:pathLst>
                <a:path w="384810" h="231775">
                  <a:moveTo>
                    <a:pt x="0" y="0"/>
                  </a:moveTo>
                  <a:lnTo>
                    <a:pt x="384274" y="231405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30521" y="2022357"/>
              <a:ext cx="55880" cy="44450"/>
            </a:xfrm>
            <a:custGeom>
              <a:avLst/>
              <a:gdLst/>
              <a:ahLst/>
              <a:cxnLst/>
              <a:rect l="l" t="t" r="r" b="b"/>
              <a:pathLst>
                <a:path w="55880" h="44450">
                  <a:moveTo>
                    <a:pt x="20364" y="0"/>
                  </a:moveTo>
                  <a:lnTo>
                    <a:pt x="21422" y="12589"/>
                  </a:lnTo>
                  <a:lnTo>
                    <a:pt x="18636" y="21999"/>
                  </a:lnTo>
                  <a:lnTo>
                    <a:pt x="11622" y="28863"/>
                  </a:lnTo>
                  <a:lnTo>
                    <a:pt x="0" y="33816"/>
                  </a:lnTo>
                  <a:lnTo>
                    <a:pt x="15143" y="33935"/>
                  </a:lnTo>
                  <a:lnTo>
                    <a:pt x="30262" y="36488"/>
                  </a:lnTo>
                  <a:lnTo>
                    <a:pt x="44067" y="40265"/>
                  </a:lnTo>
                  <a:lnTo>
                    <a:pt x="55270" y="44060"/>
                  </a:lnTo>
                  <a:lnTo>
                    <a:pt x="46676" y="35933"/>
                  </a:lnTo>
                  <a:lnTo>
                    <a:pt x="36880" y="25498"/>
                  </a:lnTo>
                  <a:lnTo>
                    <a:pt x="27553" y="13329"/>
                  </a:lnTo>
                  <a:lnTo>
                    <a:pt x="203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84387" y="1437756"/>
              <a:ext cx="544830" cy="0"/>
            </a:xfrm>
            <a:custGeom>
              <a:avLst/>
              <a:gdLst/>
              <a:ahLst/>
              <a:cxnLst/>
              <a:rect l="l" t="t" r="r" b="b"/>
              <a:pathLst>
                <a:path w="544829">
                  <a:moveTo>
                    <a:pt x="0" y="0"/>
                  </a:moveTo>
                  <a:lnTo>
                    <a:pt x="544426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7760" y="1418018"/>
              <a:ext cx="52705" cy="40005"/>
            </a:xfrm>
            <a:custGeom>
              <a:avLst/>
              <a:gdLst/>
              <a:ahLst/>
              <a:cxnLst/>
              <a:rect l="l" t="t" r="r" b="b"/>
              <a:pathLst>
                <a:path w="52704" h="40005">
                  <a:moveTo>
                    <a:pt x="0" y="0"/>
                  </a:moveTo>
                  <a:lnTo>
                    <a:pt x="7401" y="10238"/>
                  </a:lnTo>
                  <a:lnTo>
                    <a:pt x="9868" y="19737"/>
                  </a:lnTo>
                  <a:lnTo>
                    <a:pt x="7401" y="29236"/>
                  </a:lnTo>
                  <a:lnTo>
                    <a:pt x="0" y="39475"/>
                  </a:lnTo>
                  <a:lnTo>
                    <a:pt x="13035" y="31765"/>
                  </a:lnTo>
                  <a:lnTo>
                    <a:pt x="27303" y="26152"/>
                  </a:lnTo>
                  <a:lnTo>
                    <a:pt x="41079" y="22266"/>
                  </a:lnTo>
                  <a:lnTo>
                    <a:pt x="52633" y="19737"/>
                  </a:lnTo>
                  <a:lnTo>
                    <a:pt x="41079" y="17208"/>
                  </a:lnTo>
                  <a:lnTo>
                    <a:pt x="27303" y="13323"/>
                  </a:lnTo>
                  <a:lnTo>
                    <a:pt x="13035" y="7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36336" y="1033282"/>
              <a:ext cx="0" cy="256540"/>
            </a:xfrm>
            <a:custGeom>
              <a:avLst/>
              <a:gdLst/>
              <a:ahLst/>
              <a:cxnLst/>
              <a:rect l="l" t="t" r="r" b="b"/>
              <a:pathLst>
                <a:path h="256540">
                  <a:moveTo>
                    <a:pt x="0" y="256423"/>
                  </a:move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16599" y="1001702"/>
              <a:ext cx="40005" cy="52705"/>
            </a:xfrm>
            <a:custGeom>
              <a:avLst/>
              <a:gdLst/>
              <a:ahLst/>
              <a:cxnLst/>
              <a:rect l="l" t="t" r="r" b="b"/>
              <a:pathLst>
                <a:path w="40005" h="52705">
                  <a:moveTo>
                    <a:pt x="0" y="52633"/>
                  </a:moveTo>
                  <a:lnTo>
                    <a:pt x="10238" y="45232"/>
                  </a:lnTo>
                  <a:lnTo>
                    <a:pt x="19737" y="42764"/>
                  </a:lnTo>
                  <a:lnTo>
                    <a:pt x="29236" y="45232"/>
                  </a:lnTo>
                  <a:lnTo>
                    <a:pt x="39475" y="52633"/>
                  </a:lnTo>
                  <a:lnTo>
                    <a:pt x="31765" y="39598"/>
                  </a:lnTo>
                  <a:lnTo>
                    <a:pt x="26152" y="25330"/>
                  </a:lnTo>
                  <a:lnTo>
                    <a:pt x="22266" y="11554"/>
                  </a:lnTo>
                  <a:lnTo>
                    <a:pt x="19737" y="0"/>
                  </a:lnTo>
                  <a:lnTo>
                    <a:pt x="17208" y="11554"/>
                  </a:lnTo>
                  <a:lnTo>
                    <a:pt x="13323" y="25330"/>
                  </a:lnTo>
                  <a:lnTo>
                    <a:pt x="7710" y="39598"/>
                  </a:lnTo>
                  <a:lnTo>
                    <a:pt x="0" y="526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13290" y="2339293"/>
              <a:ext cx="160020" cy="410845"/>
            </a:xfrm>
            <a:custGeom>
              <a:avLst/>
              <a:gdLst/>
              <a:ahLst/>
              <a:cxnLst/>
              <a:rect l="l" t="t" r="r" b="b"/>
              <a:pathLst>
                <a:path w="160019" h="410844">
                  <a:moveTo>
                    <a:pt x="159741" y="410423"/>
                  </a:move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01836" y="2309865"/>
              <a:ext cx="38100" cy="56515"/>
            </a:xfrm>
            <a:custGeom>
              <a:avLst/>
              <a:gdLst/>
              <a:ahLst/>
              <a:cxnLst/>
              <a:rect l="l" t="t" r="r" b="b"/>
              <a:pathLst>
                <a:path w="38100" h="56514">
                  <a:moveTo>
                    <a:pt x="696" y="56205"/>
                  </a:moveTo>
                  <a:lnTo>
                    <a:pt x="7552" y="45594"/>
                  </a:lnTo>
                  <a:lnTo>
                    <a:pt x="15509" y="39850"/>
                  </a:lnTo>
                  <a:lnTo>
                    <a:pt x="25255" y="38704"/>
                  </a:lnTo>
                  <a:lnTo>
                    <a:pt x="37481" y="41888"/>
                  </a:lnTo>
                  <a:lnTo>
                    <a:pt x="25569" y="32538"/>
                  </a:lnTo>
                  <a:lnTo>
                    <a:pt x="15164" y="21277"/>
                  </a:lnTo>
                  <a:lnTo>
                    <a:pt x="6547" y="9850"/>
                  </a:lnTo>
                  <a:lnTo>
                    <a:pt x="0" y="0"/>
                  </a:lnTo>
                  <a:lnTo>
                    <a:pt x="1834" y="11684"/>
                  </a:lnTo>
                  <a:lnTo>
                    <a:pt x="3208" y="25930"/>
                  </a:lnTo>
                  <a:lnTo>
                    <a:pt x="3153" y="41262"/>
                  </a:lnTo>
                  <a:lnTo>
                    <a:pt x="696" y="562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01594" y="2339154"/>
              <a:ext cx="166370" cy="411480"/>
            </a:xfrm>
            <a:custGeom>
              <a:avLst/>
              <a:gdLst/>
              <a:ahLst/>
              <a:cxnLst/>
              <a:rect l="l" t="t" r="r" b="b"/>
              <a:pathLst>
                <a:path w="166369" h="411480">
                  <a:moveTo>
                    <a:pt x="0" y="411329"/>
                  </a:moveTo>
                  <a:lnTo>
                    <a:pt x="16582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41238" y="2309864"/>
              <a:ext cx="38100" cy="56515"/>
            </a:xfrm>
            <a:custGeom>
              <a:avLst/>
              <a:gdLst/>
              <a:ahLst/>
              <a:cxnLst/>
              <a:rect l="l" t="t" r="r" b="b"/>
              <a:pathLst>
                <a:path w="38100" h="56514">
                  <a:moveTo>
                    <a:pt x="0" y="41436"/>
                  </a:moveTo>
                  <a:lnTo>
                    <a:pt x="12263" y="38399"/>
                  </a:lnTo>
                  <a:lnTo>
                    <a:pt x="21995" y="39662"/>
                  </a:lnTo>
                  <a:lnTo>
                    <a:pt x="29882" y="45502"/>
                  </a:lnTo>
                  <a:lnTo>
                    <a:pt x="36611" y="56194"/>
                  </a:lnTo>
                  <a:lnTo>
                    <a:pt x="34334" y="41222"/>
                  </a:lnTo>
                  <a:lnTo>
                    <a:pt x="34463" y="25890"/>
                  </a:lnTo>
                  <a:lnTo>
                    <a:pt x="36009" y="11662"/>
                  </a:lnTo>
                  <a:lnTo>
                    <a:pt x="37983" y="0"/>
                  </a:lnTo>
                  <a:lnTo>
                    <a:pt x="31318" y="9771"/>
                  </a:lnTo>
                  <a:lnTo>
                    <a:pt x="22564" y="21094"/>
                  </a:lnTo>
                  <a:lnTo>
                    <a:pt x="12024" y="32229"/>
                  </a:lnTo>
                  <a:lnTo>
                    <a:pt x="0" y="41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92786" y="1488938"/>
              <a:ext cx="665480" cy="191135"/>
            </a:xfrm>
            <a:custGeom>
              <a:avLst/>
              <a:gdLst/>
              <a:ahLst/>
              <a:cxnLst/>
              <a:rect l="l" t="t" r="r" b="b"/>
              <a:pathLst>
                <a:path w="665480" h="191135">
                  <a:moveTo>
                    <a:pt x="0" y="190961"/>
                  </a:moveTo>
                  <a:lnTo>
                    <a:pt x="665146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32250" y="1475777"/>
              <a:ext cx="56515" cy="38100"/>
            </a:xfrm>
            <a:custGeom>
              <a:avLst/>
              <a:gdLst/>
              <a:ahLst/>
              <a:cxnLst/>
              <a:rect l="l" t="t" r="r" b="b"/>
              <a:pathLst>
                <a:path w="56514" h="38100">
                  <a:moveTo>
                    <a:pt x="0" y="0"/>
                  </a:moveTo>
                  <a:lnTo>
                    <a:pt x="9939" y="7798"/>
                  </a:lnTo>
                  <a:lnTo>
                    <a:pt x="14931" y="16247"/>
                  </a:lnTo>
                  <a:lnTo>
                    <a:pt x="15181" y="26058"/>
                  </a:lnTo>
                  <a:lnTo>
                    <a:pt x="10892" y="37941"/>
                  </a:lnTo>
                  <a:lnTo>
                    <a:pt x="21294" y="26934"/>
                  </a:lnTo>
                  <a:lnTo>
                    <a:pt x="33459" y="17602"/>
                  </a:lnTo>
                  <a:lnTo>
                    <a:pt x="45627" y="10066"/>
                  </a:lnTo>
                  <a:lnTo>
                    <a:pt x="56035" y="4447"/>
                  </a:lnTo>
                  <a:lnTo>
                    <a:pt x="44231" y="5204"/>
                  </a:lnTo>
                  <a:lnTo>
                    <a:pt x="29919" y="5271"/>
                  </a:lnTo>
                  <a:lnTo>
                    <a:pt x="14656" y="38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10352" y="1614944"/>
              <a:ext cx="167005" cy="399415"/>
            </a:xfrm>
            <a:custGeom>
              <a:avLst/>
              <a:gdLst/>
              <a:ahLst/>
              <a:cxnLst/>
              <a:rect l="l" t="t" r="r" b="b"/>
              <a:pathLst>
                <a:path w="167005" h="399414">
                  <a:moveTo>
                    <a:pt x="166659" y="398819"/>
                  </a:move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98176" y="1585807"/>
              <a:ext cx="38735" cy="56515"/>
            </a:xfrm>
            <a:custGeom>
              <a:avLst/>
              <a:gdLst/>
              <a:ahLst/>
              <a:cxnLst/>
              <a:rect l="l" t="t" r="r" b="b"/>
              <a:pathLst>
                <a:path w="38735" h="56514">
                  <a:moveTo>
                    <a:pt x="2081" y="56171"/>
                  </a:moveTo>
                  <a:lnTo>
                    <a:pt x="8674" y="45395"/>
                  </a:lnTo>
                  <a:lnTo>
                    <a:pt x="16487" y="39456"/>
                  </a:lnTo>
                  <a:lnTo>
                    <a:pt x="26202" y="38070"/>
                  </a:lnTo>
                  <a:lnTo>
                    <a:pt x="38503" y="40952"/>
                  </a:lnTo>
                  <a:lnTo>
                    <a:pt x="26364" y="31898"/>
                  </a:lnTo>
                  <a:lnTo>
                    <a:pt x="15684" y="20897"/>
                  </a:lnTo>
                  <a:lnTo>
                    <a:pt x="6788" y="9685"/>
                  </a:lnTo>
                  <a:lnTo>
                    <a:pt x="0" y="0"/>
                  </a:lnTo>
                  <a:lnTo>
                    <a:pt x="2121" y="11635"/>
                  </a:lnTo>
                  <a:lnTo>
                    <a:pt x="3847" y="25843"/>
                  </a:lnTo>
                  <a:lnTo>
                    <a:pt x="4169" y="41172"/>
                  </a:lnTo>
                  <a:lnTo>
                    <a:pt x="2081" y="561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100092" y="1698089"/>
            <a:ext cx="18097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50" spc="15" dirty="0">
                <a:latin typeface="Tahoma"/>
                <a:cs typeface="Tahoma"/>
              </a:rPr>
              <a:t>Γ</a:t>
            </a:r>
            <a:r>
              <a:rPr sz="825" i="1" spc="22" baseline="-15151" dirty="0">
                <a:latin typeface="Arial"/>
                <a:cs typeface="Arial"/>
              </a:rPr>
              <a:t>u</a:t>
            </a:r>
            <a:endParaRPr sz="825" baseline="-15151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699841" y="1585807"/>
            <a:ext cx="177165" cy="432434"/>
            <a:chOff x="2699841" y="1585807"/>
            <a:chExt cx="177165" cy="432434"/>
          </a:xfrm>
        </p:grpSpPr>
        <p:sp>
          <p:nvSpPr>
            <p:cNvPr id="35" name="object 35"/>
            <p:cNvSpPr/>
            <p:nvPr/>
          </p:nvSpPr>
          <p:spPr>
            <a:xfrm>
              <a:off x="2703969" y="1615093"/>
              <a:ext cx="161290" cy="398780"/>
            </a:xfrm>
            <a:custGeom>
              <a:avLst/>
              <a:gdLst/>
              <a:ahLst/>
              <a:cxnLst/>
              <a:rect l="l" t="t" r="r" b="b"/>
              <a:pathLst>
                <a:path w="161289" h="398780">
                  <a:moveTo>
                    <a:pt x="0" y="398670"/>
                  </a:moveTo>
                  <a:lnTo>
                    <a:pt x="160847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38636" y="1585807"/>
              <a:ext cx="38100" cy="56515"/>
            </a:xfrm>
            <a:custGeom>
              <a:avLst/>
              <a:gdLst/>
              <a:ahLst/>
              <a:cxnLst/>
              <a:rect l="l" t="t" r="r" b="b"/>
              <a:pathLst>
                <a:path w="38100" h="56514">
                  <a:moveTo>
                    <a:pt x="0" y="41425"/>
                  </a:moveTo>
                  <a:lnTo>
                    <a:pt x="12264" y="38392"/>
                  </a:lnTo>
                  <a:lnTo>
                    <a:pt x="21996" y="39658"/>
                  </a:lnTo>
                  <a:lnTo>
                    <a:pt x="29881" y="45499"/>
                  </a:lnTo>
                  <a:lnTo>
                    <a:pt x="36607" y="56194"/>
                  </a:lnTo>
                  <a:lnTo>
                    <a:pt x="34334" y="41221"/>
                  </a:lnTo>
                  <a:lnTo>
                    <a:pt x="34467" y="25889"/>
                  </a:lnTo>
                  <a:lnTo>
                    <a:pt x="36017" y="11661"/>
                  </a:lnTo>
                  <a:lnTo>
                    <a:pt x="37995" y="0"/>
                  </a:lnTo>
                  <a:lnTo>
                    <a:pt x="31327" y="9769"/>
                  </a:lnTo>
                  <a:lnTo>
                    <a:pt x="22570" y="21089"/>
                  </a:lnTo>
                  <a:lnTo>
                    <a:pt x="12026" y="32222"/>
                  </a:lnTo>
                  <a:lnTo>
                    <a:pt x="0" y="414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475476" y="1667060"/>
            <a:ext cx="29781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75" i="1" spc="-637" baseline="-22875" dirty="0">
                <a:latin typeface="Arial"/>
                <a:cs typeface="Arial"/>
              </a:rPr>
              <a:t>c</a:t>
            </a:r>
            <a:r>
              <a:rPr sz="1425" spc="-82" baseline="-17543" dirty="0">
                <a:latin typeface="Tahoma"/>
                <a:cs typeface="Tahoma"/>
              </a:rPr>
              <a:t>˜</a:t>
            </a:r>
            <a:r>
              <a:rPr sz="600" i="1" spc="35" dirty="0">
                <a:latin typeface="Verdana"/>
                <a:cs typeface="Verdana"/>
              </a:rPr>
              <a:t>&lt;</a:t>
            </a:r>
            <a:r>
              <a:rPr sz="550" i="1" spc="5" dirty="0">
                <a:latin typeface="Arial"/>
                <a:cs typeface="Arial"/>
              </a:rPr>
              <a:t>t</a:t>
            </a:r>
            <a:r>
              <a:rPr sz="550" i="1" spc="-105" dirty="0">
                <a:latin typeface="Arial"/>
                <a:cs typeface="Arial"/>
              </a:rPr>
              <a:t> </a:t>
            </a:r>
            <a:r>
              <a:rPr sz="600" i="1" spc="35" dirty="0">
                <a:latin typeface="Verdana"/>
                <a:cs typeface="Verdana"/>
              </a:rPr>
              <a:t>&gt;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384570" y="1188484"/>
            <a:ext cx="1103630" cy="1223010"/>
          </a:xfrm>
          <a:custGeom>
            <a:avLst/>
            <a:gdLst/>
            <a:ahLst/>
            <a:cxnLst/>
            <a:rect l="l" t="t" r="r" b="b"/>
            <a:pathLst>
              <a:path w="1103629" h="1223010">
                <a:moveTo>
                  <a:pt x="0" y="1222602"/>
                </a:moveTo>
                <a:lnTo>
                  <a:pt x="1103533" y="1222602"/>
                </a:lnTo>
                <a:lnTo>
                  <a:pt x="1103533" y="0"/>
                </a:lnTo>
                <a:lnTo>
                  <a:pt x="0" y="0"/>
                </a:lnTo>
                <a:lnTo>
                  <a:pt x="0" y="1222602"/>
                </a:lnTo>
                <a:close/>
              </a:path>
            </a:pathLst>
          </a:custGeom>
          <a:ln w="4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34061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90" dirty="0"/>
              <a:t>G</a:t>
            </a:r>
            <a:r>
              <a:rPr cap="small" spc="155" dirty="0"/>
              <a:t>a</a:t>
            </a:r>
            <a:r>
              <a:rPr cap="small" spc="300" dirty="0"/>
              <a:t>ted</a:t>
            </a:r>
            <a:r>
              <a:rPr dirty="0"/>
              <a:t> </a:t>
            </a:r>
            <a:r>
              <a:rPr spc="-120" dirty="0"/>
              <a:t> </a:t>
            </a:r>
            <a:r>
              <a:rPr spc="450" dirty="0"/>
              <a:t>R</a:t>
            </a:r>
            <a:r>
              <a:rPr cap="small" spc="275" dirty="0"/>
              <a:t>ecurrent</a:t>
            </a:r>
            <a:r>
              <a:rPr dirty="0"/>
              <a:t> </a:t>
            </a:r>
            <a:r>
              <a:rPr spc="-120" dirty="0"/>
              <a:t> </a:t>
            </a:r>
            <a:r>
              <a:rPr spc="305" dirty="0"/>
              <a:t>U</a:t>
            </a:r>
            <a:r>
              <a:rPr cap="small" spc="240" dirty="0"/>
              <a:t>nit</a:t>
            </a:r>
            <a:r>
              <a:rPr dirty="0"/>
              <a:t> </a:t>
            </a:r>
            <a:r>
              <a:rPr spc="-120" dirty="0"/>
              <a:t> </a:t>
            </a:r>
            <a:r>
              <a:rPr spc="340" dirty="0"/>
              <a:t>(G</a:t>
            </a:r>
            <a:r>
              <a:rPr spc="345" dirty="0"/>
              <a:t>R</a:t>
            </a:r>
            <a:r>
              <a:rPr spc="270" dirty="0"/>
              <a:t>U)</a:t>
            </a:r>
          </a:p>
        </p:txBody>
      </p:sp>
      <p:sp>
        <p:nvSpPr>
          <p:cNvPr id="3" name="object 3"/>
          <p:cNvSpPr/>
          <p:nvPr/>
        </p:nvSpPr>
        <p:spPr>
          <a:xfrm>
            <a:off x="1365215" y="1861650"/>
            <a:ext cx="227965" cy="212725"/>
          </a:xfrm>
          <a:custGeom>
            <a:avLst/>
            <a:gdLst/>
            <a:ahLst/>
            <a:cxnLst/>
            <a:rect l="l" t="t" r="r" b="b"/>
            <a:pathLst>
              <a:path w="227965" h="212725">
                <a:moveTo>
                  <a:pt x="0" y="212402"/>
                </a:moveTo>
                <a:lnTo>
                  <a:pt x="227804" y="212402"/>
                </a:lnTo>
                <a:lnTo>
                  <a:pt x="227804" y="0"/>
                </a:lnTo>
                <a:lnTo>
                  <a:pt x="0" y="0"/>
                </a:lnTo>
                <a:lnTo>
                  <a:pt x="0" y="212402"/>
                </a:lnTo>
                <a:close/>
              </a:path>
            </a:pathLst>
          </a:custGeom>
          <a:ln w="597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9387" y="1902989"/>
            <a:ext cx="20002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60" dirty="0">
                <a:latin typeface="Microsoft Sans Serif"/>
                <a:cs typeface="Microsoft Sans Serif"/>
              </a:rPr>
              <a:t>T</a:t>
            </a:r>
            <a:r>
              <a:rPr sz="600" spc="15" dirty="0">
                <a:latin typeface="Microsoft Sans Serif"/>
                <a:cs typeface="Microsoft Sans Serif"/>
              </a:rPr>
              <a:t>anh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11390" y="1861650"/>
            <a:ext cx="212725" cy="212725"/>
          </a:xfrm>
          <a:custGeom>
            <a:avLst/>
            <a:gdLst/>
            <a:ahLst/>
            <a:cxnLst/>
            <a:rect l="l" t="t" r="r" b="b"/>
            <a:pathLst>
              <a:path w="212725" h="212725">
                <a:moveTo>
                  <a:pt x="0" y="212402"/>
                </a:moveTo>
                <a:lnTo>
                  <a:pt x="212402" y="212402"/>
                </a:lnTo>
                <a:lnTo>
                  <a:pt x="212402" y="0"/>
                </a:lnTo>
                <a:lnTo>
                  <a:pt x="0" y="0"/>
                </a:lnTo>
                <a:lnTo>
                  <a:pt x="0" y="212402"/>
                </a:lnTo>
                <a:close/>
              </a:path>
            </a:pathLst>
          </a:custGeom>
          <a:ln w="597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78353" y="1884858"/>
            <a:ext cx="75565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i="1" spc="-50" dirty="0">
                <a:latin typeface="Verdana"/>
                <a:cs typeface="Verdana"/>
              </a:rPr>
              <a:t>σ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18735" y="1324511"/>
            <a:ext cx="985519" cy="453390"/>
            <a:chOff x="818735" y="1324511"/>
            <a:chExt cx="985519" cy="453390"/>
          </a:xfrm>
        </p:grpSpPr>
        <p:sp>
          <p:nvSpPr>
            <p:cNvPr id="8" name="object 8"/>
            <p:cNvSpPr/>
            <p:nvPr/>
          </p:nvSpPr>
          <p:spPr>
            <a:xfrm>
              <a:off x="1588305" y="1327686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402" y="0"/>
                  </a:moveTo>
                  <a:lnTo>
                    <a:pt x="0" y="0"/>
                  </a:lnTo>
                  <a:lnTo>
                    <a:pt x="0" y="212402"/>
                  </a:lnTo>
                  <a:lnTo>
                    <a:pt x="212402" y="212402"/>
                  </a:lnTo>
                  <a:lnTo>
                    <a:pt x="212402" y="0"/>
                  </a:lnTo>
                  <a:close/>
                </a:path>
              </a:pathLst>
            </a:custGeom>
            <a:solidFill>
              <a:srgbClr val="BF00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88305" y="1327686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0" y="212402"/>
                  </a:moveTo>
                  <a:lnTo>
                    <a:pt x="212402" y="212402"/>
                  </a:lnTo>
                  <a:lnTo>
                    <a:pt x="212402" y="0"/>
                  </a:lnTo>
                  <a:lnTo>
                    <a:pt x="0" y="0"/>
                  </a:lnTo>
                  <a:lnTo>
                    <a:pt x="0" y="212402"/>
                  </a:lnTo>
                  <a:close/>
                </a:path>
              </a:pathLst>
            </a:custGeom>
            <a:ln w="597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0322" y="1520388"/>
              <a:ext cx="255904" cy="255904"/>
            </a:xfrm>
            <a:custGeom>
              <a:avLst/>
              <a:gdLst/>
              <a:ahLst/>
              <a:cxnLst/>
              <a:rect l="l" t="t" r="r" b="b"/>
              <a:pathLst>
                <a:path w="255905" h="255905">
                  <a:moveTo>
                    <a:pt x="255614" y="127807"/>
                  </a:moveTo>
                  <a:lnTo>
                    <a:pt x="245570" y="78058"/>
                  </a:lnTo>
                  <a:lnTo>
                    <a:pt x="218180" y="37433"/>
                  </a:lnTo>
                  <a:lnTo>
                    <a:pt x="177555" y="10043"/>
                  </a:lnTo>
                  <a:lnTo>
                    <a:pt x="127807" y="0"/>
                  </a:lnTo>
                  <a:lnTo>
                    <a:pt x="78058" y="10043"/>
                  </a:lnTo>
                  <a:lnTo>
                    <a:pt x="37433" y="37433"/>
                  </a:lnTo>
                  <a:lnTo>
                    <a:pt x="10043" y="78058"/>
                  </a:lnTo>
                  <a:lnTo>
                    <a:pt x="0" y="127807"/>
                  </a:lnTo>
                  <a:lnTo>
                    <a:pt x="10043" y="177555"/>
                  </a:lnTo>
                  <a:lnTo>
                    <a:pt x="37433" y="218180"/>
                  </a:lnTo>
                  <a:lnTo>
                    <a:pt x="78058" y="245570"/>
                  </a:lnTo>
                  <a:lnTo>
                    <a:pt x="127807" y="255614"/>
                  </a:lnTo>
                  <a:lnTo>
                    <a:pt x="177555" y="245570"/>
                  </a:lnTo>
                  <a:lnTo>
                    <a:pt x="218180" y="218180"/>
                  </a:lnTo>
                  <a:lnTo>
                    <a:pt x="245570" y="177555"/>
                  </a:lnTo>
                  <a:lnTo>
                    <a:pt x="255614" y="12780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25078" y="1556887"/>
            <a:ext cx="31877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60" baseline="-23148" dirty="0">
                <a:latin typeface="Arial"/>
                <a:cs typeface="Arial"/>
              </a:rPr>
              <a:t>c</a:t>
            </a:r>
            <a:r>
              <a:rPr sz="450" i="1" spc="40" dirty="0">
                <a:latin typeface="Verdana"/>
                <a:cs typeface="Verdana"/>
              </a:rPr>
              <a:t>&lt;</a:t>
            </a:r>
            <a:r>
              <a:rPr sz="400" i="1" spc="40" dirty="0">
                <a:latin typeface="Arial"/>
                <a:cs typeface="Arial"/>
              </a:rPr>
              <a:t>t</a:t>
            </a:r>
            <a:r>
              <a:rPr sz="450" i="1" spc="40" dirty="0">
                <a:latin typeface="Arial"/>
                <a:cs typeface="Arial"/>
              </a:rPr>
              <a:t>−</a:t>
            </a:r>
            <a:r>
              <a:rPr sz="400" spc="40" dirty="0">
                <a:latin typeface="Microsoft Sans Serif"/>
                <a:cs typeface="Microsoft Sans Serif"/>
              </a:rPr>
              <a:t>1</a:t>
            </a:r>
            <a:r>
              <a:rPr sz="450" i="1" spc="40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29977" y="1306104"/>
            <a:ext cx="255904" cy="255904"/>
          </a:xfrm>
          <a:custGeom>
            <a:avLst/>
            <a:gdLst/>
            <a:ahLst/>
            <a:cxnLst/>
            <a:rect l="l" t="t" r="r" b="b"/>
            <a:pathLst>
              <a:path w="255905" h="255905">
                <a:moveTo>
                  <a:pt x="255614" y="127807"/>
                </a:moveTo>
                <a:lnTo>
                  <a:pt x="245570" y="78058"/>
                </a:lnTo>
                <a:lnTo>
                  <a:pt x="218180" y="37433"/>
                </a:lnTo>
                <a:lnTo>
                  <a:pt x="177555" y="10043"/>
                </a:lnTo>
                <a:lnTo>
                  <a:pt x="127807" y="0"/>
                </a:lnTo>
                <a:lnTo>
                  <a:pt x="78058" y="10043"/>
                </a:lnTo>
                <a:lnTo>
                  <a:pt x="37433" y="37433"/>
                </a:lnTo>
                <a:lnTo>
                  <a:pt x="10043" y="78058"/>
                </a:lnTo>
                <a:lnTo>
                  <a:pt x="0" y="127807"/>
                </a:lnTo>
                <a:lnTo>
                  <a:pt x="10043" y="177555"/>
                </a:lnTo>
                <a:lnTo>
                  <a:pt x="37433" y="218180"/>
                </a:lnTo>
                <a:lnTo>
                  <a:pt x="78058" y="245570"/>
                </a:lnTo>
                <a:lnTo>
                  <a:pt x="127807" y="255614"/>
                </a:lnTo>
                <a:lnTo>
                  <a:pt x="177555" y="245570"/>
                </a:lnTo>
                <a:lnTo>
                  <a:pt x="218180" y="218180"/>
                </a:lnTo>
                <a:lnTo>
                  <a:pt x="245570" y="177555"/>
                </a:lnTo>
                <a:lnTo>
                  <a:pt x="255614" y="127807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34714" y="1341658"/>
            <a:ext cx="23939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44" baseline="-23148" dirty="0">
                <a:latin typeface="Arial"/>
                <a:cs typeface="Arial"/>
              </a:rPr>
              <a:t>c</a:t>
            </a:r>
            <a:r>
              <a:rPr sz="450" i="1" spc="30" dirty="0">
                <a:latin typeface="Verdana"/>
                <a:cs typeface="Verdana"/>
              </a:rPr>
              <a:t>&lt;</a:t>
            </a:r>
            <a:r>
              <a:rPr sz="400" i="1" spc="30" dirty="0">
                <a:latin typeface="Arial"/>
                <a:cs typeface="Arial"/>
              </a:rPr>
              <a:t>t</a:t>
            </a:r>
            <a:r>
              <a:rPr sz="450" i="1" spc="30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63172" y="848184"/>
            <a:ext cx="262890" cy="262890"/>
          </a:xfrm>
          <a:custGeom>
            <a:avLst/>
            <a:gdLst/>
            <a:ahLst/>
            <a:cxnLst/>
            <a:rect l="l" t="t" r="r" b="b"/>
            <a:pathLst>
              <a:path w="262889" h="262890">
                <a:moveTo>
                  <a:pt x="262649" y="131324"/>
                </a:moveTo>
                <a:lnTo>
                  <a:pt x="252329" y="80206"/>
                </a:lnTo>
                <a:lnTo>
                  <a:pt x="224185" y="38463"/>
                </a:lnTo>
                <a:lnTo>
                  <a:pt x="182442" y="10320"/>
                </a:lnTo>
                <a:lnTo>
                  <a:pt x="131324" y="0"/>
                </a:lnTo>
                <a:lnTo>
                  <a:pt x="80206" y="10320"/>
                </a:lnTo>
                <a:lnTo>
                  <a:pt x="38463" y="38463"/>
                </a:lnTo>
                <a:lnTo>
                  <a:pt x="10320" y="80206"/>
                </a:lnTo>
                <a:lnTo>
                  <a:pt x="0" y="131324"/>
                </a:lnTo>
                <a:lnTo>
                  <a:pt x="10320" y="182442"/>
                </a:lnTo>
                <a:lnTo>
                  <a:pt x="38463" y="224185"/>
                </a:lnTo>
                <a:lnTo>
                  <a:pt x="80206" y="252329"/>
                </a:lnTo>
                <a:lnTo>
                  <a:pt x="131324" y="262649"/>
                </a:lnTo>
                <a:lnTo>
                  <a:pt x="182442" y="252329"/>
                </a:lnTo>
                <a:lnTo>
                  <a:pt x="224185" y="224185"/>
                </a:lnTo>
                <a:lnTo>
                  <a:pt x="252329" y="182442"/>
                </a:lnTo>
                <a:lnTo>
                  <a:pt x="262649" y="131324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71433" y="879295"/>
            <a:ext cx="243204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52" baseline="-23148" dirty="0">
                <a:latin typeface="Arial"/>
                <a:cs typeface="Arial"/>
              </a:rPr>
              <a:t>y</a:t>
            </a:r>
            <a:r>
              <a:rPr sz="450" i="1" spc="35" dirty="0">
                <a:latin typeface="Verdana"/>
                <a:cs typeface="Verdana"/>
              </a:rPr>
              <a:t>&lt;</a:t>
            </a:r>
            <a:r>
              <a:rPr sz="400" i="1" spc="35" dirty="0">
                <a:latin typeface="Arial"/>
                <a:cs typeface="Arial"/>
              </a:rPr>
              <a:t>t</a:t>
            </a:r>
            <a:r>
              <a:rPr sz="450" i="1" spc="35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67256" y="2394198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5" h="254635">
                <a:moveTo>
                  <a:pt x="254480" y="127240"/>
                </a:moveTo>
                <a:lnTo>
                  <a:pt x="244481" y="77712"/>
                </a:lnTo>
                <a:lnTo>
                  <a:pt x="217213" y="37267"/>
                </a:lnTo>
                <a:lnTo>
                  <a:pt x="176768" y="9999"/>
                </a:lnTo>
                <a:lnTo>
                  <a:pt x="127240" y="0"/>
                </a:lnTo>
                <a:lnTo>
                  <a:pt x="77712" y="9999"/>
                </a:lnTo>
                <a:lnTo>
                  <a:pt x="37267" y="37267"/>
                </a:lnTo>
                <a:lnTo>
                  <a:pt x="9999" y="77712"/>
                </a:lnTo>
                <a:lnTo>
                  <a:pt x="0" y="127240"/>
                </a:lnTo>
                <a:lnTo>
                  <a:pt x="9999" y="176768"/>
                </a:lnTo>
                <a:lnTo>
                  <a:pt x="37267" y="217213"/>
                </a:lnTo>
                <a:lnTo>
                  <a:pt x="77712" y="244481"/>
                </a:lnTo>
                <a:lnTo>
                  <a:pt x="127240" y="254480"/>
                </a:lnTo>
                <a:lnTo>
                  <a:pt x="176768" y="244481"/>
                </a:lnTo>
                <a:lnTo>
                  <a:pt x="217213" y="217213"/>
                </a:lnTo>
                <a:lnTo>
                  <a:pt x="244481" y="176768"/>
                </a:lnTo>
                <a:lnTo>
                  <a:pt x="254480" y="127240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71433" y="2429836"/>
            <a:ext cx="24257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52" baseline="-23148" dirty="0">
                <a:latin typeface="Arial"/>
                <a:cs typeface="Arial"/>
              </a:rPr>
              <a:t>x</a:t>
            </a:r>
            <a:r>
              <a:rPr sz="450" i="1" spc="35" dirty="0">
                <a:latin typeface="Verdana"/>
                <a:cs typeface="Verdana"/>
              </a:rPr>
              <a:t>&lt;</a:t>
            </a:r>
            <a:r>
              <a:rPr sz="400" i="1" spc="35" dirty="0">
                <a:latin typeface="Arial"/>
                <a:cs typeface="Arial"/>
              </a:rPr>
              <a:t>t</a:t>
            </a:r>
            <a:r>
              <a:rPr sz="450" i="1" spc="35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55743" y="1112365"/>
            <a:ext cx="1172845" cy="1292860"/>
            <a:chOff x="1055743" y="1112365"/>
            <a:chExt cx="1172845" cy="1292860"/>
          </a:xfrm>
        </p:grpSpPr>
        <p:sp>
          <p:nvSpPr>
            <p:cNvPr id="19" name="object 19"/>
            <p:cNvSpPr/>
            <p:nvPr/>
          </p:nvSpPr>
          <p:spPr>
            <a:xfrm>
              <a:off x="1058918" y="1714898"/>
              <a:ext cx="283845" cy="170815"/>
            </a:xfrm>
            <a:custGeom>
              <a:avLst/>
              <a:gdLst/>
              <a:ahLst/>
              <a:cxnLst/>
              <a:rect l="l" t="t" r="r" b="b"/>
              <a:pathLst>
                <a:path w="283844" h="170814">
                  <a:moveTo>
                    <a:pt x="0" y="0"/>
                  </a:moveTo>
                  <a:lnTo>
                    <a:pt x="283363" y="170608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1472" y="1865027"/>
              <a:ext cx="41275" cy="33020"/>
            </a:xfrm>
            <a:custGeom>
              <a:avLst/>
              <a:gdLst/>
              <a:ahLst/>
              <a:cxnLst/>
              <a:rect l="l" t="t" r="r" b="b"/>
              <a:pathLst>
                <a:path w="41275" h="33019">
                  <a:moveTo>
                    <a:pt x="15016" y="0"/>
                  </a:moveTo>
                  <a:lnTo>
                    <a:pt x="15798" y="9284"/>
                  </a:lnTo>
                  <a:lnTo>
                    <a:pt x="13743" y="16224"/>
                  </a:lnTo>
                  <a:lnTo>
                    <a:pt x="8571" y="21287"/>
                  </a:lnTo>
                  <a:lnTo>
                    <a:pt x="0" y="24940"/>
                  </a:lnTo>
                  <a:lnTo>
                    <a:pt x="11168" y="25028"/>
                  </a:lnTo>
                  <a:lnTo>
                    <a:pt x="22318" y="26909"/>
                  </a:lnTo>
                  <a:lnTo>
                    <a:pt x="32500" y="29694"/>
                  </a:lnTo>
                  <a:lnTo>
                    <a:pt x="40762" y="32492"/>
                  </a:lnTo>
                  <a:lnTo>
                    <a:pt x="34424" y="26499"/>
                  </a:lnTo>
                  <a:lnTo>
                    <a:pt x="27199" y="18804"/>
                  </a:lnTo>
                  <a:lnTo>
                    <a:pt x="20319" y="9829"/>
                  </a:lnTo>
                  <a:lnTo>
                    <a:pt x="15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03679" y="1433920"/>
              <a:ext cx="401955" cy="635"/>
            </a:xfrm>
            <a:custGeom>
              <a:avLst/>
              <a:gdLst/>
              <a:ahLst/>
              <a:cxnLst/>
              <a:rect l="l" t="t" r="r" b="b"/>
              <a:pathLst>
                <a:path w="401955" h="634">
                  <a:moveTo>
                    <a:pt x="0" y="0"/>
                  </a:moveTo>
                  <a:lnTo>
                    <a:pt x="401481" y="15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89634" y="1419378"/>
              <a:ext cx="39370" cy="29209"/>
            </a:xfrm>
            <a:custGeom>
              <a:avLst/>
              <a:gdLst/>
              <a:ahLst/>
              <a:cxnLst/>
              <a:rect l="l" t="t" r="r" b="b"/>
              <a:pathLst>
                <a:path w="39369" h="29209">
                  <a:moveTo>
                    <a:pt x="0" y="0"/>
                  </a:moveTo>
                  <a:lnTo>
                    <a:pt x="5459" y="7551"/>
                  </a:lnTo>
                  <a:lnTo>
                    <a:pt x="7278" y="14556"/>
                  </a:lnTo>
                  <a:lnTo>
                    <a:pt x="5458" y="21561"/>
                  </a:lnTo>
                  <a:lnTo>
                    <a:pt x="0" y="29112"/>
                  </a:lnTo>
                  <a:lnTo>
                    <a:pt x="9613" y="23426"/>
                  </a:lnTo>
                  <a:lnTo>
                    <a:pt x="20136" y="19287"/>
                  </a:lnTo>
                  <a:lnTo>
                    <a:pt x="30295" y="16421"/>
                  </a:lnTo>
                  <a:lnTo>
                    <a:pt x="38816" y="14557"/>
                  </a:lnTo>
                  <a:lnTo>
                    <a:pt x="30295" y="12691"/>
                  </a:lnTo>
                  <a:lnTo>
                    <a:pt x="20136" y="9825"/>
                  </a:lnTo>
                  <a:lnTo>
                    <a:pt x="9613" y="5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4487" y="113565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30">
                  <a:moveTo>
                    <a:pt x="4" y="189074"/>
                  </a:moveTo>
                  <a:lnTo>
                    <a:pt x="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79931" y="1112365"/>
              <a:ext cx="29209" cy="39370"/>
            </a:xfrm>
            <a:custGeom>
              <a:avLst/>
              <a:gdLst/>
              <a:ahLst/>
              <a:cxnLst/>
              <a:rect l="l" t="t" r="r" b="b"/>
              <a:pathLst>
                <a:path w="29210" h="39369">
                  <a:moveTo>
                    <a:pt x="0" y="38816"/>
                  </a:moveTo>
                  <a:lnTo>
                    <a:pt x="7550" y="33358"/>
                  </a:lnTo>
                  <a:lnTo>
                    <a:pt x="14556" y="31538"/>
                  </a:lnTo>
                  <a:lnTo>
                    <a:pt x="21561" y="33357"/>
                  </a:lnTo>
                  <a:lnTo>
                    <a:pt x="29112" y="38816"/>
                  </a:lnTo>
                  <a:lnTo>
                    <a:pt x="23426" y="29203"/>
                  </a:lnTo>
                  <a:lnTo>
                    <a:pt x="19286" y="18680"/>
                  </a:lnTo>
                  <a:lnTo>
                    <a:pt x="16420" y="8521"/>
                  </a:lnTo>
                  <a:lnTo>
                    <a:pt x="14555" y="0"/>
                  </a:lnTo>
                  <a:lnTo>
                    <a:pt x="12690" y="8521"/>
                  </a:lnTo>
                  <a:lnTo>
                    <a:pt x="9825" y="18680"/>
                  </a:lnTo>
                  <a:lnTo>
                    <a:pt x="5685" y="29203"/>
                  </a:lnTo>
                  <a:lnTo>
                    <a:pt x="0" y="38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30003" y="2098738"/>
              <a:ext cx="118110" cy="302895"/>
            </a:xfrm>
            <a:custGeom>
              <a:avLst/>
              <a:gdLst/>
              <a:ahLst/>
              <a:cxnLst/>
              <a:rect l="l" t="t" r="r" b="b"/>
              <a:pathLst>
                <a:path w="118110" h="302894">
                  <a:moveTo>
                    <a:pt x="117804" y="302716"/>
                  </a:moveTo>
                  <a:lnTo>
                    <a:pt x="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21557" y="2077034"/>
              <a:ext cx="27940" cy="41910"/>
            </a:xfrm>
            <a:custGeom>
              <a:avLst/>
              <a:gdLst/>
              <a:ahLst/>
              <a:cxnLst/>
              <a:rect l="l" t="t" r="r" b="b"/>
              <a:pathLst>
                <a:path w="27940" h="41910">
                  <a:moveTo>
                    <a:pt x="511" y="41452"/>
                  </a:moveTo>
                  <a:lnTo>
                    <a:pt x="5569" y="33626"/>
                  </a:lnTo>
                  <a:lnTo>
                    <a:pt x="11437" y="29390"/>
                  </a:lnTo>
                  <a:lnTo>
                    <a:pt x="18625" y="28545"/>
                  </a:lnTo>
                  <a:lnTo>
                    <a:pt x="27641" y="30894"/>
                  </a:lnTo>
                  <a:lnTo>
                    <a:pt x="18856" y="23997"/>
                  </a:lnTo>
                  <a:lnTo>
                    <a:pt x="11183" y="15692"/>
                  </a:lnTo>
                  <a:lnTo>
                    <a:pt x="4828" y="7264"/>
                  </a:lnTo>
                  <a:lnTo>
                    <a:pt x="0" y="0"/>
                  </a:lnTo>
                  <a:lnTo>
                    <a:pt x="1352" y="8617"/>
                  </a:lnTo>
                  <a:lnTo>
                    <a:pt x="2365" y="19123"/>
                  </a:lnTo>
                  <a:lnTo>
                    <a:pt x="2324" y="30431"/>
                  </a:lnTo>
                  <a:lnTo>
                    <a:pt x="511" y="414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42605" y="2098635"/>
              <a:ext cx="122555" cy="303530"/>
            </a:xfrm>
            <a:custGeom>
              <a:avLst/>
              <a:gdLst/>
              <a:ahLst/>
              <a:cxnLst/>
              <a:rect l="l" t="t" r="r" b="b"/>
              <a:pathLst>
                <a:path w="122555" h="303530">
                  <a:moveTo>
                    <a:pt x="0" y="303384"/>
                  </a:moveTo>
                  <a:lnTo>
                    <a:pt x="122295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45595" y="2077034"/>
              <a:ext cx="28575" cy="41910"/>
            </a:xfrm>
            <a:custGeom>
              <a:avLst/>
              <a:gdLst/>
              <a:ahLst/>
              <a:cxnLst/>
              <a:rect l="l" t="t" r="r" b="b"/>
              <a:pathLst>
                <a:path w="28575" h="41910">
                  <a:moveTo>
                    <a:pt x="0" y="30559"/>
                  </a:moveTo>
                  <a:lnTo>
                    <a:pt x="9044" y="28319"/>
                  </a:lnTo>
                  <a:lnTo>
                    <a:pt x="16221" y="29251"/>
                  </a:lnTo>
                  <a:lnTo>
                    <a:pt x="22038" y="33557"/>
                  </a:lnTo>
                  <a:lnTo>
                    <a:pt x="27001" y="41443"/>
                  </a:lnTo>
                  <a:lnTo>
                    <a:pt x="25321" y="30401"/>
                  </a:lnTo>
                  <a:lnTo>
                    <a:pt x="25416" y="19094"/>
                  </a:lnTo>
                  <a:lnTo>
                    <a:pt x="26556" y="8600"/>
                  </a:lnTo>
                  <a:lnTo>
                    <a:pt x="28012" y="0"/>
                  </a:lnTo>
                  <a:lnTo>
                    <a:pt x="23097" y="7206"/>
                  </a:lnTo>
                  <a:lnTo>
                    <a:pt x="16641" y="15557"/>
                  </a:lnTo>
                  <a:lnTo>
                    <a:pt x="8867" y="23769"/>
                  </a:lnTo>
                  <a:lnTo>
                    <a:pt x="0" y="305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72425" y="1471667"/>
              <a:ext cx="490855" cy="140970"/>
            </a:xfrm>
            <a:custGeom>
              <a:avLst/>
              <a:gdLst/>
              <a:ahLst/>
              <a:cxnLst/>
              <a:rect l="l" t="t" r="r" b="b"/>
              <a:pathLst>
                <a:path w="490855" h="140969">
                  <a:moveTo>
                    <a:pt x="0" y="140864"/>
                  </a:moveTo>
                  <a:lnTo>
                    <a:pt x="490504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43988" y="1461962"/>
              <a:ext cx="41910" cy="28575"/>
            </a:xfrm>
            <a:custGeom>
              <a:avLst/>
              <a:gdLst/>
              <a:ahLst/>
              <a:cxnLst/>
              <a:rect l="l" t="t" r="r" b="b"/>
              <a:pathLst>
                <a:path w="41909" h="28575">
                  <a:moveTo>
                    <a:pt x="0" y="0"/>
                  </a:moveTo>
                  <a:lnTo>
                    <a:pt x="7330" y="5751"/>
                  </a:lnTo>
                  <a:lnTo>
                    <a:pt x="11012" y="11981"/>
                  </a:lnTo>
                  <a:lnTo>
                    <a:pt x="11197" y="19216"/>
                  </a:lnTo>
                  <a:lnTo>
                    <a:pt x="8035" y="27981"/>
                  </a:lnTo>
                  <a:lnTo>
                    <a:pt x="15705" y="19862"/>
                  </a:lnTo>
                  <a:lnTo>
                    <a:pt x="24676" y="12979"/>
                  </a:lnTo>
                  <a:lnTo>
                    <a:pt x="33650" y="7421"/>
                  </a:lnTo>
                  <a:lnTo>
                    <a:pt x="41325" y="3276"/>
                  </a:lnTo>
                  <a:lnTo>
                    <a:pt x="32620" y="3836"/>
                  </a:lnTo>
                  <a:lnTo>
                    <a:pt x="22065" y="3886"/>
                  </a:lnTo>
                  <a:lnTo>
                    <a:pt x="10809" y="28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49077" y="1564582"/>
              <a:ext cx="123189" cy="294640"/>
            </a:xfrm>
            <a:custGeom>
              <a:avLst/>
              <a:gdLst/>
              <a:ahLst/>
              <a:cxnLst/>
              <a:rect l="l" t="t" r="r" b="b"/>
              <a:pathLst>
                <a:path w="123189" h="294639">
                  <a:moveTo>
                    <a:pt x="122903" y="294087"/>
                  </a:moveTo>
                  <a:lnTo>
                    <a:pt x="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40097" y="1543094"/>
              <a:ext cx="28575" cy="41910"/>
            </a:xfrm>
            <a:custGeom>
              <a:avLst/>
              <a:gdLst/>
              <a:ahLst/>
              <a:cxnLst/>
              <a:rect l="l" t="t" r="r" b="b"/>
              <a:pathLst>
                <a:path w="28575" h="41909">
                  <a:moveTo>
                    <a:pt x="1536" y="41426"/>
                  </a:moveTo>
                  <a:lnTo>
                    <a:pt x="6398" y="33478"/>
                  </a:lnTo>
                  <a:lnTo>
                    <a:pt x="12160" y="29098"/>
                  </a:lnTo>
                  <a:lnTo>
                    <a:pt x="19325" y="28076"/>
                  </a:lnTo>
                  <a:lnTo>
                    <a:pt x="28397" y="30201"/>
                  </a:lnTo>
                  <a:lnTo>
                    <a:pt x="19444" y="23524"/>
                  </a:lnTo>
                  <a:lnTo>
                    <a:pt x="11567" y="15411"/>
                  </a:lnTo>
                  <a:lnTo>
                    <a:pt x="5006" y="7143"/>
                  </a:lnTo>
                  <a:lnTo>
                    <a:pt x="0" y="0"/>
                  </a:lnTo>
                  <a:lnTo>
                    <a:pt x="1564" y="8581"/>
                  </a:lnTo>
                  <a:lnTo>
                    <a:pt x="2838" y="19059"/>
                  </a:lnTo>
                  <a:lnTo>
                    <a:pt x="3076" y="30364"/>
                  </a:lnTo>
                  <a:lnTo>
                    <a:pt x="1536" y="41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805252" y="1622543"/>
            <a:ext cx="153670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700" spc="15" dirty="0">
                <a:latin typeface="Tahoma"/>
                <a:cs typeface="Tahoma"/>
              </a:rPr>
              <a:t>Γ</a:t>
            </a:r>
            <a:r>
              <a:rPr sz="600" i="1" spc="22" baseline="-13888" dirty="0">
                <a:latin typeface="Arial"/>
                <a:cs typeface="Arial"/>
              </a:rPr>
              <a:t>u</a:t>
            </a:r>
            <a:endParaRPr sz="600" baseline="-13888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519956" y="1543094"/>
            <a:ext cx="130810" cy="318770"/>
            <a:chOff x="1519956" y="1543094"/>
            <a:chExt cx="130810" cy="318770"/>
          </a:xfrm>
        </p:grpSpPr>
        <p:sp>
          <p:nvSpPr>
            <p:cNvPr id="35" name="object 35"/>
            <p:cNvSpPr/>
            <p:nvPr/>
          </p:nvSpPr>
          <p:spPr>
            <a:xfrm>
              <a:off x="1523131" y="1564692"/>
              <a:ext cx="118745" cy="294005"/>
            </a:xfrm>
            <a:custGeom>
              <a:avLst/>
              <a:gdLst/>
              <a:ahLst/>
              <a:cxnLst/>
              <a:rect l="l" t="t" r="r" b="b"/>
              <a:pathLst>
                <a:path w="118744" h="294005">
                  <a:moveTo>
                    <a:pt x="0" y="293977"/>
                  </a:moveTo>
                  <a:lnTo>
                    <a:pt x="11862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622442" y="1543094"/>
              <a:ext cx="28575" cy="41910"/>
            </a:xfrm>
            <a:custGeom>
              <a:avLst/>
              <a:gdLst/>
              <a:ahLst/>
              <a:cxnLst/>
              <a:rect l="l" t="t" r="r" b="b"/>
              <a:pathLst>
                <a:path w="28575" h="41909">
                  <a:moveTo>
                    <a:pt x="0" y="30550"/>
                  </a:moveTo>
                  <a:lnTo>
                    <a:pt x="9045" y="28313"/>
                  </a:lnTo>
                  <a:lnTo>
                    <a:pt x="16222" y="29247"/>
                  </a:lnTo>
                  <a:lnTo>
                    <a:pt x="22037" y="33556"/>
                  </a:lnTo>
                  <a:lnTo>
                    <a:pt x="26997" y="41443"/>
                  </a:lnTo>
                  <a:lnTo>
                    <a:pt x="25321" y="30401"/>
                  </a:lnTo>
                  <a:lnTo>
                    <a:pt x="25420" y="19093"/>
                  </a:lnTo>
                  <a:lnTo>
                    <a:pt x="26564" y="8600"/>
                  </a:lnTo>
                  <a:lnTo>
                    <a:pt x="28023" y="0"/>
                  </a:lnTo>
                  <a:lnTo>
                    <a:pt x="23105" y="7204"/>
                  </a:lnTo>
                  <a:lnTo>
                    <a:pt x="16646" y="15553"/>
                  </a:lnTo>
                  <a:lnTo>
                    <a:pt x="8870" y="23763"/>
                  </a:lnTo>
                  <a:lnTo>
                    <a:pt x="0" y="30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344620" y="1599667"/>
            <a:ext cx="239395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i="1" spc="-450" baseline="-23148" dirty="0">
                <a:latin typeface="Arial"/>
                <a:cs typeface="Arial"/>
              </a:rPr>
              <a:t>c</a:t>
            </a:r>
            <a:r>
              <a:rPr sz="1050" spc="-60" baseline="-19841" dirty="0">
                <a:latin typeface="Tahoma"/>
                <a:cs typeface="Tahoma"/>
              </a:rPr>
              <a:t>˜</a:t>
            </a:r>
            <a:r>
              <a:rPr sz="450" i="1" spc="20" dirty="0">
                <a:latin typeface="Verdana"/>
                <a:cs typeface="Verdana"/>
              </a:rPr>
              <a:t>&lt;</a:t>
            </a:r>
            <a:r>
              <a:rPr sz="400" i="1" spc="5" dirty="0">
                <a:latin typeface="Arial"/>
                <a:cs typeface="Arial"/>
              </a:rPr>
              <a:t>t</a:t>
            </a:r>
            <a:r>
              <a:rPr sz="400" i="1" spc="-75" dirty="0">
                <a:latin typeface="Arial"/>
                <a:cs typeface="Arial"/>
              </a:rPr>
              <a:t> </a:t>
            </a:r>
            <a:r>
              <a:rPr sz="450" i="1" spc="20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285986" y="1248502"/>
            <a:ext cx="1733550" cy="904875"/>
            <a:chOff x="1285986" y="1248502"/>
            <a:chExt cx="1733550" cy="904875"/>
          </a:xfrm>
        </p:grpSpPr>
        <p:sp>
          <p:nvSpPr>
            <p:cNvPr id="39" name="object 39"/>
            <p:cNvSpPr/>
            <p:nvPr/>
          </p:nvSpPr>
          <p:spPr>
            <a:xfrm>
              <a:off x="1287574" y="1250090"/>
              <a:ext cx="814069" cy="901700"/>
            </a:xfrm>
            <a:custGeom>
              <a:avLst/>
              <a:gdLst/>
              <a:ahLst/>
              <a:cxnLst/>
              <a:rect l="l" t="t" r="r" b="b"/>
              <a:pathLst>
                <a:path w="814069" h="901700">
                  <a:moveTo>
                    <a:pt x="0" y="901606"/>
                  </a:moveTo>
                  <a:lnTo>
                    <a:pt x="813821" y="901606"/>
                  </a:lnTo>
                  <a:lnTo>
                    <a:pt x="813821" y="0"/>
                  </a:lnTo>
                  <a:lnTo>
                    <a:pt x="0" y="0"/>
                  </a:lnTo>
                  <a:lnTo>
                    <a:pt x="0" y="90160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88312" y="1861650"/>
              <a:ext cx="227965" cy="212725"/>
            </a:xfrm>
            <a:custGeom>
              <a:avLst/>
              <a:gdLst/>
              <a:ahLst/>
              <a:cxnLst/>
              <a:rect l="l" t="t" r="r" b="b"/>
              <a:pathLst>
                <a:path w="227964" h="212725">
                  <a:moveTo>
                    <a:pt x="0" y="212402"/>
                  </a:moveTo>
                  <a:lnTo>
                    <a:pt x="227804" y="212402"/>
                  </a:lnTo>
                  <a:lnTo>
                    <a:pt x="227804" y="0"/>
                  </a:lnTo>
                  <a:lnTo>
                    <a:pt x="0" y="0"/>
                  </a:lnTo>
                  <a:lnTo>
                    <a:pt x="0" y="212402"/>
                  </a:lnTo>
                  <a:close/>
                </a:path>
              </a:pathLst>
            </a:custGeom>
            <a:ln w="597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802464" y="1902989"/>
            <a:ext cx="20002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60" dirty="0">
                <a:latin typeface="Microsoft Sans Serif"/>
                <a:cs typeface="Microsoft Sans Serif"/>
              </a:rPr>
              <a:t>T</a:t>
            </a:r>
            <a:r>
              <a:rPr sz="600" spc="15" dirty="0">
                <a:latin typeface="Microsoft Sans Serif"/>
                <a:cs typeface="Microsoft Sans Serif"/>
              </a:rPr>
              <a:t>anh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234487" y="1861650"/>
            <a:ext cx="212725" cy="212725"/>
          </a:xfrm>
          <a:custGeom>
            <a:avLst/>
            <a:gdLst/>
            <a:ahLst/>
            <a:cxnLst/>
            <a:rect l="l" t="t" r="r" b="b"/>
            <a:pathLst>
              <a:path w="212725" h="212725">
                <a:moveTo>
                  <a:pt x="0" y="212402"/>
                </a:moveTo>
                <a:lnTo>
                  <a:pt x="212402" y="212402"/>
                </a:lnTo>
                <a:lnTo>
                  <a:pt x="212402" y="0"/>
                </a:lnTo>
                <a:lnTo>
                  <a:pt x="0" y="0"/>
                </a:lnTo>
                <a:lnTo>
                  <a:pt x="0" y="212402"/>
                </a:lnTo>
                <a:close/>
              </a:path>
            </a:pathLst>
          </a:custGeom>
          <a:ln w="597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301431" y="1884858"/>
            <a:ext cx="75565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i="1" spc="-50" dirty="0">
                <a:latin typeface="Verdana"/>
                <a:cs typeface="Verdana"/>
              </a:rPr>
              <a:t>σ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41832" y="1324511"/>
            <a:ext cx="985519" cy="453390"/>
            <a:chOff x="2241832" y="1324511"/>
            <a:chExt cx="985519" cy="453390"/>
          </a:xfrm>
        </p:grpSpPr>
        <p:sp>
          <p:nvSpPr>
            <p:cNvPr id="45" name="object 45"/>
            <p:cNvSpPr/>
            <p:nvPr/>
          </p:nvSpPr>
          <p:spPr>
            <a:xfrm>
              <a:off x="3011402" y="1327686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402" y="0"/>
                  </a:moveTo>
                  <a:lnTo>
                    <a:pt x="0" y="0"/>
                  </a:lnTo>
                  <a:lnTo>
                    <a:pt x="0" y="212402"/>
                  </a:lnTo>
                  <a:lnTo>
                    <a:pt x="212402" y="212402"/>
                  </a:lnTo>
                  <a:lnTo>
                    <a:pt x="212402" y="0"/>
                  </a:lnTo>
                  <a:close/>
                </a:path>
              </a:pathLst>
            </a:custGeom>
            <a:solidFill>
              <a:srgbClr val="BF00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11402" y="1327686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0" y="212402"/>
                  </a:moveTo>
                  <a:lnTo>
                    <a:pt x="212402" y="212402"/>
                  </a:lnTo>
                  <a:lnTo>
                    <a:pt x="212402" y="0"/>
                  </a:lnTo>
                  <a:lnTo>
                    <a:pt x="0" y="0"/>
                  </a:lnTo>
                  <a:lnTo>
                    <a:pt x="0" y="212402"/>
                  </a:lnTo>
                  <a:close/>
                </a:path>
              </a:pathLst>
            </a:custGeom>
            <a:ln w="597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243419" y="1520388"/>
              <a:ext cx="255904" cy="255904"/>
            </a:xfrm>
            <a:custGeom>
              <a:avLst/>
              <a:gdLst/>
              <a:ahLst/>
              <a:cxnLst/>
              <a:rect l="l" t="t" r="r" b="b"/>
              <a:pathLst>
                <a:path w="255905" h="255905">
                  <a:moveTo>
                    <a:pt x="255614" y="127807"/>
                  </a:moveTo>
                  <a:lnTo>
                    <a:pt x="245570" y="78058"/>
                  </a:lnTo>
                  <a:lnTo>
                    <a:pt x="218180" y="37433"/>
                  </a:lnTo>
                  <a:lnTo>
                    <a:pt x="177555" y="10043"/>
                  </a:lnTo>
                  <a:lnTo>
                    <a:pt x="127807" y="0"/>
                  </a:lnTo>
                  <a:lnTo>
                    <a:pt x="78058" y="10043"/>
                  </a:lnTo>
                  <a:lnTo>
                    <a:pt x="37433" y="37433"/>
                  </a:lnTo>
                  <a:lnTo>
                    <a:pt x="10043" y="78058"/>
                  </a:lnTo>
                  <a:lnTo>
                    <a:pt x="0" y="127807"/>
                  </a:lnTo>
                  <a:lnTo>
                    <a:pt x="10043" y="177555"/>
                  </a:lnTo>
                  <a:lnTo>
                    <a:pt x="37433" y="218180"/>
                  </a:lnTo>
                  <a:lnTo>
                    <a:pt x="78058" y="245570"/>
                  </a:lnTo>
                  <a:lnTo>
                    <a:pt x="127807" y="255614"/>
                  </a:lnTo>
                  <a:lnTo>
                    <a:pt x="177555" y="245570"/>
                  </a:lnTo>
                  <a:lnTo>
                    <a:pt x="218180" y="218180"/>
                  </a:lnTo>
                  <a:lnTo>
                    <a:pt x="245570" y="177555"/>
                  </a:lnTo>
                  <a:lnTo>
                    <a:pt x="255614" y="12780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248156" y="1556887"/>
            <a:ext cx="31877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60" baseline="-23148" dirty="0">
                <a:latin typeface="Arial"/>
                <a:cs typeface="Arial"/>
              </a:rPr>
              <a:t>c</a:t>
            </a:r>
            <a:r>
              <a:rPr sz="450" i="1" spc="40" dirty="0">
                <a:latin typeface="Verdana"/>
                <a:cs typeface="Verdana"/>
              </a:rPr>
              <a:t>&lt;</a:t>
            </a:r>
            <a:r>
              <a:rPr sz="400" i="1" spc="40" dirty="0">
                <a:latin typeface="Arial"/>
                <a:cs typeface="Arial"/>
              </a:rPr>
              <a:t>t</a:t>
            </a:r>
            <a:r>
              <a:rPr sz="450" i="1" spc="40" dirty="0">
                <a:latin typeface="Arial"/>
                <a:cs typeface="Arial"/>
              </a:rPr>
              <a:t>−</a:t>
            </a:r>
            <a:r>
              <a:rPr sz="400" spc="40" dirty="0">
                <a:latin typeface="Microsoft Sans Serif"/>
                <a:cs typeface="Microsoft Sans Serif"/>
              </a:rPr>
              <a:t>1</a:t>
            </a:r>
            <a:r>
              <a:rPr sz="450" i="1" spc="40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53074" y="1306104"/>
            <a:ext cx="255904" cy="255904"/>
          </a:xfrm>
          <a:custGeom>
            <a:avLst/>
            <a:gdLst/>
            <a:ahLst/>
            <a:cxnLst/>
            <a:rect l="l" t="t" r="r" b="b"/>
            <a:pathLst>
              <a:path w="255904" h="255905">
                <a:moveTo>
                  <a:pt x="255614" y="127807"/>
                </a:moveTo>
                <a:lnTo>
                  <a:pt x="245570" y="78058"/>
                </a:lnTo>
                <a:lnTo>
                  <a:pt x="218180" y="37433"/>
                </a:lnTo>
                <a:lnTo>
                  <a:pt x="177555" y="10043"/>
                </a:lnTo>
                <a:lnTo>
                  <a:pt x="127807" y="0"/>
                </a:lnTo>
                <a:lnTo>
                  <a:pt x="78058" y="10043"/>
                </a:lnTo>
                <a:lnTo>
                  <a:pt x="37433" y="37433"/>
                </a:lnTo>
                <a:lnTo>
                  <a:pt x="10043" y="78058"/>
                </a:lnTo>
                <a:lnTo>
                  <a:pt x="0" y="127807"/>
                </a:lnTo>
                <a:lnTo>
                  <a:pt x="10043" y="177555"/>
                </a:lnTo>
                <a:lnTo>
                  <a:pt x="37433" y="218180"/>
                </a:lnTo>
                <a:lnTo>
                  <a:pt x="78058" y="245570"/>
                </a:lnTo>
                <a:lnTo>
                  <a:pt x="127807" y="255614"/>
                </a:lnTo>
                <a:lnTo>
                  <a:pt x="177555" y="245570"/>
                </a:lnTo>
                <a:lnTo>
                  <a:pt x="218180" y="218180"/>
                </a:lnTo>
                <a:lnTo>
                  <a:pt x="245570" y="177555"/>
                </a:lnTo>
                <a:lnTo>
                  <a:pt x="255614" y="127807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657792" y="1341658"/>
            <a:ext cx="23939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44" baseline="-23148" dirty="0">
                <a:latin typeface="Arial"/>
                <a:cs typeface="Arial"/>
              </a:rPr>
              <a:t>c</a:t>
            </a:r>
            <a:r>
              <a:rPr sz="450" i="1" spc="30" dirty="0">
                <a:latin typeface="Verdana"/>
                <a:cs typeface="Verdana"/>
              </a:rPr>
              <a:t>&lt;</a:t>
            </a:r>
            <a:r>
              <a:rPr sz="400" i="1" spc="30" dirty="0">
                <a:latin typeface="Arial"/>
                <a:cs typeface="Arial"/>
              </a:rPr>
              <a:t>t</a:t>
            </a:r>
            <a:r>
              <a:rPr sz="450" i="1" spc="30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986269" y="848184"/>
            <a:ext cx="262890" cy="262890"/>
          </a:xfrm>
          <a:custGeom>
            <a:avLst/>
            <a:gdLst/>
            <a:ahLst/>
            <a:cxnLst/>
            <a:rect l="l" t="t" r="r" b="b"/>
            <a:pathLst>
              <a:path w="262889" h="262890">
                <a:moveTo>
                  <a:pt x="262649" y="131324"/>
                </a:moveTo>
                <a:lnTo>
                  <a:pt x="252329" y="80206"/>
                </a:lnTo>
                <a:lnTo>
                  <a:pt x="224185" y="38463"/>
                </a:lnTo>
                <a:lnTo>
                  <a:pt x="182442" y="10320"/>
                </a:lnTo>
                <a:lnTo>
                  <a:pt x="131324" y="0"/>
                </a:lnTo>
                <a:lnTo>
                  <a:pt x="80206" y="10320"/>
                </a:lnTo>
                <a:lnTo>
                  <a:pt x="38463" y="38463"/>
                </a:lnTo>
                <a:lnTo>
                  <a:pt x="10320" y="80206"/>
                </a:lnTo>
                <a:lnTo>
                  <a:pt x="0" y="131324"/>
                </a:lnTo>
                <a:lnTo>
                  <a:pt x="10320" y="182442"/>
                </a:lnTo>
                <a:lnTo>
                  <a:pt x="38463" y="224185"/>
                </a:lnTo>
                <a:lnTo>
                  <a:pt x="80206" y="252329"/>
                </a:lnTo>
                <a:lnTo>
                  <a:pt x="131324" y="262649"/>
                </a:lnTo>
                <a:lnTo>
                  <a:pt x="182442" y="252329"/>
                </a:lnTo>
                <a:lnTo>
                  <a:pt x="224185" y="224185"/>
                </a:lnTo>
                <a:lnTo>
                  <a:pt x="252329" y="182442"/>
                </a:lnTo>
                <a:lnTo>
                  <a:pt x="262649" y="131324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2994511" y="879295"/>
            <a:ext cx="243204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52" baseline="-23148" dirty="0">
                <a:latin typeface="Arial"/>
                <a:cs typeface="Arial"/>
              </a:rPr>
              <a:t>y</a:t>
            </a:r>
            <a:r>
              <a:rPr sz="450" i="1" spc="35" dirty="0">
                <a:latin typeface="Verdana"/>
                <a:cs typeface="Verdana"/>
              </a:rPr>
              <a:t>&lt;</a:t>
            </a:r>
            <a:r>
              <a:rPr sz="400" i="1" spc="35" dirty="0">
                <a:latin typeface="Arial"/>
                <a:cs typeface="Arial"/>
              </a:rPr>
              <a:t>t</a:t>
            </a:r>
            <a:r>
              <a:rPr sz="450" i="1" spc="35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990353" y="2394198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5" h="254635">
                <a:moveTo>
                  <a:pt x="254480" y="127240"/>
                </a:moveTo>
                <a:lnTo>
                  <a:pt x="244481" y="77712"/>
                </a:lnTo>
                <a:lnTo>
                  <a:pt x="217213" y="37267"/>
                </a:lnTo>
                <a:lnTo>
                  <a:pt x="176768" y="9999"/>
                </a:lnTo>
                <a:lnTo>
                  <a:pt x="127240" y="0"/>
                </a:lnTo>
                <a:lnTo>
                  <a:pt x="77712" y="9999"/>
                </a:lnTo>
                <a:lnTo>
                  <a:pt x="37267" y="37267"/>
                </a:lnTo>
                <a:lnTo>
                  <a:pt x="9999" y="77712"/>
                </a:lnTo>
                <a:lnTo>
                  <a:pt x="0" y="127240"/>
                </a:lnTo>
                <a:lnTo>
                  <a:pt x="9999" y="176768"/>
                </a:lnTo>
                <a:lnTo>
                  <a:pt x="37267" y="217213"/>
                </a:lnTo>
                <a:lnTo>
                  <a:pt x="77712" y="244481"/>
                </a:lnTo>
                <a:lnTo>
                  <a:pt x="127240" y="254480"/>
                </a:lnTo>
                <a:lnTo>
                  <a:pt x="176768" y="244481"/>
                </a:lnTo>
                <a:lnTo>
                  <a:pt x="217213" y="217213"/>
                </a:lnTo>
                <a:lnTo>
                  <a:pt x="244481" y="176768"/>
                </a:lnTo>
                <a:lnTo>
                  <a:pt x="254480" y="127240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994511" y="2429836"/>
            <a:ext cx="24257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52" baseline="-23148" dirty="0">
                <a:latin typeface="Arial"/>
                <a:cs typeface="Arial"/>
              </a:rPr>
              <a:t>x</a:t>
            </a:r>
            <a:r>
              <a:rPr sz="450" i="1" spc="35" dirty="0">
                <a:latin typeface="Verdana"/>
                <a:cs typeface="Verdana"/>
              </a:rPr>
              <a:t>&lt;</a:t>
            </a:r>
            <a:r>
              <a:rPr sz="400" i="1" spc="35" dirty="0">
                <a:latin typeface="Arial"/>
                <a:cs typeface="Arial"/>
              </a:rPr>
              <a:t>t</a:t>
            </a:r>
            <a:r>
              <a:rPr sz="450" i="1" spc="35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478840" y="1112365"/>
            <a:ext cx="1172845" cy="1292860"/>
            <a:chOff x="2478840" y="1112365"/>
            <a:chExt cx="1172845" cy="1292860"/>
          </a:xfrm>
        </p:grpSpPr>
        <p:sp>
          <p:nvSpPr>
            <p:cNvPr id="56" name="object 56"/>
            <p:cNvSpPr/>
            <p:nvPr/>
          </p:nvSpPr>
          <p:spPr>
            <a:xfrm>
              <a:off x="2482015" y="1714898"/>
              <a:ext cx="283845" cy="170815"/>
            </a:xfrm>
            <a:custGeom>
              <a:avLst/>
              <a:gdLst/>
              <a:ahLst/>
              <a:cxnLst/>
              <a:rect l="l" t="t" r="r" b="b"/>
              <a:pathLst>
                <a:path w="283844" h="170814">
                  <a:moveTo>
                    <a:pt x="0" y="0"/>
                  </a:moveTo>
                  <a:lnTo>
                    <a:pt x="283363" y="170608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744569" y="1865027"/>
              <a:ext cx="41275" cy="33020"/>
            </a:xfrm>
            <a:custGeom>
              <a:avLst/>
              <a:gdLst/>
              <a:ahLst/>
              <a:cxnLst/>
              <a:rect l="l" t="t" r="r" b="b"/>
              <a:pathLst>
                <a:path w="41275" h="33019">
                  <a:moveTo>
                    <a:pt x="15016" y="0"/>
                  </a:moveTo>
                  <a:lnTo>
                    <a:pt x="15798" y="9284"/>
                  </a:lnTo>
                  <a:lnTo>
                    <a:pt x="13743" y="16224"/>
                  </a:lnTo>
                  <a:lnTo>
                    <a:pt x="8571" y="21287"/>
                  </a:lnTo>
                  <a:lnTo>
                    <a:pt x="0" y="24940"/>
                  </a:lnTo>
                  <a:lnTo>
                    <a:pt x="11168" y="25028"/>
                  </a:lnTo>
                  <a:lnTo>
                    <a:pt x="22318" y="26909"/>
                  </a:lnTo>
                  <a:lnTo>
                    <a:pt x="32500" y="29694"/>
                  </a:lnTo>
                  <a:lnTo>
                    <a:pt x="40762" y="32492"/>
                  </a:lnTo>
                  <a:lnTo>
                    <a:pt x="34424" y="26499"/>
                  </a:lnTo>
                  <a:lnTo>
                    <a:pt x="27199" y="18804"/>
                  </a:lnTo>
                  <a:lnTo>
                    <a:pt x="20319" y="9829"/>
                  </a:lnTo>
                  <a:lnTo>
                    <a:pt x="15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26776" y="1433920"/>
              <a:ext cx="401955" cy="635"/>
            </a:xfrm>
            <a:custGeom>
              <a:avLst/>
              <a:gdLst/>
              <a:ahLst/>
              <a:cxnLst/>
              <a:rect l="l" t="t" r="r" b="b"/>
              <a:pathLst>
                <a:path w="401954" h="634">
                  <a:moveTo>
                    <a:pt x="0" y="0"/>
                  </a:moveTo>
                  <a:lnTo>
                    <a:pt x="401481" y="15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612731" y="1419378"/>
              <a:ext cx="39370" cy="29209"/>
            </a:xfrm>
            <a:custGeom>
              <a:avLst/>
              <a:gdLst/>
              <a:ahLst/>
              <a:cxnLst/>
              <a:rect l="l" t="t" r="r" b="b"/>
              <a:pathLst>
                <a:path w="39370" h="29209">
                  <a:moveTo>
                    <a:pt x="0" y="0"/>
                  </a:moveTo>
                  <a:lnTo>
                    <a:pt x="5459" y="7551"/>
                  </a:lnTo>
                  <a:lnTo>
                    <a:pt x="7278" y="14556"/>
                  </a:lnTo>
                  <a:lnTo>
                    <a:pt x="5458" y="21561"/>
                  </a:lnTo>
                  <a:lnTo>
                    <a:pt x="0" y="29112"/>
                  </a:lnTo>
                  <a:lnTo>
                    <a:pt x="9613" y="23426"/>
                  </a:lnTo>
                  <a:lnTo>
                    <a:pt x="20136" y="19287"/>
                  </a:lnTo>
                  <a:lnTo>
                    <a:pt x="30295" y="16421"/>
                  </a:lnTo>
                  <a:lnTo>
                    <a:pt x="38816" y="14557"/>
                  </a:lnTo>
                  <a:lnTo>
                    <a:pt x="30295" y="12691"/>
                  </a:lnTo>
                  <a:lnTo>
                    <a:pt x="20136" y="9825"/>
                  </a:lnTo>
                  <a:lnTo>
                    <a:pt x="9613" y="5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117584" y="113565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30">
                  <a:moveTo>
                    <a:pt x="4" y="189074"/>
                  </a:moveTo>
                  <a:lnTo>
                    <a:pt x="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103029" y="1112365"/>
              <a:ext cx="29209" cy="39370"/>
            </a:xfrm>
            <a:custGeom>
              <a:avLst/>
              <a:gdLst/>
              <a:ahLst/>
              <a:cxnLst/>
              <a:rect l="l" t="t" r="r" b="b"/>
              <a:pathLst>
                <a:path w="29210" h="39369">
                  <a:moveTo>
                    <a:pt x="0" y="38816"/>
                  </a:moveTo>
                  <a:lnTo>
                    <a:pt x="7550" y="33358"/>
                  </a:lnTo>
                  <a:lnTo>
                    <a:pt x="14556" y="31538"/>
                  </a:lnTo>
                  <a:lnTo>
                    <a:pt x="21561" y="33357"/>
                  </a:lnTo>
                  <a:lnTo>
                    <a:pt x="29112" y="38816"/>
                  </a:lnTo>
                  <a:lnTo>
                    <a:pt x="23426" y="29203"/>
                  </a:lnTo>
                  <a:lnTo>
                    <a:pt x="19286" y="18680"/>
                  </a:lnTo>
                  <a:lnTo>
                    <a:pt x="16420" y="8521"/>
                  </a:lnTo>
                  <a:lnTo>
                    <a:pt x="14555" y="0"/>
                  </a:lnTo>
                  <a:lnTo>
                    <a:pt x="12690" y="8521"/>
                  </a:lnTo>
                  <a:lnTo>
                    <a:pt x="9825" y="18680"/>
                  </a:lnTo>
                  <a:lnTo>
                    <a:pt x="5685" y="29203"/>
                  </a:lnTo>
                  <a:lnTo>
                    <a:pt x="0" y="38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953100" y="2098738"/>
              <a:ext cx="118110" cy="302895"/>
            </a:xfrm>
            <a:custGeom>
              <a:avLst/>
              <a:gdLst/>
              <a:ahLst/>
              <a:cxnLst/>
              <a:rect l="l" t="t" r="r" b="b"/>
              <a:pathLst>
                <a:path w="118110" h="302894">
                  <a:moveTo>
                    <a:pt x="117804" y="302716"/>
                  </a:moveTo>
                  <a:lnTo>
                    <a:pt x="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944654" y="2077034"/>
              <a:ext cx="27940" cy="41910"/>
            </a:xfrm>
            <a:custGeom>
              <a:avLst/>
              <a:gdLst/>
              <a:ahLst/>
              <a:cxnLst/>
              <a:rect l="l" t="t" r="r" b="b"/>
              <a:pathLst>
                <a:path w="27939" h="41910">
                  <a:moveTo>
                    <a:pt x="511" y="41452"/>
                  </a:moveTo>
                  <a:lnTo>
                    <a:pt x="5569" y="33626"/>
                  </a:lnTo>
                  <a:lnTo>
                    <a:pt x="11437" y="29390"/>
                  </a:lnTo>
                  <a:lnTo>
                    <a:pt x="18625" y="28545"/>
                  </a:lnTo>
                  <a:lnTo>
                    <a:pt x="27641" y="30894"/>
                  </a:lnTo>
                  <a:lnTo>
                    <a:pt x="18856" y="23997"/>
                  </a:lnTo>
                  <a:lnTo>
                    <a:pt x="11183" y="15692"/>
                  </a:lnTo>
                  <a:lnTo>
                    <a:pt x="4828" y="7264"/>
                  </a:lnTo>
                  <a:lnTo>
                    <a:pt x="0" y="0"/>
                  </a:lnTo>
                  <a:lnTo>
                    <a:pt x="1352" y="8617"/>
                  </a:lnTo>
                  <a:lnTo>
                    <a:pt x="2365" y="19123"/>
                  </a:lnTo>
                  <a:lnTo>
                    <a:pt x="2324" y="30431"/>
                  </a:lnTo>
                  <a:lnTo>
                    <a:pt x="511" y="414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65702" y="2098635"/>
              <a:ext cx="122555" cy="303530"/>
            </a:xfrm>
            <a:custGeom>
              <a:avLst/>
              <a:gdLst/>
              <a:ahLst/>
              <a:cxnLst/>
              <a:rect l="l" t="t" r="r" b="b"/>
              <a:pathLst>
                <a:path w="122554" h="303530">
                  <a:moveTo>
                    <a:pt x="0" y="303384"/>
                  </a:moveTo>
                  <a:lnTo>
                    <a:pt x="122295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268692" y="2077034"/>
              <a:ext cx="28575" cy="41910"/>
            </a:xfrm>
            <a:custGeom>
              <a:avLst/>
              <a:gdLst/>
              <a:ahLst/>
              <a:cxnLst/>
              <a:rect l="l" t="t" r="r" b="b"/>
              <a:pathLst>
                <a:path w="28575" h="41910">
                  <a:moveTo>
                    <a:pt x="0" y="30559"/>
                  </a:moveTo>
                  <a:lnTo>
                    <a:pt x="9044" y="28319"/>
                  </a:lnTo>
                  <a:lnTo>
                    <a:pt x="16221" y="29251"/>
                  </a:lnTo>
                  <a:lnTo>
                    <a:pt x="22038" y="33557"/>
                  </a:lnTo>
                  <a:lnTo>
                    <a:pt x="27001" y="41443"/>
                  </a:lnTo>
                  <a:lnTo>
                    <a:pt x="25321" y="30401"/>
                  </a:lnTo>
                  <a:lnTo>
                    <a:pt x="25416" y="19094"/>
                  </a:lnTo>
                  <a:lnTo>
                    <a:pt x="26556" y="8600"/>
                  </a:lnTo>
                  <a:lnTo>
                    <a:pt x="28012" y="0"/>
                  </a:lnTo>
                  <a:lnTo>
                    <a:pt x="23097" y="7206"/>
                  </a:lnTo>
                  <a:lnTo>
                    <a:pt x="16641" y="15557"/>
                  </a:lnTo>
                  <a:lnTo>
                    <a:pt x="8867" y="23769"/>
                  </a:lnTo>
                  <a:lnTo>
                    <a:pt x="0" y="305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495521" y="1471667"/>
              <a:ext cx="490855" cy="140970"/>
            </a:xfrm>
            <a:custGeom>
              <a:avLst/>
              <a:gdLst/>
              <a:ahLst/>
              <a:cxnLst/>
              <a:rect l="l" t="t" r="r" b="b"/>
              <a:pathLst>
                <a:path w="490855" h="140969">
                  <a:moveTo>
                    <a:pt x="0" y="140864"/>
                  </a:moveTo>
                  <a:lnTo>
                    <a:pt x="490504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967085" y="1461962"/>
              <a:ext cx="41910" cy="28575"/>
            </a:xfrm>
            <a:custGeom>
              <a:avLst/>
              <a:gdLst/>
              <a:ahLst/>
              <a:cxnLst/>
              <a:rect l="l" t="t" r="r" b="b"/>
              <a:pathLst>
                <a:path w="41910" h="28575">
                  <a:moveTo>
                    <a:pt x="0" y="0"/>
                  </a:moveTo>
                  <a:lnTo>
                    <a:pt x="7330" y="5751"/>
                  </a:lnTo>
                  <a:lnTo>
                    <a:pt x="11012" y="11981"/>
                  </a:lnTo>
                  <a:lnTo>
                    <a:pt x="11197" y="19216"/>
                  </a:lnTo>
                  <a:lnTo>
                    <a:pt x="8035" y="27981"/>
                  </a:lnTo>
                  <a:lnTo>
                    <a:pt x="15705" y="19862"/>
                  </a:lnTo>
                  <a:lnTo>
                    <a:pt x="24676" y="12979"/>
                  </a:lnTo>
                  <a:lnTo>
                    <a:pt x="33650" y="7421"/>
                  </a:lnTo>
                  <a:lnTo>
                    <a:pt x="41325" y="3276"/>
                  </a:lnTo>
                  <a:lnTo>
                    <a:pt x="32620" y="3836"/>
                  </a:lnTo>
                  <a:lnTo>
                    <a:pt x="22065" y="3886"/>
                  </a:lnTo>
                  <a:lnTo>
                    <a:pt x="10809" y="28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172174" y="1564582"/>
              <a:ext cx="123189" cy="294640"/>
            </a:xfrm>
            <a:custGeom>
              <a:avLst/>
              <a:gdLst/>
              <a:ahLst/>
              <a:cxnLst/>
              <a:rect l="l" t="t" r="r" b="b"/>
              <a:pathLst>
                <a:path w="123189" h="294639">
                  <a:moveTo>
                    <a:pt x="122903" y="294087"/>
                  </a:moveTo>
                  <a:lnTo>
                    <a:pt x="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163194" y="1543094"/>
              <a:ext cx="28575" cy="41910"/>
            </a:xfrm>
            <a:custGeom>
              <a:avLst/>
              <a:gdLst/>
              <a:ahLst/>
              <a:cxnLst/>
              <a:rect l="l" t="t" r="r" b="b"/>
              <a:pathLst>
                <a:path w="28575" h="41909">
                  <a:moveTo>
                    <a:pt x="1536" y="41426"/>
                  </a:moveTo>
                  <a:lnTo>
                    <a:pt x="6398" y="33478"/>
                  </a:lnTo>
                  <a:lnTo>
                    <a:pt x="12160" y="29098"/>
                  </a:lnTo>
                  <a:lnTo>
                    <a:pt x="19325" y="28076"/>
                  </a:lnTo>
                  <a:lnTo>
                    <a:pt x="28397" y="30201"/>
                  </a:lnTo>
                  <a:lnTo>
                    <a:pt x="19444" y="23524"/>
                  </a:lnTo>
                  <a:lnTo>
                    <a:pt x="11567" y="15411"/>
                  </a:lnTo>
                  <a:lnTo>
                    <a:pt x="5006" y="7143"/>
                  </a:lnTo>
                  <a:lnTo>
                    <a:pt x="0" y="0"/>
                  </a:lnTo>
                  <a:lnTo>
                    <a:pt x="1564" y="8581"/>
                  </a:lnTo>
                  <a:lnTo>
                    <a:pt x="2838" y="19059"/>
                  </a:lnTo>
                  <a:lnTo>
                    <a:pt x="3076" y="30364"/>
                  </a:lnTo>
                  <a:lnTo>
                    <a:pt x="1536" y="41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228338" y="1622543"/>
            <a:ext cx="153670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700" spc="15" dirty="0">
                <a:latin typeface="Tahoma"/>
                <a:cs typeface="Tahoma"/>
              </a:rPr>
              <a:t>Γ</a:t>
            </a:r>
            <a:r>
              <a:rPr sz="600" i="1" spc="22" baseline="-13888" dirty="0">
                <a:latin typeface="Arial"/>
                <a:cs typeface="Arial"/>
              </a:rPr>
              <a:t>u</a:t>
            </a:r>
            <a:endParaRPr sz="600" baseline="-13888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943053" y="1543094"/>
            <a:ext cx="130810" cy="318770"/>
            <a:chOff x="2943053" y="1543094"/>
            <a:chExt cx="130810" cy="318770"/>
          </a:xfrm>
        </p:grpSpPr>
        <p:sp>
          <p:nvSpPr>
            <p:cNvPr id="72" name="object 72"/>
            <p:cNvSpPr/>
            <p:nvPr/>
          </p:nvSpPr>
          <p:spPr>
            <a:xfrm>
              <a:off x="2946228" y="1564692"/>
              <a:ext cx="118745" cy="294005"/>
            </a:xfrm>
            <a:custGeom>
              <a:avLst/>
              <a:gdLst/>
              <a:ahLst/>
              <a:cxnLst/>
              <a:rect l="l" t="t" r="r" b="b"/>
              <a:pathLst>
                <a:path w="118744" h="294005">
                  <a:moveTo>
                    <a:pt x="0" y="293977"/>
                  </a:moveTo>
                  <a:lnTo>
                    <a:pt x="11862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045540" y="1543094"/>
              <a:ext cx="28575" cy="41910"/>
            </a:xfrm>
            <a:custGeom>
              <a:avLst/>
              <a:gdLst/>
              <a:ahLst/>
              <a:cxnLst/>
              <a:rect l="l" t="t" r="r" b="b"/>
              <a:pathLst>
                <a:path w="28575" h="41909">
                  <a:moveTo>
                    <a:pt x="0" y="30550"/>
                  </a:moveTo>
                  <a:lnTo>
                    <a:pt x="9045" y="28313"/>
                  </a:lnTo>
                  <a:lnTo>
                    <a:pt x="16222" y="29247"/>
                  </a:lnTo>
                  <a:lnTo>
                    <a:pt x="22037" y="33556"/>
                  </a:lnTo>
                  <a:lnTo>
                    <a:pt x="26997" y="41443"/>
                  </a:lnTo>
                  <a:lnTo>
                    <a:pt x="25321" y="30401"/>
                  </a:lnTo>
                  <a:lnTo>
                    <a:pt x="25420" y="19093"/>
                  </a:lnTo>
                  <a:lnTo>
                    <a:pt x="26564" y="8600"/>
                  </a:lnTo>
                  <a:lnTo>
                    <a:pt x="28023" y="0"/>
                  </a:lnTo>
                  <a:lnTo>
                    <a:pt x="23105" y="7204"/>
                  </a:lnTo>
                  <a:lnTo>
                    <a:pt x="16646" y="15553"/>
                  </a:lnTo>
                  <a:lnTo>
                    <a:pt x="8870" y="23763"/>
                  </a:lnTo>
                  <a:lnTo>
                    <a:pt x="0" y="30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2767698" y="1599667"/>
            <a:ext cx="239395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i="1" spc="-450" baseline="-23148" dirty="0">
                <a:latin typeface="Arial"/>
                <a:cs typeface="Arial"/>
              </a:rPr>
              <a:t>c</a:t>
            </a:r>
            <a:r>
              <a:rPr sz="1050" spc="-60" baseline="-19841" dirty="0">
                <a:latin typeface="Tahoma"/>
                <a:cs typeface="Tahoma"/>
              </a:rPr>
              <a:t>˜</a:t>
            </a:r>
            <a:r>
              <a:rPr sz="450" i="1" spc="20" dirty="0">
                <a:latin typeface="Verdana"/>
                <a:cs typeface="Verdana"/>
              </a:rPr>
              <a:t>&lt;</a:t>
            </a:r>
            <a:r>
              <a:rPr sz="400" i="1" spc="5" dirty="0">
                <a:latin typeface="Arial"/>
                <a:cs typeface="Arial"/>
              </a:rPr>
              <a:t>t</a:t>
            </a:r>
            <a:r>
              <a:rPr sz="400" i="1" spc="-75" dirty="0">
                <a:latin typeface="Arial"/>
                <a:cs typeface="Arial"/>
              </a:rPr>
              <a:t> </a:t>
            </a:r>
            <a:r>
              <a:rPr sz="450" i="1" spc="20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709083" y="1248502"/>
            <a:ext cx="1733550" cy="904875"/>
            <a:chOff x="2709083" y="1248502"/>
            <a:chExt cx="1733550" cy="904875"/>
          </a:xfrm>
        </p:grpSpPr>
        <p:sp>
          <p:nvSpPr>
            <p:cNvPr id="76" name="object 76"/>
            <p:cNvSpPr/>
            <p:nvPr/>
          </p:nvSpPr>
          <p:spPr>
            <a:xfrm>
              <a:off x="2710671" y="1250090"/>
              <a:ext cx="814069" cy="901700"/>
            </a:xfrm>
            <a:custGeom>
              <a:avLst/>
              <a:gdLst/>
              <a:ahLst/>
              <a:cxnLst/>
              <a:rect l="l" t="t" r="r" b="b"/>
              <a:pathLst>
                <a:path w="814070" h="901700">
                  <a:moveTo>
                    <a:pt x="0" y="901606"/>
                  </a:moveTo>
                  <a:lnTo>
                    <a:pt x="813821" y="901606"/>
                  </a:lnTo>
                  <a:lnTo>
                    <a:pt x="813821" y="0"/>
                  </a:lnTo>
                  <a:lnTo>
                    <a:pt x="0" y="0"/>
                  </a:lnTo>
                  <a:lnTo>
                    <a:pt x="0" y="90160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211409" y="1861650"/>
              <a:ext cx="227965" cy="212725"/>
            </a:xfrm>
            <a:custGeom>
              <a:avLst/>
              <a:gdLst/>
              <a:ahLst/>
              <a:cxnLst/>
              <a:rect l="l" t="t" r="r" b="b"/>
              <a:pathLst>
                <a:path w="227964" h="212725">
                  <a:moveTo>
                    <a:pt x="0" y="212402"/>
                  </a:moveTo>
                  <a:lnTo>
                    <a:pt x="227804" y="212402"/>
                  </a:lnTo>
                  <a:lnTo>
                    <a:pt x="227804" y="0"/>
                  </a:lnTo>
                  <a:lnTo>
                    <a:pt x="0" y="0"/>
                  </a:lnTo>
                  <a:lnTo>
                    <a:pt x="0" y="212402"/>
                  </a:lnTo>
                  <a:close/>
                </a:path>
              </a:pathLst>
            </a:custGeom>
            <a:ln w="597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4225543" y="1902989"/>
            <a:ext cx="20002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60" dirty="0">
                <a:latin typeface="Microsoft Sans Serif"/>
                <a:cs typeface="Microsoft Sans Serif"/>
              </a:rPr>
              <a:t>T</a:t>
            </a:r>
            <a:r>
              <a:rPr sz="600" spc="15" dirty="0">
                <a:latin typeface="Microsoft Sans Serif"/>
                <a:cs typeface="Microsoft Sans Serif"/>
              </a:rPr>
              <a:t>anh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4657583" y="1861650"/>
            <a:ext cx="212725" cy="212725"/>
          </a:xfrm>
          <a:custGeom>
            <a:avLst/>
            <a:gdLst/>
            <a:ahLst/>
            <a:cxnLst/>
            <a:rect l="l" t="t" r="r" b="b"/>
            <a:pathLst>
              <a:path w="212725" h="212725">
                <a:moveTo>
                  <a:pt x="0" y="212402"/>
                </a:moveTo>
                <a:lnTo>
                  <a:pt x="212402" y="212402"/>
                </a:lnTo>
                <a:lnTo>
                  <a:pt x="212402" y="0"/>
                </a:lnTo>
                <a:lnTo>
                  <a:pt x="0" y="0"/>
                </a:lnTo>
                <a:lnTo>
                  <a:pt x="0" y="212402"/>
                </a:lnTo>
                <a:close/>
              </a:path>
            </a:pathLst>
          </a:custGeom>
          <a:ln w="597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724509" y="1884858"/>
            <a:ext cx="75565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i="1" spc="-50" dirty="0">
                <a:latin typeface="Verdana"/>
                <a:cs typeface="Verdana"/>
              </a:rPr>
              <a:t>σ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3664929" y="1324511"/>
            <a:ext cx="985519" cy="453390"/>
            <a:chOff x="3664929" y="1324511"/>
            <a:chExt cx="985519" cy="453390"/>
          </a:xfrm>
        </p:grpSpPr>
        <p:sp>
          <p:nvSpPr>
            <p:cNvPr id="82" name="object 82"/>
            <p:cNvSpPr/>
            <p:nvPr/>
          </p:nvSpPr>
          <p:spPr>
            <a:xfrm>
              <a:off x="4434499" y="1327686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402" y="0"/>
                  </a:moveTo>
                  <a:lnTo>
                    <a:pt x="0" y="0"/>
                  </a:lnTo>
                  <a:lnTo>
                    <a:pt x="0" y="212402"/>
                  </a:lnTo>
                  <a:lnTo>
                    <a:pt x="212402" y="212402"/>
                  </a:lnTo>
                  <a:lnTo>
                    <a:pt x="212402" y="0"/>
                  </a:lnTo>
                  <a:close/>
                </a:path>
              </a:pathLst>
            </a:custGeom>
            <a:solidFill>
              <a:srgbClr val="BF00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434499" y="1327686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0" y="212402"/>
                  </a:moveTo>
                  <a:lnTo>
                    <a:pt x="212402" y="212402"/>
                  </a:lnTo>
                  <a:lnTo>
                    <a:pt x="212402" y="0"/>
                  </a:lnTo>
                  <a:lnTo>
                    <a:pt x="0" y="0"/>
                  </a:lnTo>
                  <a:lnTo>
                    <a:pt x="0" y="212402"/>
                  </a:lnTo>
                  <a:close/>
                </a:path>
              </a:pathLst>
            </a:custGeom>
            <a:ln w="597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666516" y="1520388"/>
              <a:ext cx="255904" cy="255904"/>
            </a:xfrm>
            <a:custGeom>
              <a:avLst/>
              <a:gdLst/>
              <a:ahLst/>
              <a:cxnLst/>
              <a:rect l="l" t="t" r="r" b="b"/>
              <a:pathLst>
                <a:path w="255904" h="255905">
                  <a:moveTo>
                    <a:pt x="255614" y="127807"/>
                  </a:moveTo>
                  <a:lnTo>
                    <a:pt x="245570" y="78058"/>
                  </a:lnTo>
                  <a:lnTo>
                    <a:pt x="218180" y="37433"/>
                  </a:lnTo>
                  <a:lnTo>
                    <a:pt x="177555" y="10043"/>
                  </a:lnTo>
                  <a:lnTo>
                    <a:pt x="127807" y="0"/>
                  </a:lnTo>
                  <a:lnTo>
                    <a:pt x="78058" y="10043"/>
                  </a:lnTo>
                  <a:lnTo>
                    <a:pt x="37433" y="37433"/>
                  </a:lnTo>
                  <a:lnTo>
                    <a:pt x="10043" y="78058"/>
                  </a:lnTo>
                  <a:lnTo>
                    <a:pt x="0" y="127807"/>
                  </a:lnTo>
                  <a:lnTo>
                    <a:pt x="10043" y="177555"/>
                  </a:lnTo>
                  <a:lnTo>
                    <a:pt x="37433" y="218180"/>
                  </a:lnTo>
                  <a:lnTo>
                    <a:pt x="78058" y="245570"/>
                  </a:lnTo>
                  <a:lnTo>
                    <a:pt x="127807" y="255614"/>
                  </a:lnTo>
                  <a:lnTo>
                    <a:pt x="177555" y="245570"/>
                  </a:lnTo>
                  <a:lnTo>
                    <a:pt x="218180" y="218180"/>
                  </a:lnTo>
                  <a:lnTo>
                    <a:pt x="245570" y="177555"/>
                  </a:lnTo>
                  <a:lnTo>
                    <a:pt x="255614" y="12780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3671234" y="1556894"/>
            <a:ext cx="31877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60" baseline="-23148" dirty="0">
                <a:latin typeface="Arial"/>
                <a:cs typeface="Arial"/>
              </a:rPr>
              <a:t>c</a:t>
            </a:r>
            <a:r>
              <a:rPr sz="450" i="1" spc="40" dirty="0">
                <a:latin typeface="Verdana"/>
                <a:cs typeface="Verdana"/>
              </a:rPr>
              <a:t>&lt;</a:t>
            </a:r>
            <a:r>
              <a:rPr sz="400" i="1" spc="40" dirty="0">
                <a:latin typeface="Arial"/>
                <a:cs typeface="Arial"/>
              </a:rPr>
              <a:t>t</a:t>
            </a:r>
            <a:r>
              <a:rPr sz="450" i="1" spc="40" dirty="0">
                <a:latin typeface="Arial"/>
                <a:cs typeface="Arial"/>
              </a:rPr>
              <a:t>−</a:t>
            </a:r>
            <a:r>
              <a:rPr sz="400" spc="40" dirty="0">
                <a:latin typeface="Microsoft Sans Serif"/>
                <a:cs typeface="Microsoft Sans Serif"/>
              </a:rPr>
              <a:t>1</a:t>
            </a:r>
            <a:r>
              <a:rPr sz="450" i="1" spc="40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5076171" y="1306104"/>
            <a:ext cx="255904" cy="255904"/>
          </a:xfrm>
          <a:custGeom>
            <a:avLst/>
            <a:gdLst/>
            <a:ahLst/>
            <a:cxnLst/>
            <a:rect l="l" t="t" r="r" b="b"/>
            <a:pathLst>
              <a:path w="255904" h="255905">
                <a:moveTo>
                  <a:pt x="255614" y="127807"/>
                </a:moveTo>
                <a:lnTo>
                  <a:pt x="245570" y="78058"/>
                </a:lnTo>
                <a:lnTo>
                  <a:pt x="218180" y="37433"/>
                </a:lnTo>
                <a:lnTo>
                  <a:pt x="177555" y="10043"/>
                </a:lnTo>
                <a:lnTo>
                  <a:pt x="127807" y="0"/>
                </a:lnTo>
                <a:lnTo>
                  <a:pt x="78058" y="10043"/>
                </a:lnTo>
                <a:lnTo>
                  <a:pt x="37433" y="37433"/>
                </a:lnTo>
                <a:lnTo>
                  <a:pt x="10043" y="78058"/>
                </a:lnTo>
                <a:lnTo>
                  <a:pt x="0" y="127807"/>
                </a:lnTo>
                <a:lnTo>
                  <a:pt x="10043" y="177555"/>
                </a:lnTo>
                <a:lnTo>
                  <a:pt x="37433" y="218180"/>
                </a:lnTo>
                <a:lnTo>
                  <a:pt x="78058" y="245570"/>
                </a:lnTo>
                <a:lnTo>
                  <a:pt x="127807" y="255614"/>
                </a:lnTo>
                <a:lnTo>
                  <a:pt x="177555" y="245570"/>
                </a:lnTo>
                <a:lnTo>
                  <a:pt x="218180" y="218180"/>
                </a:lnTo>
                <a:lnTo>
                  <a:pt x="245570" y="177555"/>
                </a:lnTo>
                <a:lnTo>
                  <a:pt x="255614" y="127807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5080870" y="1341658"/>
            <a:ext cx="23939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44" baseline="-23148" dirty="0">
                <a:latin typeface="Arial"/>
                <a:cs typeface="Arial"/>
              </a:rPr>
              <a:t>c</a:t>
            </a:r>
            <a:r>
              <a:rPr sz="450" i="1" spc="30" dirty="0">
                <a:latin typeface="Verdana"/>
                <a:cs typeface="Verdana"/>
              </a:rPr>
              <a:t>&lt;</a:t>
            </a:r>
            <a:r>
              <a:rPr sz="400" i="1" spc="30" dirty="0">
                <a:latin typeface="Arial"/>
                <a:cs typeface="Arial"/>
              </a:rPr>
              <a:t>t</a:t>
            </a:r>
            <a:r>
              <a:rPr sz="450" i="1" spc="30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4409366" y="848184"/>
            <a:ext cx="262890" cy="262890"/>
          </a:xfrm>
          <a:custGeom>
            <a:avLst/>
            <a:gdLst/>
            <a:ahLst/>
            <a:cxnLst/>
            <a:rect l="l" t="t" r="r" b="b"/>
            <a:pathLst>
              <a:path w="262889" h="262890">
                <a:moveTo>
                  <a:pt x="262649" y="131324"/>
                </a:moveTo>
                <a:lnTo>
                  <a:pt x="252329" y="80206"/>
                </a:lnTo>
                <a:lnTo>
                  <a:pt x="224185" y="38463"/>
                </a:lnTo>
                <a:lnTo>
                  <a:pt x="182442" y="10320"/>
                </a:lnTo>
                <a:lnTo>
                  <a:pt x="131324" y="0"/>
                </a:lnTo>
                <a:lnTo>
                  <a:pt x="80206" y="10320"/>
                </a:lnTo>
                <a:lnTo>
                  <a:pt x="38463" y="38463"/>
                </a:lnTo>
                <a:lnTo>
                  <a:pt x="10319" y="80206"/>
                </a:lnTo>
                <a:lnTo>
                  <a:pt x="0" y="131324"/>
                </a:lnTo>
                <a:lnTo>
                  <a:pt x="10319" y="182442"/>
                </a:lnTo>
                <a:lnTo>
                  <a:pt x="38463" y="224185"/>
                </a:lnTo>
                <a:lnTo>
                  <a:pt x="80206" y="252329"/>
                </a:lnTo>
                <a:lnTo>
                  <a:pt x="131324" y="262649"/>
                </a:lnTo>
                <a:lnTo>
                  <a:pt x="182442" y="252329"/>
                </a:lnTo>
                <a:lnTo>
                  <a:pt x="224185" y="224185"/>
                </a:lnTo>
                <a:lnTo>
                  <a:pt x="252329" y="182442"/>
                </a:lnTo>
                <a:lnTo>
                  <a:pt x="262649" y="131324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4417590" y="879295"/>
            <a:ext cx="243204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52" baseline="-23148" dirty="0">
                <a:latin typeface="Arial"/>
                <a:cs typeface="Arial"/>
              </a:rPr>
              <a:t>y</a:t>
            </a:r>
            <a:r>
              <a:rPr sz="450" i="1" spc="35" dirty="0">
                <a:latin typeface="Verdana"/>
                <a:cs typeface="Verdana"/>
              </a:rPr>
              <a:t>&lt;</a:t>
            </a:r>
            <a:r>
              <a:rPr sz="400" i="1" spc="35" dirty="0">
                <a:latin typeface="Arial"/>
                <a:cs typeface="Arial"/>
              </a:rPr>
              <a:t>t</a:t>
            </a:r>
            <a:r>
              <a:rPr sz="450" i="1" spc="35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413450" y="2394198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5" h="254635">
                <a:moveTo>
                  <a:pt x="254480" y="127240"/>
                </a:moveTo>
                <a:lnTo>
                  <a:pt x="244481" y="77712"/>
                </a:lnTo>
                <a:lnTo>
                  <a:pt x="217213" y="37267"/>
                </a:lnTo>
                <a:lnTo>
                  <a:pt x="176768" y="9999"/>
                </a:lnTo>
                <a:lnTo>
                  <a:pt x="127240" y="0"/>
                </a:lnTo>
                <a:lnTo>
                  <a:pt x="77712" y="9999"/>
                </a:lnTo>
                <a:lnTo>
                  <a:pt x="37267" y="37267"/>
                </a:lnTo>
                <a:lnTo>
                  <a:pt x="9999" y="77712"/>
                </a:lnTo>
                <a:lnTo>
                  <a:pt x="0" y="127240"/>
                </a:lnTo>
                <a:lnTo>
                  <a:pt x="9999" y="176768"/>
                </a:lnTo>
                <a:lnTo>
                  <a:pt x="37267" y="217213"/>
                </a:lnTo>
                <a:lnTo>
                  <a:pt x="77712" y="244481"/>
                </a:lnTo>
                <a:lnTo>
                  <a:pt x="127240" y="254480"/>
                </a:lnTo>
                <a:lnTo>
                  <a:pt x="176768" y="244481"/>
                </a:lnTo>
                <a:lnTo>
                  <a:pt x="217213" y="217213"/>
                </a:lnTo>
                <a:lnTo>
                  <a:pt x="244481" y="176768"/>
                </a:lnTo>
                <a:lnTo>
                  <a:pt x="254480" y="127240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4417590" y="2429836"/>
            <a:ext cx="24257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52" baseline="-23148" dirty="0">
                <a:latin typeface="Arial"/>
                <a:cs typeface="Arial"/>
              </a:rPr>
              <a:t>x</a:t>
            </a:r>
            <a:r>
              <a:rPr sz="450" i="1" spc="35" dirty="0">
                <a:latin typeface="Verdana"/>
                <a:cs typeface="Verdana"/>
              </a:rPr>
              <a:t>&lt;</a:t>
            </a:r>
            <a:r>
              <a:rPr sz="400" i="1" spc="35" dirty="0">
                <a:latin typeface="Arial"/>
                <a:cs typeface="Arial"/>
              </a:rPr>
              <a:t>t</a:t>
            </a:r>
            <a:r>
              <a:rPr sz="450" i="1" spc="35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3901937" y="1112365"/>
            <a:ext cx="1172845" cy="1292860"/>
            <a:chOff x="3901937" y="1112365"/>
            <a:chExt cx="1172845" cy="1292860"/>
          </a:xfrm>
        </p:grpSpPr>
        <p:sp>
          <p:nvSpPr>
            <p:cNvPr id="93" name="object 93"/>
            <p:cNvSpPr/>
            <p:nvPr/>
          </p:nvSpPr>
          <p:spPr>
            <a:xfrm>
              <a:off x="3905112" y="1714898"/>
              <a:ext cx="283845" cy="170815"/>
            </a:xfrm>
            <a:custGeom>
              <a:avLst/>
              <a:gdLst/>
              <a:ahLst/>
              <a:cxnLst/>
              <a:rect l="l" t="t" r="r" b="b"/>
              <a:pathLst>
                <a:path w="283845" h="170814">
                  <a:moveTo>
                    <a:pt x="0" y="0"/>
                  </a:moveTo>
                  <a:lnTo>
                    <a:pt x="283363" y="170608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167666" y="1865027"/>
              <a:ext cx="41275" cy="33020"/>
            </a:xfrm>
            <a:custGeom>
              <a:avLst/>
              <a:gdLst/>
              <a:ahLst/>
              <a:cxnLst/>
              <a:rect l="l" t="t" r="r" b="b"/>
              <a:pathLst>
                <a:path w="41275" h="33019">
                  <a:moveTo>
                    <a:pt x="15016" y="0"/>
                  </a:moveTo>
                  <a:lnTo>
                    <a:pt x="15798" y="9284"/>
                  </a:lnTo>
                  <a:lnTo>
                    <a:pt x="13743" y="16224"/>
                  </a:lnTo>
                  <a:lnTo>
                    <a:pt x="8571" y="21287"/>
                  </a:lnTo>
                  <a:lnTo>
                    <a:pt x="0" y="24940"/>
                  </a:lnTo>
                  <a:lnTo>
                    <a:pt x="11168" y="25028"/>
                  </a:lnTo>
                  <a:lnTo>
                    <a:pt x="22318" y="26909"/>
                  </a:lnTo>
                  <a:lnTo>
                    <a:pt x="32500" y="29694"/>
                  </a:lnTo>
                  <a:lnTo>
                    <a:pt x="40762" y="32492"/>
                  </a:lnTo>
                  <a:lnTo>
                    <a:pt x="34424" y="26499"/>
                  </a:lnTo>
                  <a:lnTo>
                    <a:pt x="27199" y="18804"/>
                  </a:lnTo>
                  <a:lnTo>
                    <a:pt x="20319" y="9829"/>
                  </a:lnTo>
                  <a:lnTo>
                    <a:pt x="15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649873" y="1433920"/>
              <a:ext cx="401955" cy="635"/>
            </a:xfrm>
            <a:custGeom>
              <a:avLst/>
              <a:gdLst/>
              <a:ahLst/>
              <a:cxnLst/>
              <a:rect l="l" t="t" r="r" b="b"/>
              <a:pathLst>
                <a:path w="401954" h="634">
                  <a:moveTo>
                    <a:pt x="0" y="0"/>
                  </a:moveTo>
                  <a:lnTo>
                    <a:pt x="401481" y="15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035828" y="1419378"/>
              <a:ext cx="39370" cy="29209"/>
            </a:xfrm>
            <a:custGeom>
              <a:avLst/>
              <a:gdLst/>
              <a:ahLst/>
              <a:cxnLst/>
              <a:rect l="l" t="t" r="r" b="b"/>
              <a:pathLst>
                <a:path w="39370" h="29209">
                  <a:moveTo>
                    <a:pt x="0" y="0"/>
                  </a:moveTo>
                  <a:lnTo>
                    <a:pt x="5459" y="7551"/>
                  </a:lnTo>
                  <a:lnTo>
                    <a:pt x="7278" y="14556"/>
                  </a:lnTo>
                  <a:lnTo>
                    <a:pt x="5458" y="21561"/>
                  </a:lnTo>
                  <a:lnTo>
                    <a:pt x="0" y="29112"/>
                  </a:lnTo>
                  <a:lnTo>
                    <a:pt x="9613" y="23426"/>
                  </a:lnTo>
                  <a:lnTo>
                    <a:pt x="20136" y="19287"/>
                  </a:lnTo>
                  <a:lnTo>
                    <a:pt x="30295" y="16421"/>
                  </a:lnTo>
                  <a:lnTo>
                    <a:pt x="38816" y="14557"/>
                  </a:lnTo>
                  <a:lnTo>
                    <a:pt x="30295" y="12691"/>
                  </a:lnTo>
                  <a:lnTo>
                    <a:pt x="20136" y="9825"/>
                  </a:lnTo>
                  <a:lnTo>
                    <a:pt x="9613" y="5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540681" y="113565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30">
                  <a:moveTo>
                    <a:pt x="4" y="189074"/>
                  </a:moveTo>
                  <a:lnTo>
                    <a:pt x="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526126" y="1112365"/>
              <a:ext cx="29209" cy="39370"/>
            </a:xfrm>
            <a:custGeom>
              <a:avLst/>
              <a:gdLst/>
              <a:ahLst/>
              <a:cxnLst/>
              <a:rect l="l" t="t" r="r" b="b"/>
              <a:pathLst>
                <a:path w="29210" h="39369">
                  <a:moveTo>
                    <a:pt x="0" y="38816"/>
                  </a:moveTo>
                  <a:lnTo>
                    <a:pt x="7550" y="33358"/>
                  </a:lnTo>
                  <a:lnTo>
                    <a:pt x="14556" y="31538"/>
                  </a:lnTo>
                  <a:lnTo>
                    <a:pt x="21561" y="33357"/>
                  </a:lnTo>
                  <a:lnTo>
                    <a:pt x="29112" y="38816"/>
                  </a:lnTo>
                  <a:lnTo>
                    <a:pt x="23426" y="29203"/>
                  </a:lnTo>
                  <a:lnTo>
                    <a:pt x="19286" y="18680"/>
                  </a:lnTo>
                  <a:lnTo>
                    <a:pt x="16420" y="8521"/>
                  </a:lnTo>
                  <a:lnTo>
                    <a:pt x="14555" y="0"/>
                  </a:lnTo>
                  <a:lnTo>
                    <a:pt x="12690" y="8521"/>
                  </a:lnTo>
                  <a:lnTo>
                    <a:pt x="9825" y="18680"/>
                  </a:lnTo>
                  <a:lnTo>
                    <a:pt x="5685" y="29203"/>
                  </a:lnTo>
                  <a:lnTo>
                    <a:pt x="0" y="38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376197" y="2098738"/>
              <a:ext cx="118110" cy="302895"/>
            </a:xfrm>
            <a:custGeom>
              <a:avLst/>
              <a:gdLst/>
              <a:ahLst/>
              <a:cxnLst/>
              <a:rect l="l" t="t" r="r" b="b"/>
              <a:pathLst>
                <a:path w="118110" h="302894">
                  <a:moveTo>
                    <a:pt x="117804" y="302716"/>
                  </a:moveTo>
                  <a:lnTo>
                    <a:pt x="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367751" y="2077034"/>
              <a:ext cx="27940" cy="41910"/>
            </a:xfrm>
            <a:custGeom>
              <a:avLst/>
              <a:gdLst/>
              <a:ahLst/>
              <a:cxnLst/>
              <a:rect l="l" t="t" r="r" b="b"/>
              <a:pathLst>
                <a:path w="27939" h="41910">
                  <a:moveTo>
                    <a:pt x="511" y="41452"/>
                  </a:moveTo>
                  <a:lnTo>
                    <a:pt x="5569" y="33626"/>
                  </a:lnTo>
                  <a:lnTo>
                    <a:pt x="11437" y="29390"/>
                  </a:lnTo>
                  <a:lnTo>
                    <a:pt x="18625" y="28545"/>
                  </a:lnTo>
                  <a:lnTo>
                    <a:pt x="27641" y="30894"/>
                  </a:lnTo>
                  <a:lnTo>
                    <a:pt x="18856" y="23997"/>
                  </a:lnTo>
                  <a:lnTo>
                    <a:pt x="11183" y="15692"/>
                  </a:lnTo>
                  <a:lnTo>
                    <a:pt x="4828" y="7264"/>
                  </a:lnTo>
                  <a:lnTo>
                    <a:pt x="0" y="0"/>
                  </a:lnTo>
                  <a:lnTo>
                    <a:pt x="1352" y="8617"/>
                  </a:lnTo>
                  <a:lnTo>
                    <a:pt x="2365" y="19123"/>
                  </a:lnTo>
                  <a:lnTo>
                    <a:pt x="2324" y="30431"/>
                  </a:lnTo>
                  <a:lnTo>
                    <a:pt x="511" y="414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588799" y="2098635"/>
              <a:ext cx="122555" cy="303530"/>
            </a:xfrm>
            <a:custGeom>
              <a:avLst/>
              <a:gdLst/>
              <a:ahLst/>
              <a:cxnLst/>
              <a:rect l="l" t="t" r="r" b="b"/>
              <a:pathLst>
                <a:path w="122554" h="303530">
                  <a:moveTo>
                    <a:pt x="0" y="303384"/>
                  </a:moveTo>
                  <a:lnTo>
                    <a:pt x="122295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691789" y="2077034"/>
              <a:ext cx="28575" cy="41910"/>
            </a:xfrm>
            <a:custGeom>
              <a:avLst/>
              <a:gdLst/>
              <a:ahLst/>
              <a:cxnLst/>
              <a:rect l="l" t="t" r="r" b="b"/>
              <a:pathLst>
                <a:path w="28575" h="41910">
                  <a:moveTo>
                    <a:pt x="0" y="30559"/>
                  </a:moveTo>
                  <a:lnTo>
                    <a:pt x="9044" y="28319"/>
                  </a:lnTo>
                  <a:lnTo>
                    <a:pt x="16221" y="29251"/>
                  </a:lnTo>
                  <a:lnTo>
                    <a:pt x="22038" y="33557"/>
                  </a:lnTo>
                  <a:lnTo>
                    <a:pt x="27001" y="41443"/>
                  </a:lnTo>
                  <a:lnTo>
                    <a:pt x="25321" y="30401"/>
                  </a:lnTo>
                  <a:lnTo>
                    <a:pt x="25416" y="19094"/>
                  </a:lnTo>
                  <a:lnTo>
                    <a:pt x="26556" y="8600"/>
                  </a:lnTo>
                  <a:lnTo>
                    <a:pt x="28012" y="0"/>
                  </a:lnTo>
                  <a:lnTo>
                    <a:pt x="23097" y="7206"/>
                  </a:lnTo>
                  <a:lnTo>
                    <a:pt x="16641" y="15557"/>
                  </a:lnTo>
                  <a:lnTo>
                    <a:pt x="8867" y="23769"/>
                  </a:lnTo>
                  <a:lnTo>
                    <a:pt x="0" y="305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918619" y="1471667"/>
              <a:ext cx="490855" cy="140970"/>
            </a:xfrm>
            <a:custGeom>
              <a:avLst/>
              <a:gdLst/>
              <a:ahLst/>
              <a:cxnLst/>
              <a:rect l="l" t="t" r="r" b="b"/>
              <a:pathLst>
                <a:path w="490854" h="140969">
                  <a:moveTo>
                    <a:pt x="0" y="140864"/>
                  </a:moveTo>
                  <a:lnTo>
                    <a:pt x="490504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390182" y="1461962"/>
              <a:ext cx="41910" cy="28575"/>
            </a:xfrm>
            <a:custGeom>
              <a:avLst/>
              <a:gdLst/>
              <a:ahLst/>
              <a:cxnLst/>
              <a:rect l="l" t="t" r="r" b="b"/>
              <a:pathLst>
                <a:path w="41910" h="28575">
                  <a:moveTo>
                    <a:pt x="0" y="0"/>
                  </a:moveTo>
                  <a:lnTo>
                    <a:pt x="7330" y="5751"/>
                  </a:lnTo>
                  <a:lnTo>
                    <a:pt x="11012" y="11981"/>
                  </a:lnTo>
                  <a:lnTo>
                    <a:pt x="11197" y="19216"/>
                  </a:lnTo>
                  <a:lnTo>
                    <a:pt x="8035" y="27981"/>
                  </a:lnTo>
                  <a:lnTo>
                    <a:pt x="15705" y="19862"/>
                  </a:lnTo>
                  <a:lnTo>
                    <a:pt x="24676" y="12979"/>
                  </a:lnTo>
                  <a:lnTo>
                    <a:pt x="33650" y="7421"/>
                  </a:lnTo>
                  <a:lnTo>
                    <a:pt x="41325" y="3276"/>
                  </a:lnTo>
                  <a:lnTo>
                    <a:pt x="32620" y="3836"/>
                  </a:lnTo>
                  <a:lnTo>
                    <a:pt x="22065" y="3886"/>
                  </a:lnTo>
                  <a:lnTo>
                    <a:pt x="10809" y="28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595271" y="1564582"/>
              <a:ext cx="123189" cy="294640"/>
            </a:xfrm>
            <a:custGeom>
              <a:avLst/>
              <a:gdLst/>
              <a:ahLst/>
              <a:cxnLst/>
              <a:rect l="l" t="t" r="r" b="b"/>
              <a:pathLst>
                <a:path w="123189" h="294639">
                  <a:moveTo>
                    <a:pt x="122903" y="294087"/>
                  </a:moveTo>
                  <a:lnTo>
                    <a:pt x="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586291" y="1543094"/>
              <a:ext cx="28575" cy="41910"/>
            </a:xfrm>
            <a:custGeom>
              <a:avLst/>
              <a:gdLst/>
              <a:ahLst/>
              <a:cxnLst/>
              <a:rect l="l" t="t" r="r" b="b"/>
              <a:pathLst>
                <a:path w="28575" h="41909">
                  <a:moveTo>
                    <a:pt x="1536" y="41426"/>
                  </a:moveTo>
                  <a:lnTo>
                    <a:pt x="6398" y="33478"/>
                  </a:lnTo>
                  <a:lnTo>
                    <a:pt x="12160" y="29098"/>
                  </a:lnTo>
                  <a:lnTo>
                    <a:pt x="19325" y="28076"/>
                  </a:lnTo>
                  <a:lnTo>
                    <a:pt x="28397" y="30201"/>
                  </a:lnTo>
                  <a:lnTo>
                    <a:pt x="19444" y="23524"/>
                  </a:lnTo>
                  <a:lnTo>
                    <a:pt x="11567" y="15411"/>
                  </a:lnTo>
                  <a:lnTo>
                    <a:pt x="5006" y="7143"/>
                  </a:lnTo>
                  <a:lnTo>
                    <a:pt x="0" y="0"/>
                  </a:lnTo>
                  <a:lnTo>
                    <a:pt x="1564" y="8581"/>
                  </a:lnTo>
                  <a:lnTo>
                    <a:pt x="2838" y="19059"/>
                  </a:lnTo>
                  <a:lnTo>
                    <a:pt x="3076" y="30364"/>
                  </a:lnTo>
                  <a:lnTo>
                    <a:pt x="1536" y="41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4651416" y="1622543"/>
            <a:ext cx="153670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700" spc="15" dirty="0">
                <a:latin typeface="Tahoma"/>
                <a:cs typeface="Tahoma"/>
              </a:rPr>
              <a:t>Γ</a:t>
            </a:r>
            <a:r>
              <a:rPr sz="600" i="1" spc="22" baseline="-13888" dirty="0">
                <a:latin typeface="Arial"/>
                <a:cs typeface="Arial"/>
              </a:rPr>
              <a:t>u</a:t>
            </a:r>
            <a:endParaRPr sz="600" baseline="-13888">
              <a:latin typeface="Arial"/>
              <a:cs typeface="Arial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4366150" y="1543094"/>
            <a:ext cx="130810" cy="318770"/>
            <a:chOff x="4366150" y="1543094"/>
            <a:chExt cx="130810" cy="318770"/>
          </a:xfrm>
        </p:grpSpPr>
        <p:sp>
          <p:nvSpPr>
            <p:cNvPr id="109" name="object 109"/>
            <p:cNvSpPr/>
            <p:nvPr/>
          </p:nvSpPr>
          <p:spPr>
            <a:xfrm>
              <a:off x="4369325" y="1564692"/>
              <a:ext cx="118745" cy="294005"/>
            </a:xfrm>
            <a:custGeom>
              <a:avLst/>
              <a:gdLst/>
              <a:ahLst/>
              <a:cxnLst/>
              <a:rect l="l" t="t" r="r" b="b"/>
              <a:pathLst>
                <a:path w="118745" h="294005">
                  <a:moveTo>
                    <a:pt x="0" y="293977"/>
                  </a:moveTo>
                  <a:lnTo>
                    <a:pt x="118620" y="0"/>
                  </a:lnTo>
                </a:path>
              </a:pathLst>
            </a:custGeom>
            <a:ln w="5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68637" y="1543094"/>
              <a:ext cx="28575" cy="41910"/>
            </a:xfrm>
            <a:custGeom>
              <a:avLst/>
              <a:gdLst/>
              <a:ahLst/>
              <a:cxnLst/>
              <a:rect l="l" t="t" r="r" b="b"/>
              <a:pathLst>
                <a:path w="28575" h="41909">
                  <a:moveTo>
                    <a:pt x="0" y="30550"/>
                  </a:moveTo>
                  <a:lnTo>
                    <a:pt x="9045" y="28313"/>
                  </a:lnTo>
                  <a:lnTo>
                    <a:pt x="16222" y="29247"/>
                  </a:lnTo>
                  <a:lnTo>
                    <a:pt x="22037" y="33556"/>
                  </a:lnTo>
                  <a:lnTo>
                    <a:pt x="26997" y="41443"/>
                  </a:lnTo>
                  <a:lnTo>
                    <a:pt x="25321" y="30401"/>
                  </a:lnTo>
                  <a:lnTo>
                    <a:pt x="25420" y="19093"/>
                  </a:lnTo>
                  <a:lnTo>
                    <a:pt x="26564" y="8600"/>
                  </a:lnTo>
                  <a:lnTo>
                    <a:pt x="28023" y="0"/>
                  </a:lnTo>
                  <a:lnTo>
                    <a:pt x="23105" y="7204"/>
                  </a:lnTo>
                  <a:lnTo>
                    <a:pt x="16646" y="15553"/>
                  </a:lnTo>
                  <a:lnTo>
                    <a:pt x="8870" y="23763"/>
                  </a:lnTo>
                  <a:lnTo>
                    <a:pt x="0" y="30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4190776" y="1599667"/>
            <a:ext cx="239395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i="1" spc="-450" baseline="-23148" dirty="0">
                <a:latin typeface="Arial"/>
                <a:cs typeface="Arial"/>
              </a:rPr>
              <a:t>c</a:t>
            </a:r>
            <a:r>
              <a:rPr sz="1050" spc="-60" baseline="-19841" dirty="0">
                <a:latin typeface="Tahoma"/>
                <a:cs typeface="Tahoma"/>
              </a:rPr>
              <a:t>˜</a:t>
            </a:r>
            <a:r>
              <a:rPr sz="450" i="1" spc="20" dirty="0">
                <a:latin typeface="Verdana"/>
                <a:cs typeface="Verdana"/>
              </a:rPr>
              <a:t>&lt;</a:t>
            </a:r>
            <a:r>
              <a:rPr sz="400" i="1" spc="5" dirty="0">
                <a:latin typeface="Arial"/>
                <a:cs typeface="Arial"/>
              </a:rPr>
              <a:t>t</a:t>
            </a:r>
            <a:r>
              <a:rPr sz="400" i="1" spc="-75" dirty="0">
                <a:latin typeface="Arial"/>
                <a:cs typeface="Arial"/>
              </a:rPr>
              <a:t> </a:t>
            </a:r>
            <a:r>
              <a:rPr sz="450" i="1" spc="20" dirty="0">
                <a:latin typeface="Verdana"/>
                <a:cs typeface="Verdana"/>
              </a:rPr>
              <a:t>&gt;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4133768" y="1250090"/>
            <a:ext cx="814069" cy="901700"/>
          </a:xfrm>
          <a:custGeom>
            <a:avLst/>
            <a:gdLst/>
            <a:ahLst/>
            <a:cxnLst/>
            <a:rect l="l" t="t" r="r" b="b"/>
            <a:pathLst>
              <a:path w="814070" h="901700">
                <a:moveTo>
                  <a:pt x="0" y="901606"/>
                </a:moveTo>
                <a:lnTo>
                  <a:pt x="813821" y="901606"/>
                </a:lnTo>
                <a:lnTo>
                  <a:pt x="813821" y="0"/>
                </a:lnTo>
                <a:lnTo>
                  <a:pt x="0" y="0"/>
                </a:lnTo>
                <a:lnTo>
                  <a:pt x="0" y="90160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18294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/>
              <a:t>I</a:t>
            </a:r>
            <a:r>
              <a:rPr cap="small" spc="180" dirty="0"/>
              <a:t>n</a:t>
            </a:r>
            <a:r>
              <a:rPr spc="180" dirty="0"/>
              <a:t> </a:t>
            </a:r>
            <a:r>
              <a:rPr spc="-120" dirty="0"/>
              <a:t> </a:t>
            </a:r>
            <a:r>
              <a:rPr spc="520" dirty="0"/>
              <a:t>T</a:t>
            </a:r>
            <a:r>
              <a:rPr cap="small" spc="185" dirty="0"/>
              <a:t>his</a:t>
            </a:r>
            <a:r>
              <a:rPr dirty="0"/>
              <a:t> </a:t>
            </a:r>
            <a:r>
              <a:rPr spc="-120" dirty="0"/>
              <a:t> </a:t>
            </a:r>
            <a:r>
              <a:rPr spc="270" dirty="0"/>
              <a:t>S</a:t>
            </a:r>
            <a:r>
              <a:rPr cap="small" spc="250" dirty="0"/>
              <a:t>egment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730567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73423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1023899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10275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317243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32092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61058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61425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903933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90760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49" y="219726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220094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49" y="2490609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49429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49" y="278395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78762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EAEAF7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029" y="591696"/>
            <a:ext cx="3757295" cy="23723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S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</a:t>
            </a:r>
            <a:r>
              <a:rPr sz="1400" spc="17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q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uence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6" action="ppaction://hlinksldjump"/>
              </a:rPr>
              <a:t>earning</a:t>
            </a:r>
            <a:endParaRPr sz="1400">
              <a:latin typeface="Calibri"/>
              <a:cs typeface="Calibri"/>
            </a:endParaRPr>
          </a:p>
          <a:p>
            <a:pPr marL="12700" marR="397510">
              <a:lnSpc>
                <a:spcPct val="137500"/>
              </a:lnSpc>
            </a:pP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ecurrent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et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w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ork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26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(RNN)</a:t>
            </a:r>
            <a:r>
              <a:rPr sz="1400" spc="12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T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ypes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of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8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2146935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earning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9" action="ppaction://hlinksldjump"/>
              </a:rPr>
              <a:t>RNN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</a:t>
            </a:r>
            <a:r>
              <a:rPr sz="1400" cap="small" spc="17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ssues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cap="small" spc="16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in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10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37500"/>
              </a:lnSpc>
            </a:pP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L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ong</a:t>
            </a:r>
            <a:r>
              <a:rPr sz="1400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ho</a:t>
            </a:r>
            <a:r>
              <a:rPr sz="1400" cap="small" spc="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T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erm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cap="small" spc="19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em</a:t>
            </a:r>
            <a:r>
              <a:rPr sz="1400" cap="small" spc="18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</a:t>
            </a:r>
            <a:r>
              <a:rPr sz="1400" cap="small" spc="17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r</a:t>
            </a:r>
            <a:r>
              <a:rPr sz="1400" cap="small" spc="3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y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3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(LST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M</a:t>
            </a:r>
            <a:r>
              <a:rPr sz="1400" spc="20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)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G</a:t>
            </a:r>
            <a:r>
              <a:rPr sz="1400" cap="small" spc="1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ted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ecurrent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nit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9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(G</a:t>
            </a:r>
            <a:r>
              <a:rPr sz="1400" spc="29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U)</a:t>
            </a:r>
            <a:r>
              <a:rPr sz="1400" spc="11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340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B</a:t>
            </a:r>
            <a:r>
              <a:rPr sz="1400" cap="small" spc="220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idirectional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300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RNN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314706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00" dirty="0"/>
              <a:t>B</a:t>
            </a:r>
            <a:r>
              <a:rPr cap="small" spc="250" dirty="0"/>
              <a:t>idirectional</a:t>
            </a:r>
            <a:r>
              <a:rPr spc="250" dirty="0"/>
              <a:t> </a:t>
            </a:r>
            <a:r>
              <a:rPr spc="-120" dirty="0"/>
              <a:t> </a:t>
            </a:r>
            <a:r>
              <a:rPr spc="350" dirty="0"/>
              <a:t>RNN</a:t>
            </a:r>
            <a:r>
              <a:rPr dirty="0"/>
              <a:t> </a:t>
            </a:r>
            <a:r>
              <a:rPr spc="-120" dirty="0"/>
              <a:t> </a:t>
            </a:r>
            <a:r>
              <a:rPr spc="320" dirty="0"/>
              <a:t>(BRNN)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1124711"/>
            <a:ext cx="69850" cy="955040"/>
            <a:chOff x="513702" y="1124711"/>
            <a:chExt cx="69850" cy="9550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124711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46123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567548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788972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010384"/>
              <a:ext cx="69291" cy="692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44626" y="989735"/>
            <a:ext cx="2651760" cy="1499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46075">
              <a:lnSpc>
                <a:spcPct val="138400"/>
              </a:lnSpc>
              <a:spcBef>
                <a:spcPts val="95"/>
              </a:spcBef>
            </a:pPr>
            <a:r>
              <a:rPr sz="1050" spc="5" dirty="0">
                <a:latin typeface="Microsoft Sans Serif"/>
                <a:cs typeface="Microsoft Sans Serif"/>
              </a:rPr>
              <a:t>Forward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and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backward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connections. </a:t>
            </a:r>
            <a:r>
              <a:rPr sz="1050" spc="10" dirty="0">
                <a:latin typeface="Microsoft Sans Serif"/>
                <a:cs typeface="Microsoft Sans Serif"/>
              </a:rPr>
              <a:t> The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blocks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can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be</a:t>
            </a:r>
            <a:r>
              <a:rPr sz="1050" spc="15" dirty="0">
                <a:latin typeface="Microsoft Sans Serif"/>
                <a:cs typeface="Microsoft Sans Serif"/>
              </a:rPr>
              <a:t> RNN, </a:t>
            </a:r>
            <a:r>
              <a:rPr sz="1050" spc="-10" dirty="0">
                <a:latin typeface="Microsoft Sans Serif"/>
                <a:cs typeface="Microsoft Sans Serif"/>
              </a:rPr>
              <a:t>GRU,</a:t>
            </a:r>
            <a:r>
              <a:rPr sz="1050" spc="15" dirty="0">
                <a:latin typeface="Microsoft Sans Serif"/>
                <a:cs typeface="Microsoft Sans Serif"/>
              </a:rPr>
              <a:t> LSTM.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Mostly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used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the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-35" dirty="0">
                <a:latin typeface="Microsoft Sans Serif"/>
                <a:cs typeface="Microsoft Sans Serif"/>
              </a:rPr>
              <a:t>NLP.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50" spc="5" dirty="0">
                <a:latin typeface="Microsoft Sans Serif"/>
                <a:cs typeface="Microsoft Sans Serif"/>
              </a:rPr>
              <a:t>Acyclic</a:t>
            </a:r>
            <a:r>
              <a:rPr sz="1050" spc="-1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graph</a:t>
            </a:r>
            <a:endParaRPr sz="1050">
              <a:latin typeface="Microsoft Sans Serif"/>
              <a:cs typeface="Microsoft Sans Serif"/>
            </a:endParaRPr>
          </a:p>
          <a:p>
            <a:pPr marL="12700" marR="579120">
              <a:lnSpc>
                <a:spcPct val="114599"/>
              </a:lnSpc>
              <a:spcBef>
                <a:spcPts val="300"/>
              </a:spcBef>
            </a:pPr>
            <a:r>
              <a:rPr sz="1050" spc="10" dirty="0">
                <a:latin typeface="Microsoft Sans Serif"/>
                <a:cs typeface="Microsoft Sans Serif"/>
              </a:rPr>
              <a:t>Example:</a:t>
            </a:r>
            <a:r>
              <a:rPr sz="1050" spc="70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Name</a:t>
            </a:r>
            <a:r>
              <a:rPr sz="1050" spc="1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entity</a:t>
            </a:r>
            <a:r>
              <a:rPr sz="1050" spc="10" dirty="0">
                <a:latin typeface="Microsoft Sans Serif"/>
                <a:cs typeface="Microsoft Sans Serif"/>
              </a:rPr>
              <a:t> recognition </a:t>
            </a:r>
            <a:r>
              <a:rPr sz="1050" spc="-270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He </a:t>
            </a:r>
            <a:r>
              <a:rPr sz="1050" spc="10" dirty="0">
                <a:latin typeface="Microsoft Sans Serif"/>
                <a:cs typeface="Microsoft Sans Serif"/>
              </a:rPr>
              <a:t>said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-10" dirty="0">
                <a:latin typeface="Microsoft Sans Serif"/>
                <a:cs typeface="Microsoft Sans Serif"/>
              </a:rPr>
              <a:t>“Teddy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bear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-10" dirty="0">
                <a:latin typeface="Microsoft Sans Serif"/>
                <a:cs typeface="Microsoft Sans Serif"/>
              </a:rPr>
              <a:t>soft.”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50" spc="15" dirty="0">
                <a:latin typeface="Microsoft Sans Serif"/>
                <a:cs typeface="Microsoft Sans Serif"/>
              </a:rPr>
              <a:t>He </a:t>
            </a:r>
            <a:r>
              <a:rPr sz="1050" spc="10" dirty="0">
                <a:latin typeface="Microsoft Sans Serif"/>
                <a:cs typeface="Microsoft Sans Serif"/>
              </a:rPr>
              <a:t>said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-10" dirty="0">
                <a:latin typeface="Microsoft Sans Serif"/>
                <a:cs typeface="Microsoft Sans Serif"/>
              </a:rPr>
              <a:t>“Teddy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Roosevelt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was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President.”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91536"/>
            <a:ext cx="229489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60" dirty="0"/>
              <a:t>BRNN </a:t>
            </a:r>
            <a:r>
              <a:rPr spc="-120" dirty="0"/>
              <a:t> </a:t>
            </a:r>
            <a:r>
              <a:rPr cap="small" spc="295" dirty="0"/>
              <a:t>a</a:t>
            </a:r>
            <a:r>
              <a:rPr cap="small" spc="235" dirty="0"/>
              <a:t>r</a:t>
            </a:r>
            <a:r>
              <a:rPr cap="small" spc="280" dirty="0"/>
              <a:t>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3113" y="1316121"/>
            <a:ext cx="467359" cy="360045"/>
          </a:xfrm>
          <a:prstGeom prst="rect">
            <a:avLst/>
          </a:prstGeom>
          <a:ln w="10122">
            <a:solidFill>
              <a:srgbClr val="0000FF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285"/>
              </a:spcBef>
            </a:pPr>
            <a:r>
              <a:rPr sz="1800" spc="-1807" baseline="6944" dirty="0">
                <a:latin typeface="MS UI Gothic"/>
                <a:cs typeface="MS UI Gothic"/>
              </a:rPr>
              <a:t>→</a:t>
            </a:r>
            <a:r>
              <a:rPr sz="1800" spc="-765" baseline="6944" dirty="0">
                <a:latin typeface="MS UI Gothic"/>
                <a:cs typeface="MS UI Gothic"/>
              </a:rPr>
              <a:t>−</a:t>
            </a:r>
            <a:r>
              <a:rPr sz="1575" i="1" spc="15" baseline="-23809" dirty="0">
                <a:latin typeface="Arial"/>
                <a:cs typeface="Arial"/>
              </a:rPr>
              <a:t>a</a:t>
            </a:r>
            <a:r>
              <a:rPr sz="1575" i="1" spc="7" baseline="-23809" dirty="0"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spc="5" dirty="0">
                <a:latin typeface="Microsoft Sans Serif"/>
                <a:cs typeface="Microsoft Sans Serif"/>
              </a:rPr>
              <a:t>1</a:t>
            </a:r>
            <a:r>
              <a:rPr sz="800" i="1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60437" y="1316121"/>
            <a:ext cx="467359" cy="360045"/>
          </a:xfrm>
          <a:custGeom>
            <a:avLst/>
            <a:gdLst/>
            <a:ahLst/>
            <a:cxnLst/>
            <a:rect l="l" t="t" r="r" b="b"/>
            <a:pathLst>
              <a:path w="467360" h="360044">
                <a:moveTo>
                  <a:pt x="0" y="360004"/>
                </a:moveTo>
                <a:lnTo>
                  <a:pt x="467200" y="360004"/>
                </a:lnTo>
                <a:lnTo>
                  <a:pt x="467200" y="0"/>
                </a:lnTo>
                <a:lnTo>
                  <a:pt x="0" y="0"/>
                </a:lnTo>
                <a:lnTo>
                  <a:pt x="0" y="360004"/>
                </a:lnTo>
                <a:close/>
              </a:path>
            </a:pathLst>
          </a:custGeom>
          <a:ln w="10122">
            <a:solidFill>
              <a:srgbClr val="FF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67878" y="1340215"/>
            <a:ext cx="4464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410" baseline="6944" dirty="0">
                <a:latin typeface="MS UI Gothic"/>
                <a:cs typeface="MS UI Gothic"/>
              </a:rPr>
              <a:t>←</a:t>
            </a:r>
            <a:r>
              <a:rPr sz="1800" spc="-1162" baseline="6944" dirty="0">
                <a:latin typeface="MS UI Gothic"/>
                <a:cs typeface="MS UI Gothic"/>
              </a:rPr>
              <a:t>−</a:t>
            </a:r>
            <a:r>
              <a:rPr sz="1575" i="1" spc="15" baseline="-23809" dirty="0">
                <a:latin typeface="Arial"/>
                <a:cs typeface="Arial"/>
              </a:rPr>
              <a:t>a</a:t>
            </a:r>
            <a:r>
              <a:rPr sz="1575" i="1" spc="7" baseline="-23809" dirty="0"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spc="5" dirty="0">
                <a:latin typeface="Microsoft Sans Serif"/>
                <a:cs typeface="Microsoft Sans Serif"/>
              </a:rPr>
              <a:t>1</a:t>
            </a:r>
            <a:r>
              <a:rPr sz="800" i="1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17761" y="1316121"/>
            <a:ext cx="467359" cy="360045"/>
          </a:xfrm>
          <a:custGeom>
            <a:avLst/>
            <a:gdLst/>
            <a:ahLst/>
            <a:cxnLst/>
            <a:rect l="l" t="t" r="r" b="b"/>
            <a:pathLst>
              <a:path w="467360" h="360044">
                <a:moveTo>
                  <a:pt x="467200" y="0"/>
                </a:moveTo>
                <a:lnTo>
                  <a:pt x="0" y="0"/>
                </a:lnTo>
                <a:lnTo>
                  <a:pt x="0" y="360004"/>
                </a:lnTo>
                <a:lnTo>
                  <a:pt x="467200" y="360004"/>
                </a:lnTo>
                <a:lnTo>
                  <a:pt x="46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17761" y="1316121"/>
            <a:ext cx="467359" cy="360045"/>
          </a:xfrm>
          <a:prstGeom prst="rect">
            <a:avLst/>
          </a:prstGeom>
          <a:ln w="10122">
            <a:solidFill>
              <a:srgbClr val="0000FF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285"/>
              </a:spcBef>
            </a:pPr>
            <a:r>
              <a:rPr sz="1800" spc="-1807" baseline="6944" dirty="0">
                <a:latin typeface="MS UI Gothic"/>
                <a:cs typeface="MS UI Gothic"/>
              </a:rPr>
              <a:t>→</a:t>
            </a:r>
            <a:r>
              <a:rPr sz="1800" spc="-765" baseline="6944" dirty="0">
                <a:latin typeface="MS UI Gothic"/>
                <a:cs typeface="MS UI Gothic"/>
              </a:rPr>
              <a:t>−</a:t>
            </a:r>
            <a:r>
              <a:rPr sz="1575" i="1" spc="15" baseline="-23809" dirty="0">
                <a:latin typeface="Arial"/>
                <a:cs typeface="Arial"/>
              </a:rPr>
              <a:t>a</a:t>
            </a:r>
            <a:r>
              <a:rPr sz="1575" i="1" spc="7" baseline="-23809" dirty="0"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spc="5" dirty="0">
                <a:latin typeface="Microsoft Sans Serif"/>
                <a:cs typeface="Microsoft Sans Serif"/>
              </a:rPr>
              <a:t>2</a:t>
            </a:r>
            <a:r>
              <a:rPr sz="800" i="1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75086" y="1316121"/>
            <a:ext cx="467359" cy="360045"/>
          </a:xfrm>
          <a:custGeom>
            <a:avLst/>
            <a:gdLst/>
            <a:ahLst/>
            <a:cxnLst/>
            <a:rect l="l" t="t" r="r" b="b"/>
            <a:pathLst>
              <a:path w="467360" h="360044">
                <a:moveTo>
                  <a:pt x="467200" y="0"/>
                </a:moveTo>
                <a:lnTo>
                  <a:pt x="0" y="0"/>
                </a:lnTo>
                <a:lnTo>
                  <a:pt x="0" y="360004"/>
                </a:lnTo>
                <a:lnTo>
                  <a:pt x="467200" y="360004"/>
                </a:lnTo>
                <a:lnTo>
                  <a:pt x="46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75086" y="1316121"/>
            <a:ext cx="467359" cy="360045"/>
          </a:xfrm>
          <a:prstGeom prst="rect">
            <a:avLst/>
          </a:prstGeom>
          <a:ln w="10122">
            <a:solidFill>
              <a:srgbClr val="FF3333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285"/>
              </a:spcBef>
            </a:pPr>
            <a:r>
              <a:rPr sz="1800" spc="-1410" baseline="6944" dirty="0">
                <a:latin typeface="MS UI Gothic"/>
                <a:cs typeface="MS UI Gothic"/>
              </a:rPr>
              <a:t>←</a:t>
            </a:r>
            <a:r>
              <a:rPr sz="1800" spc="-1162" baseline="6944" dirty="0">
                <a:latin typeface="MS UI Gothic"/>
                <a:cs typeface="MS UI Gothic"/>
              </a:rPr>
              <a:t>−</a:t>
            </a:r>
            <a:r>
              <a:rPr sz="1575" i="1" spc="15" baseline="-23809" dirty="0">
                <a:latin typeface="Arial"/>
                <a:cs typeface="Arial"/>
              </a:rPr>
              <a:t>a</a:t>
            </a:r>
            <a:r>
              <a:rPr sz="1575" i="1" spc="7" baseline="-23809" dirty="0"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spc="5" dirty="0">
                <a:latin typeface="Microsoft Sans Serif"/>
                <a:cs typeface="Microsoft Sans Serif"/>
              </a:rPr>
              <a:t>2</a:t>
            </a:r>
            <a:r>
              <a:rPr sz="800" i="1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32410" y="1316121"/>
            <a:ext cx="467359" cy="360045"/>
          </a:xfrm>
          <a:custGeom>
            <a:avLst/>
            <a:gdLst/>
            <a:ahLst/>
            <a:cxnLst/>
            <a:rect l="l" t="t" r="r" b="b"/>
            <a:pathLst>
              <a:path w="467360" h="360044">
                <a:moveTo>
                  <a:pt x="0" y="360004"/>
                </a:moveTo>
                <a:lnTo>
                  <a:pt x="467200" y="360004"/>
                </a:lnTo>
                <a:lnTo>
                  <a:pt x="467200" y="0"/>
                </a:lnTo>
                <a:lnTo>
                  <a:pt x="0" y="0"/>
                </a:lnTo>
                <a:lnTo>
                  <a:pt x="0" y="360004"/>
                </a:lnTo>
                <a:close/>
              </a:path>
            </a:pathLst>
          </a:custGeom>
          <a:ln w="1012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39789" y="1340215"/>
            <a:ext cx="4464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807" baseline="6944" dirty="0">
                <a:latin typeface="MS UI Gothic"/>
                <a:cs typeface="MS UI Gothic"/>
              </a:rPr>
              <a:t>→</a:t>
            </a:r>
            <a:r>
              <a:rPr sz="1800" spc="-765" baseline="6944" dirty="0">
                <a:latin typeface="MS UI Gothic"/>
                <a:cs typeface="MS UI Gothic"/>
              </a:rPr>
              <a:t>−</a:t>
            </a:r>
            <a:r>
              <a:rPr sz="1575" i="1" spc="15" baseline="-23809" dirty="0">
                <a:latin typeface="Arial"/>
                <a:cs typeface="Arial"/>
              </a:rPr>
              <a:t>a</a:t>
            </a:r>
            <a:r>
              <a:rPr sz="1575" i="1" spc="7" baseline="-23809" dirty="0"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spc="5" dirty="0">
                <a:latin typeface="Microsoft Sans Serif"/>
                <a:cs typeface="Microsoft Sans Serif"/>
              </a:rPr>
              <a:t>3</a:t>
            </a:r>
            <a:r>
              <a:rPr sz="800" i="1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9735" y="1316121"/>
            <a:ext cx="467359" cy="360045"/>
          </a:xfrm>
          <a:prstGeom prst="rect">
            <a:avLst/>
          </a:prstGeom>
          <a:ln w="10122">
            <a:solidFill>
              <a:srgbClr val="FF3333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285"/>
              </a:spcBef>
            </a:pPr>
            <a:r>
              <a:rPr sz="1800" spc="-1410" baseline="6944" dirty="0">
                <a:latin typeface="MS UI Gothic"/>
                <a:cs typeface="MS UI Gothic"/>
              </a:rPr>
              <a:t>←</a:t>
            </a:r>
            <a:r>
              <a:rPr sz="1800" spc="-1162" baseline="6944" dirty="0">
                <a:latin typeface="MS UI Gothic"/>
                <a:cs typeface="MS UI Gothic"/>
              </a:rPr>
              <a:t>−</a:t>
            </a:r>
            <a:r>
              <a:rPr sz="1575" i="1" spc="15" baseline="-23809" dirty="0">
                <a:latin typeface="Arial"/>
                <a:cs typeface="Arial"/>
              </a:rPr>
              <a:t>a</a:t>
            </a:r>
            <a:r>
              <a:rPr sz="1575" i="1" spc="7" baseline="-23809" dirty="0"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spc="5" dirty="0">
                <a:latin typeface="Microsoft Sans Serif"/>
                <a:cs typeface="Microsoft Sans Serif"/>
              </a:rPr>
              <a:t>3</a:t>
            </a:r>
            <a:r>
              <a:rPr sz="800" i="1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6679" y="1896381"/>
            <a:ext cx="37528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75" i="1" spc="44" baseline="-23809" dirty="0">
                <a:latin typeface="Arial"/>
                <a:cs typeface="Arial"/>
              </a:rPr>
              <a:t>x</a:t>
            </a:r>
            <a:r>
              <a:rPr sz="800" i="1" spc="30" dirty="0">
                <a:latin typeface="Verdana"/>
                <a:cs typeface="Verdana"/>
              </a:rPr>
              <a:t>&lt;</a:t>
            </a:r>
            <a:r>
              <a:rPr sz="700" spc="30" dirty="0">
                <a:latin typeface="Microsoft Sans Serif"/>
                <a:cs typeface="Microsoft Sans Serif"/>
              </a:rPr>
              <a:t>1</a:t>
            </a:r>
            <a:r>
              <a:rPr sz="800" i="1" spc="30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82836" y="1896381"/>
            <a:ext cx="37528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75" i="1" spc="44" baseline="-23809" dirty="0">
                <a:latin typeface="Arial"/>
                <a:cs typeface="Arial"/>
              </a:rPr>
              <a:t>x</a:t>
            </a:r>
            <a:r>
              <a:rPr sz="800" i="1" spc="30" dirty="0">
                <a:latin typeface="Verdana"/>
                <a:cs typeface="Verdana"/>
              </a:rPr>
              <a:t>&lt;</a:t>
            </a:r>
            <a:r>
              <a:rPr sz="700" spc="30" dirty="0">
                <a:latin typeface="Microsoft Sans Serif"/>
                <a:cs typeface="Microsoft Sans Serif"/>
              </a:rPr>
              <a:t>2</a:t>
            </a:r>
            <a:r>
              <a:rPr sz="800" i="1" spc="30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8980" y="1896381"/>
            <a:ext cx="37528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75" i="1" spc="44" baseline="-23809" dirty="0">
                <a:latin typeface="Arial"/>
                <a:cs typeface="Arial"/>
              </a:rPr>
              <a:t>x</a:t>
            </a:r>
            <a:r>
              <a:rPr sz="800" i="1" spc="30" dirty="0">
                <a:latin typeface="Verdana"/>
                <a:cs typeface="Verdana"/>
              </a:rPr>
              <a:t>&lt;</a:t>
            </a:r>
            <a:r>
              <a:rPr sz="700" spc="30" dirty="0">
                <a:latin typeface="Microsoft Sans Serif"/>
                <a:cs typeface="Microsoft Sans Serif"/>
              </a:rPr>
              <a:t>3</a:t>
            </a:r>
            <a:r>
              <a:rPr sz="800" i="1" spc="30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26679" y="791646"/>
            <a:ext cx="37655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75" i="1" spc="44" baseline="-23809" dirty="0">
                <a:latin typeface="Arial"/>
                <a:cs typeface="Arial"/>
              </a:rPr>
              <a:t>y</a:t>
            </a:r>
            <a:r>
              <a:rPr sz="800" i="1" spc="30" dirty="0">
                <a:latin typeface="Verdana"/>
                <a:cs typeface="Verdana"/>
              </a:rPr>
              <a:t>&lt;</a:t>
            </a:r>
            <a:r>
              <a:rPr sz="700" spc="30" dirty="0">
                <a:latin typeface="Microsoft Sans Serif"/>
                <a:cs typeface="Microsoft Sans Serif"/>
              </a:rPr>
              <a:t>1</a:t>
            </a:r>
            <a:r>
              <a:rPr sz="800" i="1" spc="30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82836" y="791646"/>
            <a:ext cx="37655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75" i="1" spc="44" baseline="-23809" dirty="0">
                <a:latin typeface="Arial"/>
                <a:cs typeface="Arial"/>
              </a:rPr>
              <a:t>y</a:t>
            </a:r>
            <a:r>
              <a:rPr sz="800" i="1" spc="30" dirty="0">
                <a:latin typeface="Verdana"/>
                <a:cs typeface="Verdana"/>
              </a:rPr>
              <a:t>&lt;</a:t>
            </a:r>
            <a:r>
              <a:rPr sz="700" spc="30" dirty="0">
                <a:latin typeface="Microsoft Sans Serif"/>
                <a:cs typeface="Microsoft Sans Serif"/>
              </a:rPr>
              <a:t>2</a:t>
            </a:r>
            <a:r>
              <a:rPr sz="800" i="1" spc="30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8980" y="791646"/>
            <a:ext cx="37655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75" i="1" spc="44" baseline="-23809" dirty="0">
                <a:latin typeface="Arial"/>
                <a:cs typeface="Arial"/>
              </a:rPr>
              <a:t>y</a:t>
            </a:r>
            <a:r>
              <a:rPr sz="800" i="1" spc="30" dirty="0">
                <a:latin typeface="Verdana"/>
                <a:cs typeface="Verdana"/>
              </a:rPr>
              <a:t>&lt;</a:t>
            </a:r>
            <a:r>
              <a:rPr sz="700" spc="30" dirty="0">
                <a:latin typeface="Microsoft Sans Serif"/>
                <a:cs typeface="Microsoft Sans Serif"/>
              </a:rPr>
              <a:t>2</a:t>
            </a:r>
            <a:r>
              <a:rPr sz="800" i="1" spc="30" dirty="0">
                <a:latin typeface="Verdana"/>
                <a:cs typeface="Verdana"/>
              </a:rPr>
              <a:t>&gt;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39621" y="1073390"/>
            <a:ext cx="3101975" cy="865505"/>
            <a:chOff x="1339621" y="1073390"/>
            <a:chExt cx="3101975" cy="865505"/>
          </a:xfrm>
        </p:grpSpPr>
        <p:sp>
          <p:nvSpPr>
            <p:cNvPr id="20" name="object 20"/>
            <p:cNvSpPr/>
            <p:nvPr/>
          </p:nvSpPr>
          <p:spPr>
            <a:xfrm>
              <a:off x="1475374" y="1235384"/>
              <a:ext cx="829944" cy="123189"/>
            </a:xfrm>
            <a:custGeom>
              <a:avLst/>
              <a:gdLst/>
              <a:ahLst/>
              <a:cxnLst/>
              <a:rect l="l" t="t" r="r" b="b"/>
              <a:pathLst>
                <a:path w="829944" h="123190">
                  <a:moveTo>
                    <a:pt x="0" y="123011"/>
                  </a:moveTo>
                  <a:lnTo>
                    <a:pt x="47031" y="97310"/>
                  </a:lnTo>
                  <a:lnTo>
                    <a:pt x="93873" y="74629"/>
                  </a:lnTo>
                  <a:lnTo>
                    <a:pt x="140539" y="54962"/>
                  </a:lnTo>
                  <a:lnTo>
                    <a:pt x="187046" y="38305"/>
                  </a:lnTo>
                  <a:lnTo>
                    <a:pt x="233407" y="24652"/>
                  </a:lnTo>
                  <a:lnTo>
                    <a:pt x="279637" y="14000"/>
                  </a:lnTo>
                  <a:lnTo>
                    <a:pt x="325752" y="6344"/>
                  </a:lnTo>
                  <a:lnTo>
                    <a:pt x="371764" y="1678"/>
                  </a:lnTo>
                  <a:lnTo>
                    <a:pt x="417690" y="0"/>
                  </a:lnTo>
                  <a:lnTo>
                    <a:pt x="463544" y="1303"/>
                  </a:lnTo>
                  <a:lnTo>
                    <a:pt x="509341" y="5583"/>
                  </a:lnTo>
                  <a:lnTo>
                    <a:pt x="555095" y="12836"/>
                  </a:lnTo>
                  <a:lnTo>
                    <a:pt x="600821" y="23056"/>
                  </a:lnTo>
                  <a:lnTo>
                    <a:pt x="646534" y="36241"/>
                  </a:lnTo>
                  <a:lnTo>
                    <a:pt x="692248" y="52384"/>
                  </a:lnTo>
                  <a:lnTo>
                    <a:pt x="737979" y="71481"/>
                  </a:lnTo>
                  <a:lnTo>
                    <a:pt x="783740" y="93527"/>
                  </a:lnTo>
                  <a:lnTo>
                    <a:pt x="829546" y="118519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74669" y="1321244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6315" y="0"/>
                  </a:moveTo>
                  <a:lnTo>
                    <a:pt x="25632" y="8893"/>
                  </a:lnTo>
                  <a:lnTo>
                    <a:pt x="27809" y="19617"/>
                  </a:lnTo>
                  <a:lnTo>
                    <a:pt x="31292" y="29313"/>
                  </a:lnTo>
                  <a:lnTo>
                    <a:pt x="34524" y="35126"/>
                  </a:lnTo>
                  <a:lnTo>
                    <a:pt x="27874" y="35233"/>
                  </a:lnTo>
                  <a:lnTo>
                    <a:pt x="17735" y="37066"/>
                  </a:lnTo>
                  <a:lnTo>
                    <a:pt x="7360" y="40542"/>
                  </a:lnTo>
                  <a:lnTo>
                    <a:pt x="0" y="45581"/>
                  </a:lnTo>
                </a:path>
              </a:pathLst>
            </a:custGeom>
            <a:ln w="8097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0023" y="1235384"/>
              <a:ext cx="829944" cy="123189"/>
            </a:xfrm>
            <a:custGeom>
              <a:avLst/>
              <a:gdLst/>
              <a:ahLst/>
              <a:cxnLst/>
              <a:rect l="l" t="t" r="r" b="b"/>
              <a:pathLst>
                <a:path w="829945" h="123190">
                  <a:moveTo>
                    <a:pt x="0" y="123011"/>
                  </a:moveTo>
                  <a:lnTo>
                    <a:pt x="47031" y="97310"/>
                  </a:lnTo>
                  <a:lnTo>
                    <a:pt x="93872" y="74629"/>
                  </a:lnTo>
                  <a:lnTo>
                    <a:pt x="140539" y="54962"/>
                  </a:lnTo>
                  <a:lnTo>
                    <a:pt x="187046" y="38305"/>
                  </a:lnTo>
                  <a:lnTo>
                    <a:pt x="233407" y="24652"/>
                  </a:lnTo>
                  <a:lnTo>
                    <a:pt x="279637" y="14000"/>
                  </a:lnTo>
                  <a:lnTo>
                    <a:pt x="325751" y="6344"/>
                  </a:lnTo>
                  <a:lnTo>
                    <a:pt x="371764" y="1678"/>
                  </a:lnTo>
                  <a:lnTo>
                    <a:pt x="417690" y="0"/>
                  </a:lnTo>
                  <a:lnTo>
                    <a:pt x="463544" y="1303"/>
                  </a:lnTo>
                  <a:lnTo>
                    <a:pt x="509341" y="5583"/>
                  </a:lnTo>
                  <a:lnTo>
                    <a:pt x="555095" y="12836"/>
                  </a:lnTo>
                  <a:lnTo>
                    <a:pt x="600821" y="23056"/>
                  </a:lnTo>
                  <a:lnTo>
                    <a:pt x="646534" y="36241"/>
                  </a:lnTo>
                  <a:lnTo>
                    <a:pt x="692248" y="52384"/>
                  </a:lnTo>
                  <a:lnTo>
                    <a:pt x="737978" y="71481"/>
                  </a:lnTo>
                  <a:lnTo>
                    <a:pt x="783740" y="93527"/>
                  </a:lnTo>
                  <a:lnTo>
                    <a:pt x="829546" y="118519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89318" y="1321244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6315" y="0"/>
                  </a:moveTo>
                  <a:lnTo>
                    <a:pt x="25632" y="8893"/>
                  </a:lnTo>
                  <a:lnTo>
                    <a:pt x="27809" y="19617"/>
                  </a:lnTo>
                  <a:lnTo>
                    <a:pt x="31292" y="29313"/>
                  </a:lnTo>
                  <a:lnTo>
                    <a:pt x="34524" y="35126"/>
                  </a:lnTo>
                  <a:lnTo>
                    <a:pt x="27874" y="35233"/>
                  </a:lnTo>
                  <a:lnTo>
                    <a:pt x="17735" y="37066"/>
                  </a:lnTo>
                  <a:lnTo>
                    <a:pt x="7360" y="40542"/>
                  </a:lnTo>
                  <a:lnTo>
                    <a:pt x="0" y="45581"/>
                  </a:lnTo>
                </a:path>
              </a:pathLst>
            </a:custGeom>
            <a:ln w="8097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55127" y="1633851"/>
              <a:ext cx="829944" cy="123189"/>
            </a:xfrm>
            <a:custGeom>
              <a:avLst/>
              <a:gdLst/>
              <a:ahLst/>
              <a:cxnLst/>
              <a:rect l="l" t="t" r="r" b="b"/>
              <a:pathLst>
                <a:path w="829945" h="123189">
                  <a:moveTo>
                    <a:pt x="829546" y="0"/>
                  </a:moveTo>
                  <a:lnTo>
                    <a:pt x="782515" y="25700"/>
                  </a:lnTo>
                  <a:lnTo>
                    <a:pt x="735673" y="48381"/>
                  </a:lnTo>
                  <a:lnTo>
                    <a:pt x="689006" y="68048"/>
                  </a:lnTo>
                  <a:lnTo>
                    <a:pt x="642500" y="84705"/>
                  </a:lnTo>
                  <a:lnTo>
                    <a:pt x="596139" y="98358"/>
                  </a:lnTo>
                  <a:lnTo>
                    <a:pt x="549908" y="109010"/>
                  </a:lnTo>
                  <a:lnTo>
                    <a:pt x="503794" y="116666"/>
                  </a:lnTo>
                  <a:lnTo>
                    <a:pt x="457781" y="121332"/>
                  </a:lnTo>
                  <a:lnTo>
                    <a:pt x="411855" y="123011"/>
                  </a:lnTo>
                  <a:lnTo>
                    <a:pt x="366001" y="121708"/>
                  </a:lnTo>
                  <a:lnTo>
                    <a:pt x="320205" y="117427"/>
                  </a:lnTo>
                  <a:lnTo>
                    <a:pt x="274451" y="110174"/>
                  </a:lnTo>
                  <a:lnTo>
                    <a:pt x="228725" y="99954"/>
                  </a:lnTo>
                  <a:lnTo>
                    <a:pt x="183012" y="86769"/>
                  </a:lnTo>
                  <a:lnTo>
                    <a:pt x="137298" y="70626"/>
                  </a:lnTo>
                  <a:lnTo>
                    <a:pt x="91567" y="51529"/>
                  </a:lnTo>
                  <a:lnTo>
                    <a:pt x="45806" y="29483"/>
                  </a:lnTo>
                  <a:lnTo>
                    <a:pt x="0" y="4491"/>
                  </a:lnTo>
                </a:path>
              </a:pathLst>
            </a:custGeom>
            <a:ln w="10122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50854" y="162542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8208" y="45581"/>
                  </a:moveTo>
                  <a:lnTo>
                    <a:pt x="8891" y="36687"/>
                  </a:lnTo>
                  <a:lnTo>
                    <a:pt x="6714" y="25964"/>
                  </a:lnTo>
                  <a:lnTo>
                    <a:pt x="3231" y="16267"/>
                  </a:lnTo>
                  <a:lnTo>
                    <a:pt x="0" y="10455"/>
                  </a:lnTo>
                  <a:lnTo>
                    <a:pt x="6649" y="10347"/>
                  </a:lnTo>
                  <a:lnTo>
                    <a:pt x="16788" y="8515"/>
                  </a:lnTo>
                  <a:lnTo>
                    <a:pt x="27163" y="5038"/>
                  </a:lnTo>
                  <a:lnTo>
                    <a:pt x="34524" y="0"/>
                  </a:lnTo>
                </a:path>
              </a:pathLst>
            </a:custGeom>
            <a:ln w="8097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0478" y="1633851"/>
              <a:ext cx="829944" cy="123189"/>
            </a:xfrm>
            <a:custGeom>
              <a:avLst/>
              <a:gdLst/>
              <a:ahLst/>
              <a:cxnLst/>
              <a:rect l="l" t="t" r="r" b="b"/>
              <a:pathLst>
                <a:path w="829944" h="123189">
                  <a:moveTo>
                    <a:pt x="829546" y="0"/>
                  </a:moveTo>
                  <a:lnTo>
                    <a:pt x="782515" y="25700"/>
                  </a:lnTo>
                  <a:lnTo>
                    <a:pt x="735673" y="48381"/>
                  </a:lnTo>
                  <a:lnTo>
                    <a:pt x="689007" y="68048"/>
                  </a:lnTo>
                  <a:lnTo>
                    <a:pt x="642500" y="84705"/>
                  </a:lnTo>
                  <a:lnTo>
                    <a:pt x="596139" y="98358"/>
                  </a:lnTo>
                  <a:lnTo>
                    <a:pt x="549909" y="109010"/>
                  </a:lnTo>
                  <a:lnTo>
                    <a:pt x="503794" y="116666"/>
                  </a:lnTo>
                  <a:lnTo>
                    <a:pt x="457782" y="121332"/>
                  </a:lnTo>
                  <a:lnTo>
                    <a:pt x="411856" y="123011"/>
                  </a:lnTo>
                  <a:lnTo>
                    <a:pt x="366002" y="121708"/>
                  </a:lnTo>
                  <a:lnTo>
                    <a:pt x="320205" y="117427"/>
                  </a:lnTo>
                  <a:lnTo>
                    <a:pt x="274451" y="110174"/>
                  </a:lnTo>
                  <a:lnTo>
                    <a:pt x="228725" y="99954"/>
                  </a:lnTo>
                  <a:lnTo>
                    <a:pt x="183012" y="86769"/>
                  </a:lnTo>
                  <a:lnTo>
                    <a:pt x="137298" y="70626"/>
                  </a:lnTo>
                  <a:lnTo>
                    <a:pt x="91567" y="51529"/>
                  </a:lnTo>
                  <a:lnTo>
                    <a:pt x="45806" y="29483"/>
                  </a:lnTo>
                  <a:lnTo>
                    <a:pt x="0" y="4491"/>
                  </a:lnTo>
                </a:path>
              </a:pathLst>
            </a:custGeom>
            <a:ln w="10122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36205" y="162542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8208" y="45581"/>
                  </a:moveTo>
                  <a:lnTo>
                    <a:pt x="8891" y="36687"/>
                  </a:lnTo>
                  <a:lnTo>
                    <a:pt x="6714" y="25964"/>
                  </a:lnTo>
                  <a:lnTo>
                    <a:pt x="3231" y="16267"/>
                  </a:lnTo>
                  <a:lnTo>
                    <a:pt x="0" y="10455"/>
                  </a:lnTo>
                  <a:lnTo>
                    <a:pt x="6649" y="10347"/>
                  </a:lnTo>
                  <a:lnTo>
                    <a:pt x="16788" y="8515"/>
                  </a:lnTo>
                  <a:lnTo>
                    <a:pt x="27163" y="5038"/>
                  </a:lnTo>
                  <a:lnTo>
                    <a:pt x="34524" y="0"/>
                  </a:lnTo>
                </a:path>
              </a:pathLst>
            </a:custGeom>
            <a:ln w="8097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4685" y="1681186"/>
              <a:ext cx="152312" cy="25735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6766" y="1681186"/>
              <a:ext cx="162112" cy="25735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3428" y="1681186"/>
              <a:ext cx="171531" cy="25735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4729" y="1681186"/>
              <a:ext cx="142891" cy="25735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02170" y="1681186"/>
              <a:ext cx="190751" cy="25735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2690" y="1681186"/>
              <a:ext cx="123673" cy="25735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9621" y="1073390"/>
              <a:ext cx="143795" cy="24273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30915" y="1073390"/>
              <a:ext cx="153026" cy="24273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68363" y="1073390"/>
              <a:ext cx="161902" cy="24273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77765" y="1073390"/>
              <a:ext cx="134919" cy="24273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97106" y="1073390"/>
              <a:ext cx="180008" cy="24273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24614" y="1073390"/>
              <a:ext cx="116810" cy="242731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696732" y="2589133"/>
            <a:ext cx="23666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75" i="1" spc="-750" baseline="-26455" dirty="0">
                <a:latin typeface="Arial"/>
                <a:cs typeface="Arial"/>
              </a:rPr>
              <a:t>y</a:t>
            </a:r>
            <a:r>
              <a:rPr sz="1800" spc="-67" baseline="-20833" dirty="0">
                <a:latin typeface="Tahoma"/>
                <a:cs typeface="Tahoma"/>
              </a:rPr>
              <a:t>ˆ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i="1" dirty="0">
                <a:latin typeface="Arial"/>
                <a:cs typeface="Arial"/>
              </a:rPr>
              <a:t>t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&gt;</a:t>
            </a:r>
            <a:r>
              <a:rPr sz="800" i="1" spc="100" dirty="0">
                <a:latin typeface="Verdana"/>
                <a:cs typeface="Verdana"/>
              </a:rPr>
              <a:t> </a:t>
            </a:r>
            <a:r>
              <a:rPr sz="1800" spc="52" baseline="-23148" dirty="0">
                <a:latin typeface="Tahoma"/>
                <a:cs typeface="Tahoma"/>
              </a:rPr>
              <a:t>=</a:t>
            </a:r>
            <a:r>
              <a:rPr sz="1800" spc="-67" baseline="-23148" dirty="0">
                <a:latin typeface="Tahoma"/>
                <a:cs typeface="Tahoma"/>
              </a:rPr>
              <a:t> </a:t>
            </a:r>
            <a:r>
              <a:rPr sz="1575" i="1" spc="97" baseline="-26455" dirty="0">
                <a:latin typeface="Arial"/>
                <a:cs typeface="Arial"/>
              </a:rPr>
              <a:t>g</a:t>
            </a:r>
            <a:r>
              <a:rPr sz="1800" spc="-15" baseline="-23148" dirty="0">
                <a:latin typeface="Tahoma"/>
                <a:cs typeface="Tahoma"/>
              </a:rPr>
              <a:t>(</a:t>
            </a:r>
            <a:r>
              <a:rPr sz="1575" i="1" spc="30" baseline="-26455" dirty="0">
                <a:latin typeface="Arial"/>
                <a:cs typeface="Arial"/>
              </a:rPr>
              <a:t>W</a:t>
            </a:r>
            <a:r>
              <a:rPr sz="1050" i="1" spc="7" baseline="-51587" dirty="0">
                <a:latin typeface="Arial"/>
                <a:cs typeface="Arial"/>
              </a:rPr>
              <a:t>y</a:t>
            </a:r>
            <a:r>
              <a:rPr sz="1050" i="1" spc="-112" baseline="-51587" dirty="0">
                <a:latin typeface="Arial"/>
                <a:cs typeface="Arial"/>
              </a:rPr>
              <a:t> </a:t>
            </a:r>
            <a:r>
              <a:rPr sz="1800" spc="-187" baseline="-23148" dirty="0">
                <a:latin typeface="Tahoma"/>
                <a:cs typeface="Tahoma"/>
              </a:rPr>
              <a:t>[</a:t>
            </a:r>
            <a:r>
              <a:rPr sz="1800" spc="-1807" baseline="4629" dirty="0">
                <a:latin typeface="MS UI Gothic"/>
                <a:cs typeface="MS UI Gothic"/>
              </a:rPr>
              <a:t>→</a:t>
            </a:r>
            <a:r>
              <a:rPr sz="1800" spc="-765" baseline="4629" dirty="0">
                <a:latin typeface="MS UI Gothic"/>
                <a:cs typeface="MS UI Gothic"/>
              </a:rPr>
              <a:t>−</a:t>
            </a:r>
            <a:r>
              <a:rPr sz="1575" i="1" spc="15" baseline="-26455" dirty="0">
                <a:latin typeface="Arial"/>
                <a:cs typeface="Arial"/>
              </a:rPr>
              <a:t>a</a:t>
            </a:r>
            <a:r>
              <a:rPr sz="1575" i="1" spc="7" baseline="-26455" dirty="0"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i="1" spc="60" dirty="0">
                <a:latin typeface="Arial"/>
                <a:cs typeface="Arial"/>
              </a:rPr>
              <a:t>t</a:t>
            </a:r>
            <a:r>
              <a:rPr sz="800" i="1" spc="50" dirty="0">
                <a:latin typeface="Verdana"/>
                <a:cs typeface="Verdana"/>
              </a:rPr>
              <a:t>&gt;</a:t>
            </a:r>
            <a:r>
              <a:rPr sz="1800" spc="-1410" baseline="4629" dirty="0">
                <a:latin typeface="MS UI Gothic"/>
                <a:cs typeface="MS UI Gothic"/>
              </a:rPr>
              <a:t>←</a:t>
            </a:r>
            <a:r>
              <a:rPr sz="1800" spc="-1162" baseline="4629" dirty="0">
                <a:latin typeface="MS UI Gothic"/>
                <a:cs typeface="MS UI Gothic"/>
              </a:rPr>
              <a:t>−</a:t>
            </a:r>
            <a:r>
              <a:rPr sz="1575" i="1" spc="15" baseline="-26455" dirty="0">
                <a:latin typeface="Arial"/>
                <a:cs typeface="Arial"/>
              </a:rPr>
              <a:t>a</a:t>
            </a:r>
            <a:r>
              <a:rPr sz="1575" i="1" spc="7" baseline="-26455" dirty="0"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i="1" spc="60" dirty="0">
                <a:latin typeface="Arial"/>
                <a:cs typeface="Arial"/>
              </a:rPr>
              <a:t>t</a:t>
            </a:r>
            <a:r>
              <a:rPr sz="800" i="1" spc="50" dirty="0">
                <a:latin typeface="Verdana"/>
                <a:cs typeface="Verdana"/>
              </a:rPr>
              <a:t>&gt;</a:t>
            </a:r>
            <a:r>
              <a:rPr sz="1575" i="1" spc="165" baseline="-26455" dirty="0">
                <a:latin typeface="Arial"/>
                <a:cs typeface="Arial"/>
              </a:rPr>
              <a:t>x</a:t>
            </a:r>
            <a:r>
              <a:rPr sz="800" i="1" dirty="0">
                <a:latin typeface="Verdana"/>
                <a:cs typeface="Verdana"/>
              </a:rPr>
              <a:t>&lt;</a:t>
            </a:r>
            <a:r>
              <a:rPr sz="700" i="1" spc="60" dirty="0">
                <a:latin typeface="Arial"/>
                <a:cs typeface="Arial"/>
              </a:rPr>
              <a:t>t</a:t>
            </a:r>
            <a:r>
              <a:rPr sz="800" i="1" spc="50" dirty="0">
                <a:latin typeface="Verdana"/>
                <a:cs typeface="Verdana"/>
              </a:rPr>
              <a:t>&gt;</a:t>
            </a:r>
            <a:r>
              <a:rPr sz="1800" spc="-187" baseline="-23148" dirty="0">
                <a:latin typeface="Tahoma"/>
                <a:cs typeface="Tahoma"/>
              </a:rPr>
              <a:t>]</a:t>
            </a:r>
            <a:r>
              <a:rPr sz="1800" spc="-165" baseline="-23148" dirty="0">
                <a:latin typeface="Tahoma"/>
                <a:cs typeface="Tahoma"/>
              </a:rPr>
              <a:t> </a:t>
            </a:r>
            <a:r>
              <a:rPr sz="1800" spc="52" baseline="-23148" dirty="0">
                <a:latin typeface="Tahoma"/>
                <a:cs typeface="Tahoma"/>
              </a:rPr>
              <a:t>+</a:t>
            </a:r>
            <a:r>
              <a:rPr sz="1800" spc="-165" baseline="-23148" dirty="0">
                <a:latin typeface="Tahoma"/>
                <a:cs typeface="Tahoma"/>
              </a:rPr>
              <a:t> </a:t>
            </a:r>
            <a:r>
              <a:rPr sz="1575" i="1" spc="15" baseline="-26455" dirty="0">
                <a:latin typeface="Arial"/>
                <a:cs typeface="Arial"/>
              </a:rPr>
              <a:t>b</a:t>
            </a:r>
            <a:r>
              <a:rPr sz="1050" i="1" spc="7" baseline="-51587" dirty="0">
                <a:latin typeface="Arial"/>
                <a:cs typeface="Arial"/>
              </a:rPr>
              <a:t>y</a:t>
            </a:r>
            <a:r>
              <a:rPr sz="1050" i="1" spc="-112" baseline="-51587" dirty="0">
                <a:latin typeface="Arial"/>
                <a:cs typeface="Arial"/>
              </a:rPr>
              <a:t> </a:t>
            </a:r>
            <a:r>
              <a:rPr sz="1800" spc="-15" baseline="-23148" dirty="0">
                <a:latin typeface="Tahoma"/>
                <a:cs typeface="Tahoma"/>
              </a:rPr>
              <a:t>)</a:t>
            </a:r>
            <a:endParaRPr sz="1800" baseline="-23148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1004569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2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700" cap="small" spc="180" dirty="0">
                <a:solidFill>
                  <a:srgbClr val="FFFFFF"/>
                </a:solidFill>
                <a:latin typeface="Calibri"/>
                <a:cs typeface="Calibri"/>
              </a:rPr>
              <a:t>ummar</a:t>
            </a:r>
            <a:r>
              <a:rPr sz="1700" cap="small" spc="39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626" y="1313191"/>
            <a:ext cx="4524274" cy="696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144780" indent="-171450">
              <a:lnSpc>
                <a:spcPct val="1384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050" spc="15" dirty="0">
                <a:latin typeface="Microsoft Sans Serif"/>
                <a:cs typeface="Microsoft Sans Serif"/>
              </a:rPr>
              <a:t>Use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-10" dirty="0">
                <a:latin typeface="Microsoft Sans Serif"/>
                <a:cs typeface="Microsoft Sans Serif"/>
              </a:rPr>
              <a:t>GRU,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when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dependency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short.</a:t>
            </a:r>
            <a:r>
              <a:rPr sz="1050" spc="10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Eg:</a:t>
            </a:r>
            <a:r>
              <a:rPr sz="1050" spc="9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Weather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forecasting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endParaRPr lang="en-IN" sz="1050" spc="-265" dirty="0" smtClean="0">
              <a:latin typeface="Microsoft Sans Serif"/>
              <a:cs typeface="Microsoft Sans Serif"/>
            </a:endParaRPr>
          </a:p>
          <a:p>
            <a:pPr marL="184150" marR="144780" indent="-171450">
              <a:lnSpc>
                <a:spcPct val="1384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050" spc="15" dirty="0" smtClean="0">
                <a:latin typeface="Microsoft Sans Serif"/>
                <a:cs typeface="Microsoft Sans Serif"/>
              </a:rPr>
              <a:t>Use</a:t>
            </a:r>
            <a:r>
              <a:rPr sz="1050" spc="20" dirty="0" smtClean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LSTM,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when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dependency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long.</a:t>
            </a:r>
            <a:r>
              <a:rPr sz="1050" spc="9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Eg:</a:t>
            </a:r>
            <a:r>
              <a:rPr sz="1050" spc="95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NLP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-5" dirty="0">
                <a:latin typeface="Microsoft Sans Serif"/>
                <a:cs typeface="Microsoft Sans Serif"/>
              </a:rPr>
              <a:t>Translation</a:t>
            </a:r>
            <a:endParaRPr sz="1050" dirty="0">
              <a:latin typeface="Microsoft Sans Serif"/>
              <a:cs typeface="Microsoft Sans Serif"/>
            </a:endParaRPr>
          </a:p>
          <a:p>
            <a:pPr marL="184150" indent="-171450">
              <a:lnSpc>
                <a:spcPct val="100000"/>
              </a:lnSpc>
              <a:spcBef>
                <a:spcPts val="480"/>
              </a:spcBef>
              <a:buFont typeface="Wingdings" panose="05000000000000000000" pitchFamily="2" charset="2"/>
              <a:buChar char="Ø"/>
            </a:pPr>
            <a:r>
              <a:rPr sz="1050" spc="15" dirty="0">
                <a:latin typeface="Microsoft Sans Serif"/>
                <a:cs typeface="Microsoft Sans Serif"/>
              </a:rPr>
              <a:t>Use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5" dirty="0">
                <a:latin typeface="Microsoft Sans Serif"/>
                <a:cs typeface="Microsoft Sans Serif"/>
              </a:rPr>
              <a:t>BRNN,</a:t>
            </a:r>
            <a:r>
              <a:rPr sz="1050" spc="3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dependency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is</a:t>
            </a:r>
            <a:r>
              <a:rPr sz="1050" spc="3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in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both</a:t>
            </a:r>
            <a:r>
              <a:rPr sz="1050" spc="3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direction.</a:t>
            </a:r>
            <a:r>
              <a:rPr sz="1050" spc="10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Eg:</a:t>
            </a:r>
            <a:r>
              <a:rPr sz="1050" spc="10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Stock</a:t>
            </a:r>
            <a:r>
              <a:rPr sz="1050" spc="3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prediction</a:t>
            </a:r>
            <a:endParaRPr sz="10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"/>
            <a:ext cx="5759866" cy="323990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7294" y="817332"/>
            <a:ext cx="6597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0" dirty="0">
                <a:latin typeface="Microsoft Sans Serif"/>
                <a:cs typeface="Microsoft Sans Serif"/>
              </a:rPr>
              <a:t>References</a:t>
            </a:r>
            <a:endParaRPr sz="9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711" y="1141259"/>
            <a:ext cx="121259" cy="1212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9661" y="113141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626" y="1095543"/>
            <a:ext cx="3681729" cy="35814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50" spc="15" dirty="0">
                <a:latin typeface="Microsoft Sans Serif"/>
                <a:cs typeface="Microsoft Sans Serif"/>
              </a:rPr>
              <a:t>Deep</a:t>
            </a:r>
            <a:r>
              <a:rPr sz="950" spc="3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Learning</a:t>
            </a:r>
            <a:r>
              <a:rPr sz="950" spc="35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by</a:t>
            </a:r>
            <a:r>
              <a:rPr sz="950" spc="3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Ian</a:t>
            </a:r>
            <a:r>
              <a:rPr sz="950" spc="35" dirty="0">
                <a:latin typeface="Microsoft Sans Serif"/>
                <a:cs typeface="Microsoft Sans Serif"/>
              </a:rPr>
              <a:t> </a:t>
            </a:r>
            <a:r>
              <a:rPr sz="950" dirty="0">
                <a:latin typeface="Microsoft Sans Serif"/>
                <a:cs typeface="Microsoft Sans Serif"/>
              </a:rPr>
              <a:t>Goodfellow,</a:t>
            </a:r>
            <a:r>
              <a:rPr sz="950" spc="30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Microsoft Sans Serif"/>
                <a:cs typeface="Microsoft Sans Serif"/>
              </a:rPr>
              <a:t>Yoshua</a:t>
            </a:r>
            <a:r>
              <a:rPr sz="950" spc="35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Bengio,</a:t>
            </a:r>
            <a:r>
              <a:rPr sz="950" spc="3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Aaron</a:t>
            </a:r>
            <a:r>
              <a:rPr sz="950" spc="35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Courville</a:t>
            </a:r>
            <a:endParaRPr sz="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spc="20" dirty="0">
                <a:latin typeface="SimSun"/>
                <a:cs typeface="SimSun"/>
                <a:hlinkClick r:id="rId4"/>
              </a:rPr>
              <a:t>https://www.deeplearningbook.org/</a:t>
            </a:r>
            <a:endParaRPr sz="1100">
              <a:latin typeface="SimSun"/>
              <a:cs typeface="SimSu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711" y="1599285"/>
            <a:ext cx="121259" cy="12125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9661" y="1589435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626" y="1553568"/>
            <a:ext cx="4408805" cy="35814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50" spc="15" dirty="0">
                <a:latin typeface="Microsoft Sans Serif"/>
                <a:cs typeface="Microsoft Sans Serif"/>
              </a:rPr>
              <a:t>Deep Learning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with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Python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by</a:t>
            </a:r>
            <a:r>
              <a:rPr sz="950" spc="15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Francois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Chollet.</a:t>
            </a:r>
            <a:endParaRPr sz="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spc="20" dirty="0">
                <a:latin typeface="SimSun"/>
                <a:cs typeface="SimSun"/>
                <a:hlinkClick r:id="rId5"/>
              </a:rPr>
              <a:t>https://livebook.manning.com/book/deep</a:t>
            </a:r>
            <a:r>
              <a:rPr sz="1100" spc="70" dirty="0">
                <a:latin typeface="SimSun"/>
                <a:cs typeface="SimSun"/>
                <a:hlinkClick r:id="rId5"/>
              </a:rPr>
              <a:t>-</a:t>
            </a:r>
            <a:r>
              <a:rPr sz="1100" spc="20" dirty="0">
                <a:latin typeface="SimSun"/>
                <a:cs typeface="SimSun"/>
                <a:hlinkClick r:id="rId5"/>
              </a:rPr>
              <a:t>learnin</a:t>
            </a:r>
            <a:r>
              <a:rPr sz="1100" spc="15" dirty="0">
                <a:latin typeface="SimSun"/>
                <a:cs typeface="SimSun"/>
                <a:hlinkClick r:id="rId5"/>
              </a:rPr>
              <a:t>g</a:t>
            </a:r>
            <a:r>
              <a:rPr sz="1100" spc="70" dirty="0">
                <a:latin typeface="SimSun"/>
                <a:cs typeface="SimSun"/>
                <a:hlinkClick r:id="rId5"/>
              </a:rPr>
              <a:t>-</a:t>
            </a:r>
            <a:r>
              <a:rPr sz="1100" spc="20" dirty="0">
                <a:latin typeface="SimSun"/>
                <a:cs typeface="SimSun"/>
                <a:hlinkClick r:id="rId5"/>
              </a:rPr>
              <a:t>with</a:t>
            </a:r>
            <a:r>
              <a:rPr sz="1100" spc="70" dirty="0">
                <a:latin typeface="SimSun"/>
                <a:cs typeface="SimSun"/>
                <a:hlinkClick r:id="rId5"/>
              </a:rPr>
              <a:t>-</a:t>
            </a:r>
            <a:r>
              <a:rPr sz="1100" spc="20" dirty="0">
                <a:latin typeface="SimSun"/>
                <a:cs typeface="SimSun"/>
                <a:hlinkClick r:id="rId5"/>
              </a:rPr>
              <a:t>python/</a:t>
            </a:r>
            <a:endParaRPr sz="1100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2536</Words>
  <Application>Microsoft Office PowerPoint</Application>
  <PresentationFormat>Custom</PresentationFormat>
  <Paragraphs>546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MS UI Gothic</vt:lpstr>
      <vt:lpstr>SimSun</vt:lpstr>
      <vt:lpstr>Arial</vt:lpstr>
      <vt:lpstr>Calibri</vt:lpstr>
      <vt:lpstr>Cambria</vt:lpstr>
      <vt:lpstr>Courier New</vt:lpstr>
      <vt:lpstr>Lucida Sans Unicode</vt:lpstr>
      <vt:lpstr>Microsoft Sans Serif</vt:lpstr>
      <vt:lpstr>Tahoma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In  This  Segment</vt:lpstr>
      <vt:lpstr>Sequence  Learning  Problems</vt:lpstr>
      <vt:lpstr>PowerPoint Presentation</vt:lpstr>
      <vt:lpstr>Part  of  Speech  Tagging</vt:lpstr>
      <vt:lpstr>Sentiment  Analysis</vt:lpstr>
      <vt:lpstr>In  This  Segment</vt:lpstr>
      <vt:lpstr>Recurrent  Neural  Network  (RNN)</vt:lpstr>
      <vt:lpstr>RNN I</vt:lpstr>
      <vt:lpstr>RNN II</vt:lpstr>
      <vt:lpstr>In  This  Segment</vt:lpstr>
      <vt:lpstr>PowerPoint Presentation</vt:lpstr>
      <vt:lpstr>PowerPoint Presentation</vt:lpstr>
      <vt:lpstr>Types  of  RNN  and  Applications</vt:lpstr>
      <vt:lpstr>In  This  Segment</vt:lpstr>
      <vt:lpstr>Forward  Propagation  in  RNN</vt:lpstr>
      <vt:lpstr>Back  Propagation  in  RNN</vt:lpstr>
      <vt:lpstr>Back  Propagation  in  RNN</vt:lpstr>
      <vt:lpstr>In  This  Segment</vt:lpstr>
      <vt:lpstr>Issue  of  Maintaining  States</vt:lpstr>
      <vt:lpstr>PowerPoint Presentation</vt:lpstr>
      <vt:lpstr>Sentiment  Analysis</vt:lpstr>
      <vt:lpstr>Selective  write</vt:lpstr>
      <vt:lpstr>Selective  write</vt:lpstr>
      <vt:lpstr>Selective  write</vt:lpstr>
      <vt:lpstr>Compute  State</vt:lpstr>
      <vt:lpstr>Selective  Read</vt:lpstr>
      <vt:lpstr>Selective  Read</vt:lpstr>
      <vt:lpstr>Selective  Forget</vt:lpstr>
      <vt:lpstr>Full  LSTM</vt:lpstr>
      <vt:lpstr>In  This  Segment</vt:lpstr>
      <vt:lpstr>Long  Short  Term  Memory  Unit  (LSTM)</vt:lpstr>
      <vt:lpstr>PowerPoint Presentation</vt:lpstr>
      <vt:lpstr>LSTM</vt:lpstr>
      <vt:lpstr>In  This  Segment</vt:lpstr>
      <vt:lpstr>Gated  Recurrent  Unit  (GRU)</vt:lpstr>
      <vt:lpstr>PowerPoint Presentation</vt:lpstr>
      <vt:lpstr>Gated  Recurrent  Unit  (GRU)</vt:lpstr>
      <vt:lpstr>In  This  Segment</vt:lpstr>
      <vt:lpstr>Bidirectional  RNN  (BRNN)</vt:lpstr>
      <vt:lpstr>BRNN  architecture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11</cp:revision>
  <dcterms:created xsi:type="dcterms:W3CDTF">2023-01-07T04:44:00Z</dcterms:created>
  <dcterms:modified xsi:type="dcterms:W3CDTF">2024-08-02T06:48:44Z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2023-01-07T00:00:00Z</vt:filetime>
  </property>
</Properties>
</file>