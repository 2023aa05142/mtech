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53"/>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8791C27-D7D6-41B6-A67E-F800049B995A}">
  <a:tblStyle styleId="{A8791C27-D7D6-41B6-A67E-F800049B995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68"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sh Mishra" userId="5695508de39cc593" providerId="LiveId" clId="{7DA6A232-759C-45C5-B6FF-CDB9102FDFD9}"/>
    <pc:docChg chg="modSld">
      <pc:chgData name="Manish Mishra" userId="5695508de39cc593" providerId="LiveId" clId="{7DA6A232-759C-45C5-B6FF-CDB9102FDFD9}" dt="2024-07-20T17:54:57.251" v="58" actId="1036"/>
      <pc:docMkLst>
        <pc:docMk/>
      </pc:docMkLst>
      <pc:sldChg chg="modSp mod">
        <pc:chgData name="Manish Mishra" userId="5695508de39cc593" providerId="LiveId" clId="{7DA6A232-759C-45C5-B6FF-CDB9102FDFD9}" dt="2024-07-20T17:54:57.251" v="58" actId="1036"/>
        <pc:sldMkLst>
          <pc:docMk/>
          <pc:sldMk cId="0" sldId="270"/>
        </pc:sldMkLst>
        <pc:spChg chg="mod">
          <ac:chgData name="Manish Mishra" userId="5695508de39cc593" providerId="LiveId" clId="{7DA6A232-759C-45C5-B6FF-CDB9102FDFD9}" dt="2024-07-20T17:54:57.251" v="58" actId="1036"/>
          <ac:spMkLst>
            <pc:docMk/>
            <pc:sldMk cId="0" sldId="270"/>
            <ac:spMk id="161" creationId="{00000000-0000-0000-0000-000000000000}"/>
          </ac:spMkLst>
        </pc:spChg>
      </pc:sldChg>
      <pc:sldChg chg="modSp mod">
        <pc:chgData name="Manish Mishra" userId="5695508de39cc593" providerId="LiveId" clId="{7DA6A232-759C-45C5-B6FF-CDB9102FDFD9}" dt="2024-07-20T17:16:41.861" v="38" actId="1036"/>
        <pc:sldMkLst>
          <pc:docMk/>
          <pc:sldMk cId="0" sldId="295"/>
        </pc:sldMkLst>
        <pc:picChg chg="mod">
          <ac:chgData name="Manish Mishra" userId="5695508de39cc593" providerId="LiveId" clId="{7DA6A232-759C-45C5-B6FF-CDB9102FDFD9}" dt="2024-07-20T17:16:41.861" v="38" actId="1036"/>
          <ac:picMkLst>
            <pc:docMk/>
            <pc:sldMk cId="0" sldId="295"/>
            <ac:picMk id="34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44d658b016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44d658b016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44d658b016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44d658b016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Talk about each topic in 1 or 2 sentences.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44d658b016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44d658b016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44d658b016_0_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44d658b016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2b16bbb06e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2b16bbb06e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2b16bbb06e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2b16bbb06e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2b16bbb06e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2b16bbb06e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2b16bbb06e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2b16bbb06e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2b16bbb06e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2b16bbb06e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2b16bbb06e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2b16bbb06e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2b16bbb06e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2b16bbb06e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2b16bbb06e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2b16bbb06e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2b16bbb06e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2b16bbb06e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2b16bbb06e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2b16bbb06e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2b16bbb06e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2b16bbb06e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2b16bbb06e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2b16bbb06e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2b16bbb06e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2b16bbb06e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2b16bbb06e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2b16bbb06e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2b16bbb06e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2b16bbb06e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566fcd0c30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2566fcd0c3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566fcd0c30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566fcd0c3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566fcd0c30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566fcd0c30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566fcd0c30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566fcd0c30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566fcd0c30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566fcd0c3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566fcd0c30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566fcd0c30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66fcd0c30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66fcd0c30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566fcd0c30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566fcd0c30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566fcd0c30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2566fcd0c30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566fcd0c30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566fcd0c3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566fcd0c30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566fcd0c30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566fcd0c30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566fcd0c30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566fcd0c30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566fcd0c30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566fcd0c30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566fcd0c30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566fcd0c30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2566fcd0c30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566fcd0c30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566fcd0c30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566fcd0c30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566fcd0c30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566fcd0c30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2566fcd0c30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566fcd0c30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2566fcd0c30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2566fcd0c30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2566fcd0c30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566fcd0c30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2566fcd0c30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566fcd0c30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566fcd0c30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2566fcd0c30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2566fcd0c30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566fcd0c30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2566fcd0c30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566fcd0c30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2566fcd0c30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66fcd0c30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566fcd0c30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566fcd0c30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2566fcd0c30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566fcd0c30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566fcd0c30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566fcd0c30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2566fcd0c30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44d658b016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44d658b016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244d658b016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244d658b016_0_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chemeClr val="dk1"/>
              </a:buClr>
              <a:buSzPts val="2000"/>
              <a:buChar char="●"/>
              <a:defRPr sz="2000">
                <a:solidFill>
                  <a:schemeClr val="dk1"/>
                </a:solidFill>
              </a:defRPr>
            </a:lvl1pPr>
            <a:lvl2pPr marL="914400" lvl="1" indent="-330200">
              <a:spcBef>
                <a:spcPts val="0"/>
              </a:spcBef>
              <a:spcAft>
                <a:spcPts val="0"/>
              </a:spcAft>
              <a:buClr>
                <a:schemeClr val="dk1"/>
              </a:buClr>
              <a:buSzPts val="1600"/>
              <a:buChar char="○"/>
              <a:defRPr sz="1600">
                <a:solidFill>
                  <a:schemeClr val="dk1"/>
                </a:solidFill>
              </a:defRPr>
            </a:lvl2pPr>
            <a:lvl3pPr marL="1371600" lvl="2" indent="-330200">
              <a:spcBef>
                <a:spcPts val="0"/>
              </a:spcBef>
              <a:spcAft>
                <a:spcPts val="0"/>
              </a:spcAft>
              <a:buClr>
                <a:schemeClr val="dk1"/>
              </a:buClr>
              <a:buSzPts val="1600"/>
              <a:buChar char="■"/>
              <a:defRPr sz="1600">
                <a:solidFill>
                  <a:schemeClr val="dk1"/>
                </a:solidFill>
              </a:defRPr>
            </a:lvl3pPr>
            <a:lvl4pPr marL="1828800" lvl="3" indent="-330200">
              <a:spcBef>
                <a:spcPts val="0"/>
              </a:spcBef>
              <a:spcAft>
                <a:spcPts val="0"/>
              </a:spcAft>
              <a:buClr>
                <a:schemeClr val="dk1"/>
              </a:buClr>
              <a:buSzPts val="1600"/>
              <a:buChar char="●"/>
              <a:defRPr sz="1600">
                <a:solidFill>
                  <a:schemeClr val="dk1"/>
                </a:solidFill>
              </a:defRPr>
            </a:lvl4pPr>
            <a:lvl5pPr marL="2286000" lvl="4" indent="-330200">
              <a:spcBef>
                <a:spcPts val="0"/>
              </a:spcBef>
              <a:spcAft>
                <a:spcPts val="0"/>
              </a:spcAft>
              <a:buClr>
                <a:schemeClr val="dk1"/>
              </a:buClr>
              <a:buSzPts val="1600"/>
              <a:buChar char="○"/>
              <a:defRPr sz="1600">
                <a:solidFill>
                  <a:schemeClr val="dk1"/>
                </a:solidFill>
              </a:defRPr>
            </a:lvl5pPr>
            <a:lvl6pPr marL="2743200" lvl="5" indent="-330200">
              <a:spcBef>
                <a:spcPts val="0"/>
              </a:spcBef>
              <a:spcAft>
                <a:spcPts val="0"/>
              </a:spcAft>
              <a:buClr>
                <a:schemeClr val="dk1"/>
              </a:buClr>
              <a:buSzPts val="1600"/>
              <a:buChar char="■"/>
              <a:defRPr sz="1600">
                <a:solidFill>
                  <a:schemeClr val="dk1"/>
                </a:solidFill>
              </a:defRPr>
            </a:lvl6pPr>
            <a:lvl7pPr marL="3200400" lvl="6" indent="-330200">
              <a:spcBef>
                <a:spcPts val="0"/>
              </a:spcBef>
              <a:spcAft>
                <a:spcPts val="0"/>
              </a:spcAft>
              <a:buClr>
                <a:schemeClr val="dk1"/>
              </a:buClr>
              <a:buSzPts val="1600"/>
              <a:buChar char="●"/>
              <a:defRPr sz="1600">
                <a:solidFill>
                  <a:schemeClr val="dk1"/>
                </a:solidFill>
              </a:defRPr>
            </a:lvl7pPr>
            <a:lvl8pPr marL="3657600" lvl="7" indent="-330200">
              <a:spcBef>
                <a:spcPts val="0"/>
              </a:spcBef>
              <a:spcAft>
                <a:spcPts val="0"/>
              </a:spcAft>
              <a:buClr>
                <a:schemeClr val="dk1"/>
              </a:buClr>
              <a:buSzPts val="1600"/>
              <a:buChar char="○"/>
              <a:defRPr sz="1600">
                <a:solidFill>
                  <a:schemeClr val="dk1"/>
                </a:solidFill>
              </a:defRPr>
            </a:lvl8pPr>
            <a:lvl9pPr marL="4114800" lvl="8" indent="-330200">
              <a:spcBef>
                <a:spcPts val="0"/>
              </a:spcBef>
              <a:spcAft>
                <a:spcPts val="0"/>
              </a:spcAft>
              <a:buClr>
                <a:schemeClr val="dk1"/>
              </a:buClr>
              <a:buSzPts val="1600"/>
              <a:buChar char="■"/>
              <a:defRPr sz="1600">
                <a:solidFill>
                  <a:schemeClr val="dk1"/>
                </a:solidFill>
              </a:defRPr>
            </a:lvl9pPr>
          </a:lstStyle>
          <a:p>
            <a:endParaRPr/>
          </a:p>
        </p:txBody>
      </p:sp>
      <p:sp>
        <p:nvSpPr>
          <p:cNvPr id="19" name="Google Shape;19;p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1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51"/>
        <p:cNvGrpSpPr/>
        <p:nvPr/>
      </p:nvGrpSpPr>
      <p:grpSpPr>
        <a:xfrm>
          <a:off x="0" y="0"/>
          <a:ext cx="0" cy="0"/>
          <a:chOff x="0" y="0"/>
          <a:chExt cx="0" cy="0"/>
        </a:xfrm>
      </p:grpSpPr>
      <p:sp>
        <p:nvSpPr>
          <p:cNvPr id="52" name="Google Shape;52;p1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1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13"/>
          <p:cNvSpPr txBox="1">
            <a:spLocks noGrp="1"/>
          </p:cNvSpPr>
          <p:nvPr>
            <p:ph type="sldNum" idx="12"/>
          </p:nvPr>
        </p:nvSpPr>
        <p:spPr>
          <a:xfrm>
            <a:off x="8685521" y="4778067"/>
            <a:ext cx="288300" cy="1539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000" b="0" i="0" u="none" strike="noStrike" cap="none">
                <a:solidFill>
                  <a:srgbClr val="595959"/>
                </a:solidFill>
                <a:latin typeface="Arial"/>
                <a:ea typeface="Arial"/>
                <a:cs typeface="Arial"/>
                <a:sym typeface="Arial"/>
              </a:defRPr>
            </a:lvl1pPr>
            <a:lvl2pPr marL="38100" marR="0" lvl="1" indent="0" algn="l" rtl="0">
              <a:lnSpc>
                <a:spcPct val="100000"/>
              </a:lnSpc>
              <a:spcBef>
                <a:spcPts val="0"/>
              </a:spcBef>
              <a:buNone/>
              <a:defRPr sz="1000" b="0" i="0" u="none" strike="noStrike" cap="none">
                <a:solidFill>
                  <a:srgbClr val="595959"/>
                </a:solidFill>
                <a:latin typeface="Arial"/>
                <a:ea typeface="Arial"/>
                <a:cs typeface="Arial"/>
                <a:sym typeface="Arial"/>
              </a:defRPr>
            </a:lvl2pPr>
            <a:lvl3pPr marL="38100" marR="0" lvl="2" indent="0" algn="l" rtl="0">
              <a:lnSpc>
                <a:spcPct val="100000"/>
              </a:lnSpc>
              <a:spcBef>
                <a:spcPts val="0"/>
              </a:spcBef>
              <a:buNone/>
              <a:defRPr sz="1000" b="0" i="0" u="none" strike="noStrike" cap="none">
                <a:solidFill>
                  <a:srgbClr val="595959"/>
                </a:solidFill>
                <a:latin typeface="Arial"/>
                <a:ea typeface="Arial"/>
                <a:cs typeface="Arial"/>
                <a:sym typeface="Arial"/>
              </a:defRPr>
            </a:lvl3pPr>
            <a:lvl4pPr marL="38100" marR="0" lvl="3" indent="0" algn="l" rtl="0">
              <a:lnSpc>
                <a:spcPct val="100000"/>
              </a:lnSpc>
              <a:spcBef>
                <a:spcPts val="0"/>
              </a:spcBef>
              <a:buNone/>
              <a:defRPr sz="1000" b="0" i="0" u="none" strike="noStrike" cap="none">
                <a:solidFill>
                  <a:srgbClr val="595959"/>
                </a:solidFill>
                <a:latin typeface="Arial"/>
                <a:ea typeface="Arial"/>
                <a:cs typeface="Arial"/>
                <a:sym typeface="Arial"/>
              </a:defRPr>
            </a:lvl4pPr>
            <a:lvl5pPr marL="38100" marR="0" lvl="4" indent="0" algn="l" rtl="0">
              <a:lnSpc>
                <a:spcPct val="100000"/>
              </a:lnSpc>
              <a:spcBef>
                <a:spcPts val="0"/>
              </a:spcBef>
              <a:buNone/>
              <a:defRPr sz="1000" b="0" i="0" u="none" strike="noStrike" cap="none">
                <a:solidFill>
                  <a:srgbClr val="595959"/>
                </a:solidFill>
                <a:latin typeface="Arial"/>
                <a:ea typeface="Arial"/>
                <a:cs typeface="Arial"/>
                <a:sym typeface="Arial"/>
              </a:defRPr>
            </a:lvl5pPr>
            <a:lvl6pPr marL="38100" marR="0" lvl="5" indent="0" algn="l" rtl="0">
              <a:lnSpc>
                <a:spcPct val="100000"/>
              </a:lnSpc>
              <a:spcBef>
                <a:spcPts val="0"/>
              </a:spcBef>
              <a:buNone/>
              <a:defRPr sz="1000" b="0" i="0" u="none" strike="noStrike" cap="none">
                <a:solidFill>
                  <a:srgbClr val="595959"/>
                </a:solidFill>
                <a:latin typeface="Arial"/>
                <a:ea typeface="Arial"/>
                <a:cs typeface="Arial"/>
                <a:sym typeface="Arial"/>
              </a:defRPr>
            </a:lvl6pPr>
            <a:lvl7pPr marL="38100" marR="0" lvl="6" indent="0" algn="l" rtl="0">
              <a:lnSpc>
                <a:spcPct val="100000"/>
              </a:lnSpc>
              <a:spcBef>
                <a:spcPts val="0"/>
              </a:spcBef>
              <a:buNone/>
              <a:defRPr sz="1000" b="0" i="0" u="none" strike="noStrike" cap="none">
                <a:solidFill>
                  <a:srgbClr val="595959"/>
                </a:solidFill>
                <a:latin typeface="Arial"/>
                <a:ea typeface="Arial"/>
                <a:cs typeface="Arial"/>
                <a:sym typeface="Arial"/>
              </a:defRPr>
            </a:lvl7pPr>
            <a:lvl8pPr marL="38100" marR="0" lvl="7" indent="0" algn="l" rtl="0">
              <a:lnSpc>
                <a:spcPct val="100000"/>
              </a:lnSpc>
              <a:spcBef>
                <a:spcPts val="0"/>
              </a:spcBef>
              <a:buNone/>
              <a:defRPr sz="1000" b="0" i="0" u="none" strike="noStrike" cap="none">
                <a:solidFill>
                  <a:srgbClr val="595959"/>
                </a:solidFill>
                <a:latin typeface="Arial"/>
                <a:ea typeface="Arial"/>
                <a:cs typeface="Arial"/>
                <a:sym typeface="Arial"/>
              </a:defRPr>
            </a:lvl8pPr>
            <a:lvl9pPr marL="38100" marR="0" lvl="8" indent="0" algn="l" rtl="0">
              <a:lnSpc>
                <a:spcPct val="100000"/>
              </a:lnSpc>
              <a:spcBef>
                <a:spcPts val="0"/>
              </a:spcBef>
              <a:buNone/>
              <a:defRPr sz="1000" b="0" i="0" u="none" strike="noStrike" cap="none">
                <a:solidFill>
                  <a:srgbClr val="595959"/>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4">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2884075" y="1928375"/>
            <a:ext cx="6020700" cy="79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600" b="1" dirty="0">
                <a:solidFill>
                  <a:schemeClr val="lt1"/>
                </a:solidFill>
              </a:rPr>
              <a:t>Deep Neural Network</a:t>
            </a:r>
            <a:endParaRPr sz="3600" b="1" dirty="0">
              <a:solidFill>
                <a:schemeClr val="lt1"/>
              </a:solidFill>
            </a:endParaRPr>
          </a:p>
        </p:txBody>
      </p:sp>
      <p:sp>
        <p:nvSpPr>
          <p:cNvPr id="62" name="Google Shape;6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b="1" dirty="0"/>
              <a:t>Regularization Techniques</a:t>
            </a:r>
            <a:endParaRPr b="1" dirty="0"/>
          </a:p>
        </p:txBody>
      </p:sp>
      <p:sp>
        <p:nvSpPr>
          <p:cNvPr id="74" name="Google Shape;7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we Learn…. </a:t>
            </a:r>
            <a:endParaRPr/>
          </a:p>
        </p:txBody>
      </p:sp>
      <p:sp>
        <p:nvSpPr>
          <p:cNvPr id="80" name="Google Shape;80;p17"/>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4.1 Model Selection</a:t>
            </a:r>
            <a:endParaRPr/>
          </a:p>
          <a:p>
            <a:pPr marL="0" lvl="0" indent="0" algn="l" rtl="0">
              <a:spcBef>
                <a:spcPts val="1200"/>
              </a:spcBef>
              <a:spcAft>
                <a:spcPts val="0"/>
              </a:spcAft>
              <a:buClr>
                <a:schemeClr val="dk1"/>
              </a:buClr>
              <a:buSzPts val="1100"/>
              <a:buFont typeface="Arial"/>
              <a:buNone/>
            </a:pPr>
            <a:r>
              <a:rPr lang="en"/>
              <a:t>4.2 Underfitting, and Overfitting</a:t>
            </a:r>
            <a:endParaRPr/>
          </a:p>
          <a:p>
            <a:pPr marL="0" lvl="0" indent="0" algn="l" rtl="0">
              <a:spcBef>
                <a:spcPts val="1200"/>
              </a:spcBef>
              <a:spcAft>
                <a:spcPts val="0"/>
              </a:spcAft>
              <a:buClr>
                <a:schemeClr val="dk1"/>
              </a:buClr>
              <a:buSzPts val="1100"/>
              <a:buFont typeface="Arial"/>
              <a:buNone/>
            </a:pPr>
            <a:r>
              <a:rPr lang="en"/>
              <a:t>4.3 L1 and L2 Regularization</a:t>
            </a:r>
            <a:endParaRPr/>
          </a:p>
          <a:p>
            <a:pPr marL="0" lvl="0" indent="0" algn="l" rtl="0">
              <a:spcBef>
                <a:spcPts val="1200"/>
              </a:spcBef>
              <a:spcAft>
                <a:spcPts val="0"/>
              </a:spcAft>
              <a:buClr>
                <a:schemeClr val="dk1"/>
              </a:buClr>
              <a:buSzPts val="1100"/>
              <a:buFont typeface="Arial"/>
              <a:buNone/>
            </a:pPr>
            <a:r>
              <a:rPr lang="en"/>
              <a:t>4.4 Dropout</a:t>
            </a:r>
            <a:endParaRPr/>
          </a:p>
          <a:p>
            <a:pPr marL="0" lvl="0" indent="0" algn="l" rtl="0">
              <a:spcBef>
                <a:spcPts val="1200"/>
              </a:spcBef>
              <a:spcAft>
                <a:spcPts val="0"/>
              </a:spcAft>
              <a:buClr>
                <a:schemeClr val="dk1"/>
              </a:buClr>
              <a:buSzPts val="1100"/>
              <a:buFont typeface="Arial"/>
              <a:buNone/>
            </a:pPr>
            <a:r>
              <a:rPr lang="en"/>
              <a:t>4.5 Challenges - Vanishing and Exploding Gradients, Covariance shift</a:t>
            </a:r>
            <a:endParaRPr/>
          </a:p>
          <a:p>
            <a:pPr marL="0" lvl="0" indent="0" algn="l" rtl="0">
              <a:spcBef>
                <a:spcPts val="1200"/>
              </a:spcBef>
              <a:spcAft>
                <a:spcPts val="0"/>
              </a:spcAft>
              <a:buClr>
                <a:schemeClr val="dk1"/>
              </a:buClr>
              <a:buSzPts val="1100"/>
              <a:buFont typeface="Arial"/>
              <a:buNone/>
            </a:pPr>
            <a:r>
              <a:rPr lang="en"/>
              <a:t>4.6 Parameter Initialization</a:t>
            </a:r>
            <a:endParaRPr/>
          </a:p>
          <a:p>
            <a:pPr marL="0" lvl="0" indent="0" algn="l" rtl="0">
              <a:spcBef>
                <a:spcPts val="1200"/>
              </a:spcBef>
              <a:spcAft>
                <a:spcPts val="0"/>
              </a:spcAft>
              <a:buClr>
                <a:schemeClr val="dk1"/>
              </a:buClr>
              <a:buSzPts val="1100"/>
              <a:buFont typeface="Arial"/>
              <a:buNone/>
            </a:pPr>
            <a:r>
              <a:rPr lang="en"/>
              <a:t>4.7 Batch Normalization</a:t>
            </a:r>
            <a:endParaRPr/>
          </a:p>
          <a:p>
            <a:pPr marL="0" lvl="0" indent="0" algn="l" rtl="0">
              <a:spcBef>
                <a:spcPts val="1200"/>
              </a:spcBef>
              <a:spcAft>
                <a:spcPts val="1200"/>
              </a:spcAft>
              <a:buNone/>
            </a:pPr>
            <a:endParaRPr/>
          </a:p>
        </p:txBody>
      </p:sp>
      <p:sp>
        <p:nvSpPr>
          <p:cNvPr id="81" name="Google Shape;81;p17"/>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b="1" dirty="0"/>
              <a:t>Generalization in DNN</a:t>
            </a:r>
            <a:endParaRPr b="1" dirty="0"/>
          </a:p>
        </p:txBody>
      </p:sp>
      <p:sp>
        <p:nvSpPr>
          <p:cNvPr id="87" name="Google Shape;87;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Generalization</a:t>
            </a:r>
            <a:endParaRPr b="1" dirty="0"/>
          </a:p>
        </p:txBody>
      </p:sp>
      <p:sp>
        <p:nvSpPr>
          <p:cNvPr id="93" name="Google Shape;93;p19"/>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49250" algn="just" rtl="0">
              <a:lnSpc>
                <a:spcPct val="150000"/>
              </a:lnSpc>
              <a:spcBef>
                <a:spcPts val="0"/>
              </a:spcBef>
              <a:spcAft>
                <a:spcPts val="0"/>
              </a:spcAft>
              <a:buSzPts val="1900"/>
              <a:buChar char="●"/>
            </a:pPr>
            <a:r>
              <a:rPr lang="en" sz="1900" dirty="0">
                <a:highlight>
                  <a:schemeClr val="lt1"/>
                </a:highlight>
              </a:rPr>
              <a:t>Goal is to discover patterns that generalize.</a:t>
            </a:r>
            <a:endParaRPr sz="1900" dirty="0">
              <a:highlight>
                <a:schemeClr val="lt1"/>
              </a:highlight>
            </a:endParaRPr>
          </a:p>
          <a:p>
            <a:pPr marL="914400" lvl="1" indent="-349250" algn="just" rtl="0">
              <a:lnSpc>
                <a:spcPct val="150000"/>
              </a:lnSpc>
              <a:spcBef>
                <a:spcPts val="0"/>
              </a:spcBef>
              <a:spcAft>
                <a:spcPts val="0"/>
              </a:spcAft>
              <a:buSzPts val="1900"/>
              <a:buChar char="○"/>
            </a:pPr>
            <a:r>
              <a:rPr lang="en" sz="1900" dirty="0">
                <a:highlight>
                  <a:schemeClr val="lt1"/>
                </a:highlight>
              </a:rPr>
              <a:t>The goal is to discover patterns that capture regularities in the underlying population from which our training set was drawn. </a:t>
            </a:r>
            <a:endParaRPr sz="1900" dirty="0">
              <a:highlight>
                <a:schemeClr val="lt1"/>
              </a:highlight>
            </a:endParaRPr>
          </a:p>
          <a:p>
            <a:pPr marL="914400" lvl="1" indent="-349250" algn="just" rtl="0">
              <a:lnSpc>
                <a:spcPct val="150000"/>
              </a:lnSpc>
              <a:spcBef>
                <a:spcPts val="0"/>
              </a:spcBef>
              <a:spcAft>
                <a:spcPts val="0"/>
              </a:spcAft>
              <a:buSzPts val="1900"/>
              <a:buChar char="○"/>
            </a:pPr>
            <a:r>
              <a:rPr lang="en" sz="1900" dirty="0">
                <a:highlight>
                  <a:schemeClr val="lt1"/>
                </a:highlight>
              </a:rPr>
              <a:t>Models are trained a sample of data. </a:t>
            </a:r>
            <a:endParaRPr sz="1900" dirty="0">
              <a:highlight>
                <a:schemeClr val="lt1"/>
              </a:highlight>
            </a:endParaRPr>
          </a:p>
          <a:p>
            <a:pPr marL="914400" lvl="1" indent="-349250" algn="just" rtl="0">
              <a:lnSpc>
                <a:spcPct val="150000"/>
              </a:lnSpc>
              <a:spcBef>
                <a:spcPts val="0"/>
              </a:spcBef>
              <a:spcAft>
                <a:spcPts val="0"/>
              </a:spcAft>
              <a:buSzPts val="1900"/>
              <a:buChar char="○"/>
            </a:pPr>
            <a:r>
              <a:rPr lang="en" sz="1900" dirty="0">
                <a:highlight>
                  <a:schemeClr val="lt1"/>
                </a:highlight>
              </a:rPr>
              <a:t>When working with finite samples, we run the risk that we might discover apparent associations that turn out not to hold up when we collect more data or on newer samples. </a:t>
            </a:r>
            <a:endParaRPr sz="1900" dirty="0">
              <a:highlight>
                <a:schemeClr val="lt1"/>
              </a:highlight>
            </a:endParaRPr>
          </a:p>
          <a:p>
            <a:pPr marL="457200" lvl="0" indent="-349250" algn="just" rtl="0">
              <a:lnSpc>
                <a:spcPct val="150000"/>
              </a:lnSpc>
              <a:spcBef>
                <a:spcPts val="0"/>
              </a:spcBef>
              <a:spcAft>
                <a:spcPts val="0"/>
              </a:spcAft>
              <a:buSzPts val="1900"/>
              <a:buChar char="●"/>
            </a:pPr>
            <a:r>
              <a:rPr lang="en" sz="1900" dirty="0">
                <a:highlight>
                  <a:schemeClr val="lt1"/>
                </a:highlight>
              </a:rPr>
              <a:t>The trained model should predict for newer or unseen data. This problem is called generalization.</a:t>
            </a:r>
            <a:endParaRPr sz="1900" dirty="0">
              <a:highlight>
                <a:schemeClr val="lt1"/>
              </a:highlight>
            </a:endParaRPr>
          </a:p>
        </p:txBody>
      </p:sp>
      <p:sp>
        <p:nvSpPr>
          <p:cNvPr id="94" name="Google Shape;94;p19"/>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Training Error and Generalization Error</a:t>
            </a:r>
            <a:endParaRPr b="1" dirty="0"/>
          </a:p>
        </p:txBody>
      </p:sp>
      <p:sp>
        <p:nvSpPr>
          <p:cNvPr id="100" name="Google Shape;100;p20"/>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92500" lnSpcReduction="10000"/>
          </a:bodyPr>
          <a:lstStyle/>
          <a:p>
            <a:pPr marL="457200" lvl="0" indent="-355600" algn="just" rtl="0">
              <a:lnSpc>
                <a:spcPct val="150000"/>
              </a:lnSpc>
              <a:spcBef>
                <a:spcPts val="0"/>
              </a:spcBef>
              <a:spcAft>
                <a:spcPts val="0"/>
              </a:spcAft>
              <a:buSzPts val="2000"/>
              <a:buChar char="●"/>
            </a:pPr>
            <a:r>
              <a:rPr lang="en" b="1" dirty="0"/>
              <a:t>Training error </a:t>
            </a:r>
            <a:r>
              <a:rPr lang="en" dirty="0"/>
              <a:t>is the error of our model as calculated on the training dataset.</a:t>
            </a:r>
            <a:endParaRPr dirty="0"/>
          </a:p>
          <a:p>
            <a:pPr marL="914400" lvl="1" indent="-330200" algn="just" rtl="0">
              <a:lnSpc>
                <a:spcPct val="150000"/>
              </a:lnSpc>
              <a:spcBef>
                <a:spcPts val="0"/>
              </a:spcBef>
              <a:spcAft>
                <a:spcPts val="0"/>
              </a:spcAft>
              <a:buSzPts val="1600"/>
              <a:buChar char="○"/>
            </a:pPr>
            <a:r>
              <a:rPr lang="en" sz="1700" dirty="0"/>
              <a:t>Obtained while training the model.</a:t>
            </a:r>
            <a:endParaRPr sz="1700" dirty="0"/>
          </a:p>
          <a:p>
            <a:pPr marL="457200" lvl="0" indent="-355600" algn="just" rtl="0">
              <a:lnSpc>
                <a:spcPct val="150000"/>
              </a:lnSpc>
              <a:spcBef>
                <a:spcPts val="0"/>
              </a:spcBef>
              <a:spcAft>
                <a:spcPts val="0"/>
              </a:spcAft>
              <a:buSzPts val="2000"/>
              <a:buChar char="●"/>
            </a:pPr>
            <a:r>
              <a:rPr lang="en" b="1" dirty="0"/>
              <a:t>Generalization error</a:t>
            </a:r>
            <a:r>
              <a:rPr lang="en" dirty="0"/>
              <a:t> is the expectation of our modelʼs error, if an infinite stream of additional data examples drawn from the same underlying data distribution as the original sample were applied on the model. </a:t>
            </a:r>
            <a:endParaRPr dirty="0"/>
          </a:p>
          <a:p>
            <a:pPr marL="914400" lvl="1" indent="-330200" algn="just" rtl="0">
              <a:lnSpc>
                <a:spcPct val="150000"/>
              </a:lnSpc>
              <a:spcBef>
                <a:spcPts val="0"/>
              </a:spcBef>
              <a:spcAft>
                <a:spcPts val="0"/>
              </a:spcAft>
              <a:buSzPts val="1600"/>
              <a:buChar char="○"/>
            </a:pPr>
            <a:r>
              <a:rPr lang="en" sz="1700" dirty="0"/>
              <a:t>Cannot be computed, but estimated.</a:t>
            </a:r>
            <a:endParaRPr sz="1700" dirty="0"/>
          </a:p>
          <a:p>
            <a:pPr marL="914400" lvl="1" indent="-330200" algn="just" rtl="0">
              <a:lnSpc>
                <a:spcPct val="150000"/>
              </a:lnSpc>
              <a:spcBef>
                <a:spcPts val="0"/>
              </a:spcBef>
              <a:spcAft>
                <a:spcPts val="0"/>
              </a:spcAft>
              <a:buSzPts val="1600"/>
              <a:buChar char="○"/>
            </a:pPr>
            <a:r>
              <a:rPr lang="en" sz="1700" dirty="0"/>
              <a:t>Estimate the generalization error by applying the model to an independent test set,  constituted of a random selection of data examples that were withheld from the training set. </a:t>
            </a:r>
            <a:endParaRPr sz="1700" dirty="0"/>
          </a:p>
        </p:txBody>
      </p:sp>
      <p:sp>
        <p:nvSpPr>
          <p:cNvPr id="101" name="Google Shape;101;p20"/>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Model Complexity</a:t>
            </a:r>
            <a:endParaRPr b="1" dirty="0"/>
          </a:p>
        </p:txBody>
      </p:sp>
      <p:sp>
        <p:nvSpPr>
          <p:cNvPr id="107" name="Google Shape;107;p21"/>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sz="1800" dirty="0"/>
              <a:t>Simple models and abundant data</a:t>
            </a:r>
            <a:endParaRPr sz="1800" dirty="0"/>
          </a:p>
          <a:p>
            <a:pPr marL="914400" lvl="1" indent="-330200" algn="just" rtl="0">
              <a:lnSpc>
                <a:spcPct val="150000"/>
              </a:lnSpc>
              <a:spcBef>
                <a:spcPts val="0"/>
              </a:spcBef>
              <a:spcAft>
                <a:spcPts val="0"/>
              </a:spcAft>
              <a:buSzPts val="1600"/>
              <a:buChar char="○"/>
            </a:pPr>
            <a:r>
              <a:rPr lang="en" sz="1500" dirty="0"/>
              <a:t>Expect the generalization error to resemble the training error. </a:t>
            </a:r>
            <a:endParaRPr sz="1500" dirty="0"/>
          </a:p>
          <a:p>
            <a:pPr marL="457200" lvl="0" indent="-355600" algn="just" rtl="0">
              <a:lnSpc>
                <a:spcPct val="150000"/>
              </a:lnSpc>
              <a:spcBef>
                <a:spcPts val="0"/>
              </a:spcBef>
              <a:spcAft>
                <a:spcPts val="0"/>
              </a:spcAft>
              <a:buSzPts val="2000"/>
              <a:buChar char="●"/>
            </a:pPr>
            <a:r>
              <a:rPr lang="en" sz="1800" dirty="0"/>
              <a:t>More complex models and fewer examples</a:t>
            </a:r>
            <a:endParaRPr sz="1800" dirty="0"/>
          </a:p>
          <a:p>
            <a:pPr marL="914400" lvl="1" indent="-330200" algn="just" rtl="0">
              <a:lnSpc>
                <a:spcPct val="150000"/>
              </a:lnSpc>
              <a:spcBef>
                <a:spcPts val="0"/>
              </a:spcBef>
              <a:spcAft>
                <a:spcPts val="0"/>
              </a:spcAft>
              <a:buSzPts val="1600"/>
              <a:buChar char="○"/>
            </a:pPr>
            <a:r>
              <a:rPr lang="en" sz="1500" dirty="0"/>
              <a:t>Expect the training error to go down but the generalization gap to grow. </a:t>
            </a:r>
            <a:endParaRPr sz="1500" dirty="0"/>
          </a:p>
          <a:p>
            <a:pPr marL="457200" lvl="0" indent="-355600" algn="just" rtl="0">
              <a:lnSpc>
                <a:spcPct val="150000"/>
              </a:lnSpc>
              <a:spcBef>
                <a:spcPts val="0"/>
              </a:spcBef>
              <a:spcAft>
                <a:spcPts val="0"/>
              </a:spcAft>
              <a:buSzPts val="2000"/>
              <a:buChar char="●"/>
            </a:pPr>
            <a:r>
              <a:rPr lang="en" sz="1800" dirty="0"/>
              <a:t>Model complexity</a:t>
            </a:r>
            <a:endParaRPr sz="1800" dirty="0"/>
          </a:p>
          <a:p>
            <a:pPr marL="914400" lvl="1" indent="-330200" algn="just" rtl="0">
              <a:lnSpc>
                <a:spcPct val="150000"/>
              </a:lnSpc>
              <a:spcBef>
                <a:spcPts val="0"/>
              </a:spcBef>
              <a:spcAft>
                <a:spcPts val="0"/>
              </a:spcAft>
              <a:buSzPts val="1600"/>
              <a:buChar char="○"/>
            </a:pPr>
            <a:r>
              <a:rPr lang="en" sz="1500" dirty="0"/>
              <a:t>A model with more parameters might be considered more complex.</a:t>
            </a:r>
            <a:endParaRPr sz="1500" dirty="0"/>
          </a:p>
          <a:p>
            <a:pPr marL="914400" lvl="1" indent="-330200" algn="just" rtl="0">
              <a:lnSpc>
                <a:spcPct val="150000"/>
              </a:lnSpc>
              <a:spcBef>
                <a:spcPts val="0"/>
              </a:spcBef>
              <a:spcAft>
                <a:spcPts val="0"/>
              </a:spcAft>
              <a:buSzPts val="1600"/>
              <a:buChar char="○"/>
            </a:pPr>
            <a:r>
              <a:rPr lang="en" sz="1500" dirty="0"/>
              <a:t>A model whose parameters can take a wider range of values might be more complex. </a:t>
            </a:r>
            <a:endParaRPr sz="1500" dirty="0"/>
          </a:p>
          <a:p>
            <a:pPr marL="914400" lvl="1" indent="-330200" algn="just" rtl="0">
              <a:lnSpc>
                <a:spcPct val="150000"/>
              </a:lnSpc>
              <a:spcBef>
                <a:spcPts val="0"/>
              </a:spcBef>
              <a:spcAft>
                <a:spcPts val="0"/>
              </a:spcAft>
              <a:buSzPts val="1600"/>
              <a:buChar char="○"/>
            </a:pPr>
            <a:r>
              <a:rPr lang="en" sz="1500" dirty="0"/>
              <a:t>A neural network model that takes more training iterations are more complex, and one subject to early stopping (fewer training iterations) are less complex.</a:t>
            </a:r>
            <a:endParaRPr sz="1500" dirty="0"/>
          </a:p>
          <a:p>
            <a:pPr marL="457200" lvl="0" indent="-355600" algn="l" rtl="0">
              <a:spcBef>
                <a:spcPts val="0"/>
              </a:spcBef>
              <a:spcAft>
                <a:spcPts val="0"/>
              </a:spcAft>
              <a:buSzPts val="2000"/>
              <a:buChar char="●"/>
            </a:pPr>
            <a:endParaRPr dirty="0"/>
          </a:p>
        </p:txBody>
      </p:sp>
      <p:sp>
        <p:nvSpPr>
          <p:cNvPr id="108" name="Google Shape;108;p2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sz="2700" b="1" dirty="0"/>
              <a:t>Factors that influence the generalizability of a model</a:t>
            </a:r>
            <a:endParaRPr sz="2700" b="1" dirty="0"/>
          </a:p>
          <a:p>
            <a:pPr marL="0" lvl="0" indent="0" algn="l" rtl="0">
              <a:spcBef>
                <a:spcPts val="0"/>
              </a:spcBef>
              <a:spcAft>
                <a:spcPts val="0"/>
              </a:spcAft>
              <a:buNone/>
            </a:pPr>
            <a:endParaRPr dirty="0"/>
          </a:p>
        </p:txBody>
      </p:sp>
      <p:sp>
        <p:nvSpPr>
          <p:cNvPr id="114" name="Google Shape;114;p22"/>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lnSpc>
                <a:spcPct val="150000"/>
              </a:lnSpc>
              <a:spcBef>
                <a:spcPts val="0"/>
              </a:spcBef>
              <a:spcAft>
                <a:spcPts val="0"/>
              </a:spcAft>
              <a:buSzPts val="2000"/>
              <a:buAutoNum type="arabicPeriod"/>
            </a:pPr>
            <a:r>
              <a:rPr lang="en" dirty="0"/>
              <a:t>The number of tunable parameters. </a:t>
            </a:r>
            <a:endParaRPr dirty="0"/>
          </a:p>
          <a:p>
            <a:pPr marL="914400" lvl="1" indent="-330200" algn="l" rtl="0">
              <a:lnSpc>
                <a:spcPct val="150000"/>
              </a:lnSpc>
              <a:spcBef>
                <a:spcPts val="0"/>
              </a:spcBef>
              <a:spcAft>
                <a:spcPts val="0"/>
              </a:spcAft>
              <a:buSzPts val="1600"/>
              <a:buChar char="○"/>
            </a:pPr>
            <a:r>
              <a:rPr lang="en" dirty="0"/>
              <a:t>When the number of tunable parameters, called the degrees of freedom, is large, models tend to be more susceptible to overfitting.</a:t>
            </a:r>
            <a:endParaRPr dirty="0"/>
          </a:p>
          <a:p>
            <a:pPr marL="457200" lvl="0" indent="-355600" algn="l" rtl="0">
              <a:lnSpc>
                <a:spcPct val="150000"/>
              </a:lnSpc>
              <a:spcBef>
                <a:spcPts val="0"/>
              </a:spcBef>
              <a:spcAft>
                <a:spcPts val="0"/>
              </a:spcAft>
              <a:buSzPts val="2000"/>
              <a:buAutoNum type="arabicPeriod"/>
            </a:pPr>
            <a:r>
              <a:rPr lang="en" dirty="0"/>
              <a:t>The values taken by the parameters. </a:t>
            </a:r>
            <a:endParaRPr dirty="0"/>
          </a:p>
          <a:p>
            <a:pPr marL="914400" lvl="1" indent="-330200" algn="l" rtl="0">
              <a:lnSpc>
                <a:spcPct val="150000"/>
              </a:lnSpc>
              <a:spcBef>
                <a:spcPts val="0"/>
              </a:spcBef>
              <a:spcAft>
                <a:spcPts val="0"/>
              </a:spcAft>
              <a:buSzPts val="1600"/>
              <a:buChar char="○"/>
            </a:pPr>
            <a:r>
              <a:rPr lang="en" dirty="0"/>
              <a:t>When weights can take a wider range of values, models can be more susceptible to overfitting.</a:t>
            </a:r>
            <a:endParaRPr dirty="0"/>
          </a:p>
          <a:p>
            <a:pPr marL="457200" lvl="0" indent="-355600" algn="l" rtl="0">
              <a:lnSpc>
                <a:spcPct val="150000"/>
              </a:lnSpc>
              <a:spcBef>
                <a:spcPts val="0"/>
              </a:spcBef>
              <a:spcAft>
                <a:spcPts val="0"/>
              </a:spcAft>
              <a:buSzPts val="2000"/>
              <a:buAutoNum type="arabicPeriod"/>
            </a:pPr>
            <a:r>
              <a:rPr lang="en" dirty="0"/>
              <a:t>The number of training examples. </a:t>
            </a:r>
            <a:endParaRPr dirty="0"/>
          </a:p>
          <a:p>
            <a:pPr marL="914400" lvl="1" indent="-330200" algn="l" rtl="0">
              <a:lnSpc>
                <a:spcPct val="150000"/>
              </a:lnSpc>
              <a:spcBef>
                <a:spcPts val="0"/>
              </a:spcBef>
              <a:spcAft>
                <a:spcPts val="0"/>
              </a:spcAft>
              <a:buSzPts val="1600"/>
              <a:buChar char="○"/>
            </a:pPr>
            <a:r>
              <a:rPr lang="en" dirty="0"/>
              <a:t>It is trivially easy to overfit a dataset containing only one or two examples even if your model is simple. But overfitting a dataset with millions of examples requires an extremely flexible model.</a:t>
            </a:r>
            <a:endParaRPr dirty="0"/>
          </a:p>
          <a:p>
            <a:pPr marL="457200" lvl="0" indent="-355600" algn="l" rtl="0">
              <a:spcBef>
                <a:spcPts val="0"/>
              </a:spcBef>
              <a:spcAft>
                <a:spcPts val="0"/>
              </a:spcAft>
              <a:buSzPts val="2000"/>
              <a:buAutoNum type="arabicPeriod"/>
            </a:pPr>
            <a:endParaRPr dirty="0"/>
          </a:p>
        </p:txBody>
      </p:sp>
      <p:sp>
        <p:nvSpPr>
          <p:cNvPr id="115" name="Google Shape;115;p2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Model Selection</a:t>
            </a:r>
            <a:endParaRPr b="1" dirty="0"/>
          </a:p>
        </p:txBody>
      </p:sp>
      <p:sp>
        <p:nvSpPr>
          <p:cNvPr id="121" name="Google Shape;121;p23"/>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Model selection is the process of selecting the final model after evaluating several candidate models.</a:t>
            </a:r>
            <a:endParaRPr dirty="0"/>
          </a:p>
          <a:p>
            <a:pPr marL="457200" lvl="0" indent="-355600" algn="just" rtl="0">
              <a:lnSpc>
                <a:spcPct val="150000"/>
              </a:lnSpc>
              <a:spcBef>
                <a:spcPts val="0"/>
              </a:spcBef>
              <a:spcAft>
                <a:spcPts val="0"/>
              </a:spcAft>
              <a:buSzPts val="2000"/>
              <a:buChar char="●"/>
            </a:pPr>
            <a:r>
              <a:rPr lang="en" dirty="0"/>
              <a:t>With MLPs, </a:t>
            </a:r>
            <a:r>
              <a:rPr lang="en" sz="1600" dirty="0"/>
              <a:t>compare models with</a:t>
            </a:r>
            <a:endParaRPr dirty="0"/>
          </a:p>
          <a:p>
            <a:pPr marL="914400" lvl="1" indent="-330200" algn="just" rtl="0">
              <a:lnSpc>
                <a:spcPct val="150000"/>
              </a:lnSpc>
              <a:spcBef>
                <a:spcPts val="0"/>
              </a:spcBef>
              <a:spcAft>
                <a:spcPts val="0"/>
              </a:spcAft>
              <a:buSzPts val="1600"/>
              <a:buChar char="○"/>
            </a:pPr>
            <a:r>
              <a:rPr lang="en" dirty="0"/>
              <a:t>different numbers of hidden layers,</a:t>
            </a:r>
            <a:endParaRPr dirty="0"/>
          </a:p>
          <a:p>
            <a:pPr marL="914400" lvl="1" indent="-330200" algn="just" rtl="0">
              <a:lnSpc>
                <a:spcPct val="150000"/>
              </a:lnSpc>
              <a:spcBef>
                <a:spcPts val="0"/>
              </a:spcBef>
              <a:spcAft>
                <a:spcPts val="0"/>
              </a:spcAft>
              <a:buSzPts val="1600"/>
              <a:buChar char="○"/>
            </a:pPr>
            <a:r>
              <a:rPr lang="en" dirty="0"/>
              <a:t>different numbers of hidden units</a:t>
            </a:r>
            <a:endParaRPr dirty="0"/>
          </a:p>
          <a:p>
            <a:pPr marL="914400" lvl="1" indent="-330200" algn="just" rtl="0">
              <a:lnSpc>
                <a:spcPct val="150000"/>
              </a:lnSpc>
              <a:spcBef>
                <a:spcPts val="0"/>
              </a:spcBef>
              <a:spcAft>
                <a:spcPts val="0"/>
              </a:spcAft>
              <a:buSzPts val="1600"/>
              <a:buChar char="○"/>
            </a:pPr>
            <a:r>
              <a:rPr lang="en" dirty="0"/>
              <a:t>different activation functions applied to each hidden layer. </a:t>
            </a:r>
            <a:endParaRPr dirty="0"/>
          </a:p>
          <a:p>
            <a:pPr marL="457200" lvl="0" indent="-355600" algn="just" rtl="0">
              <a:lnSpc>
                <a:spcPct val="150000"/>
              </a:lnSpc>
              <a:spcBef>
                <a:spcPts val="0"/>
              </a:spcBef>
              <a:spcAft>
                <a:spcPts val="0"/>
              </a:spcAft>
              <a:buSzPts val="2000"/>
              <a:buChar char="●"/>
            </a:pPr>
            <a:r>
              <a:rPr lang="en" dirty="0"/>
              <a:t>Use Validation dataset to determine the best among our candidate models.</a:t>
            </a:r>
            <a:endParaRPr dirty="0"/>
          </a:p>
        </p:txBody>
      </p:sp>
      <p:sp>
        <p:nvSpPr>
          <p:cNvPr id="122" name="Google Shape;122;p23"/>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Validation dataset</a:t>
            </a:r>
            <a:endParaRPr b="1" dirty="0"/>
          </a:p>
        </p:txBody>
      </p:sp>
      <p:sp>
        <p:nvSpPr>
          <p:cNvPr id="128" name="Google Shape;128;p24"/>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92500" lnSpcReduction="10000"/>
          </a:bodyPr>
          <a:lstStyle/>
          <a:p>
            <a:pPr marL="457200" lvl="0" indent="-355600" algn="just" rtl="0">
              <a:lnSpc>
                <a:spcPct val="150000"/>
              </a:lnSpc>
              <a:spcBef>
                <a:spcPts val="0"/>
              </a:spcBef>
              <a:spcAft>
                <a:spcPts val="0"/>
              </a:spcAft>
              <a:buSzPts val="2000"/>
              <a:buChar char="●"/>
            </a:pPr>
            <a:r>
              <a:rPr lang="en" dirty="0"/>
              <a:t>Never rely on the test data for model selection. </a:t>
            </a:r>
            <a:endParaRPr dirty="0"/>
          </a:p>
          <a:p>
            <a:pPr marL="914400" lvl="1" indent="-330200" algn="just" rtl="0">
              <a:lnSpc>
                <a:spcPct val="150000"/>
              </a:lnSpc>
              <a:spcBef>
                <a:spcPts val="0"/>
              </a:spcBef>
              <a:spcAft>
                <a:spcPts val="0"/>
              </a:spcAft>
              <a:buSzPts val="1600"/>
              <a:buChar char="○"/>
            </a:pPr>
            <a:r>
              <a:rPr lang="en" dirty="0"/>
              <a:t>Risk of overfit the test data</a:t>
            </a:r>
            <a:endParaRPr dirty="0"/>
          </a:p>
          <a:p>
            <a:pPr marL="457200" lvl="0" indent="-355600" algn="just" rtl="0">
              <a:lnSpc>
                <a:spcPct val="150000"/>
              </a:lnSpc>
              <a:spcBef>
                <a:spcPts val="0"/>
              </a:spcBef>
              <a:spcAft>
                <a:spcPts val="0"/>
              </a:spcAft>
              <a:buSzPts val="2000"/>
              <a:buChar char="●"/>
            </a:pPr>
            <a:r>
              <a:rPr lang="en" dirty="0"/>
              <a:t>Do not rely solely on the training data for model selection</a:t>
            </a:r>
            <a:endParaRPr dirty="0"/>
          </a:p>
          <a:p>
            <a:pPr marL="914400" lvl="1" indent="-330200" algn="just" rtl="0">
              <a:lnSpc>
                <a:spcPct val="150000"/>
              </a:lnSpc>
              <a:spcBef>
                <a:spcPts val="0"/>
              </a:spcBef>
              <a:spcAft>
                <a:spcPts val="0"/>
              </a:spcAft>
              <a:buSzPts val="1600"/>
              <a:buChar char="○"/>
            </a:pPr>
            <a:r>
              <a:rPr lang="en" dirty="0"/>
              <a:t>We cannot estimate the generalization error on the very data that we use to train the model.</a:t>
            </a:r>
            <a:endParaRPr dirty="0"/>
          </a:p>
          <a:p>
            <a:pPr marL="457200" lvl="0" indent="-355600" algn="just" rtl="0">
              <a:lnSpc>
                <a:spcPct val="150000"/>
              </a:lnSpc>
              <a:spcBef>
                <a:spcPts val="0"/>
              </a:spcBef>
              <a:spcAft>
                <a:spcPts val="0"/>
              </a:spcAft>
              <a:buSzPts val="2000"/>
              <a:buChar char="●"/>
            </a:pPr>
            <a:r>
              <a:rPr lang="en" dirty="0"/>
              <a:t>Split the data three ways, incorporating a validation dataset (or validation set) in addition to the training and test datasets. </a:t>
            </a:r>
            <a:endParaRPr dirty="0"/>
          </a:p>
          <a:p>
            <a:pPr marL="457200" lvl="0" indent="-355600" algn="just" rtl="0">
              <a:lnSpc>
                <a:spcPct val="150000"/>
              </a:lnSpc>
              <a:spcBef>
                <a:spcPts val="0"/>
              </a:spcBef>
              <a:spcAft>
                <a:spcPts val="0"/>
              </a:spcAft>
              <a:buSzPts val="2000"/>
              <a:buChar char="●"/>
            </a:pPr>
            <a:r>
              <a:rPr lang="en" dirty="0"/>
              <a:t>In deep learning, with millions of data available, the split is generally</a:t>
            </a:r>
            <a:endParaRPr dirty="0"/>
          </a:p>
          <a:p>
            <a:pPr marL="914400" lvl="1" indent="-330200" algn="just" rtl="0">
              <a:lnSpc>
                <a:spcPct val="150000"/>
              </a:lnSpc>
              <a:spcBef>
                <a:spcPts val="0"/>
              </a:spcBef>
              <a:spcAft>
                <a:spcPts val="0"/>
              </a:spcAft>
              <a:buSzPts val="1600"/>
              <a:buChar char="○"/>
            </a:pPr>
            <a:r>
              <a:rPr lang="en" dirty="0"/>
              <a:t>Training = 98-99 % of the original dataset</a:t>
            </a:r>
            <a:endParaRPr dirty="0"/>
          </a:p>
          <a:p>
            <a:pPr marL="914400" lvl="1" indent="-330200" algn="just" rtl="0">
              <a:lnSpc>
                <a:spcPct val="150000"/>
              </a:lnSpc>
              <a:spcBef>
                <a:spcPts val="0"/>
              </a:spcBef>
              <a:spcAft>
                <a:spcPts val="0"/>
              </a:spcAft>
              <a:buSzPts val="1600"/>
              <a:buChar char="○"/>
            </a:pPr>
            <a:r>
              <a:rPr lang="en" dirty="0"/>
              <a:t>Validation = 1-2 % of training dataset</a:t>
            </a:r>
            <a:endParaRPr dirty="0"/>
          </a:p>
          <a:p>
            <a:pPr marL="914400" lvl="1" indent="-330200" algn="just" rtl="0">
              <a:lnSpc>
                <a:spcPct val="150000"/>
              </a:lnSpc>
              <a:spcBef>
                <a:spcPts val="0"/>
              </a:spcBef>
              <a:spcAft>
                <a:spcPts val="0"/>
              </a:spcAft>
              <a:buSzPts val="1600"/>
              <a:buChar char="○"/>
            </a:pPr>
            <a:r>
              <a:rPr lang="en" dirty="0"/>
              <a:t>Testing = 1-2 % of the original dataset</a:t>
            </a:r>
            <a:endParaRPr dirty="0"/>
          </a:p>
        </p:txBody>
      </p:sp>
      <p:sp>
        <p:nvSpPr>
          <p:cNvPr id="129" name="Google Shape;129;p2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Just Right Model</a:t>
            </a:r>
            <a:endParaRPr b="1" dirty="0"/>
          </a:p>
        </p:txBody>
      </p:sp>
      <p:sp>
        <p:nvSpPr>
          <p:cNvPr id="135" name="Google Shape;135;p25"/>
          <p:cNvSpPr txBox="1">
            <a:spLocks noGrp="1"/>
          </p:cNvSpPr>
          <p:nvPr>
            <p:ph type="body" idx="1"/>
          </p:nvPr>
        </p:nvSpPr>
        <p:spPr>
          <a:xfrm>
            <a:off x="311700" y="715150"/>
            <a:ext cx="4624800" cy="2576100"/>
          </a:xfrm>
          <a:prstGeom prst="rect">
            <a:avLst/>
          </a:prstGeom>
        </p:spPr>
        <p:txBody>
          <a:bodyPr spcFirstLastPara="1" wrap="square" lIns="91425" tIns="91425" rIns="91425" bIns="91425" anchor="t" anchorCtr="0">
            <a:normAutofit/>
          </a:bodyPr>
          <a:lstStyle/>
          <a:p>
            <a:pPr marL="457200" lvl="0" indent="-355600" algn="just" rtl="0">
              <a:lnSpc>
                <a:spcPct val="160000"/>
              </a:lnSpc>
              <a:spcBef>
                <a:spcPts val="0"/>
              </a:spcBef>
              <a:spcAft>
                <a:spcPts val="0"/>
              </a:spcAft>
              <a:buSzPts val="2000"/>
              <a:buChar char="●"/>
            </a:pPr>
            <a:r>
              <a:rPr lang="en" sz="1600" dirty="0"/>
              <a:t>High Training accuracy </a:t>
            </a:r>
            <a:endParaRPr sz="1600" dirty="0"/>
          </a:p>
          <a:p>
            <a:pPr marL="457200" lvl="0" indent="-355600" algn="just" rtl="0">
              <a:lnSpc>
                <a:spcPct val="160000"/>
              </a:lnSpc>
              <a:spcBef>
                <a:spcPts val="0"/>
              </a:spcBef>
              <a:spcAft>
                <a:spcPts val="0"/>
              </a:spcAft>
              <a:buSzPts val="2000"/>
              <a:buChar char="●"/>
            </a:pPr>
            <a:r>
              <a:rPr lang="en" sz="1600" dirty="0"/>
              <a:t>High Validation accuracy</a:t>
            </a:r>
            <a:endParaRPr sz="1600" dirty="0"/>
          </a:p>
          <a:p>
            <a:pPr marL="457200" lvl="0" indent="-355600" algn="just" rtl="0">
              <a:lnSpc>
                <a:spcPct val="160000"/>
              </a:lnSpc>
              <a:spcBef>
                <a:spcPts val="0"/>
              </a:spcBef>
              <a:spcAft>
                <a:spcPts val="0"/>
              </a:spcAft>
              <a:buSzPts val="2000"/>
              <a:buChar char="●"/>
            </a:pPr>
            <a:r>
              <a:rPr lang="en" sz="1600" dirty="0"/>
              <a:t>Low Bias and Low Variance</a:t>
            </a:r>
            <a:endParaRPr sz="1600" dirty="0"/>
          </a:p>
          <a:p>
            <a:pPr marL="457200" lvl="0" indent="-355600" algn="just" rtl="0">
              <a:lnSpc>
                <a:spcPct val="160000"/>
              </a:lnSpc>
              <a:spcBef>
                <a:spcPts val="0"/>
              </a:spcBef>
              <a:spcAft>
                <a:spcPts val="0"/>
              </a:spcAft>
              <a:buSzPts val="2000"/>
              <a:buChar char="●"/>
            </a:pPr>
            <a:r>
              <a:rPr lang="en" sz="1600" dirty="0"/>
              <a:t>Usually care more about the validation error than about the gap between the training and validation errors.</a:t>
            </a:r>
            <a:endParaRPr sz="1600" dirty="0"/>
          </a:p>
        </p:txBody>
      </p:sp>
      <p:sp>
        <p:nvSpPr>
          <p:cNvPr id="136" name="Google Shape;136;p25"/>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11</a:t>
            </a:fld>
            <a:endParaRPr/>
          </a:p>
        </p:txBody>
      </p:sp>
      <p:pic>
        <p:nvPicPr>
          <p:cNvPr id="137" name="Google Shape;137;p25"/>
          <p:cNvPicPr preferRelativeResize="0"/>
          <p:nvPr/>
        </p:nvPicPr>
        <p:blipFill rotWithShape="1">
          <a:blip r:embed="rId3">
            <a:alphaModFix/>
          </a:blip>
          <a:srcRect b="43226"/>
          <a:stretch/>
        </p:blipFill>
        <p:spPr>
          <a:xfrm>
            <a:off x="500600" y="3373948"/>
            <a:ext cx="8331699" cy="1664950"/>
          </a:xfrm>
          <a:prstGeom prst="rect">
            <a:avLst/>
          </a:prstGeom>
          <a:noFill/>
          <a:ln>
            <a:noFill/>
          </a:ln>
        </p:spPr>
      </p:pic>
      <p:pic>
        <p:nvPicPr>
          <p:cNvPr id="138" name="Google Shape;138;p25"/>
          <p:cNvPicPr preferRelativeResize="0"/>
          <p:nvPr/>
        </p:nvPicPr>
        <p:blipFill>
          <a:blip r:embed="rId4">
            <a:alphaModFix/>
          </a:blip>
          <a:stretch>
            <a:fillRect/>
          </a:stretch>
        </p:blipFill>
        <p:spPr>
          <a:xfrm>
            <a:off x="4936563" y="849813"/>
            <a:ext cx="3895725" cy="2524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Underfitting</a:t>
            </a:r>
            <a:endParaRPr b="1" dirty="0"/>
          </a:p>
        </p:txBody>
      </p:sp>
      <p:sp>
        <p:nvSpPr>
          <p:cNvPr id="144" name="Google Shape;144;p26"/>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70000" lnSpcReduction="20000"/>
          </a:bodyPr>
          <a:lstStyle/>
          <a:p>
            <a:pPr marL="457200" lvl="0" indent="-336550" algn="l" rtl="0">
              <a:spcBef>
                <a:spcPts val="0"/>
              </a:spcBef>
              <a:spcAft>
                <a:spcPts val="0"/>
              </a:spcAft>
              <a:buSzPct val="100000"/>
              <a:buChar char="●"/>
            </a:pPr>
            <a:r>
              <a:rPr lang="en" dirty="0"/>
              <a:t>Low Training accuracy and Low Validation accuracy.</a:t>
            </a:r>
            <a:endParaRPr dirty="0"/>
          </a:p>
          <a:p>
            <a:pPr marL="457200" lvl="0" indent="0" algn="l" rtl="0">
              <a:spcBef>
                <a:spcPts val="1200"/>
              </a:spcBef>
              <a:spcAft>
                <a:spcPts val="0"/>
              </a:spcAft>
              <a:buNone/>
            </a:pPr>
            <a:endParaRPr dirty="0"/>
          </a:p>
          <a:p>
            <a:pPr marL="457200" lvl="0" indent="0" algn="l" rtl="0">
              <a:spcBef>
                <a:spcPts val="1200"/>
              </a:spcBef>
              <a:spcAft>
                <a:spcPts val="0"/>
              </a:spcAft>
              <a:buNone/>
            </a:pPr>
            <a:endParaRPr dirty="0"/>
          </a:p>
          <a:p>
            <a:pPr marL="457200" lvl="0" indent="0" algn="l" rtl="0">
              <a:spcBef>
                <a:spcPts val="1200"/>
              </a:spcBef>
              <a:spcAft>
                <a:spcPts val="0"/>
              </a:spcAft>
              <a:buNone/>
            </a:pPr>
            <a:endParaRPr dirty="0"/>
          </a:p>
          <a:p>
            <a:pPr marL="457200" lvl="0" indent="0" algn="l" rtl="0">
              <a:spcBef>
                <a:spcPts val="1200"/>
              </a:spcBef>
              <a:spcAft>
                <a:spcPts val="0"/>
              </a:spcAft>
              <a:buNone/>
            </a:pPr>
            <a:endParaRPr dirty="0"/>
          </a:p>
          <a:p>
            <a:pPr marL="457200" lvl="0" indent="0" algn="l" rtl="0">
              <a:spcBef>
                <a:spcPts val="1200"/>
              </a:spcBef>
              <a:spcAft>
                <a:spcPts val="0"/>
              </a:spcAft>
              <a:buNone/>
            </a:pPr>
            <a:endParaRPr dirty="0"/>
          </a:p>
          <a:p>
            <a:pPr marL="457200" lvl="0" indent="-336550" algn="just" rtl="0">
              <a:lnSpc>
                <a:spcPct val="170000"/>
              </a:lnSpc>
              <a:spcAft>
                <a:spcPts val="0"/>
              </a:spcAft>
              <a:buSzPct val="100000"/>
              <a:buChar char="●"/>
            </a:pPr>
            <a:endParaRPr lang="en" dirty="0"/>
          </a:p>
          <a:p>
            <a:pPr marL="457200" lvl="0" indent="-336550" algn="just" rtl="0">
              <a:lnSpc>
                <a:spcPct val="170000"/>
              </a:lnSpc>
              <a:spcAft>
                <a:spcPts val="0"/>
              </a:spcAft>
              <a:buSzPct val="100000"/>
              <a:buChar char="●"/>
            </a:pPr>
            <a:endParaRPr lang="en" dirty="0"/>
          </a:p>
          <a:p>
            <a:pPr marL="457200" lvl="0" indent="-336550" algn="just" rtl="0">
              <a:lnSpc>
                <a:spcPct val="170000"/>
              </a:lnSpc>
              <a:spcAft>
                <a:spcPts val="0"/>
              </a:spcAft>
              <a:buSzPct val="100000"/>
              <a:buChar char="●"/>
            </a:pPr>
            <a:r>
              <a:rPr lang="en" dirty="0"/>
              <a:t>The model is too simple (insufficiently expressive) to capture the pattern that we are trying to model. </a:t>
            </a:r>
            <a:endParaRPr dirty="0"/>
          </a:p>
          <a:p>
            <a:pPr marL="457200" lvl="0" indent="-336550" algn="just" rtl="0">
              <a:lnSpc>
                <a:spcPct val="170000"/>
              </a:lnSpc>
              <a:spcAft>
                <a:spcPts val="0"/>
              </a:spcAft>
              <a:buSzPct val="100000"/>
              <a:buChar char="●"/>
            </a:pPr>
            <a:r>
              <a:rPr lang="en-US" dirty="0"/>
              <a:t>Training error and validation error are both substantial but there is a little gap between them.</a:t>
            </a:r>
          </a:p>
          <a:p>
            <a:pPr marL="457200" lvl="0" indent="-336550" algn="just" rtl="0">
              <a:lnSpc>
                <a:spcPct val="170000"/>
              </a:lnSpc>
              <a:spcAft>
                <a:spcPts val="0"/>
              </a:spcAft>
              <a:buSzPct val="100000"/>
              <a:buChar char="●"/>
            </a:pPr>
            <a:r>
              <a:rPr lang="en" dirty="0"/>
              <a:t>If generalization gap between our training and validation errors is small, a more complex model may be better. </a:t>
            </a:r>
            <a:endParaRPr dirty="0"/>
          </a:p>
        </p:txBody>
      </p:sp>
      <p:sp>
        <p:nvSpPr>
          <p:cNvPr id="145" name="Google Shape;145;p26"/>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12</a:t>
            </a:fld>
            <a:endParaRPr/>
          </a:p>
        </p:txBody>
      </p:sp>
      <p:pic>
        <p:nvPicPr>
          <p:cNvPr id="146" name="Google Shape;146;p26"/>
          <p:cNvPicPr preferRelativeResize="0"/>
          <p:nvPr/>
        </p:nvPicPr>
        <p:blipFill>
          <a:blip r:embed="rId3">
            <a:alphaModFix/>
          </a:blip>
          <a:stretch>
            <a:fillRect/>
          </a:stretch>
        </p:blipFill>
        <p:spPr>
          <a:xfrm>
            <a:off x="311700" y="1245000"/>
            <a:ext cx="7987173" cy="1823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Overfitting</a:t>
            </a:r>
            <a:endParaRPr b="1" dirty="0"/>
          </a:p>
        </p:txBody>
      </p:sp>
      <p:sp>
        <p:nvSpPr>
          <p:cNvPr id="152" name="Google Shape;152;p27"/>
          <p:cNvSpPr txBox="1">
            <a:spLocks noGrp="1"/>
          </p:cNvSpPr>
          <p:nvPr>
            <p:ph type="body" idx="1"/>
          </p:nvPr>
        </p:nvSpPr>
        <p:spPr>
          <a:xfrm>
            <a:off x="311700" y="715150"/>
            <a:ext cx="4563000" cy="4147800"/>
          </a:xfrm>
          <a:prstGeom prst="rect">
            <a:avLst/>
          </a:prstGeom>
        </p:spPr>
        <p:txBody>
          <a:bodyPr spcFirstLastPara="1" wrap="square" lIns="91425" tIns="91425" rIns="91425" bIns="91425" anchor="t" anchorCtr="0">
            <a:normAutofit lnSpcReduction="10000"/>
          </a:bodyPr>
          <a:lstStyle/>
          <a:p>
            <a:pPr marL="457200" lvl="0" indent="-355600" algn="just" rtl="0">
              <a:lnSpc>
                <a:spcPct val="150000"/>
              </a:lnSpc>
              <a:spcBef>
                <a:spcPts val="0"/>
              </a:spcBef>
              <a:spcAft>
                <a:spcPts val="0"/>
              </a:spcAft>
              <a:buSzPts val="2000"/>
              <a:buChar char="●"/>
            </a:pPr>
            <a:r>
              <a:rPr lang="en" sz="1800" dirty="0"/>
              <a:t>The phenomenon of fitting the training data more closely than fit the underlying distribution is called </a:t>
            </a:r>
            <a:r>
              <a:rPr lang="en" sz="1800" b="1" dirty="0"/>
              <a:t>overfitting.</a:t>
            </a:r>
            <a:endParaRPr sz="1800" b="1" dirty="0"/>
          </a:p>
          <a:p>
            <a:pPr marL="457200" lvl="0" indent="-355600" algn="just" rtl="0">
              <a:lnSpc>
                <a:spcPct val="150000"/>
              </a:lnSpc>
              <a:spcBef>
                <a:spcPts val="0"/>
              </a:spcBef>
              <a:spcAft>
                <a:spcPts val="0"/>
              </a:spcAft>
              <a:buSzPts val="2000"/>
              <a:buChar char="●"/>
            </a:pPr>
            <a:r>
              <a:rPr lang="en" sz="1800" dirty="0"/>
              <a:t>High Training accuracy and Low Validation accuracy</a:t>
            </a:r>
            <a:endParaRPr sz="1800" dirty="0"/>
          </a:p>
          <a:p>
            <a:pPr marL="457200" lvl="0" indent="-355600" algn="just" rtl="0">
              <a:lnSpc>
                <a:spcPct val="150000"/>
              </a:lnSpc>
              <a:spcBef>
                <a:spcPts val="0"/>
              </a:spcBef>
              <a:spcAft>
                <a:spcPts val="0"/>
              </a:spcAft>
              <a:buSzPts val="2000"/>
              <a:buChar char="●"/>
            </a:pPr>
            <a:r>
              <a:rPr lang="en" sz="1800" dirty="0"/>
              <a:t>Training error is significantly lower than the validation error.</a:t>
            </a:r>
            <a:endParaRPr sz="1800" dirty="0"/>
          </a:p>
          <a:p>
            <a:pPr marL="457200" lvl="0" indent="-355600" algn="just" rtl="0">
              <a:lnSpc>
                <a:spcPct val="150000"/>
              </a:lnSpc>
              <a:spcBef>
                <a:spcPts val="0"/>
              </a:spcBef>
              <a:spcAft>
                <a:spcPts val="0"/>
              </a:spcAft>
              <a:buSzPts val="2000"/>
              <a:buChar char="●"/>
            </a:pPr>
            <a:r>
              <a:rPr lang="en" sz="1800" dirty="0"/>
              <a:t>The techniques used to combat overfitting are called </a:t>
            </a:r>
            <a:r>
              <a:rPr lang="en" sz="1800" b="1" dirty="0"/>
              <a:t>regularization</a:t>
            </a:r>
            <a:r>
              <a:rPr lang="en" sz="1800" dirty="0"/>
              <a:t>. </a:t>
            </a:r>
            <a:endParaRPr sz="1800" dirty="0"/>
          </a:p>
          <a:p>
            <a:pPr marL="0" lvl="0" indent="0" algn="l" rtl="0">
              <a:spcBef>
                <a:spcPts val="1200"/>
              </a:spcBef>
              <a:spcAft>
                <a:spcPts val="1200"/>
              </a:spcAft>
              <a:buNone/>
            </a:pPr>
            <a:endParaRPr dirty="0"/>
          </a:p>
        </p:txBody>
      </p:sp>
      <p:sp>
        <p:nvSpPr>
          <p:cNvPr id="153" name="Google Shape;153;p27"/>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13</a:t>
            </a:fld>
            <a:endParaRPr/>
          </a:p>
        </p:txBody>
      </p:sp>
      <p:pic>
        <p:nvPicPr>
          <p:cNvPr id="154" name="Google Shape;154;p27"/>
          <p:cNvPicPr preferRelativeResize="0"/>
          <p:nvPr/>
        </p:nvPicPr>
        <p:blipFill>
          <a:blip r:embed="rId3">
            <a:alphaModFix/>
          </a:blip>
          <a:stretch>
            <a:fillRect/>
          </a:stretch>
        </p:blipFill>
        <p:spPr>
          <a:xfrm>
            <a:off x="5179488" y="1014400"/>
            <a:ext cx="3895725" cy="3267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Underfitting or Overfitting?</a:t>
            </a:r>
            <a:endParaRPr/>
          </a:p>
        </p:txBody>
      </p:sp>
      <p:sp>
        <p:nvSpPr>
          <p:cNvPr id="160" name="Google Shape;160;p28"/>
          <p:cNvSpPr txBox="1">
            <a:spLocks noGrp="1"/>
          </p:cNvSpPr>
          <p:nvPr>
            <p:ph type="sldNum" idx="12"/>
          </p:nvPr>
        </p:nvSpPr>
        <p:spPr>
          <a:xfrm>
            <a:off x="8497075" y="48326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14</a:t>
            </a:fld>
            <a:endParaRPr/>
          </a:p>
        </p:txBody>
      </p:sp>
      <p:sp>
        <p:nvSpPr>
          <p:cNvPr id="161" name="Google Shape;161;p28"/>
          <p:cNvSpPr txBox="1"/>
          <p:nvPr/>
        </p:nvSpPr>
        <p:spPr>
          <a:xfrm>
            <a:off x="350400" y="2711105"/>
            <a:ext cx="8481900" cy="736200"/>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0"/>
              </a:spcAft>
              <a:buNone/>
            </a:pPr>
            <a:r>
              <a:rPr lang="en" dirty="0"/>
              <a:t>Simple Model				Complex Model				Just right model</a:t>
            </a:r>
            <a:endParaRPr dirty="0"/>
          </a:p>
          <a:p>
            <a:pPr marL="457200" lvl="0" indent="457200" algn="l" rtl="0">
              <a:spcBef>
                <a:spcPts val="0"/>
              </a:spcBef>
              <a:spcAft>
                <a:spcPts val="0"/>
              </a:spcAft>
              <a:buNone/>
            </a:pPr>
            <a:r>
              <a:rPr lang="en" dirty="0"/>
              <a:t>Underfitting					Overfitting</a:t>
            </a:r>
            <a:endParaRPr dirty="0"/>
          </a:p>
        </p:txBody>
      </p:sp>
      <p:pic>
        <p:nvPicPr>
          <p:cNvPr id="162" name="Google Shape;162;p28"/>
          <p:cNvPicPr preferRelativeResize="0"/>
          <p:nvPr/>
        </p:nvPicPr>
        <p:blipFill>
          <a:blip r:embed="rId3">
            <a:alphaModFix/>
          </a:blip>
          <a:stretch>
            <a:fillRect/>
          </a:stretch>
        </p:blipFill>
        <p:spPr>
          <a:xfrm>
            <a:off x="6309038" y="3389684"/>
            <a:ext cx="2814037" cy="1677973"/>
          </a:xfrm>
          <a:prstGeom prst="rect">
            <a:avLst/>
          </a:prstGeom>
          <a:noFill/>
          <a:ln>
            <a:noFill/>
          </a:ln>
        </p:spPr>
      </p:pic>
      <p:pic>
        <p:nvPicPr>
          <p:cNvPr id="163" name="Google Shape;163;p28"/>
          <p:cNvPicPr preferRelativeResize="0"/>
          <p:nvPr/>
        </p:nvPicPr>
        <p:blipFill>
          <a:blip r:embed="rId4">
            <a:alphaModFix/>
          </a:blip>
          <a:stretch>
            <a:fillRect/>
          </a:stretch>
        </p:blipFill>
        <p:spPr>
          <a:xfrm>
            <a:off x="73125" y="3388080"/>
            <a:ext cx="2814036" cy="1681170"/>
          </a:xfrm>
          <a:prstGeom prst="rect">
            <a:avLst/>
          </a:prstGeom>
          <a:noFill/>
          <a:ln>
            <a:noFill/>
          </a:ln>
        </p:spPr>
      </p:pic>
      <p:pic>
        <p:nvPicPr>
          <p:cNvPr id="164" name="Google Shape;164;p28"/>
          <p:cNvPicPr preferRelativeResize="0"/>
          <p:nvPr/>
        </p:nvPicPr>
        <p:blipFill>
          <a:blip r:embed="rId5">
            <a:alphaModFix/>
          </a:blip>
          <a:stretch>
            <a:fillRect/>
          </a:stretch>
        </p:blipFill>
        <p:spPr>
          <a:xfrm>
            <a:off x="3243164" y="3389675"/>
            <a:ext cx="2786497" cy="1677974"/>
          </a:xfrm>
          <a:prstGeom prst="rect">
            <a:avLst/>
          </a:prstGeom>
          <a:noFill/>
          <a:ln>
            <a:noFill/>
          </a:ln>
        </p:spPr>
      </p:pic>
      <p:pic>
        <p:nvPicPr>
          <p:cNvPr id="165" name="Google Shape;165;p28"/>
          <p:cNvPicPr preferRelativeResize="0"/>
          <p:nvPr/>
        </p:nvPicPr>
        <p:blipFill rotWithShape="1">
          <a:blip r:embed="rId6">
            <a:alphaModFix/>
          </a:blip>
          <a:srcRect b="12288"/>
          <a:stretch/>
        </p:blipFill>
        <p:spPr>
          <a:xfrm>
            <a:off x="819800" y="715150"/>
            <a:ext cx="7785625" cy="2141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Polynomial degree and underfitting vs. overfitting </a:t>
            </a:r>
            <a:endParaRPr/>
          </a:p>
        </p:txBody>
      </p:sp>
      <p:sp>
        <p:nvSpPr>
          <p:cNvPr id="172" name="Google Shape;172;p29"/>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15</a:t>
            </a:fld>
            <a:endParaRPr/>
          </a:p>
        </p:txBody>
      </p:sp>
      <p:pic>
        <p:nvPicPr>
          <p:cNvPr id="173" name="Google Shape;173;p29"/>
          <p:cNvPicPr preferRelativeResize="0"/>
          <p:nvPr/>
        </p:nvPicPr>
        <p:blipFill>
          <a:blip r:embed="rId3">
            <a:alphaModFix/>
          </a:blip>
          <a:stretch>
            <a:fillRect/>
          </a:stretch>
        </p:blipFill>
        <p:spPr>
          <a:xfrm>
            <a:off x="2033575" y="1276775"/>
            <a:ext cx="5076825" cy="3390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Model complexity and dataset size</a:t>
            </a:r>
            <a:endParaRPr b="1" dirty="0"/>
          </a:p>
        </p:txBody>
      </p:sp>
      <p:sp>
        <p:nvSpPr>
          <p:cNvPr id="179" name="Google Shape;179;p30"/>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More data, fit a more complex model. </a:t>
            </a:r>
            <a:endParaRPr dirty="0"/>
          </a:p>
          <a:p>
            <a:pPr marL="457200" lvl="0" indent="-355600" algn="just" rtl="0">
              <a:lnSpc>
                <a:spcPct val="150000"/>
              </a:lnSpc>
              <a:spcBef>
                <a:spcPts val="0"/>
              </a:spcBef>
              <a:spcAft>
                <a:spcPts val="0"/>
              </a:spcAft>
              <a:buSzPts val="2000"/>
              <a:buChar char="●"/>
            </a:pPr>
            <a:r>
              <a:rPr lang="en" dirty="0"/>
              <a:t>More data, the generalization error typically decreases.</a:t>
            </a:r>
            <a:endParaRPr dirty="0"/>
          </a:p>
          <a:p>
            <a:pPr marL="457200" lvl="0" indent="0" algn="l" rtl="0">
              <a:spcBef>
                <a:spcPts val="1200"/>
              </a:spcBef>
              <a:spcAft>
                <a:spcPts val="0"/>
              </a:spcAft>
              <a:buNone/>
            </a:pPr>
            <a:endParaRPr dirty="0"/>
          </a:p>
          <a:p>
            <a:pPr marL="457200" lvl="0" indent="-355600" algn="just" rtl="0">
              <a:lnSpc>
                <a:spcPct val="160000"/>
              </a:lnSpc>
              <a:spcAft>
                <a:spcPts val="0"/>
              </a:spcAft>
              <a:buSzPts val="2000"/>
              <a:buChar char="●"/>
            </a:pPr>
            <a:r>
              <a:rPr lang="en" dirty="0"/>
              <a:t>Less data, simpler models may be more difficult to beat.</a:t>
            </a:r>
            <a:endParaRPr dirty="0"/>
          </a:p>
          <a:p>
            <a:pPr marL="457200" lvl="0" indent="-355600" algn="just" rtl="0">
              <a:lnSpc>
                <a:spcPct val="160000"/>
              </a:lnSpc>
              <a:spcAft>
                <a:spcPts val="0"/>
              </a:spcAft>
              <a:buSzPts val="2000"/>
              <a:buChar char="●"/>
            </a:pPr>
            <a:r>
              <a:rPr lang="en" dirty="0"/>
              <a:t>Less data, more likely and more severely, models may over-fit.</a:t>
            </a:r>
            <a:endParaRPr dirty="0"/>
          </a:p>
          <a:p>
            <a:pPr marL="457200" lvl="0" indent="0" algn="just" rtl="0">
              <a:lnSpc>
                <a:spcPct val="150000"/>
              </a:lnSpc>
              <a:buNone/>
            </a:pPr>
            <a:r>
              <a:rPr lang="en" dirty="0"/>
              <a:t>The current success of deep learning owes to the current abundance of massive datasets due to Internet companies, cheap storage, connected devices, and the broad digitization of the economy.</a:t>
            </a:r>
            <a:endParaRPr dirty="0"/>
          </a:p>
        </p:txBody>
      </p:sp>
      <p:sp>
        <p:nvSpPr>
          <p:cNvPr id="180" name="Google Shape;180;p30"/>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Deep Learning Model Selection</a:t>
            </a:r>
            <a:endParaRPr/>
          </a:p>
        </p:txBody>
      </p:sp>
      <p:sp>
        <p:nvSpPr>
          <p:cNvPr id="187" name="Google Shape;187;p3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17</a:t>
            </a:fld>
            <a:endParaRPr/>
          </a:p>
        </p:txBody>
      </p:sp>
      <p:pic>
        <p:nvPicPr>
          <p:cNvPr id="188" name="Google Shape;188;p31"/>
          <p:cNvPicPr preferRelativeResize="0"/>
          <p:nvPr/>
        </p:nvPicPr>
        <p:blipFill>
          <a:blip r:embed="rId3">
            <a:alphaModFix/>
          </a:blip>
          <a:stretch>
            <a:fillRect/>
          </a:stretch>
        </p:blipFill>
        <p:spPr>
          <a:xfrm>
            <a:off x="890575" y="791350"/>
            <a:ext cx="7362825" cy="4057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b="1" dirty="0"/>
              <a:t>Regularization</a:t>
            </a:r>
            <a:endParaRPr b="1" dirty="0"/>
          </a:p>
        </p:txBody>
      </p:sp>
      <p:sp>
        <p:nvSpPr>
          <p:cNvPr id="194" name="Google Shape;194;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Regularization Techniques</a:t>
            </a:r>
            <a:endParaRPr b="1" dirty="0"/>
          </a:p>
        </p:txBody>
      </p:sp>
      <p:sp>
        <p:nvSpPr>
          <p:cNvPr id="200" name="Google Shape;200;p33"/>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lnSpc>
                <a:spcPct val="200000"/>
              </a:lnSpc>
              <a:spcBef>
                <a:spcPts val="0"/>
              </a:spcBef>
              <a:spcAft>
                <a:spcPts val="0"/>
              </a:spcAft>
              <a:buSzPts val="2000"/>
              <a:buChar char="●"/>
            </a:pPr>
            <a:r>
              <a:rPr lang="en" dirty="0"/>
              <a:t>Weight Decay ( L2 regularization)</a:t>
            </a:r>
            <a:endParaRPr dirty="0"/>
          </a:p>
          <a:p>
            <a:pPr marL="457200" lvl="0" indent="-355600" algn="l" rtl="0">
              <a:lnSpc>
                <a:spcPct val="200000"/>
              </a:lnSpc>
              <a:spcBef>
                <a:spcPts val="0"/>
              </a:spcBef>
              <a:spcAft>
                <a:spcPts val="0"/>
              </a:spcAft>
              <a:buSzPts val="2000"/>
              <a:buChar char="●"/>
            </a:pPr>
            <a:r>
              <a:rPr lang="en" dirty="0"/>
              <a:t>Dropout</a:t>
            </a:r>
            <a:endParaRPr dirty="0"/>
          </a:p>
          <a:p>
            <a:pPr marL="457200" lvl="0" indent="-355600" algn="l" rtl="0">
              <a:lnSpc>
                <a:spcPct val="200000"/>
              </a:lnSpc>
              <a:spcBef>
                <a:spcPts val="0"/>
              </a:spcBef>
              <a:spcAft>
                <a:spcPts val="0"/>
              </a:spcAft>
              <a:buSzPts val="2000"/>
              <a:buChar char="●"/>
            </a:pPr>
            <a:r>
              <a:rPr lang="en" dirty="0"/>
              <a:t>Early Stopping</a:t>
            </a:r>
            <a:endParaRPr dirty="0"/>
          </a:p>
        </p:txBody>
      </p:sp>
      <p:sp>
        <p:nvSpPr>
          <p:cNvPr id="201" name="Google Shape;201;p33"/>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lvl="0"/>
            <a:r>
              <a:rPr lang="en" b="1" dirty="0"/>
              <a:t>Weight Decay(L2 Regularization)</a:t>
            </a:r>
            <a:endParaRPr b="1" dirty="0"/>
          </a:p>
        </p:txBody>
      </p:sp>
      <p:sp>
        <p:nvSpPr>
          <p:cNvPr id="213" name="Google Shape;213;p35"/>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sz="1800" dirty="0"/>
              <a:t>Measure the complexity of a linear function f (x) = w</a:t>
            </a:r>
            <a:r>
              <a:rPr lang="en" sz="1800" baseline="30000" dirty="0"/>
              <a:t>⊤</a:t>
            </a:r>
            <a:r>
              <a:rPr lang="en" sz="1800" dirty="0"/>
              <a:t>x by some norm of its weight vector, e.g., ∥w∥</a:t>
            </a:r>
            <a:r>
              <a:rPr lang="en" sz="1800" baseline="30000" dirty="0"/>
              <a:t>2</a:t>
            </a:r>
            <a:r>
              <a:rPr lang="en" sz="1800" dirty="0"/>
              <a:t>. </a:t>
            </a:r>
            <a:endParaRPr sz="1800" dirty="0"/>
          </a:p>
          <a:p>
            <a:pPr marL="457200" lvl="0" indent="-355600" algn="just" rtl="0">
              <a:lnSpc>
                <a:spcPct val="150000"/>
              </a:lnSpc>
              <a:spcBef>
                <a:spcPts val="0"/>
              </a:spcBef>
              <a:spcAft>
                <a:spcPts val="0"/>
              </a:spcAft>
              <a:buSzPts val="2000"/>
              <a:buChar char="●"/>
            </a:pPr>
            <a:r>
              <a:rPr lang="en" sz="1800" dirty="0"/>
              <a:t>Add the norm as a penalty term to the problem of minimizing the loss. This will ensure that the weight vector is small.</a:t>
            </a:r>
            <a:endParaRPr sz="1800" dirty="0"/>
          </a:p>
          <a:p>
            <a:pPr marL="457200" lvl="0" indent="-355600" algn="just" rtl="0">
              <a:lnSpc>
                <a:spcPct val="150000"/>
              </a:lnSpc>
              <a:spcBef>
                <a:spcPts val="0"/>
              </a:spcBef>
              <a:spcAft>
                <a:spcPts val="0"/>
              </a:spcAft>
              <a:buSzPts val="2000"/>
              <a:buChar char="●"/>
            </a:pPr>
            <a:r>
              <a:rPr lang="en" sz="1800" dirty="0"/>
              <a:t>The objective function becomes</a:t>
            </a:r>
            <a:r>
              <a:rPr lang="en" sz="1800" b="1" dirty="0"/>
              <a:t> minimizing the sum of the prediction loss and the penalty term. </a:t>
            </a:r>
            <a:endParaRPr sz="1800" b="1" dirty="0"/>
          </a:p>
          <a:p>
            <a:pPr marL="457200" lvl="0" indent="-355600" algn="just" rtl="0">
              <a:lnSpc>
                <a:spcPct val="150000"/>
              </a:lnSpc>
              <a:spcBef>
                <a:spcPts val="0"/>
              </a:spcBef>
              <a:spcAft>
                <a:spcPts val="0"/>
              </a:spcAft>
              <a:buSzPts val="2000"/>
              <a:buChar char="●"/>
            </a:pPr>
            <a:r>
              <a:rPr lang="en" sz="1800" dirty="0"/>
              <a:t>L2-regularized linear models constitute the ridge regression algorithm</a:t>
            </a:r>
            <a:r>
              <a:rPr lang="en" dirty="0"/>
              <a:t>.</a:t>
            </a:r>
            <a:endParaRPr dirty="0"/>
          </a:p>
          <a:p>
            <a:pPr marL="0" lvl="0" indent="0" algn="l" rtl="0">
              <a:spcBef>
                <a:spcPts val="1200"/>
              </a:spcBef>
              <a:spcAft>
                <a:spcPts val="1200"/>
              </a:spcAft>
              <a:buNone/>
            </a:pPr>
            <a:endParaRPr dirty="0"/>
          </a:p>
        </p:txBody>
      </p:sp>
      <p:sp>
        <p:nvSpPr>
          <p:cNvPr id="214" name="Google Shape;214;p35"/>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L2 Regularization</a:t>
            </a:r>
            <a:endParaRPr b="1" dirty="0"/>
          </a:p>
        </p:txBody>
      </p:sp>
      <p:sp>
        <p:nvSpPr>
          <p:cNvPr id="220" name="Google Shape;220;p36"/>
          <p:cNvSpPr txBox="1">
            <a:spLocks noGrp="1"/>
          </p:cNvSpPr>
          <p:nvPr>
            <p:ph type="body" idx="1"/>
          </p:nvPr>
        </p:nvSpPr>
        <p:spPr>
          <a:xfrm>
            <a:off x="311700" y="701296"/>
            <a:ext cx="8520600" cy="4293268"/>
          </a:xfrm>
          <a:prstGeom prst="rect">
            <a:avLst/>
          </a:prstGeom>
        </p:spPr>
        <p:txBody>
          <a:bodyPr spcFirstLastPara="1" wrap="square" lIns="91425" tIns="91425" rIns="91425" bIns="91425" anchor="t" anchorCtr="0">
            <a:noAutofit/>
          </a:bodyPr>
          <a:lstStyle/>
          <a:p>
            <a:pPr marL="457200" lvl="0" indent="-349250" algn="l" rtl="0">
              <a:lnSpc>
                <a:spcPct val="150000"/>
              </a:lnSpc>
              <a:spcBef>
                <a:spcPts val="0"/>
              </a:spcBef>
              <a:spcAft>
                <a:spcPts val="0"/>
              </a:spcAft>
              <a:buSzPts val="1900"/>
              <a:buChar char="●"/>
            </a:pPr>
            <a:r>
              <a:rPr lang="en" sz="1600" dirty="0"/>
              <a:t>The trade off between standard loss and the additive penalty is given by  regularization constant λ, a non-negative hyperparameter</a:t>
            </a:r>
            <a:r>
              <a:rPr lang="en" sz="1800" dirty="0"/>
              <a:t>.</a:t>
            </a:r>
            <a:endParaRPr sz="1800" dirty="0"/>
          </a:p>
          <a:p>
            <a:pPr marL="457200" lvl="0" indent="0" algn="l" rtl="0">
              <a:lnSpc>
                <a:spcPct val="95000"/>
              </a:lnSpc>
              <a:spcBef>
                <a:spcPts val="1200"/>
              </a:spcBef>
              <a:spcAft>
                <a:spcPts val="0"/>
              </a:spcAft>
              <a:buNone/>
            </a:pPr>
            <a:endParaRPr sz="1900" dirty="0"/>
          </a:p>
          <a:p>
            <a:pPr marL="457200" lvl="0" indent="0" algn="l" rtl="0">
              <a:lnSpc>
                <a:spcPct val="95000"/>
              </a:lnSpc>
              <a:spcBef>
                <a:spcPts val="1200"/>
              </a:spcBef>
              <a:spcAft>
                <a:spcPts val="0"/>
              </a:spcAft>
              <a:buNone/>
            </a:pPr>
            <a:endParaRPr sz="1900" dirty="0"/>
          </a:p>
          <a:p>
            <a:pPr marL="457200" lvl="0" indent="-349250" algn="just" rtl="0">
              <a:lnSpc>
                <a:spcPct val="150000"/>
              </a:lnSpc>
              <a:spcAft>
                <a:spcPts val="0"/>
              </a:spcAft>
              <a:buSzPts val="1900"/>
              <a:buChar char="●"/>
            </a:pPr>
            <a:r>
              <a:rPr lang="en" sz="1600" dirty="0"/>
              <a:t>For λ = 0, we recover the original loss function. </a:t>
            </a:r>
            <a:endParaRPr sz="1600" dirty="0"/>
          </a:p>
          <a:p>
            <a:pPr marL="457200" lvl="0" indent="-349250" algn="just" rtl="0">
              <a:lnSpc>
                <a:spcPct val="150000"/>
              </a:lnSpc>
              <a:spcAft>
                <a:spcPts val="0"/>
              </a:spcAft>
              <a:buSzPts val="1900"/>
              <a:buChar char="●"/>
            </a:pPr>
            <a:r>
              <a:rPr lang="en" sz="1600" dirty="0"/>
              <a:t>For λ &gt; 0, we restrict the size of ∥w∥. </a:t>
            </a:r>
            <a:endParaRPr sz="1600" dirty="0"/>
          </a:p>
          <a:p>
            <a:pPr marL="457200" lvl="0" indent="-349250" algn="just" rtl="0">
              <a:lnSpc>
                <a:spcPct val="150000"/>
              </a:lnSpc>
              <a:spcAft>
                <a:spcPts val="0"/>
              </a:spcAft>
              <a:buSzPts val="1900"/>
              <a:buChar char="●"/>
            </a:pPr>
            <a:r>
              <a:rPr lang="en" sz="1600" dirty="0"/>
              <a:t>Smaller values of λ correspond to less constrained w, whereas larger values of λ constrain w more considerably.</a:t>
            </a:r>
            <a:endParaRPr sz="1600" dirty="0"/>
          </a:p>
          <a:p>
            <a:pPr marL="457200" lvl="0" indent="-349250" algn="just" rtl="0">
              <a:lnSpc>
                <a:spcPct val="150000"/>
              </a:lnSpc>
              <a:spcAft>
                <a:spcPts val="0"/>
              </a:spcAft>
              <a:buSzPts val="1900"/>
              <a:buChar char="●"/>
            </a:pPr>
            <a:r>
              <a:rPr lang="en" sz="1600" dirty="0"/>
              <a:t>By squaring the L2 norm, we remove the square root, leaving the sum of squares of each component of the weight vector.</a:t>
            </a:r>
            <a:endParaRPr sz="1600" dirty="0"/>
          </a:p>
          <a:p>
            <a:pPr marL="457200" lvl="0" indent="-349250" algn="just" rtl="0">
              <a:lnSpc>
                <a:spcPct val="150000"/>
              </a:lnSpc>
              <a:spcAft>
                <a:spcPts val="0"/>
              </a:spcAft>
              <a:buSzPts val="1900"/>
              <a:buChar char="●"/>
            </a:pPr>
            <a:r>
              <a:rPr lang="en" sz="1600" dirty="0"/>
              <a:t>The derivative of a quadratic function ensure that the 2 and 1/2 cancel out.</a:t>
            </a:r>
            <a:endParaRPr sz="1600" dirty="0"/>
          </a:p>
        </p:txBody>
      </p:sp>
      <p:sp>
        <p:nvSpPr>
          <p:cNvPr id="221" name="Google Shape;221;p36"/>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21</a:t>
            </a:fld>
            <a:endParaRPr/>
          </a:p>
        </p:txBody>
      </p:sp>
      <p:pic>
        <p:nvPicPr>
          <p:cNvPr id="222" name="Google Shape;222;p36" title="[0,0,0,&quot;https://www.codecogs.com/eqnedit.php?latex=%20Objective%20function%20%20%3D%20%5Cmathcal%7BL%7D(w%2C%20b)%20%2B%20%5Cfrac%7B%5Clambda%7D%7B2%7D%20%5Cmid%20%5Cmid%20w%20%5Cmid%20%5Cmid%20%5E2%20#0&quot;]"/>
          <p:cNvPicPr preferRelativeResize="0"/>
          <p:nvPr/>
        </p:nvPicPr>
        <p:blipFill>
          <a:blip r:embed="rId3">
            <a:alphaModFix/>
          </a:blip>
          <a:stretch>
            <a:fillRect/>
          </a:stretch>
        </p:blipFill>
        <p:spPr>
          <a:xfrm>
            <a:off x="849825" y="1603700"/>
            <a:ext cx="5621355" cy="398700"/>
          </a:xfrm>
          <a:prstGeom prst="rect">
            <a:avLst/>
          </a:prstGeom>
          <a:noFill/>
          <a:ln>
            <a:noFill/>
          </a:ln>
        </p:spPr>
      </p:pic>
      <p:pic>
        <p:nvPicPr>
          <p:cNvPr id="223" name="Google Shape;223;p36" title="[0,0,0,&quot;https://www.codecogs.com/eqnedit.php?latex=%20Weight%20updation%20%5Cqquad%20%20w%20%20%5Cleftarrow%20(1-%5Ceta%20%5Clambda)%20w%20-%20%5Ceta%20g%20#0&quot;]"/>
          <p:cNvPicPr preferRelativeResize="0"/>
          <p:nvPr/>
        </p:nvPicPr>
        <p:blipFill>
          <a:blip r:embed="rId4">
            <a:alphaModFix/>
          </a:blip>
          <a:stretch>
            <a:fillRect/>
          </a:stretch>
        </p:blipFill>
        <p:spPr>
          <a:xfrm>
            <a:off x="841750" y="2260950"/>
            <a:ext cx="5637502" cy="310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L1 Regularization</a:t>
            </a:r>
            <a:endParaRPr b="1" dirty="0"/>
          </a:p>
        </p:txBody>
      </p:sp>
      <p:sp>
        <p:nvSpPr>
          <p:cNvPr id="229" name="Google Shape;229;p37"/>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sz="1800" dirty="0"/>
              <a:t>L1-regularized linear regression is known as lasso regression.</a:t>
            </a:r>
            <a:endParaRPr sz="1800" dirty="0"/>
          </a:p>
          <a:p>
            <a:pPr marL="457200" lvl="0" indent="-355600" algn="just" rtl="0">
              <a:lnSpc>
                <a:spcPct val="150000"/>
              </a:lnSpc>
              <a:spcBef>
                <a:spcPts val="0"/>
              </a:spcBef>
              <a:spcAft>
                <a:spcPts val="0"/>
              </a:spcAft>
              <a:buSzPts val="2000"/>
              <a:buChar char="●"/>
            </a:pPr>
            <a:r>
              <a:rPr lang="en" sz="1800" dirty="0"/>
              <a:t>L1 penalties lead to models that concentrate weights on a small set of features by clearing the other weights to zero. This is called feature selection.</a:t>
            </a:r>
            <a:endParaRPr sz="1800" dirty="0"/>
          </a:p>
          <a:p>
            <a:pPr marL="45720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
        <p:nvSpPr>
          <p:cNvPr id="230" name="Google Shape;230;p37"/>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22</a:t>
            </a:fld>
            <a:endParaRPr/>
          </a:p>
        </p:txBody>
      </p:sp>
      <p:pic>
        <p:nvPicPr>
          <p:cNvPr id="231" name="Google Shape;231;p37" title="[0,0,0,&quot;https://www.codecogs.com/eqnedit.php?latex=%20Weight%20updation%20%5Cqquad%20%20w%20%20%5Cleftarrow%20(1-%5Ceta%20%5Clambda)%20w%20-%20%5Ceta%20g%20#0&quot;]"/>
          <p:cNvPicPr preferRelativeResize="0"/>
          <p:nvPr/>
        </p:nvPicPr>
        <p:blipFill>
          <a:blip r:embed="rId3">
            <a:alphaModFix/>
          </a:blip>
          <a:stretch>
            <a:fillRect/>
          </a:stretch>
        </p:blipFill>
        <p:spPr>
          <a:xfrm>
            <a:off x="841750" y="2946750"/>
            <a:ext cx="5637502" cy="310800"/>
          </a:xfrm>
          <a:prstGeom prst="rect">
            <a:avLst/>
          </a:prstGeom>
          <a:noFill/>
          <a:ln>
            <a:noFill/>
          </a:ln>
        </p:spPr>
      </p:pic>
      <p:pic>
        <p:nvPicPr>
          <p:cNvPr id="232" name="Google Shape;232;p37" title="[0,0,0,&quot;https://www.codecogs.com/eqnedit.php?latex=%20Objective%20function%20%20%3D%20%5Cmathcal%7BL%7D(w%2C%20b)%20%2B%20%5Clambda%20%5Csum_i%20%5Cmid%20w_i%20%5Cmid%20%20%20#0&quot;]"/>
          <p:cNvPicPr preferRelativeResize="0"/>
          <p:nvPr/>
        </p:nvPicPr>
        <p:blipFill>
          <a:blip r:embed="rId4">
            <a:alphaModFix/>
          </a:blip>
          <a:stretch>
            <a:fillRect/>
          </a:stretch>
        </p:blipFill>
        <p:spPr>
          <a:xfrm>
            <a:off x="849825" y="2441900"/>
            <a:ext cx="5415851" cy="310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8"/>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23</a:t>
            </a:fld>
            <a:endParaRPr/>
          </a:p>
        </p:txBody>
      </p:sp>
      <p:graphicFrame>
        <p:nvGraphicFramePr>
          <p:cNvPr id="238" name="Google Shape;238;p38"/>
          <p:cNvGraphicFramePr/>
          <p:nvPr/>
        </p:nvGraphicFramePr>
        <p:xfrm>
          <a:off x="311700" y="187300"/>
          <a:ext cx="7921050" cy="4251660"/>
        </p:xfrm>
        <a:graphic>
          <a:graphicData uri="http://schemas.openxmlformats.org/drawingml/2006/table">
            <a:tbl>
              <a:tblPr>
                <a:noFill/>
                <a:tableStyleId>{A8791C27-D7D6-41B6-A67E-F800049B995A}</a:tableStyleId>
              </a:tblPr>
              <a:tblGrid>
                <a:gridCol w="3960525">
                  <a:extLst>
                    <a:ext uri="{9D8B030D-6E8A-4147-A177-3AD203B41FA5}">
                      <a16:colId xmlns:a16="http://schemas.microsoft.com/office/drawing/2014/main" val="20000"/>
                    </a:ext>
                  </a:extLst>
                </a:gridCol>
                <a:gridCol w="396052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sz="2400">
                          <a:solidFill>
                            <a:schemeClr val="lt1"/>
                          </a:solidFill>
                        </a:rPr>
                        <a:t>L2 Regularization</a:t>
                      </a:r>
                      <a:endParaRPr sz="2400">
                        <a:solidFill>
                          <a:schemeClr val="lt1"/>
                        </a:solidFill>
                      </a:endParaRPr>
                    </a:p>
                  </a:txBody>
                  <a:tcPr marL="91425" marR="91425" marT="91425" marB="91425"/>
                </a:tc>
                <a:tc>
                  <a:txBody>
                    <a:bodyPr/>
                    <a:lstStyle/>
                    <a:p>
                      <a:pPr marL="0" lvl="0" indent="0" algn="l" rtl="0">
                        <a:spcBef>
                          <a:spcPts val="0"/>
                        </a:spcBef>
                        <a:spcAft>
                          <a:spcPts val="0"/>
                        </a:spcAft>
                        <a:buNone/>
                      </a:pPr>
                      <a:r>
                        <a:rPr lang="en" sz="2400">
                          <a:solidFill>
                            <a:schemeClr val="lt1"/>
                          </a:solidFill>
                        </a:rPr>
                        <a:t>L1 Regularization</a:t>
                      </a:r>
                      <a:endParaRPr sz="2400">
                        <a:solidFill>
                          <a:schemeClr val="lt1"/>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Clr>
                          <a:schemeClr val="dk1"/>
                        </a:buClr>
                        <a:buSzPts val="1100"/>
                        <a:buFont typeface="Arial"/>
                        <a:buNone/>
                      </a:pPr>
                      <a:r>
                        <a:rPr lang="en" sz="1500" dirty="0"/>
                        <a:t>Sum of square of weights</a:t>
                      </a:r>
                      <a:endParaRPr sz="1500" dirty="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Sum of absolute value of weights</a:t>
                      </a:r>
                      <a:endParaRPr sz="15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Learn complex data patterns</a:t>
                      </a:r>
                      <a:endParaRPr sz="1500"/>
                    </a:p>
                  </a:txBody>
                  <a:tcPr marL="91425" marR="91425" marT="91425" marB="91425"/>
                </a:tc>
                <a:tc>
                  <a:txBody>
                    <a:bodyPr/>
                    <a:lstStyle/>
                    <a:p>
                      <a:pPr marL="0" lvl="0" indent="0" algn="l" rtl="0">
                        <a:spcBef>
                          <a:spcPts val="0"/>
                        </a:spcBef>
                        <a:spcAft>
                          <a:spcPts val="0"/>
                        </a:spcAft>
                        <a:buNone/>
                      </a:pPr>
                      <a:r>
                        <a:rPr lang="en" sz="1500">
                          <a:solidFill>
                            <a:schemeClr val="dk1"/>
                          </a:solidFill>
                        </a:rPr>
                        <a:t>Generates simple and interpretable models</a:t>
                      </a:r>
                      <a:endParaRPr sz="15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Estimate mean of data</a:t>
                      </a:r>
                      <a:endParaRPr sz="15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Estimate median of data</a:t>
                      </a:r>
                      <a:endParaRPr sz="15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500">
                          <a:solidFill>
                            <a:schemeClr val="dk1"/>
                          </a:solidFill>
                        </a:rPr>
                        <a:t>Not robust to outliers</a:t>
                      </a:r>
                      <a:endParaRPr sz="1500">
                        <a:solidFill>
                          <a:schemeClr val="dk1"/>
                        </a:solidFill>
                      </a:endParaRPr>
                    </a:p>
                  </a:txBody>
                  <a:tcPr marL="91425" marR="91425" marT="91425" marB="91425"/>
                </a:tc>
                <a:tc>
                  <a:txBody>
                    <a:bodyPr/>
                    <a:lstStyle/>
                    <a:p>
                      <a:pPr marL="0" lvl="0" indent="0" algn="l" rtl="0">
                        <a:spcBef>
                          <a:spcPts val="0"/>
                        </a:spcBef>
                        <a:spcAft>
                          <a:spcPts val="0"/>
                        </a:spcAft>
                        <a:buNone/>
                      </a:pPr>
                      <a:r>
                        <a:rPr lang="en" sz="1500">
                          <a:solidFill>
                            <a:schemeClr val="dk1"/>
                          </a:solidFill>
                        </a:rPr>
                        <a:t>Robust to outliers</a:t>
                      </a:r>
                      <a:endParaRPr sz="1500">
                        <a:solidFill>
                          <a:schemeClr val="dk1"/>
                        </a:solidFill>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Shrink coefficients equally</a:t>
                      </a:r>
                      <a:endParaRPr sz="1500">
                        <a:solidFill>
                          <a:schemeClr val="dk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Shrink coefficients to zero</a:t>
                      </a:r>
                      <a:endParaRPr sz="150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Non sparse solution</a:t>
                      </a:r>
                      <a:endParaRPr sz="1500">
                        <a:solidFill>
                          <a:schemeClr val="dk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Sparse solution</a:t>
                      </a:r>
                      <a:endParaRPr sz="1500">
                        <a:solidFill>
                          <a:schemeClr val="dk1"/>
                        </a:solidFill>
                      </a:endParaRPr>
                    </a:p>
                  </a:txBody>
                  <a:tcPr marL="91425" marR="91425" marT="91425" marB="91425"/>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One solution</a:t>
                      </a:r>
                      <a:endParaRPr sz="1500">
                        <a:solidFill>
                          <a:schemeClr val="dk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Multiple solutions</a:t>
                      </a:r>
                      <a:endParaRPr sz="1500">
                        <a:solidFill>
                          <a:schemeClr val="dk1"/>
                        </a:solidFill>
                      </a:endParaRPr>
                    </a:p>
                  </a:txBody>
                  <a:tcPr marL="91425" marR="91425" marT="91425" marB="91425"/>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No feature selection</a:t>
                      </a:r>
                      <a:endParaRPr sz="1500">
                        <a:solidFill>
                          <a:schemeClr val="dk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Selects features</a:t>
                      </a:r>
                      <a:endParaRPr sz="1500">
                        <a:solidFill>
                          <a:schemeClr val="dk1"/>
                        </a:solidFill>
                      </a:endParaRPr>
                    </a:p>
                  </a:txBody>
                  <a:tcPr marL="91425" marR="91425" marT="91425" marB="91425"/>
                </a:tc>
                <a:extLst>
                  <a:ext uri="{0D108BD9-81ED-4DB2-BD59-A6C34878D82A}">
                    <a16:rowId xmlns:a16="http://schemas.microsoft.com/office/drawing/2014/main" val="10008"/>
                  </a:ext>
                </a:extLst>
              </a:tr>
              <a:tr h="381000">
                <a:tc>
                  <a:txBody>
                    <a:bodyPr/>
                    <a:lstStyle/>
                    <a:p>
                      <a:pPr marL="0" lvl="0" indent="0" algn="l" rtl="0">
                        <a:spcBef>
                          <a:spcPts val="0"/>
                        </a:spcBef>
                        <a:spcAft>
                          <a:spcPts val="0"/>
                        </a:spcAft>
                        <a:buClr>
                          <a:schemeClr val="dk1"/>
                        </a:buClr>
                        <a:buSzPts val="1100"/>
                        <a:buFont typeface="Arial"/>
                        <a:buNone/>
                      </a:pPr>
                      <a:r>
                        <a:rPr lang="en" sz="1500">
                          <a:solidFill>
                            <a:schemeClr val="dk1"/>
                          </a:solidFill>
                        </a:rPr>
                        <a:t>Useful for collinear features</a:t>
                      </a:r>
                      <a:endParaRPr sz="1500">
                        <a:solidFill>
                          <a:schemeClr val="dk1"/>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500" dirty="0">
                          <a:solidFill>
                            <a:schemeClr val="dk1"/>
                          </a:solidFill>
                        </a:rPr>
                        <a:t>Useful for dimensionality reduction</a:t>
                      </a:r>
                      <a:endParaRPr sz="1500" dirty="0">
                        <a:solidFill>
                          <a:schemeClr val="dk1"/>
                        </a:solidFill>
                      </a:endParaRPr>
                    </a:p>
                  </a:txBody>
                  <a:tcPr marL="91425" marR="91425" marT="91425" marB="91425"/>
                </a:tc>
                <a:extLst>
                  <a:ext uri="{0D108BD9-81ED-4DB2-BD59-A6C34878D82A}">
                    <a16:rowId xmlns:a16="http://schemas.microsoft.com/office/drawing/2014/main" val="1000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b="1" dirty="0"/>
              <a:t>Dropout</a:t>
            </a:r>
            <a:endParaRPr b="1" dirty="0"/>
          </a:p>
        </p:txBody>
      </p:sp>
      <p:sp>
        <p:nvSpPr>
          <p:cNvPr id="244" name="Google Shape;244;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Smoothness</a:t>
            </a:r>
            <a:endParaRPr b="1" dirty="0"/>
          </a:p>
        </p:txBody>
      </p:sp>
      <p:sp>
        <p:nvSpPr>
          <p:cNvPr id="250" name="Google Shape;250;p40"/>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Classical generalization theory suggests that to close the gap between train and test performance, aim for a simple model.</a:t>
            </a:r>
            <a:endParaRPr dirty="0"/>
          </a:p>
          <a:p>
            <a:pPr marL="457200" lvl="0" indent="-355600" algn="just" rtl="0">
              <a:lnSpc>
                <a:spcPct val="150000"/>
              </a:lnSpc>
              <a:spcBef>
                <a:spcPts val="0"/>
              </a:spcBef>
              <a:spcAft>
                <a:spcPts val="0"/>
              </a:spcAft>
              <a:buSzPts val="2000"/>
              <a:buChar char="●"/>
            </a:pPr>
            <a:r>
              <a:rPr lang="en" dirty="0"/>
              <a:t>Simplicity can be achieved</a:t>
            </a:r>
            <a:endParaRPr dirty="0"/>
          </a:p>
          <a:p>
            <a:pPr marL="914400" lvl="1" indent="-330200" algn="just" rtl="0">
              <a:lnSpc>
                <a:spcPct val="150000"/>
              </a:lnSpc>
              <a:spcBef>
                <a:spcPts val="0"/>
              </a:spcBef>
              <a:spcAft>
                <a:spcPts val="0"/>
              </a:spcAft>
              <a:buSzPts val="1600"/>
              <a:buChar char="○"/>
            </a:pPr>
            <a:r>
              <a:rPr lang="en" dirty="0"/>
              <a:t>Using weight decay</a:t>
            </a:r>
            <a:endParaRPr dirty="0"/>
          </a:p>
          <a:p>
            <a:pPr marL="914400" lvl="1" indent="-330200" algn="just" rtl="0">
              <a:lnSpc>
                <a:spcPct val="150000"/>
              </a:lnSpc>
              <a:spcBef>
                <a:spcPts val="0"/>
              </a:spcBef>
              <a:spcAft>
                <a:spcPts val="0"/>
              </a:spcAft>
              <a:buSzPts val="1600"/>
              <a:buChar char="○"/>
            </a:pPr>
            <a:r>
              <a:rPr lang="en" dirty="0"/>
              <a:t>Smoothness, i.e., that the function should not be sensitive to small changes to its inputs.</a:t>
            </a:r>
            <a:endParaRPr dirty="0"/>
          </a:p>
          <a:p>
            <a:pPr marL="457200" lvl="0" indent="-355600" algn="l" rtl="0">
              <a:spcBef>
                <a:spcPts val="0"/>
              </a:spcBef>
              <a:spcAft>
                <a:spcPts val="0"/>
              </a:spcAft>
              <a:buSzPts val="2000"/>
              <a:buChar char="●"/>
            </a:pPr>
            <a:r>
              <a:rPr lang="en" dirty="0"/>
              <a:t> Injecting noise enforces smoothness </a:t>
            </a:r>
            <a:endParaRPr dirty="0"/>
          </a:p>
          <a:p>
            <a:pPr marL="914400" lvl="1" indent="-330200" algn="l" rtl="0">
              <a:lnSpc>
                <a:spcPct val="150000"/>
              </a:lnSpc>
              <a:spcBef>
                <a:spcPts val="0"/>
              </a:spcBef>
              <a:spcAft>
                <a:spcPts val="0"/>
              </a:spcAft>
              <a:buSzPts val="1600"/>
              <a:buChar char="○"/>
            </a:pPr>
            <a:r>
              <a:rPr lang="en" dirty="0"/>
              <a:t>training with input noise </a:t>
            </a:r>
            <a:endParaRPr dirty="0"/>
          </a:p>
          <a:p>
            <a:pPr marL="914400" lvl="1" indent="-330200" algn="l" rtl="0">
              <a:lnSpc>
                <a:spcPct val="150000"/>
              </a:lnSpc>
              <a:spcBef>
                <a:spcPts val="0"/>
              </a:spcBef>
              <a:spcAft>
                <a:spcPts val="0"/>
              </a:spcAft>
              <a:buSzPts val="1600"/>
              <a:buChar char="○"/>
            </a:pPr>
            <a:r>
              <a:rPr lang="en" dirty="0"/>
              <a:t>inject noise into each layer of the network before calculating the subsequent layer during training.</a:t>
            </a:r>
            <a:endParaRPr dirty="0"/>
          </a:p>
        </p:txBody>
      </p:sp>
      <p:sp>
        <p:nvSpPr>
          <p:cNvPr id="251" name="Google Shape;251;p40"/>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Dropout</a:t>
            </a:r>
            <a:endParaRPr b="1" dirty="0"/>
          </a:p>
        </p:txBody>
      </p:sp>
      <p:sp>
        <p:nvSpPr>
          <p:cNvPr id="257" name="Google Shape;257;p41"/>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92500"/>
          </a:bodyPr>
          <a:lstStyle/>
          <a:p>
            <a:pPr marL="457200" lvl="0" indent="-355600" algn="just" rtl="0">
              <a:lnSpc>
                <a:spcPct val="150000"/>
              </a:lnSpc>
              <a:spcBef>
                <a:spcPts val="0"/>
              </a:spcBef>
              <a:spcAft>
                <a:spcPts val="0"/>
              </a:spcAft>
              <a:buSzPts val="2000"/>
              <a:buChar char="●"/>
            </a:pPr>
            <a:r>
              <a:rPr lang="en" sz="1800" b="1" dirty="0"/>
              <a:t>Dropout</a:t>
            </a:r>
            <a:r>
              <a:rPr lang="en" sz="1800" dirty="0"/>
              <a:t> involves injecting noise while computing each internal layer during forward propagation.</a:t>
            </a:r>
            <a:endParaRPr sz="1800" dirty="0"/>
          </a:p>
          <a:p>
            <a:pPr marL="457200" lvl="0" indent="-355600" algn="just" rtl="0">
              <a:lnSpc>
                <a:spcPct val="150000"/>
              </a:lnSpc>
              <a:spcBef>
                <a:spcPts val="0"/>
              </a:spcBef>
              <a:spcAft>
                <a:spcPts val="0"/>
              </a:spcAft>
              <a:buSzPts val="2000"/>
              <a:buChar char="●"/>
            </a:pPr>
            <a:r>
              <a:rPr lang="en" sz="1800" dirty="0"/>
              <a:t>It has become a </a:t>
            </a:r>
            <a:r>
              <a:rPr lang="en" sz="1800" b="1" dirty="0"/>
              <a:t>standard</a:t>
            </a:r>
            <a:r>
              <a:rPr lang="en" sz="1800" dirty="0"/>
              <a:t> technique for training neural networks. </a:t>
            </a:r>
            <a:endParaRPr sz="1800" dirty="0"/>
          </a:p>
          <a:p>
            <a:pPr marL="457200" lvl="0" indent="-355600" algn="just" rtl="0">
              <a:lnSpc>
                <a:spcPct val="150000"/>
              </a:lnSpc>
              <a:spcBef>
                <a:spcPts val="0"/>
              </a:spcBef>
              <a:spcAft>
                <a:spcPts val="0"/>
              </a:spcAft>
              <a:buSzPts val="2000"/>
              <a:buChar char="●"/>
            </a:pPr>
            <a:r>
              <a:rPr lang="en" sz="1800" dirty="0"/>
              <a:t>The method is called </a:t>
            </a:r>
            <a:r>
              <a:rPr lang="en" sz="1800" b="1" dirty="0"/>
              <a:t>dropout</a:t>
            </a:r>
            <a:r>
              <a:rPr lang="en" sz="1800" dirty="0"/>
              <a:t> because we literally drop out some neurons during training. </a:t>
            </a:r>
            <a:endParaRPr sz="1800" dirty="0"/>
          </a:p>
          <a:p>
            <a:pPr marL="457200" lvl="0" indent="-355600" algn="just" rtl="0">
              <a:lnSpc>
                <a:spcPct val="150000"/>
              </a:lnSpc>
              <a:spcBef>
                <a:spcPts val="0"/>
              </a:spcBef>
              <a:spcAft>
                <a:spcPts val="0"/>
              </a:spcAft>
              <a:buSzPts val="2000"/>
              <a:buChar char="●"/>
            </a:pPr>
            <a:r>
              <a:rPr lang="en" sz="1800" dirty="0"/>
              <a:t>Apply dropout to a hidden layer, zeroing out each hidden unit with probability </a:t>
            </a:r>
            <a:r>
              <a:rPr lang="en" sz="1800" i="1" dirty="0"/>
              <a:t>p</a:t>
            </a:r>
            <a:r>
              <a:rPr lang="en" sz="1800" dirty="0"/>
              <a:t>.</a:t>
            </a:r>
            <a:endParaRPr sz="1800" dirty="0"/>
          </a:p>
          <a:p>
            <a:pPr marL="457200" lvl="0" indent="-355600" algn="just" rtl="0">
              <a:lnSpc>
                <a:spcPct val="150000"/>
              </a:lnSpc>
              <a:spcBef>
                <a:spcPts val="0"/>
              </a:spcBef>
              <a:spcAft>
                <a:spcPts val="0"/>
              </a:spcAft>
              <a:buSzPts val="2000"/>
              <a:buChar char="●"/>
            </a:pPr>
            <a:r>
              <a:rPr lang="en" sz="1800" dirty="0"/>
              <a:t>The calculation of the outputs no longer depends on dropped out neurons and their respective gradient also vanishes when performing backpropagation. (in that iteration)</a:t>
            </a:r>
            <a:endParaRPr sz="1800" dirty="0"/>
          </a:p>
          <a:p>
            <a:pPr marL="457200" lvl="0" indent="-355600" algn="just" rtl="0">
              <a:lnSpc>
                <a:spcPct val="150000"/>
              </a:lnSpc>
              <a:spcBef>
                <a:spcPts val="0"/>
              </a:spcBef>
              <a:spcAft>
                <a:spcPts val="0"/>
              </a:spcAft>
              <a:buSzPts val="2000"/>
              <a:buChar char="●"/>
            </a:pPr>
            <a:r>
              <a:rPr lang="en" sz="1800" dirty="0"/>
              <a:t> Dropout is disabled at test time. </a:t>
            </a:r>
            <a:endParaRPr sz="1800" dirty="0"/>
          </a:p>
        </p:txBody>
      </p:sp>
      <p:sp>
        <p:nvSpPr>
          <p:cNvPr id="258" name="Google Shape;258;p4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Without Dropout</a:t>
            </a:r>
            <a:endParaRPr b="1" dirty="0"/>
          </a:p>
        </p:txBody>
      </p:sp>
      <p:sp>
        <p:nvSpPr>
          <p:cNvPr id="265" name="Google Shape;265;p4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27</a:t>
            </a:fld>
            <a:endParaRPr/>
          </a:p>
        </p:txBody>
      </p:sp>
      <p:pic>
        <p:nvPicPr>
          <p:cNvPr id="266" name="Google Shape;266;p42"/>
          <p:cNvPicPr preferRelativeResize="0"/>
          <p:nvPr/>
        </p:nvPicPr>
        <p:blipFill>
          <a:blip r:embed="rId3">
            <a:alphaModFix/>
          </a:blip>
          <a:stretch>
            <a:fillRect/>
          </a:stretch>
        </p:blipFill>
        <p:spPr>
          <a:xfrm>
            <a:off x="752475" y="1041213"/>
            <a:ext cx="7639050" cy="34956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Dropout for first iteration</a:t>
            </a:r>
            <a:endParaRPr b="1" dirty="0"/>
          </a:p>
        </p:txBody>
      </p:sp>
      <p:sp>
        <p:nvSpPr>
          <p:cNvPr id="273" name="Google Shape;273;p43"/>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28</a:t>
            </a:fld>
            <a:endParaRPr/>
          </a:p>
        </p:txBody>
      </p:sp>
      <p:pic>
        <p:nvPicPr>
          <p:cNvPr id="274" name="Google Shape;274;p43"/>
          <p:cNvPicPr preferRelativeResize="0"/>
          <p:nvPr/>
        </p:nvPicPr>
        <p:blipFill>
          <a:blip r:embed="rId3">
            <a:alphaModFix/>
          </a:blip>
          <a:stretch>
            <a:fillRect/>
          </a:stretch>
        </p:blipFill>
        <p:spPr>
          <a:xfrm>
            <a:off x="666750" y="750700"/>
            <a:ext cx="7810500" cy="4076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Dropout for second iteration</a:t>
            </a:r>
            <a:endParaRPr b="1" dirty="0"/>
          </a:p>
        </p:txBody>
      </p:sp>
      <p:sp>
        <p:nvSpPr>
          <p:cNvPr id="281" name="Google Shape;281;p4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29</a:t>
            </a:fld>
            <a:endParaRPr/>
          </a:p>
        </p:txBody>
      </p:sp>
      <p:pic>
        <p:nvPicPr>
          <p:cNvPr id="282" name="Google Shape;282;p44"/>
          <p:cNvPicPr preferRelativeResize="0"/>
          <p:nvPr/>
        </p:nvPicPr>
        <p:blipFill>
          <a:blip r:embed="rId3">
            <a:alphaModFix/>
          </a:blip>
          <a:stretch>
            <a:fillRect/>
          </a:stretch>
        </p:blipFill>
        <p:spPr>
          <a:xfrm>
            <a:off x="652450" y="798325"/>
            <a:ext cx="7839075" cy="39814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Dropout</a:t>
            </a:r>
            <a:endParaRPr b="1" dirty="0"/>
          </a:p>
        </p:txBody>
      </p:sp>
      <p:sp>
        <p:nvSpPr>
          <p:cNvPr id="288" name="Google Shape;288;p45"/>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Dropout gives a smaller neural network, giving the effect of regularization.</a:t>
            </a:r>
            <a:endParaRPr dirty="0"/>
          </a:p>
          <a:p>
            <a:pPr marL="457200" lvl="0" indent="-355600" algn="just" rtl="0">
              <a:lnSpc>
                <a:spcPct val="150000"/>
              </a:lnSpc>
              <a:spcBef>
                <a:spcPts val="0"/>
              </a:spcBef>
              <a:spcAft>
                <a:spcPts val="0"/>
              </a:spcAft>
              <a:buSzPts val="2000"/>
              <a:buChar char="●"/>
            </a:pPr>
            <a:r>
              <a:rPr lang="en" dirty="0"/>
              <a:t>In general,</a:t>
            </a:r>
            <a:endParaRPr dirty="0"/>
          </a:p>
          <a:p>
            <a:pPr marL="914400" lvl="1" indent="-330200" algn="l" rtl="0">
              <a:lnSpc>
                <a:spcPct val="150000"/>
              </a:lnSpc>
              <a:spcBef>
                <a:spcPts val="0"/>
              </a:spcBef>
              <a:spcAft>
                <a:spcPts val="0"/>
              </a:spcAft>
              <a:buSzPts val="1600"/>
              <a:buChar char="○"/>
            </a:pPr>
            <a:r>
              <a:rPr lang="en" dirty="0"/>
              <a:t>Vary keep probability (0.5 to 0.8) for each hidden layer.</a:t>
            </a:r>
            <a:endParaRPr dirty="0"/>
          </a:p>
          <a:p>
            <a:pPr marL="914400" lvl="1" indent="-330200" algn="l" rtl="0">
              <a:lnSpc>
                <a:spcPct val="150000"/>
              </a:lnSpc>
              <a:spcBef>
                <a:spcPts val="0"/>
              </a:spcBef>
              <a:spcAft>
                <a:spcPts val="0"/>
              </a:spcAft>
              <a:buSzPts val="1600"/>
              <a:buChar char="○"/>
            </a:pPr>
            <a:r>
              <a:rPr lang="en" dirty="0"/>
              <a:t>The input layer has a keep probability of 1.0 or 0.9.</a:t>
            </a:r>
            <a:endParaRPr dirty="0"/>
          </a:p>
          <a:p>
            <a:pPr marL="914400" lvl="1" indent="-330200" algn="l" rtl="0">
              <a:lnSpc>
                <a:spcPct val="150000"/>
              </a:lnSpc>
              <a:spcBef>
                <a:spcPts val="0"/>
              </a:spcBef>
              <a:spcAft>
                <a:spcPts val="0"/>
              </a:spcAft>
              <a:buSzPts val="1600"/>
              <a:buChar char="○"/>
            </a:pPr>
            <a:r>
              <a:rPr lang="en" dirty="0"/>
              <a:t>The output layer has a keep probability of 1.0.</a:t>
            </a:r>
            <a:endParaRPr dirty="0"/>
          </a:p>
          <a:p>
            <a:pPr marL="457200" lvl="0" indent="-355600" algn="l" rtl="0">
              <a:spcBef>
                <a:spcPts val="0"/>
              </a:spcBef>
              <a:spcAft>
                <a:spcPts val="0"/>
              </a:spcAft>
              <a:buSzPts val="2000"/>
              <a:buChar char="●"/>
            </a:pPr>
            <a:endParaRPr dirty="0"/>
          </a:p>
        </p:txBody>
      </p:sp>
      <p:sp>
        <p:nvSpPr>
          <p:cNvPr id="289" name="Google Shape;289;p45"/>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b="1" dirty="0"/>
              <a:t>Early Stopping</a:t>
            </a:r>
            <a:endParaRPr b="1" dirty="0"/>
          </a:p>
        </p:txBody>
      </p:sp>
      <p:sp>
        <p:nvSpPr>
          <p:cNvPr id="295" name="Google Shape;295;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Before Early stopping</a:t>
            </a:r>
            <a:endParaRPr b="1" dirty="0"/>
          </a:p>
        </p:txBody>
      </p:sp>
      <p:sp>
        <p:nvSpPr>
          <p:cNvPr id="301" name="Google Shape;301;p47"/>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sz="1600" dirty="0"/>
              <a:t>When training large models, training error decreases steadily over time, but validation set error begins to rise again.</a:t>
            </a:r>
            <a:endParaRPr sz="1600" dirty="0"/>
          </a:p>
          <a:p>
            <a:pPr marL="457200" lvl="0" indent="-355600" algn="just" rtl="0">
              <a:lnSpc>
                <a:spcPct val="150000"/>
              </a:lnSpc>
              <a:spcBef>
                <a:spcPts val="0"/>
              </a:spcBef>
              <a:spcAft>
                <a:spcPts val="0"/>
              </a:spcAft>
              <a:buSzPts val="2000"/>
              <a:buChar char="●"/>
            </a:pPr>
            <a:r>
              <a:rPr lang="en" sz="1600" dirty="0"/>
              <a:t>Training objective decreases consistently over time.</a:t>
            </a:r>
            <a:endParaRPr sz="1600" dirty="0"/>
          </a:p>
          <a:p>
            <a:pPr marL="457200" lvl="0" indent="-355600" algn="just" rtl="0">
              <a:lnSpc>
                <a:spcPct val="150000"/>
              </a:lnSpc>
              <a:spcBef>
                <a:spcPts val="0"/>
              </a:spcBef>
              <a:spcAft>
                <a:spcPts val="0"/>
              </a:spcAft>
              <a:buSzPts val="2000"/>
              <a:buChar char="●"/>
            </a:pPr>
            <a:r>
              <a:rPr lang="en" sz="1600" dirty="0"/>
              <a:t>Validation set average loss begins to increase again, forming an asymmetric U-shaped curve.</a:t>
            </a:r>
            <a:endParaRPr sz="1600" dirty="0"/>
          </a:p>
        </p:txBody>
      </p:sp>
      <p:sp>
        <p:nvSpPr>
          <p:cNvPr id="302" name="Google Shape;302;p47"/>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32</a:t>
            </a:fld>
            <a:endParaRPr/>
          </a:p>
        </p:txBody>
      </p:sp>
      <p:pic>
        <p:nvPicPr>
          <p:cNvPr id="303" name="Google Shape;303;p47"/>
          <p:cNvPicPr preferRelativeResize="0"/>
          <p:nvPr/>
        </p:nvPicPr>
        <p:blipFill>
          <a:blip r:embed="rId3">
            <a:alphaModFix/>
          </a:blip>
          <a:stretch>
            <a:fillRect/>
          </a:stretch>
        </p:blipFill>
        <p:spPr>
          <a:xfrm>
            <a:off x="2421588" y="2571747"/>
            <a:ext cx="4300826" cy="24161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Early stopping</a:t>
            </a:r>
            <a:endParaRPr b="1" dirty="0"/>
          </a:p>
        </p:txBody>
      </p:sp>
      <p:sp>
        <p:nvSpPr>
          <p:cNvPr id="309" name="Google Shape;309;p48"/>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sz="1800" dirty="0"/>
              <a:t>No longer looking for a local minimum of validation error, while training.</a:t>
            </a:r>
            <a:endParaRPr sz="1800" dirty="0"/>
          </a:p>
          <a:p>
            <a:pPr marL="457200" lvl="0" indent="-355600" algn="just" rtl="0">
              <a:lnSpc>
                <a:spcPct val="150000"/>
              </a:lnSpc>
              <a:spcBef>
                <a:spcPts val="0"/>
              </a:spcBef>
              <a:spcAft>
                <a:spcPts val="0"/>
              </a:spcAft>
              <a:buSzPts val="2000"/>
              <a:buChar char="●"/>
            </a:pPr>
            <a:r>
              <a:rPr lang="en" sz="1800" dirty="0"/>
              <a:t>Train until the validation set error has not improved for some amount of time.</a:t>
            </a:r>
            <a:endParaRPr sz="1800" dirty="0"/>
          </a:p>
          <a:p>
            <a:pPr marL="457200" lvl="0" indent="-355600" algn="just" rtl="0">
              <a:lnSpc>
                <a:spcPct val="150000"/>
              </a:lnSpc>
              <a:spcBef>
                <a:spcPts val="0"/>
              </a:spcBef>
              <a:spcAft>
                <a:spcPts val="0"/>
              </a:spcAft>
              <a:buSzPts val="2000"/>
              <a:buChar char="●"/>
            </a:pPr>
            <a:r>
              <a:rPr lang="en" sz="1800" dirty="0"/>
              <a:t>Every time the error on the validation set improves, store a copy of the model parameters. When the training algorithm terminates, return these parameters</a:t>
            </a:r>
            <a:r>
              <a:rPr lang="en" dirty="0"/>
              <a:t>.</a:t>
            </a:r>
            <a:endParaRPr dirty="0"/>
          </a:p>
        </p:txBody>
      </p:sp>
      <p:sp>
        <p:nvSpPr>
          <p:cNvPr id="310" name="Google Shape;310;p48"/>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33</a:t>
            </a:fld>
            <a:endParaRPr/>
          </a:p>
        </p:txBody>
      </p:sp>
      <p:pic>
        <p:nvPicPr>
          <p:cNvPr id="311" name="Google Shape;311;p48"/>
          <p:cNvPicPr preferRelativeResize="0"/>
          <p:nvPr/>
        </p:nvPicPr>
        <p:blipFill>
          <a:blip r:embed="rId3">
            <a:alphaModFix/>
          </a:blip>
          <a:stretch>
            <a:fillRect/>
          </a:stretch>
        </p:blipFill>
        <p:spPr>
          <a:xfrm>
            <a:off x="2143521" y="2928400"/>
            <a:ext cx="4492925" cy="21225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Early stopping</a:t>
            </a:r>
            <a:endParaRPr b="1" dirty="0"/>
          </a:p>
        </p:txBody>
      </p:sp>
      <p:sp>
        <p:nvSpPr>
          <p:cNvPr id="317" name="Google Shape;317;p49"/>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Effective and simple form of regularization.</a:t>
            </a:r>
            <a:endParaRPr dirty="0"/>
          </a:p>
          <a:p>
            <a:pPr marL="457200" lvl="0" indent="-355600" algn="just" rtl="0">
              <a:lnSpc>
                <a:spcPct val="150000"/>
              </a:lnSpc>
              <a:spcBef>
                <a:spcPts val="0"/>
              </a:spcBef>
              <a:spcAft>
                <a:spcPts val="0"/>
              </a:spcAft>
              <a:buSzPts val="2000"/>
              <a:buChar char="●"/>
            </a:pPr>
            <a:r>
              <a:rPr lang="en" dirty="0"/>
              <a:t>Trains simpler models</a:t>
            </a:r>
            <a:endParaRPr dirty="0"/>
          </a:p>
        </p:txBody>
      </p:sp>
      <p:sp>
        <p:nvSpPr>
          <p:cNvPr id="318" name="Google Shape;318;p49"/>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34</a:t>
            </a:fld>
            <a:endParaRPr/>
          </a:p>
        </p:txBody>
      </p:sp>
      <p:pic>
        <p:nvPicPr>
          <p:cNvPr id="319" name="Google Shape;319;p49"/>
          <p:cNvPicPr preferRelativeResize="0"/>
          <p:nvPr/>
        </p:nvPicPr>
        <p:blipFill>
          <a:blip r:embed="rId3">
            <a:alphaModFix/>
          </a:blip>
          <a:stretch>
            <a:fillRect/>
          </a:stretch>
        </p:blipFill>
        <p:spPr>
          <a:xfrm>
            <a:off x="1173225" y="1727025"/>
            <a:ext cx="6797550" cy="32113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Early Stopping code</a:t>
            </a:r>
            <a:endParaRPr b="1" dirty="0"/>
          </a:p>
        </p:txBody>
      </p:sp>
      <p:sp>
        <p:nvSpPr>
          <p:cNvPr id="326" name="Google Shape;326;p50"/>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35</a:t>
            </a:fld>
            <a:endParaRPr/>
          </a:p>
        </p:txBody>
      </p:sp>
      <p:pic>
        <p:nvPicPr>
          <p:cNvPr id="327" name="Google Shape;327;p50"/>
          <p:cNvPicPr preferRelativeResize="0"/>
          <p:nvPr/>
        </p:nvPicPr>
        <p:blipFill>
          <a:blip r:embed="rId3">
            <a:alphaModFix/>
          </a:blip>
          <a:stretch>
            <a:fillRect/>
          </a:stretch>
        </p:blipFill>
        <p:spPr>
          <a:xfrm>
            <a:off x="243800" y="1151350"/>
            <a:ext cx="8656400" cy="2840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 </a:t>
            </a:r>
            <a:r>
              <a:rPr lang="en" sz="3200" b="1" dirty="0"/>
              <a:t>Numerical Stability and Initialization</a:t>
            </a:r>
            <a:endParaRPr sz="3200" b="1" dirty="0"/>
          </a:p>
        </p:txBody>
      </p:sp>
      <p:sp>
        <p:nvSpPr>
          <p:cNvPr id="333" name="Google Shape;333;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Why Initialization is important?</a:t>
            </a:r>
            <a:endParaRPr b="1" dirty="0"/>
          </a:p>
        </p:txBody>
      </p:sp>
      <p:sp>
        <p:nvSpPr>
          <p:cNvPr id="339" name="Google Shape;339;p52"/>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sz="1800" dirty="0"/>
              <a:t>The choice of initialization is crucial for maintaining numerical stability.</a:t>
            </a:r>
            <a:endParaRPr sz="1800" dirty="0"/>
          </a:p>
          <a:p>
            <a:pPr marL="457200" lvl="0" indent="-355600" algn="just" rtl="0">
              <a:lnSpc>
                <a:spcPct val="150000"/>
              </a:lnSpc>
              <a:spcBef>
                <a:spcPts val="0"/>
              </a:spcBef>
              <a:spcAft>
                <a:spcPts val="0"/>
              </a:spcAft>
              <a:buSzPts val="2000"/>
              <a:buChar char="●"/>
            </a:pPr>
            <a:r>
              <a:rPr lang="en" sz="1800" dirty="0"/>
              <a:t>The choices of initialization can be tied up in interesting ways with the choice of the nonlinear activation function. </a:t>
            </a:r>
            <a:endParaRPr sz="1800" dirty="0"/>
          </a:p>
          <a:p>
            <a:pPr marL="457200" lvl="0" indent="-355600" algn="just" rtl="0">
              <a:lnSpc>
                <a:spcPct val="150000"/>
              </a:lnSpc>
              <a:spcBef>
                <a:spcPts val="0"/>
              </a:spcBef>
              <a:spcAft>
                <a:spcPts val="0"/>
              </a:spcAft>
              <a:buSzPts val="2000"/>
              <a:buChar char="●"/>
            </a:pPr>
            <a:r>
              <a:rPr lang="en" sz="1800" dirty="0"/>
              <a:t>Which function we choose and how we initialize parameters can determine how quickly our optimization algorithm converges. </a:t>
            </a:r>
            <a:endParaRPr sz="1800" dirty="0"/>
          </a:p>
          <a:p>
            <a:pPr marL="457200" lvl="0" indent="-355600" algn="just" rtl="0">
              <a:lnSpc>
                <a:spcPct val="150000"/>
              </a:lnSpc>
              <a:spcBef>
                <a:spcPts val="0"/>
              </a:spcBef>
              <a:spcAft>
                <a:spcPts val="0"/>
              </a:spcAft>
              <a:buSzPts val="2000"/>
              <a:buChar char="●"/>
            </a:pPr>
            <a:r>
              <a:rPr lang="en" sz="1800" dirty="0"/>
              <a:t>Poor choices can cause to encounter exploding or vanishing gradients while training. </a:t>
            </a:r>
            <a:endParaRPr sz="1800" dirty="0"/>
          </a:p>
          <a:p>
            <a:pPr marL="457200" lvl="0" indent="0" algn="l" rtl="0">
              <a:spcBef>
                <a:spcPts val="1200"/>
              </a:spcBef>
              <a:spcAft>
                <a:spcPts val="1200"/>
              </a:spcAft>
              <a:buNone/>
            </a:pPr>
            <a:endParaRPr dirty="0"/>
          </a:p>
        </p:txBody>
      </p:sp>
      <p:sp>
        <p:nvSpPr>
          <p:cNvPr id="340" name="Google Shape;340;p5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5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Vanishing and Exploding Gradients</a:t>
            </a:r>
            <a:endParaRPr b="1" dirty="0"/>
          </a:p>
        </p:txBody>
      </p:sp>
      <p:sp>
        <p:nvSpPr>
          <p:cNvPr id="346" name="Google Shape;346;p53"/>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85000" lnSpcReduction="10000"/>
          </a:bodyPr>
          <a:lstStyle/>
          <a:p>
            <a:pPr marL="457200" lvl="0" indent="-355600" algn="just" rtl="0">
              <a:lnSpc>
                <a:spcPct val="160000"/>
              </a:lnSpc>
              <a:spcBef>
                <a:spcPts val="0"/>
              </a:spcBef>
              <a:spcAft>
                <a:spcPts val="0"/>
              </a:spcAft>
              <a:buSzPts val="2000"/>
              <a:buChar char="●"/>
            </a:pPr>
            <a:r>
              <a:rPr lang="en" sz="1800" dirty="0"/>
              <a:t>Consider a deep network with </a:t>
            </a:r>
            <a:r>
              <a:rPr lang="en" sz="1800" b="1" dirty="0"/>
              <a:t>L</a:t>
            </a:r>
            <a:r>
              <a:rPr lang="en" sz="1800" dirty="0"/>
              <a:t> layers, input </a:t>
            </a:r>
            <a:r>
              <a:rPr lang="en" sz="1800" b="1" dirty="0"/>
              <a:t>x</a:t>
            </a:r>
            <a:r>
              <a:rPr lang="en" sz="1800" dirty="0"/>
              <a:t> and output </a:t>
            </a:r>
            <a:r>
              <a:rPr lang="en" sz="1800" b="1" dirty="0"/>
              <a:t>o</a:t>
            </a:r>
            <a:r>
              <a:rPr lang="en" sz="1800" dirty="0"/>
              <a:t>. With each layer </a:t>
            </a:r>
            <a:r>
              <a:rPr lang="en" sz="1800" b="1" dirty="0"/>
              <a:t>l</a:t>
            </a:r>
            <a:r>
              <a:rPr lang="en" sz="1800" dirty="0"/>
              <a:t> defined by a transformation </a:t>
            </a:r>
            <a:r>
              <a:rPr lang="en" sz="1800" b="1" dirty="0"/>
              <a:t>f</a:t>
            </a:r>
            <a:r>
              <a:rPr lang="en" sz="1800" b="1" baseline="-25000" dirty="0"/>
              <a:t>l</a:t>
            </a:r>
            <a:r>
              <a:rPr lang="en" sz="1800" dirty="0"/>
              <a:t> parameterized by weights </a:t>
            </a:r>
            <a:r>
              <a:rPr lang="en" sz="1800" b="1" dirty="0"/>
              <a:t>W(l) </a:t>
            </a:r>
            <a:r>
              <a:rPr lang="en" sz="1800" dirty="0"/>
              <a:t>, whose hidden variable is </a:t>
            </a:r>
            <a:r>
              <a:rPr lang="en" sz="1800" b="1" dirty="0"/>
              <a:t>h(l)</a:t>
            </a:r>
            <a:endParaRPr sz="1800" b="1" dirty="0"/>
          </a:p>
          <a:p>
            <a:pPr marL="0" lvl="0" indent="0" algn="l" rtl="0">
              <a:spcBef>
                <a:spcPts val="1200"/>
              </a:spcBef>
              <a:spcAft>
                <a:spcPts val="0"/>
              </a:spcAft>
              <a:buNone/>
            </a:pPr>
            <a:endParaRPr b="1" dirty="0"/>
          </a:p>
          <a:p>
            <a:pPr marL="457200" lvl="0" indent="-355600" algn="l" rtl="0">
              <a:lnSpc>
                <a:spcPct val="170000"/>
              </a:lnSpc>
              <a:spcAft>
                <a:spcPts val="0"/>
              </a:spcAft>
              <a:buSzPts val="2000"/>
              <a:buChar char="●"/>
            </a:pPr>
            <a:r>
              <a:rPr lang="en" sz="1900" dirty="0"/>
              <a:t>If all the hidden variables and the input are vectors, then the gradient of </a:t>
            </a:r>
            <a:r>
              <a:rPr lang="en" sz="1900" b="1" dirty="0"/>
              <a:t>o</a:t>
            </a:r>
            <a:r>
              <a:rPr lang="en" sz="1900" dirty="0"/>
              <a:t> with respect to any set of parameters </a:t>
            </a:r>
            <a:r>
              <a:rPr lang="en" sz="1900" b="1" dirty="0"/>
              <a:t>W(l)</a:t>
            </a:r>
            <a:r>
              <a:rPr lang="en" sz="1900" dirty="0"/>
              <a:t> </a:t>
            </a:r>
            <a:endParaRPr sz="1900"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457200" lvl="0" indent="-355600" algn="l" rtl="0">
              <a:lnSpc>
                <a:spcPct val="170000"/>
              </a:lnSpc>
              <a:spcAft>
                <a:spcPts val="0"/>
              </a:spcAft>
              <a:buSzPts val="2000"/>
              <a:buChar char="●"/>
            </a:pPr>
            <a:r>
              <a:rPr lang="en" sz="1900" dirty="0"/>
              <a:t>Gradient is the product of </a:t>
            </a:r>
            <a:r>
              <a:rPr lang="en" sz="1900" b="1" dirty="0"/>
              <a:t>L − l </a:t>
            </a:r>
            <a:r>
              <a:rPr lang="en" sz="1900" dirty="0"/>
              <a:t>matrices M(L) · . . . · M(l+1) and the gradient vector v(l) . </a:t>
            </a:r>
            <a:endParaRPr sz="1900" dirty="0"/>
          </a:p>
        </p:txBody>
      </p:sp>
      <p:sp>
        <p:nvSpPr>
          <p:cNvPr id="347" name="Google Shape;347;p53"/>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38</a:t>
            </a:fld>
            <a:endParaRPr/>
          </a:p>
        </p:txBody>
      </p:sp>
      <p:pic>
        <p:nvPicPr>
          <p:cNvPr id="348" name="Google Shape;348;p53"/>
          <p:cNvPicPr preferRelativeResize="0"/>
          <p:nvPr/>
        </p:nvPicPr>
        <p:blipFill>
          <a:blip r:embed="rId3">
            <a:alphaModFix/>
          </a:blip>
          <a:stretch>
            <a:fillRect/>
          </a:stretch>
        </p:blipFill>
        <p:spPr>
          <a:xfrm>
            <a:off x="2590800" y="1492135"/>
            <a:ext cx="3962400" cy="495300"/>
          </a:xfrm>
          <a:prstGeom prst="rect">
            <a:avLst/>
          </a:prstGeom>
          <a:noFill/>
          <a:ln>
            <a:noFill/>
          </a:ln>
        </p:spPr>
      </p:pic>
      <p:pic>
        <p:nvPicPr>
          <p:cNvPr id="349" name="Google Shape;349;p53"/>
          <p:cNvPicPr preferRelativeResize="0"/>
          <p:nvPr/>
        </p:nvPicPr>
        <p:blipFill>
          <a:blip r:embed="rId4">
            <a:alphaModFix/>
          </a:blip>
          <a:stretch>
            <a:fillRect/>
          </a:stretch>
        </p:blipFill>
        <p:spPr>
          <a:xfrm>
            <a:off x="3254952" y="2710403"/>
            <a:ext cx="4019550" cy="7810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sz="2700" b="1" dirty="0"/>
              <a:t>Vanishing and Exploding Gradients</a:t>
            </a:r>
            <a:endParaRPr sz="2700" b="1" dirty="0"/>
          </a:p>
          <a:p>
            <a:pPr marL="0" lvl="0" indent="0" algn="l" rtl="0">
              <a:spcBef>
                <a:spcPts val="0"/>
              </a:spcBef>
              <a:spcAft>
                <a:spcPts val="0"/>
              </a:spcAft>
              <a:buNone/>
            </a:pPr>
            <a:endParaRPr dirty="0"/>
          </a:p>
        </p:txBody>
      </p:sp>
      <p:sp>
        <p:nvSpPr>
          <p:cNvPr id="355" name="Google Shape;355;p54"/>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buSzPts val="2000"/>
              <a:buChar char="●"/>
            </a:pPr>
            <a:r>
              <a:rPr lang="en" sz="1800" dirty="0"/>
              <a:t>The matrices M(l) may have a wide variety of eigenvalues. They might be small or large, and their product might be very large or very small.</a:t>
            </a:r>
            <a:endParaRPr sz="1800" dirty="0"/>
          </a:p>
          <a:p>
            <a:pPr marL="457200" lvl="0" indent="-355600" algn="just" rtl="0">
              <a:lnSpc>
                <a:spcPct val="150000"/>
              </a:lnSpc>
              <a:buSzPts val="2000"/>
              <a:buChar char="●"/>
            </a:pPr>
            <a:r>
              <a:rPr lang="en" sz="1800" dirty="0"/>
              <a:t>Gradients of unpredictable magnitude also threaten the stability of the optimization algorithms. </a:t>
            </a:r>
            <a:endParaRPr sz="1800" dirty="0"/>
          </a:p>
          <a:p>
            <a:pPr marL="457200" lvl="0" indent="-355600" algn="just" rtl="0">
              <a:lnSpc>
                <a:spcPct val="150000"/>
              </a:lnSpc>
              <a:buSzPts val="2000"/>
              <a:buChar char="●"/>
            </a:pPr>
            <a:r>
              <a:rPr lang="en" sz="1800" dirty="0"/>
              <a:t>Parameter updates may be either </a:t>
            </a:r>
            <a:endParaRPr sz="1800" dirty="0"/>
          </a:p>
          <a:p>
            <a:pPr marL="457200" lvl="0" indent="0" algn="just" rtl="0">
              <a:lnSpc>
                <a:spcPct val="150000"/>
              </a:lnSpc>
              <a:buNone/>
            </a:pPr>
            <a:r>
              <a:rPr lang="en" sz="1800" dirty="0"/>
              <a:t>(i) excessively large, destroying our model (the </a:t>
            </a:r>
            <a:r>
              <a:rPr lang="en" sz="1800" b="1" dirty="0"/>
              <a:t>exploding gradient </a:t>
            </a:r>
            <a:r>
              <a:rPr lang="en" sz="1800" dirty="0"/>
              <a:t>problem); </a:t>
            </a:r>
            <a:endParaRPr sz="1800" dirty="0"/>
          </a:p>
          <a:p>
            <a:pPr marL="457200" lvl="0" indent="0" algn="just" rtl="0">
              <a:lnSpc>
                <a:spcPct val="150000"/>
              </a:lnSpc>
              <a:buNone/>
            </a:pPr>
            <a:r>
              <a:rPr lang="en" sz="1800" dirty="0"/>
              <a:t>(ii) excessively small (the </a:t>
            </a:r>
            <a:r>
              <a:rPr lang="en" sz="1800" b="1" dirty="0"/>
              <a:t>vanishing gradient </a:t>
            </a:r>
            <a:r>
              <a:rPr lang="en" sz="1800" dirty="0"/>
              <a:t>problem), rendering learning impossible as parameters hardly move on each update.</a:t>
            </a:r>
            <a:endParaRPr sz="1800" dirty="0"/>
          </a:p>
        </p:txBody>
      </p:sp>
      <p:sp>
        <p:nvSpPr>
          <p:cNvPr id="356" name="Google Shape;356;p5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5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Vanishing Gradients</a:t>
            </a:r>
            <a:endParaRPr b="1" dirty="0"/>
          </a:p>
        </p:txBody>
      </p:sp>
      <p:sp>
        <p:nvSpPr>
          <p:cNvPr id="362" name="Google Shape;362;p55"/>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Activation function sigmoid σ  can cause the vanishing gradient problem.</a:t>
            </a:r>
            <a:endParaRPr dirty="0"/>
          </a:p>
          <a:p>
            <a:pPr marL="914400" lvl="1" indent="-330200" algn="just" rtl="0">
              <a:lnSpc>
                <a:spcPct val="150000"/>
              </a:lnSpc>
              <a:spcBef>
                <a:spcPts val="0"/>
              </a:spcBef>
              <a:spcAft>
                <a:spcPts val="0"/>
              </a:spcAft>
              <a:buSzPts val="1600"/>
              <a:buChar char="○"/>
            </a:pPr>
            <a:r>
              <a:rPr lang="en" dirty="0"/>
              <a:t>The sigmoidʼs gradient vanishes both when its inputs are large and when they are small. </a:t>
            </a:r>
            <a:endParaRPr dirty="0"/>
          </a:p>
          <a:p>
            <a:pPr marL="914400" lvl="1" indent="-330200" algn="just" rtl="0">
              <a:lnSpc>
                <a:spcPct val="150000"/>
              </a:lnSpc>
              <a:spcBef>
                <a:spcPts val="0"/>
              </a:spcBef>
              <a:spcAft>
                <a:spcPts val="0"/>
              </a:spcAft>
              <a:buSzPts val="1600"/>
              <a:buChar char="○"/>
            </a:pPr>
            <a:r>
              <a:rPr lang="en" dirty="0"/>
              <a:t>When backpropagating through many layers, where the inputs to many of the sigmoids are close to zero, the gradients of the overall product may vanish. </a:t>
            </a:r>
            <a:endParaRPr dirty="0"/>
          </a:p>
          <a:p>
            <a:pPr marL="457200" lvl="0" indent="-355600" algn="l" rtl="0">
              <a:lnSpc>
                <a:spcPct val="150000"/>
              </a:lnSpc>
              <a:spcBef>
                <a:spcPts val="0"/>
              </a:spcBef>
              <a:spcAft>
                <a:spcPts val="0"/>
              </a:spcAft>
              <a:buSzPts val="2000"/>
              <a:buChar char="●"/>
            </a:pPr>
            <a:r>
              <a:rPr lang="en" dirty="0"/>
              <a:t>Solution: Use ReLU for hidden lakers. ReLU is more stable.</a:t>
            </a:r>
            <a:endParaRPr dirty="0"/>
          </a:p>
          <a:p>
            <a:pPr marL="0" lvl="0" indent="0" algn="l" rtl="0">
              <a:spcBef>
                <a:spcPts val="1200"/>
              </a:spcBef>
              <a:spcAft>
                <a:spcPts val="1200"/>
              </a:spcAft>
              <a:buNone/>
            </a:pPr>
            <a:endParaRPr dirty="0"/>
          </a:p>
        </p:txBody>
      </p:sp>
      <p:sp>
        <p:nvSpPr>
          <p:cNvPr id="363" name="Google Shape;363;p55"/>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Parameter Initialization</a:t>
            </a:r>
            <a:endParaRPr b="1" dirty="0"/>
          </a:p>
        </p:txBody>
      </p:sp>
      <p:sp>
        <p:nvSpPr>
          <p:cNvPr id="369" name="Google Shape;369;p56"/>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AutoNum type="arabicPeriod"/>
            </a:pPr>
            <a:r>
              <a:rPr lang="en" dirty="0"/>
              <a:t>Default Initialization</a:t>
            </a:r>
            <a:endParaRPr dirty="0"/>
          </a:p>
          <a:p>
            <a:pPr marL="914400" lvl="1" indent="-330200" algn="just" rtl="0">
              <a:lnSpc>
                <a:spcPct val="150000"/>
              </a:lnSpc>
              <a:spcBef>
                <a:spcPts val="0"/>
              </a:spcBef>
              <a:spcAft>
                <a:spcPts val="0"/>
              </a:spcAft>
              <a:buSzPts val="1600"/>
              <a:buChar char="○"/>
            </a:pPr>
            <a:r>
              <a:rPr lang="en" dirty="0"/>
              <a:t>Used a normal distribution to initialize the values of the parameters.</a:t>
            </a:r>
            <a:endParaRPr dirty="0"/>
          </a:p>
          <a:p>
            <a:pPr marL="457200" lvl="0" indent="-355600" algn="just" rtl="0">
              <a:lnSpc>
                <a:spcPct val="150000"/>
              </a:lnSpc>
              <a:spcBef>
                <a:spcPts val="0"/>
              </a:spcBef>
              <a:spcAft>
                <a:spcPts val="0"/>
              </a:spcAft>
              <a:buSzPts val="2000"/>
              <a:buAutoNum type="arabicPeriod"/>
            </a:pPr>
            <a:r>
              <a:rPr lang="en" dirty="0"/>
              <a:t>Xavier Initialization</a:t>
            </a:r>
            <a:endParaRPr dirty="0"/>
          </a:p>
          <a:p>
            <a:pPr marL="914400" lvl="1" indent="-330200" algn="just" rtl="0">
              <a:lnSpc>
                <a:spcPct val="150000"/>
              </a:lnSpc>
              <a:spcBef>
                <a:spcPts val="0"/>
              </a:spcBef>
              <a:spcAft>
                <a:spcPts val="0"/>
              </a:spcAft>
              <a:buSzPts val="1600"/>
              <a:buChar char="○"/>
            </a:pPr>
            <a:r>
              <a:rPr lang="en" dirty="0"/>
              <a:t> samples weights from a Gaussian distribution with zero mean and variance</a:t>
            </a: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914400" lvl="1" indent="-330200" algn="l" rtl="0">
              <a:spcBef>
                <a:spcPts val="1200"/>
              </a:spcBef>
              <a:spcAft>
                <a:spcPts val="0"/>
              </a:spcAft>
              <a:buSzPts val="1600"/>
              <a:buChar char="○"/>
            </a:pPr>
            <a:r>
              <a:rPr lang="en" dirty="0"/>
              <a:t>now-standard and practically beneficial</a:t>
            </a:r>
            <a:endParaRPr dirty="0"/>
          </a:p>
        </p:txBody>
      </p:sp>
      <p:sp>
        <p:nvSpPr>
          <p:cNvPr id="370" name="Google Shape;370;p56"/>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41</a:t>
            </a:fld>
            <a:endParaRPr/>
          </a:p>
        </p:txBody>
      </p:sp>
      <p:pic>
        <p:nvPicPr>
          <p:cNvPr id="371" name="Google Shape;371;p56"/>
          <p:cNvPicPr preferRelativeResize="0"/>
          <p:nvPr/>
        </p:nvPicPr>
        <p:blipFill>
          <a:blip r:embed="rId3">
            <a:alphaModFix/>
          </a:blip>
          <a:stretch>
            <a:fillRect/>
          </a:stretch>
        </p:blipFill>
        <p:spPr>
          <a:xfrm>
            <a:off x="2325631" y="2602346"/>
            <a:ext cx="2334450" cy="8206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b="1" dirty="0"/>
              <a:t>Batch Normalization</a:t>
            </a:r>
            <a:endParaRPr b="1" dirty="0"/>
          </a:p>
        </p:txBody>
      </p:sp>
      <p:sp>
        <p:nvSpPr>
          <p:cNvPr id="377" name="Google Shape;377;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5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Why Batch Normalization</a:t>
            </a:r>
            <a:r>
              <a:rPr lang="en" dirty="0"/>
              <a:t>?</a:t>
            </a:r>
            <a:endParaRPr dirty="0"/>
          </a:p>
        </p:txBody>
      </p:sp>
      <p:sp>
        <p:nvSpPr>
          <p:cNvPr id="383" name="Google Shape;383;p58"/>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AutoNum type="arabicPeriod"/>
            </a:pPr>
            <a:r>
              <a:rPr lang="en" sz="1600" dirty="0"/>
              <a:t>Standardize the input features to each have a mean of zero and variance of one. This standardization puts the parameters a priori at a similar scale. Better optimization.</a:t>
            </a:r>
          </a:p>
          <a:p>
            <a:pPr marL="457200" lvl="0" indent="-355600" algn="just" rtl="0">
              <a:lnSpc>
                <a:spcPct val="150000"/>
              </a:lnSpc>
              <a:spcBef>
                <a:spcPts val="0"/>
              </a:spcBef>
              <a:spcAft>
                <a:spcPts val="0"/>
              </a:spcAft>
              <a:buSzPts val="2000"/>
              <a:buAutoNum type="arabicPeriod"/>
            </a:pPr>
            <a:endParaRPr sz="1600" dirty="0"/>
          </a:p>
          <a:p>
            <a:pPr marL="457200" lvl="0" indent="-355600" algn="just" rtl="0">
              <a:lnSpc>
                <a:spcPct val="150000"/>
              </a:lnSpc>
              <a:spcBef>
                <a:spcPts val="0"/>
              </a:spcBef>
              <a:spcAft>
                <a:spcPts val="0"/>
              </a:spcAft>
              <a:buSzPts val="2000"/>
              <a:buAutoNum type="arabicPeriod"/>
            </a:pPr>
            <a:r>
              <a:rPr lang="en" sz="1600" dirty="0"/>
              <a:t>A MLP or CNN, as we train, the variables in intermediate layers may take values with widely varying magnitudes: both along the layers from the input to the output, across units in the same layer, and over time due to our updates to the model parameters. This drift in the distribution of such variables could hamper the convergence of the network. </a:t>
            </a:r>
            <a:endParaRPr sz="1600" dirty="0"/>
          </a:p>
          <a:p>
            <a:pPr marL="457200" lvl="0" indent="-355600" algn="just" rtl="0">
              <a:lnSpc>
                <a:spcPct val="150000"/>
              </a:lnSpc>
              <a:spcBef>
                <a:spcPts val="0"/>
              </a:spcBef>
              <a:spcAft>
                <a:spcPts val="0"/>
              </a:spcAft>
              <a:buSzPts val="2000"/>
              <a:buAutoNum type="arabicPeriod"/>
            </a:pPr>
            <a:r>
              <a:rPr lang="en" sz="1600" dirty="0"/>
              <a:t>Deeper networks are complex and easily capable of overfitting. This means that regularization becomes more critical.</a:t>
            </a:r>
            <a:endParaRPr sz="1600" dirty="0"/>
          </a:p>
        </p:txBody>
      </p:sp>
      <p:sp>
        <p:nvSpPr>
          <p:cNvPr id="384" name="Google Shape;384;p58"/>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5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Batch Normalization</a:t>
            </a:r>
            <a:endParaRPr b="1" dirty="0"/>
          </a:p>
        </p:txBody>
      </p:sp>
      <p:sp>
        <p:nvSpPr>
          <p:cNvPr id="390" name="Google Shape;390;p59"/>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85000" lnSpcReduction="20000"/>
          </a:bodyPr>
          <a:lstStyle/>
          <a:p>
            <a:pPr marL="457200" lvl="0" indent="-355600" algn="just" rtl="0">
              <a:lnSpc>
                <a:spcPct val="150000"/>
              </a:lnSpc>
              <a:spcBef>
                <a:spcPts val="0"/>
              </a:spcBef>
              <a:spcAft>
                <a:spcPts val="0"/>
              </a:spcAft>
              <a:buSzPts val="2000"/>
              <a:buChar char="●"/>
            </a:pPr>
            <a:r>
              <a:rPr lang="en" dirty="0"/>
              <a:t>Batch normalization is  a popular and effective technique that consistently accelerates the convergence of deep networks.</a:t>
            </a:r>
            <a:endParaRPr dirty="0"/>
          </a:p>
          <a:p>
            <a:pPr marL="457200" lvl="0" indent="-355600" algn="just" rtl="0">
              <a:lnSpc>
                <a:spcPct val="150000"/>
              </a:lnSpc>
              <a:spcBef>
                <a:spcPts val="0"/>
              </a:spcBef>
              <a:spcAft>
                <a:spcPts val="0"/>
              </a:spcAft>
              <a:buSzPts val="2000"/>
              <a:buChar char="●"/>
            </a:pPr>
            <a:r>
              <a:rPr lang="en" dirty="0"/>
              <a:t>Batch normalization is applied to individual layers.</a:t>
            </a:r>
            <a:endParaRPr dirty="0"/>
          </a:p>
          <a:p>
            <a:pPr marL="457200" lvl="0" indent="-355600" algn="just" rtl="0">
              <a:lnSpc>
                <a:spcPct val="150000"/>
              </a:lnSpc>
              <a:spcBef>
                <a:spcPts val="0"/>
              </a:spcBef>
              <a:spcAft>
                <a:spcPts val="0"/>
              </a:spcAft>
              <a:buSzPts val="2000"/>
              <a:buChar char="●"/>
            </a:pPr>
            <a:r>
              <a:rPr lang="en" dirty="0"/>
              <a:t>It works as follows:</a:t>
            </a:r>
            <a:endParaRPr dirty="0"/>
          </a:p>
          <a:p>
            <a:pPr marL="1371600" lvl="1" indent="-330200" algn="just" rtl="0">
              <a:lnSpc>
                <a:spcPct val="150000"/>
              </a:lnSpc>
              <a:spcBef>
                <a:spcPts val="0"/>
              </a:spcBef>
              <a:spcAft>
                <a:spcPts val="0"/>
              </a:spcAft>
              <a:buSzPts val="1600"/>
              <a:buChar char="○"/>
            </a:pPr>
            <a:r>
              <a:rPr lang="en" dirty="0"/>
              <a:t>In each training iteration, first normalize the inputs (of batch normalization) by subtracting their mean and dividing by their standard deviation, where both are estimated based on the statistics of the current minibatch. </a:t>
            </a:r>
            <a:endParaRPr dirty="0"/>
          </a:p>
          <a:p>
            <a:pPr marL="1371600" lvl="1" indent="-330200" algn="just" rtl="0">
              <a:lnSpc>
                <a:spcPct val="150000"/>
              </a:lnSpc>
              <a:spcBef>
                <a:spcPts val="0"/>
              </a:spcBef>
              <a:spcAft>
                <a:spcPts val="0"/>
              </a:spcAft>
              <a:buSzPts val="1600"/>
              <a:buChar char="○"/>
            </a:pPr>
            <a:r>
              <a:rPr lang="en" dirty="0"/>
              <a:t>Next, apply a scale coefficient and a scale offset. </a:t>
            </a:r>
            <a:endParaRPr dirty="0"/>
          </a:p>
          <a:p>
            <a:pPr marL="457200" lvl="0" indent="-355600" algn="just" rtl="0">
              <a:lnSpc>
                <a:spcPct val="150000"/>
              </a:lnSpc>
              <a:spcBef>
                <a:spcPts val="0"/>
              </a:spcBef>
              <a:spcAft>
                <a:spcPts val="0"/>
              </a:spcAft>
              <a:buSzPts val="2000"/>
              <a:buChar char="●"/>
            </a:pPr>
            <a:r>
              <a:rPr lang="en" dirty="0"/>
              <a:t>Due to the normalization based on batch statistics that batch normalization derives its name.</a:t>
            </a:r>
            <a:endParaRPr dirty="0"/>
          </a:p>
          <a:p>
            <a:pPr marL="457200" lvl="0" indent="-355600" algn="just" rtl="0">
              <a:lnSpc>
                <a:spcPct val="150000"/>
              </a:lnSpc>
              <a:spcBef>
                <a:spcPts val="0"/>
              </a:spcBef>
              <a:spcAft>
                <a:spcPts val="0"/>
              </a:spcAft>
              <a:buSzPts val="2000"/>
              <a:buChar char="●"/>
            </a:pPr>
            <a:r>
              <a:rPr lang="en" dirty="0"/>
              <a:t>Batch normalization works best for moderate minibatches sizes in the 50 to 100 range.</a:t>
            </a:r>
            <a:endParaRPr dirty="0"/>
          </a:p>
        </p:txBody>
      </p:sp>
      <p:sp>
        <p:nvSpPr>
          <p:cNvPr id="391" name="Google Shape;391;p59"/>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6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Batch Normalization</a:t>
            </a:r>
            <a:endParaRPr b="1" dirty="0"/>
          </a:p>
        </p:txBody>
      </p:sp>
      <p:sp>
        <p:nvSpPr>
          <p:cNvPr id="397" name="Google Shape;397;p60"/>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lnSpc>
                <a:spcPct val="150000"/>
              </a:lnSpc>
              <a:spcBef>
                <a:spcPts val="0"/>
              </a:spcBef>
              <a:spcAft>
                <a:spcPts val="0"/>
              </a:spcAft>
              <a:buSzPts val="2000"/>
              <a:buChar char="●"/>
            </a:pPr>
            <a:r>
              <a:rPr lang="en" sz="1800" dirty="0"/>
              <a:t>Denote by </a:t>
            </a:r>
            <a:r>
              <a:rPr lang="en" sz="1800" b="1" dirty="0"/>
              <a:t>x</a:t>
            </a:r>
            <a:r>
              <a:rPr lang="en" sz="1800" dirty="0"/>
              <a:t> ∈ B an input to batch normalization (BN) that is from a minibatch B, batch normalization transforms </a:t>
            </a:r>
            <a:r>
              <a:rPr lang="en" sz="1800" b="1" dirty="0"/>
              <a:t>x</a:t>
            </a:r>
            <a:r>
              <a:rPr lang="en" sz="1800" dirty="0"/>
              <a:t> as</a:t>
            </a:r>
            <a:endParaRPr sz="1800" dirty="0"/>
          </a:p>
          <a:p>
            <a:pPr marL="0" lvl="0" indent="0" algn="l" rtl="0">
              <a:spcBef>
                <a:spcPts val="1200"/>
              </a:spcBef>
              <a:spcAft>
                <a:spcPts val="0"/>
              </a:spcAft>
              <a:buNone/>
            </a:pPr>
            <a:endParaRPr dirty="0"/>
          </a:p>
          <a:p>
            <a:pPr marL="457200" lvl="0" indent="-355600" algn="l" rtl="0">
              <a:lnSpc>
                <a:spcPct val="150000"/>
              </a:lnSpc>
              <a:spcBef>
                <a:spcPts val="1200"/>
              </a:spcBef>
              <a:spcAft>
                <a:spcPts val="0"/>
              </a:spcAft>
              <a:buSzPts val="2000"/>
              <a:buChar char="●"/>
            </a:pPr>
            <a:r>
              <a:rPr lang="en" dirty="0"/>
              <a:t>μ̂</a:t>
            </a:r>
            <a:r>
              <a:rPr lang="en" baseline="-25000" dirty="0"/>
              <a:t>B</a:t>
            </a:r>
            <a:r>
              <a:rPr lang="en" dirty="0"/>
              <a:t> is the sample mean and σ̂</a:t>
            </a:r>
            <a:r>
              <a:rPr lang="en" baseline="-25000" dirty="0"/>
              <a:t>B</a:t>
            </a:r>
            <a:r>
              <a:rPr lang="en" dirty="0"/>
              <a:t> is the sample standard deviation of the minibatch B.</a:t>
            </a:r>
            <a:endParaRPr dirty="0"/>
          </a:p>
          <a:p>
            <a:pPr marL="457200" lvl="0" indent="-355600" algn="l" rtl="0">
              <a:lnSpc>
                <a:spcPct val="150000"/>
              </a:lnSpc>
              <a:spcBef>
                <a:spcPts val="0"/>
              </a:spcBef>
              <a:spcAft>
                <a:spcPts val="0"/>
              </a:spcAft>
              <a:buSzPts val="2000"/>
              <a:buChar char="●"/>
            </a:pPr>
            <a:r>
              <a:rPr lang="en" dirty="0"/>
              <a:t>After applying standardization, the resulting minibatch has zero mean and unit variance.</a:t>
            </a:r>
            <a:endParaRPr dirty="0"/>
          </a:p>
        </p:txBody>
      </p:sp>
      <p:sp>
        <p:nvSpPr>
          <p:cNvPr id="398" name="Google Shape;398;p60"/>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45</a:t>
            </a:fld>
            <a:endParaRPr/>
          </a:p>
        </p:txBody>
      </p:sp>
      <p:pic>
        <p:nvPicPr>
          <p:cNvPr id="399" name="Google Shape;399;p60"/>
          <p:cNvPicPr preferRelativeResize="0"/>
          <p:nvPr/>
        </p:nvPicPr>
        <p:blipFill>
          <a:blip r:embed="rId3">
            <a:alphaModFix/>
          </a:blip>
          <a:stretch>
            <a:fillRect/>
          </a:stretch>
        </p:blipFill>
        <p:spPr>
          <a:xfrm>
            <a:off x="3381375" y="1535125"/>
            <a:ext cx="2381250" cy="5715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Batch Normalization</a:t>
            </a:r>
            <a:endParaRPr b="1" dirty="0"/>
          </a:p>
        </p:txBody>
      </p:sp>
      <p:sp>
        <p:nvSpPr>
          <p:cNvPr id="405" name="Google Shape;405;p61"/>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Denote by </a:t>
            </a:r>
            <a:r>
              <a:rPr lang="en" b="1" dirty="0"/>
              <a:t>x</a:t>
            </a:r>
            <a:r>
              <a:rPr lang="en" dirty="0"/>
              <a:t> ∈ B an input to batch normalization (BN) that is from a minibatch B, batch normalization transforms </a:t>
            </a:r>
            <a:r>
              <a:rPr lang="en" b="1" dirty="0"/>
              <a:t>x</a:t>
            </a:r>
            <a:r>
              <a:rPr lang="en" dirty="0"/>
              <a:t> as</a:t>
            </a: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457200" lvl="0" indent="-355600" algn="just" rtl="0">
              <a:lnSpc>
                <a:spcPct val="150000"/>
              </a:lnSpc>
              <a:spcAft>
                <a:spcPts val="0"/>
              </a:spcAft>
              <a:buSzPts val="2000"/>
              <a:buChar char="●"/>
            </a:pPr>
            <a:r>
              <a:rPr lang="en" dirty="0"/>
              <a:t>μ̂</a:t>
            </a:r>
            <a:r>
              <a:rPr lang="en" baseline="-25000" dirty="0"/>
              <a:t>B</a:t>
            </a:r>
            <a:r>
              <a:rPr lang="en" dirty="0"/>
              <a:t> is the sample mean and σ̂</a:t>
            </a:r>
            <a:r>
              <a:rPr lang="en" baseline="-25000" dirty="0"/>
              <a:t>B</a:t>
            </a:r>
            <a:r>
              <a:rPr lang="en" dirty="0"/>
              <a:t> is the sample standard deviation of the minibatch B.</a:t>
            </a:r>
            <a:endParaRPr dirty="0"/>
          </a:p>
          <a:p>
            <a:pPr marL="457200" lvl="0" indent="-355600" algn="just" rtl="0">
              <a:lnSpc>
                <a:spcPct val="150000"/>
              </a:lnSpc>
              <a:spcAft>
                <a:spcPts val="0"/>
              </a:spcAft>
              <a:buSzPts val="2000"/>
              <a:buChar char="●"/>
            </a:pPr>
            <a:r>
              <a:rPr lang="en" dirty="0"/>
              <a:t>After applying standardization, the resulting minibatch has zero mean and unit variance.</a:t>
            </a:r>
            <a:endParaRPr dirty="0"/>
          </a:p>
        </p:txBody>
      </p:sp>
      <p:sp>
        <p:nvSpPr>
          <p:cNvPr id="406" name="Google Shape;406;p6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46</a:t>
            </a:fld>
            <a:endParaRPr/>
          </a:p>
        </p:txBody>
      </p:sp>
      <p:pic>
        <p:nvPicPr>
          <p:cNvPr id="407" name="Google Shape;407;p61"/>
          <p:cNvPicPr preferRelativeResize="0"/>
          <p:nvPr/>
        </p:nvPicPr>
        <p:blipFill>
          <a:blip r:embed="rId3">
            <a:alphaModFix/>
          </a:blip>
          <a:stretch>
            <a:fillRect/>
          </a:stretch>
        </p:blipFill>
        <p:spPr>
          <a:xfrm>
            <a:off x="3346738" y="1714034"/>
            <a:ext cx="3881050" cy="9314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6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Batch Normalization</a:t>
            </a:r>
            <a:endParaRPr b="1" dirty="0"/>
          </a:p>
        </p:txBody>
      </p:sp>
      <p:sp>
        <p:nvSpPr>
          <p:cNvPr id="413" name="Google Shape;413;p62"/>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sz="1800" dirty="0"/>
              <a:t>Elementwise scale parameter γ and shift parameter β that have the same shape as x. γ and β are parameters are learned jointly with the other model parameters.</a:t>
            </a:r>
            <a:endParaRPr sz="1800" dirty="0"/>
          </a:p>
          <a:p>
            <a:pPr marL="457200" lvl="0" indent="-355600" algn="just" rtl="0">
              <a:lnSpc>
                <a:spcPct val="150000"/>
              </a:lnSpc>
              <a:spcBef>
                <a:spcPts val="0"/>
              </a:spcBef>
              <a:spcAft>
                <a:spcPts val="0"/>
              </a:spcAft>
              <a:buSzPts val="2000"/>
              <a:buChar char="●"/>
            </a:pPr>
            <a:r>
              <a:rPr lang="en" sz="1800" dirty="0"/>
              <a:t>Batch normalization actively centers and rescales the inputs to each layer back to a given mean and size.</a:t>
            </a:r>
            <a:endParaRPr sz="1800" dirty="0"/>
          </a:p>
          <a:p>
            <a:pPr marL="457200" lvl="0" indent="-355600" algn="just" rtl="0">
              <a:lnSpc>
                <a:spcPct val="150000"/>
              </a:lnSpc>
              <a:spcBef>
                <a:spcPts val="0"/>
              </a:spcBef>
              <a:spcAft>
                <a:spcPts val="0"/>
              </a:spcAft>
              <a:buSzPts val="2000"/>
              <a:buChar char="●"/>
            </a:pPr>
            <a:r>
              <a:rPr lang="en" sz="1800" dirty="0"/>
              <a:t>Calculate μ̂</a:t>
            </a:r>
            <a:r>
              <a:rPr lang="en" sz="1800" baseline="-25000" dirty="0"/>
              <a:t>B</a:t>
            </a:r>
            <a:r>
              <a:rPr lang="en" sz="1800" dirty="0"/>
              <a:t> and σ̂</a:t>
            </a:r>
            <a:r>
              <a:rPr lang="en" sz="1800" baseline="-25000" dirty="0"/>
              <a:t>B</a:t>
            </a:r>
            <a:endParaRPr sz="1800" baseline="-25000" dirty="0"/>
          </a:p>
          <a:p>
            <a:pPr marL="914400" lvl="0" indent="0" algn="l" rtl="0">
              <a:spcBef>
                <a:spcPts val="1200"/>
              </a:spcBef>
              <a:spcAft>
                <a:spcPts val="1200"/>
              </a:spcAft>
              <a:buNone/>
            </a:pPr>
            <a:endParaRPr dirty="0"/>
          </a:p>
        </p:txBody>
      </p:sp>
      <p:sp>
        <p:nvSpPr>
          <p:cNvPr id="414" name="Google Shape;414;p6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47</a:t>
            </a:fld>
            <a:endParaRPr/>
          </a:p>
        </p:txBody>
      </p:sp>
      <p:pic>
        <p:nvPicPr>
          <p:cNvPr id="415" name="Google Shape;415;p62"/>
          <p:cNvPicPr preferRelativeResize="0"/>
          <p:nvPr/>
        </p:nvPicPr>
        <p:blipFill>
          <a:blip r:embed="rId3">
            <a:alphaModFix/>
          </a:blip>
          <a:stretch>
            <a:fillRect/>
          </a:stretch>
        </p:blipFill>
        <p:spPr>
          <a:xfrm>
            <a:off x="2631053" y="3528448"/>
            <a:ext cx="2524125" cy="12192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6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Batch Normalization Layers</a:t>
            </a:r>
            <a:endParaRPr b="1" dirty="0"/>
          </a:p>
        </p:txBody>
      </p:sp>
      <p:sp>
        <p:nvSpPr>
          <p:cNvPr id="421" name="Google Shape;421;p63"/>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92500" lnSpcReduction="10000"/>
          </a:bodyPr>
          <a:lstStyle/>
          <a:p>
            <a:pPr marL="457200" lvl="0" indent="-355600" algn="just" rtl="0">
              <a:lnSpc>
                <a:spcPct val="150000"/>
              </a:lnSpc>
              <a:spcBef>
                <a:spcPts val="0"/>
              </a:spcBef>
              <a:spcAft>
                <a:spcPts val="0"/>
              </a:spcAft>
              <a:buSzPts val="2000"/>
              <a:buChar char="●"/>
            </a:pPr>
            <a:r>
              <a:rPr lang="en" dirty="0"/>
              <a:t>Batch normalization implementations for fully-connected layers and convolutional layers are slightly different. </a:t>
            </a:r>
            <a:endParaRPr dirty="0"/>
          </a:p>
          <a:p>
            <a:pPr marL="914400" lvl="1" indent="-330200" algn="just" rtl="0">
              <a:lnSpc>
                <a:spcPct val="150000"/>
              </a:lnSpc>
              <a:spcBef>
                <a:spcPts val="0"/>
              </a:spcBef>
              <a:spcAft>
                <a:spcPts val="0"/>
              </a:spcAft>
              <a:buSzPts val="1600"/>
              <a:buChar char="○"/>
            </a:pPr>
            <a:r>
              <a:rPr lang="en" dirty="0"/>
              <a:t>Fully-Connected Layers</a:t>
            </a:r>
            <a:endParaRPr dirty="0"/>
          </a:p>
          <a:p>
            <a:pPr marL="1371600" lvl="2" indent="-330200" algn="just" rtl="0">
              <a:lnSpc>
                <a:spcPct val="150000"/>
              </a:lnSpc>
              <a:spcBef>
                <a:spcPts val="0"/>
              </a:spcBef>
              <a:spcAft>
                <a:spcPts val="0"/>
              </a:spcAft>
              <a:buSzPts val="1600"/>
              <a:buChar char="■"/>
            </a:pPr>
            <a:r>
              <a:rPr lang="en" dirty="0"/>
              <a:t>Insert batch normalization after the affine transformation and before the nonlinear activation function.</a:t>
            </a:r>
            <a:endParaRPr dirty="0"/>
          </a:p>
          <a:p>
            <a:pPr marL="914400" lvl="1" indent="-330200" algn="just" rtl="0">
              <a:lnSpc>
                <a:spcPct val="150000"/>
              </a:lnSpc>
              <a:spcBef>
                <a:spcPts val="0"/>
              </a:spcBef>
              <a:spcAft>
                <a:spcPts val="0"/>
              </a:spcAft>
              <a:buSzPts val="1600"/>
              <a:buChar char="○"/>
            </a:pPr>
            <a:r>
              <a:rPr lang="en" dirty="0"/>
              <a:t>Convolutional Layers</a:t>
            </a:r>
            <a:endParaRPr dirty="0"/>
          </a:p>
          <a:p>
            <a:pPr marL="1371600" lvl="2" indent="-330200" algn="just" rtl="0">
              <a:lnSpc>
                <a:spcPct val="150000"/>
              </a:lnSpc>
              <a:spcBef>
                <a:spcPts val="0"/>
              </a:spcBef>
              <a:spcAft>
                <a:spcPts val="0"/>
              </a:spcAft>
              <a:buSzPts val="1600"/>
              <a:buChar char="■"/>
            </a:pPr>
            <a:r>
              <a:rPr lang="en" dirty="0"/>
              <a:t>Apply batch normalization after the convolution and before the nonlinear activation function.</a:t>
            </a:r>
            <a:endParaRPr dirty="0"/>
          </a:p>
          <a:p>
            <a:pPr marL="1371600" lvl="2" indent="-330200" algn="just" rtl="0">
              <a:lnSpc>
                <a:spcPct val="150000"/>
              </a:lnSpc>
              <a:spcBef>
                <a:spcPts val="0"/>
              </a:spcBef>
              <a:spcAft>
                <a:spcPts val="0"/>
              </a:spcAft>
              <a:buSzPts val="1600"/>
              <a:buChar char="■"/>
            </a:pPr>
            <a:r>
              <a:rPr lang="en" dirty="0"/>
              <a:t>Carry out each batch normalization over the m ·p ·q elements per output channel simultaneously.</a:t>
            </a:r>
            <a:endParaRPr dirty="0"/>
          </a:p>
          <a:p>
            <a:pPr marL="457200" lvl="0" indent="-355600" algn="just" rtl="0">
              <a:lnSpc>
                <a:spcPct val="150000"/>
              </a:lnSpc>
              <a:spcBef>
                <a:spcPts val="0"/>
              </a:spcBef>
              <a:spcAft>
                <a:spcPts val="0"/>
              </a:spcAft>
              <a:buSzPts val="2000"/>
              <a:buChar char="●"/>
            </a:pPr>
            <a:r>
              <a:rPr lang="en" dirty="0"/>
              <a:t>It operates on a full minibatch at a time.</a:t>
            </a:r>
            <a:endParaRPr dirty="0"/>
          </a:p>
        </p:txBody>
      </p:sp>
      <p:sp>
        <p:nvSpPr>
          <p:cNvPr id="422" name="Google Shape;422;p63"/>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6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Batch Normalization During Prediction</a:t>
            </a:r>
            <a:endParaRPr b="1" dirty="0"/>
          </a:p>
        </p:txBody>
      </p:sp>
      <p:sp>
        <p:nvSpPr>
          <p:cNvPr id="428" name="Google Shape;428;p64"/>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After training, use the entire dataset to compute stable estimates of the variable statistics and then fix them at prediction time.</a:t>
            </a:r>
            <a:endParaRPr dirty="0"/>
          </a:p>
          <a:p>
            <a:pPr marL="0" lvl="0" indent="0" algn="l" rtl="0">
              <a:spcBef>
                <a:spcPts val="1200"/>
              </a:spcBef>
              <a:spcAft>
                <a:spcPts val="1200"/>
              </a:spcAft>
              <a:buNone/>
            </a:pPr>
            <a:endParaRPr dirty="0"/>
          </a:p>
        </p:txBody>
      </p:sp>
      <p:sp>
        <p:nvSpPr>
          <p:cNvPr id="429" name="Google Shape;429;p6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a:t>Ref TB Dive into Deep Learning</a:t>
            </a:r>
            <a:endParaRPr/>
          </a:p>
          <a:p>
            <a:pPr marL="457200" lvl="0" indent="-434340" algn="l" rtl="0">
              <a:spcBef>
                <a:spcPts val="0"/>
              </a:spcBef>
              <a:spcAft>
                <a:spcPts val="0"/>
              </a:spcAft>
              <a:buSzPct val="100000"/>
              <a:buChar char="●"/>
            </a:pPr>
            <a:r>
              <a:rPr lang="en"/>
              <a:t>Sections 5.4, 5.5, 5.6 and 8,5 (online version)</a:t>
            </a:r>
            <a:endParaRPr/>
          </a:p>
        </p:txBody>
      </p:sp>
      <p:sp>
        <p:nvSpPr>
          <p:cNvPr id="435" name="Google Shape;435;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6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Next Session:</a:t>
            </a:r>
            <a:endParaRPr/>
          </a:p>
          <a:p>
            <a:pPr marL="0" lvl="0" indent="0" algn="ctr" rtl="0">
              <a:spcBef>
                <a:spcPts val="0"/>
              </a:spcBef>
              <a:spcAft>
                <a:spcPts val="0"/>
              </a:spcAft>
              <a:buNone/>
            </a:pPr>
            <a:r>
              <a:rPr lang="en"/>
              <a:t>CNN</a:t>
            </a:r>
            <a:endParaRPr/>
          </a:p>
        </p:txBody>
      </p:sp>
      <p:sp>
        <p:nvSpPr>
          <p:cNvPr id="441" name="Google Shape;441;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51</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2492</Words>
  <Application>Microsoft Office PowerPoint</Application>
  <PresentationFormat>On-screen Show (16:9)</PresentationFormat>
  <Paragraphs>299</Paragraphs>
  <Slides>51</Slides>
  <Notes>51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51</vt:i4>
      </vt:variant>
    </vt:vector>
  </HeadingPairs>
  <TitlesOfParts>
    <vt:vector size="53" baseType="lpstr">
      <vt:lpstr>Arial</vt:lpstr>
      <vt:lpstr>Simple Light</vt:lpstr>
      <vt:lpstr>Deep Neural Network</vt:lpstr>
      <vt:lpstr>Regularization Techniques</vt:lpstr>
      <vt:lpstr>What we Learn…. </vt:lpstr>
      <vt:lpstr>Generalization in DNN</vt:lpstr>
      <vt:lpstr>Generalization</vt:lpstr>
      <vt:lpstr>Training Error and Generalization Error</vt:lpstr>
      <vt:lpstr>Model Complexity</vt:lpstr>
      <vt:lpstr>Factors that influence the generalizability of a model </vt:lpstr>
      <vt:lpstr>Model Selection</vt:lpstr>
      <vt:lpstr>Validation dataset</vt:lpstr>
      <vt:lpstr>Just Right Model</vt:lpstr>
      <vt:lpstr>Underfitting</vt:lpstr>
      <vt:lpstr>Overfitting</vt:lpstr>
      <vt:lpstr>Underfitting or Overfitting?</vt:lpstr>
      <vt:lpstr>Polynomial degree and underfitting vs. overfitting </vt:lpstr>
      <vt:lpstr>Model complexity and dataset size</vt:lpstr>
      <vt:lpstr>Deep Learning Model Selection</vt:lpstr>
      <vt:lpstr>Regularization</vt:lpstr>
      <vt:lpstr>Regularization Techniques</vt:lpstr>
      <vt:lpstr>Weight Decay(L2 Regularization)</vt:lpstr>
      <vt:lpstr>L2 Regularization</vt:lpstr>
      <vt:lpstr>L1 Regularization</vt:lpstr>
      <vt:lpstr>PowerPoint Presentation</vt:lpstr>
      <vt:lpstr>Dropout</vt:lpstr>
      <vt:lpstr>Smoothness</vt:lpstr>
      <vt:lpstr>Dropout</vt:lpstr>
      <vt:lpstr>Without Dropout</vt:lpstr>
      <vt:lpstr>Dropout for first iteration</vt:lpstr>
      <vt:lpstr>Dropout for second iteration</vt:lpstr>
      <vt:lpstr>Dropout</vt:lpstr>
      <vt:lpstr>Early Stopping</vt:lpstr>
      <vt:lpstr>Before Early stopping</vt:lpstr>
      <vt:lpstr>Early stopping</vt:lpstr>
      <vt:lpstr>Early stopping</vt:lpstr>
      <vt:lpstr>Early Stopping code</vt:lpstr>
      <vt:lpstr> Numerical Stability and Initialization</vt:lpstr>
      <vt:lpstr>Why Initialization is important?</vt:lpstr>
      <vt:lpstr>Vanishing and Exploding Gradients</vt:lpstr>
      <vt:lpstr>Vanishing and Exploding Gradients </vt:lpstr>
      <vt:lpstr>Vanishing Gradients</vt:lpstr>
      <vt:lpstr>Parameter Initialization</vt:lpstr>
      <vt:lpstr>Batch Normalization</vt:lpstr>
      <vt:lpstr>Why Batch Normalization?</vt:lpstr>
      <vt:lpstr>Batch Normalization</vt:lpstr>
      <vt:lpstr>Batch Normalization</vt:lpstr>
      <vt:lpstr>Batch Normalization</vt:lpstr>
      <vt:lpstr>Batch Normalization</vt:lpstr>
      <vt:lpstr>Batch Normalization Layers</vt:lpstr>
      <vt:lpstr>Batch Normalization During Prediction</vt:lpstr>
      <vt:lpstr>Ref TB Dive into Deep Learning Sections 5.4, 5.5, 5.6 and 8,5 (online version)</vt:lpstr>
      <vt:lpstr>Next Session: CNN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dc:title>
  <cp:lastModifiedBy>Manish Mishra</cp:lastModifiedBy>
  <cp:revision>12</cp:revision>
  <dcterms:modified xsi:type="dcterms:W3CDTF">2024-07-20T17:55:01Z</dcterms:modified>
</cp:coreProperties>
</file>