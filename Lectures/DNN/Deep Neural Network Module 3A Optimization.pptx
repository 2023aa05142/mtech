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60" r:id="rId1"/>
  </p:sldMasterIdLst>
  <p:notesMasterIdLst>
    <p:notesMasterId r:id="rId82"/>
  </p:notesMasterIdLst>
  <p:sldIdLst>
    <p:sldId id="256"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 id="283" r:id="rId28"/>
    <p:sldId id="284" r:id="rId29"/>
    <p:sldId id="285" r:id="rId30"/>
    <p:sldId id="286" r:id="rId31"/>
    <p:sldId id="287" r:id="rId32"/>
    <p:sldId id="288" r:id="rId33"/>
    <p:sldId id="289" r:id="rId34"/>
    <p:sldId id="290" r:id="rId35"/>
    <p:sldId id="291" r:id="rId36"/>
    <p:sldId id="292" r:id="rId37"/>
    <p:sldId id="293" r:id="rId38"/>
    <p:sldId id="294" r:id="rId39"/>
    <p:sldId id="295" r:id="rId40"/>
    <p:sldId id="296" r:id="rId41"/>
    <p:sldId id="297" r:id="rId42"/>
    <p:sldId id="298" r:id="rId43"/>
    <p:sldId id="299" r:id="rId44"/>
    <p:sldId id="300" r:id="rId45"/>
    <p:sldId id="301" r:id="rId46"/>
    <p:sldId id="302" r:id="rId47"/>
    <p:sldId id="303" r:id="rId48"/>
    <p:sldId id="304" r:id="rId49"/>
    <p:sldId id="305" r:id="rId50"/>
    <p:sldId id="306" r:id="rId51"/>
    <p:sldId id="307" r:id="rId52"/>
    <p:sldId id="308" r:id="rId53"/>
    <p:sldId id="309" r:id="rId54"/>
    <p:sldId id="310" r:id="rId55"/>
    <p:sldId id="311" r:id="rId56"/>
    <p:sldId id="312" r:id="rId57"/>
    <p:sldId id="313" r:id="rId58"/>
    <p:sldId id="314" r:id="rId59"/>
    <p:sldId id="315" r:id="rId60"/>
    <p:sldId id="316" r:id="rId61"/>
    <p:sldId id="317" r:id="rId62"/>
    <p:sldId id="318" r:id="rId63"/>
    <p:sldId id="319" r:id="rId64"/>
    <p:sldId id="320" r:id="rId65"/>
    <p:sldId id="321" r:id="rId66"/>
    <p:sldId id="322" r:id="rId67"/>
    <p:sldId id="323" r:id="rId68"/>
    <p:sldId id="324" r:id="rId69"/>
    <p:sldId id="325" r:id="rId70"/>
    <p:sldId id="326" r:id="rId71"/>
    <p:sldId id="327" r:id="rId72"/>
    <p:sldId id="328" r:id="rId73"/>
    <p:sldId id="329" r:id="rId74"/>
    <p:sldId id="330" r:id="rId75"/>
    <p:sldId id="331" r:id="rId76"/>
    <p:sldId id="332" r:id="rId77"/>
    <p:sldId id="333" r:id="rId78"/>
    <p:sldId id="334" r:id="rId79"/>
    <p:sldId id="335" r:id="rId80"/>
    <p:sldId id="336" r:id="rId81"/>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7" d="100"/>
          <a:sy n="87" d="100"/>
        </p:scale>
        <p:origin x="368" y="40"/>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viewProps" Target="viewProp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microsoft.com/office/2016/11/relationships/changesInfo" Target="changesInfos/changesInfo1.xml"/><Relationship Id="rId61" Type="http://schemas.openxmlformats.org/officeDocument/2006/relationships/slide" Target="slides/slide60.xml"/><Relationship Id="rId82"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nish Mishra" userId="5695508de39cc593" providerId="LiveId" clId="{1EE4D340-6A35-462F-9CC6-5F7DB6EA2927}"/>
    <pc:docChg chg="modSld">
      <pc:chgData name="Manish Mishra" userId="5695508de39cc593" providerId="LiveId" clId="{1EE4D340-6A35-462F-9CC6-5F7DB6EA2927}" dt="2024-07-20T11:26:04.353" v="0" actId="1036"/>
      <pc:docMkLst>
        <pc:docMk/>
      </pc:docMkLst>
      <pc:sldChg chg="modSp mod">
        <pc:chgData name="Manish Mishra" userId="5695508de39cc593" providerId="LiveId" clId="{1EE4D340-6A35-462F-9CC6-5F7DB6EA2927}" dt="2024-07-20T11:26:04.353" v="0" actId="1036"/>
        <pc:sldMkLst>
          <pc:docMk/>
          <pc:sldMk cId="0" sldId="293"/>
        </pc:sldMkLst>
        <pc:picChg chg="mod">
          <ac:chgData name="Manish Mishra" userId="5695508de39cc593" providerId="LiveId" clId="{1EE4D340-6A35-462F-9CC6-5F7DB6EA2927}" dt="2024-07-20T11:26:04.353" v="0" actId="1036"/>
          <ac:picMkLst>
            <pc:docMk/>
            <pc:sldMk cId="0" sldId="293"/>
            <ac:picMk id="328" creationId="{00000000-0000-0000-0000-000000000000}"/>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1250424865"/>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
        <p:cNvGrpSpPr/>
        <p:nvPr/>
      </p:nvGrpSpPr>
      <p:grpSpPr>
        <a:xfrm>
          <a:off x="0" y="0"/>
          <a:ext cx="0" cy="0"/>
          <a:chOff x="0" y="0"/>
          <a:chExt cx="0" cy="0"/>
        </a:xfrm>
      </p:grpSpPr>
      <p:sp>
        <p:nvSpPr>
          <p:cNvPr id="56" name="Google Shape;56;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7" name="Google Shape;57;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38235182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
        <p:cNvGrpSpPr/>
        <p:nvPr/>
      </p:nvGrpSpPr>
      <p:grpSpPr>
        <a:xfrm>
          <a:off x="0" y="0"/>
          <a:ext cx="0" cy="0"/>
          <a:chOff x="0" y="0"/>
          <a:chExt cx="0" cy="0"/>
        </a:xfrm>
      </p:grpSpPr>
      <p:sp>
        <p:nvSpPr>
          <p:cNvPr id="70" name="Google Shape;70;g244d658b016_0_29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1" name="Google Shape;71;g244d658b016_0_29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03100349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
        <p:cNvGrpSpPr/>
        <p:nvPr/>
      </p:nvGrpSpPr>
      <p:grpSpPr>
        <a:xfrm>
          <a:off x="0" y="0"/>
          <a:ext cx="0" cy="0"/>
          <a:chOff x="0" y="0"/>
          <a:chExt cx="0" cy="0"/>
        </a:xfrm>
      </p:grpSpPr>
      <p:sp>
        <p:nvSpPr>
          <p:cNvPr id="76" name="Google Shape;76;g244d658b016_0_29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7" name="Google Shape;77;g244d658b016_0_29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Talk about each topic in 1 or 2 sentences. </a:t>
            </a:r>
            <a:endParaRPr/>
          </a:p>
        </p:txBody>
      </p:sp>
    </p:spTree>
    <p:extLst>
      <p:ext uri="{BB962C8B-B14F-4D97-AF65-F5344CB8AC3E}">
        <p14:creationId xmlns:p14="http://schemas.microsoft.com/office/powerpoint/2010/main" val="98452638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
        <p:cNvGrpSpPr/>
        <p:nvPr/>
      </p:nvGrpSpPr>
      <p:grpSpPr>
        <a:xfrm>
          <a:off x="0" y="0"/>
          <a:ext cx="0" cy="0"/>
          <a:chOff x="0" y="0"/>
          <a:chExt cx="0" cy="0"/>
        </a:xfrm>
      </p:grpSpPr>
      <p:sp>
        <p:nvSpPr>
          <p:cNvPr id="83" name="Google Shape;83;g244d658b016_0_4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4" name="Google Shape;84;g244d658b016_0_4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65849208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p:cNvGrpSpPr/>
        <p:nvPr/>
      </p:nvGrpSpPr>
      <p:grpSpPr>
        <a:xfrm>
          <a:off x="0" y="0"/>
          <a:ext cx="0" cy="0"/>
          <a:chOff x="0" y="0"/>
          <a:chExt cx="0" cy="0"/>
        </a:xfrm>
      </p:grpSpPr>
      <p:sp>
        <p:nvSpPr>
          <p:cNvPr id="89" name="Google Shape;89;g244d658b016_0_4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0" name="Google Shape;90;g244d658b016_0_4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2533421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g2548f41fa9c_0_45:notes"/>
          <p:cNvSpPr txBox="1">
            <a:spLocks noGrp="1"/>
          </p:cNvSpPr>
          <p:nvPr>
            <p:ph type="body" idx="1"/>
          </p:nvPr>
        </p:nvSpPr>
        <p:spPr>
          <a:xfrm>
            <a:off x="685800" y="4343378"/>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7" name="Google Shape;97;g2548f41fa9c_0_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9448676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g2548f41fa9c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4" name="Google Shape;104;g2548f41fa9c_0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31679063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g2548f41fa9c_0_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1" name="Google Shape;111;g2548f41fa9c_0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96876480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Google Shape;117;g2548f41fa9c_0_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8" name="Google Shape;118;g2548f41fa9c_0_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73086487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p:cNvGrpSpPr/>
        <p:nvPr/>
      </p:nvGrpSpPr>
      <p:grpSpPr>
        <a:xfrm>
          <a:off x="0" y="0"/>
          <a:ext cx="0" cy="0"/>
          <a:chOff x="0" y="0"/>
          <a:chExt cx="0" cy="0"/>
        </a:xfrm>
      </p:grpSpPr>
      <p:sp>
        <p:nvSpPr>
          <p:cNvPr id="125" name="Google Shape;125;g2548f41fa9c_0_50:notes"/>
          <p:cNvSpPr txBox="1">
            <a:spLocks noGrp="1"/>
          </p:cNvSpPr>
          <p:nvPr>
            <p:ph type="body" idx="1"/>
          </p:nvPr>
        </p:nvSpPr>
        <p:spPr>
          <a:xfrm>
            <a:off x="685800" y="4343378"/>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6" name="Google Shape;126;g2548f41fa9c_0_5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1848220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g2548f41fa9c_0_70:notes"/>
          <p:cNvSpPr txBox="1">
            <a:spLocks noGrp="1"/>
          </p:cNvSpPr>
          <p:nvPr>
            <p:ph type="body" idx="1"/>
          </p:nvPr>
        </p:nvSpPr>
        <p:spPr>
          <a:xfrm>
            <a:off x="685800" y="4343378"/>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3" name="Google Shape;133;g2548f41fa9c_0_7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467948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8"/>
        <p:cNvGrpSpPr/>
        <p:nvPr/>
      </p:nvGrpSpPr>
      <p:grpSpPr>
        <a:xfrm>
          <a:off x="0" y="0"/>
          <a:ext cx="0" cy="0"/>
          <a:chOff x="0" y="0"/>
          <a:chExt cx="0" cy="0"/>
        </a:xfrm>
      </p:grpSpPr>
      <p:sp>
        <p:nvSpPr>
          <p:cNvPr id="139" name="Google Shape;139;g2548f41fa9c_0_65:notes"/>
          <p:cNvSpPr txBox="1">
            <a:spLocks noGrp="1"/>
          </p:cNvSpPr>
          <p:nvPr>
            <p:ph type="body" idx="1"/>
          </p:nvPr>
        </p:nvSpPr>
        <p:spPr>
          <a:xfrm>
            <a:off x="685800" y="4343378"/>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0" name="Google Shape;140;g2548f41fa9c_0_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3858529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
        <p:cNvGrpSpPr/>
        <p:nvPr/>
      </p:nvGrpSpPr>
      <p:grpSpPr>
        <a:xfrm>
          <a:off x="0" y="0"/>
          <a:ext cx="0" cy="0"/>
          <a:chOff x="0" y="0"/>
          <a:chExt cx="0" cy="0"/>
        </a:xfrm>
      </p:grpSpPr>
      <p:sp>
        <p:nvSpPr>
          <p:cNvPr id="146" name="Google Shape;146;g2548f41fa9c_0_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7" name="Google Shape;147;g2548f41fa9c_0_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57978853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g2548f41fa9c_0_75:notes"/>
          <p:cNvSpPr txBox="1">
            <a:spLocks noGrp="1"/>
          </p:cNvSpPr>
          <p:nvPr>
            <p:ph type="body" idx="1"/>
          </p:nvPr>
        </p:nvSpPr>
        <p:spPr>
          <a:xfrm>
            <a:off x="685800" y="4343378"/>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5" name="Google Shape;155;g2548f41fa9c_0_7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871628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p:cNvGrpSpPr/>
        <p:nvPr/>
      </p:nvGrpSpPr>
      <p:grpSpPr>
        <a:xfrm>
          <a:off x="0" y="0"/>
          <a:ext cx="0" cy="0"/>
          <a:chOff x="0" y="0"/>
          <a:chExt cx="0" cy="0"/>
        </a:xfrm>
      </p:grpSpPr>
      <p:sp>
        <p:nvSpPr>
          <p:cNvPr id="161" name="Google Shape;161;g2548f41fa9c_0_80:notes"/>
          <p:cNvSpPr txBox="1">
            <a:spLocks noGrp="1"/>
          </p:cNvSpPr>
          <p:nvPr>
            <p:ph type="body" idx="1"/>
          </p:nvPr>
        </p:nvSpPr>
        <p:spPr>
          <a:xfrm>
            <a:off x="685800" y="4343378"/>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2" name="Google Shape;162;g2548f41fa9c_0_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1604635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7"/>
        <p:cNvGrpSpPr/>
        <p:nvPr/>
      </p:nvGrpSpPr>
      <p:grpSpPr>
        <a:xfrm>
          <a:off x="0" y="0"/>
          <a:ext cx="0" cy="0"/>
          <a:chOff x="0" y="0"/>
          <a:chExt cx="0" cy="0"/>
        </a:xfrm>
      </p:grpSpPr>
      <p:sp>
        <p:nvSpPr>
          <p:cNvPr id="168" name="Google Shape;168;g2548f41fa9c_0_85:notes"/>
          <p:cNvSpPr txBox="1">
            <a:spLocks noGrp="1"/>
          </p:cNvSpPr>
          <p:nvPr>
            <p:ph type="body" idx="1"/>
          </p:nvPr>
        </p:nvSpPr>
        <p:spPr>
          <a:xfrm>
            <a:off x="685800" y="4343378"/>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9" name="Google Shape;169;g2548f41fa9c_0_8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8971355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g2548f41fa9c_0_90:notes"/>
          <p:cNvSpPr txBox="1">
            <a:spLocks noGrp="1"/>
          </p:cNvSpPr>
          <p:nvPr>
            <p:ph type="body" idx="1"/>
          </p:nvPr>
        </p:nvSpPr>
        <p:spPr>
          <a:xfrm>
            <a:off x="685800" y="4343378"/>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6" name="Google Shape;176;g2548f41fa9c_0_9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23892400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
        <p:cNvGrpSpPr/>
        <p:nvPr/>
      </p:nvGrpSpPr>
      <p:grpSpPr>
        <a:xfrm>
          <a:off x="0" y="0"/>
          <a:ext cx="0" cy="0"/>
          <a:chOff x="0" y="0"/>
          <a:chExt cx="0" cy="0"/>
        </a:xfrm>
      </p:grpSpPr>
      <p:sp>
        <p:nvSpPr>
          <p:cNvPr id="182" name="Google Shape;182;g2548f41fa9c_0_95:notes"/>
          <p:cNvSpPr txBox="1">
            <a:spLocks noGrp="1"/>
          </p:cNvSpPr>
          <p:nvPr>
            <p:ph type="body" idx="1"/>
          </p:nvPr>
        </p:nvSpPr>
        <p:spPr>
          <a:xfrm>
            <a:off x="685800" y="4343378"/>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3" name="Google Shape;183;g2548f41fa9c_0_9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04212334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g2548f41fa9c_0_100:notes"/>
          <p:cNvSpPr txBox="1">
            <a:spLocks noGrp="1"/>
          </p:cNvSpPr>
          <p:nvPr>
            <p:ph type="body" idx="1"/>
          </p:nvPr>
        </p:nvSpPr>
        <p:spPr>
          <a:xfrm>
            <a:off x="685800" y="4343378"/>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g2548f41fa9c_0_10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0826111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5"/>
        <p:cNvGrpSpPr/>
        <p:nvPr/>
      </p:nvGrpSpPr>
      <p:grpSpPr>
        <a:xfrm>
          <a:off x="0" y="0"/>
          <a:ext cx="0" cy="0"/>
          <a:chOff x="0" y="0"/>
          <a:chExt cx="0" cy="0"/>
        </a:xfrm>
      </p:grpSpPr>
      <p:sp>
        <p:nvSpPr>
          <p:cNvPr id="196" name="Google Shape;196;g2548f41fa9c_0_105:notes"/>
          <p:cNvSpPr txBox="1">
            <a:spLocks noGrp="1"/>
          </p:cNvSpPr>
          <p:nvPr>
            <p:ph type="body" idx="1"/>
          </p:nvPr>
        </p:nvSpPr>
        <p:spPr>
          <a:xfrm>
            <a:off x="685800" y="4343378"/>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7" name="Google Shape;197;g2548f41fa9c_0_10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5366624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2"/>
        <p:cNvGrpSpPr/>
        <p:nvPr/>
      </p:nvGrpSpPr>
      <p:grpSpPr>
        <a:xfrm>
          <a:off x="0" y="0"/>
          <a:ext cx="0" cy="0"/>
          <a:chOff x="0" y="0"/>
          <a:chExt cx="0" cy="0"/>
        </a:xfrm>
      </p:grpSpPr>
      <p:sp>
        <p:nvSpPr>
          <p:cNvPr id="203" name="Google Shape;203;g2548f41fa9c_0_110:notes"/>
          <p:cNvSpPr txBox="1">
            <a:spLocks noGrp="1"/>
          </p:cNvSpPr>
          <p:nvPr>
            <p:ph type="body" idx="1"/>
          </p:nvPr>
        </p:nvSpPr>
        <p:spPr>
          <a:xfrm>
            <a:off x="685800" y="4343378"/>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4" name="Google Shape;204;g2548f41fa9c_0_1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4763056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
        <p:cNvGrpSpPr/>
        <p:nvPr/>
      </p:nvGrpSpPr>
      <p:grpSpPr>
        <a:xfrm>
          <a:off x="0" y="0"/>
          <a:ext cx="0" cy="0"/>
          <a:chOff x="0" y="0"/>
          <a:chExt cx="0" cy="0"/>
        </a:xfrm>
      </p:grpSpPr>
      <p:sp>
        <p:nvSpPr>
          <p:cNvPr id="210" name="Google Shape;210;g2548f41fa9c_0_115:notes"/>
          <p:cNvSpPr txBox="1">
            <a:spLocks noGrp="1"/>
          </p:cNvSpPr>
          <p:nvPr>
            <p:ph type="body" idx="1"/>
          </p:nvPr>
        </p:nvSpPr>
        <p:spPr>
          <a:xfrm>
            <a:off x="685800" y="4343378"/>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1" name="Google Shape;211;g2548f41fa9c_0_1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8339642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6"/>
        <p:cNvGrpSpPr/>
        <p:nvPr/>
      </p:nvGrpSpPr>
      <p:grpSpPr>
        <a:xfrm>
          <a:off x="0" y="0"/>
          <a:ext cx="0" cy="0"/>
          <a:chOff x="0" y="0"/>
          <a:chExt cx="0" cy="0"/>
        </a:xfrm>
      </p:grpSpPr>
      <p:sp>
        <p:nvSpPr>
          <p:cNvPr id="217" name="Google Shape;217;g2548f41fa9c_0_120:notes"/>
          <p:cNvSpPr txBox="1">
            <a:spLocks noGrp="1"/>
          </p:cNvSpPr>
          <p:nvPr>
            <p:ph type="body" idx="1"/>
          </p:nvPr>
        </p:nvSpPr>
        <p:spPr>
          <a:xfrm>
            <a:off x="685800" y="4343378"/>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8" name="Google Shape;218;g2548f41fa9c_0_1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29050504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3"/>
        <p:cNvGrpSpPr/>
        <p:nvPr/>
      </p:nvGrpSpPr>
      <p:grpSpPr>
        <a:xfrm>
          <a:off x="0" y="0"/>
          <a:ext cx="0" cy="0"/>
          <a:chOff x="0" y="0"/>
          <a:chExt cx="0" cy="0"/>
        </a:xfrm>
      </p:grpSpPr>
      <p:sp>
        <p:nvSpPr>
          <p:cNvPr id="224" name="Google Shape;224;g2548f41fa9c_0_125:notes"/>
          <p:cNvSpPr txBox="1">
            <a:spLocks noGrp="1"/>
          </p:cNvSpPr>
          <p:nvPr>
            <p:ph type="body" idx="1"/>
          </p:nvPr>
        </p:nvSpPr>
        <p:spPr>
          <a:xfrm>
            <a:off x="685800" y="4343378"/>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5" name="Google Shape;225;g2548f41fa9c_0_1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7101141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
        <p:cNvGrpSpPr/>
        <p:nvPr/>
      </p:nvGrpSpPr>
      <p:grpSpPr>
        <a:xfrm>
          <a:off x="0" y="0"/>
          <a:ext cx="0" cy="0"/>
          <a:chOff x="0" y="0"/>
          <a:chExt cx="0" cy="0"/>
        </a:xfrm>
      </p:grpSpPr>
      <p:sp>
        <p:nvSpPr>
          <p:cNvPr id="231" name="Google Shape;231;g2548f41fa9c_0_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2" name="Google Shape;232;g2548f41fa9c_0_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57442764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8"/>
        <p:cNvGrpSpPr/>
        <p:nvPr/>
      </p:nvGrpSpPr>
      <p:grpSpPr>
        <a:xfrm>
          <a:off x="0" y="0"/>
          <a:ext cx="0" cy="0"/>
          <a:chOff x="0" y="0"/>
          <a:chExt cx="0" cy="0"/>
        </a:xfrm>
      </p:grpSpPr>
      <p:sp>
        <p:nvSpPr>
          <p:cNvPr id="239" name="Google Shape;239;g2548f41fa9c_0_2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0" name="Google Shape;240;g2548f41fa9c_0_2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15361924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4"/>
        <p:cNvGrpSpPr/>
        <p:nvPr/>
      </p:nvGrpSpPr>
      <p:grpSpPr>
        <a:xfrm>
          <a:off x="0" y="0"/>
          <a:ext cx="0" cy="0"/>
          <a:chOff x="0" y="0"/>
          <a:chExt cx="0" cy="0"/>
        </a:xfrm>
      </p:grpSpPr>
      <p:sp>
        <p:nvSpPr>
          <p:cNvPr id="245" name="Google Shape;245;g2548f41fa9c_0_279:notes"/>
          <p:cNvSpPr txBox="1">
            <a:spLocks noGrp="1"/>
          </p:cNvSpPr>
          <p:nvPr>
            <p:ph type="body" idx="1"/>
          </p:nvPr>
        </p:nvSpPr>
        <p:spPr>
          <a:xfrm>
            <a:off x="685800" y="4343378"/>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6" name="Google Shape;246;g2548f41fa9c_0_27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551823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1"/>
        <p:cNvGrpSpPr/>
        <p:nvPr/>
      </p:nvGrpSpPr>
      <p:grpSpPr>
        <a:xfrm>
          <a:off x="0" y="0"/>
          <a:ext cx="0" cy="0"/>
          <a:chOff x="0" y="0"/>
          <a:chExt cx="0" cy="0"/>
        </a:xfrm>
      </p:grpSpPr>
      <p:sp>
        <p:nvSpPr>
          <p:cNvPr id="252" name="Google Shape;252;g2548f41fa9c_0_285:notes"/>
          <p:cNvSpPr txBox="1">
            <a:spLocks noGrp="1"/>
          </p:cNvSpPr>
          <p:nvPr>
            <p:ph type="body" idx="1"/>
          </p:nvPr>
        </p:nvSpPr>
        <p:spPr>
          <a:xfrm>
            <a:off x="685800" y="4343378"/>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53" name="Google Shape;253;g2548f41fa9c_0_28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3199152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8"/>
        <p:cNvGrpSpPr/>
        <p:nvPr/>
      </p:nvGrpSpPr>
      <p:grpSpPr>
        <a:xfrm>
          <a:off x="0" y="0"/>
          <a:ext cx="0" cy="0"/>
          <a:chOff x="0" y="0"/>
          <a:chExt cx="0" cy="0"/>
        </a:xfrm>
      </p:grpSpPr>
      <p:sp>
        <p:nvSpPr>
          <p:cNvPr id="259" name="Google Shape;259;g2548f41fa9c_0_291:notes"/>
          <p:cNvSpPr txBox="1">
            <a:spLocks noGrp="1"/>
          </p:cNvSpPr>
          <p:nvPr>
            <p:ph type="body" idx="1"/>
          </p:nvPr>
        </p:nvSpPr>
        <p:spPr>
          <a:xfrm>
            <a:off x="685800" y="4343378"/>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60" name="Google Shape;260;g2548f41fa9c_0_29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2980355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5"/>
        <p:cNvGrpSpPr/>
        <p:nvPr/>
      </p:nvGrpSpPr>
      <p:grpSpPr>
        <a:xfrm>
          <a:off x="0" y="0"/>
          <a:ext cx="0" cy="0"/>
          <a:chOff x="0" y="0"/>
          <a:chExt cx="0" cy="0"/>
        </a:xfrm>
      </p:grpSpPr>
      <p:sp>
        <p:nvSpPr>
          <p:cNvPr id="266" name="Google Shape;266;g2548f41fa9c_0_297:notes"/>
          <p:cNvSpPr txBox="1">
            <a:spLocks noGrp="1"/>
          </p:cNvSpPr>
          <p:nvPr>
            <p:ph type="body" idx="1"/>
          </p:nvPr>
        </p:nvSpPr>
        <p:spPr>
          <a:xfrm>
            <a:off x="685800" y="4343378"/>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67" name="Google Shape;267;g2548f41fa9c_0_29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5140034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2"/>
        <p:cNvGrpSpPr/>
        <p:nvPr/>
      </p:nvGrpSpPr>
      <p:grpSpPr>
        <a:xfrm>
          <a:off x="0" y="0"/>
          <a:ext cx="0" cy="0"/>
          <a:chOff x="0" y="0"/>
          <a:chExt cx="0" cy="0"/>
        </a:xfrm>
      </p:grpSpPr>
      <p:sp>
        <p:nvSpPr>
          <p:cNvPr id="273" name="Google Shape;273;g2548f41fa9c_0_303:notes"/>
          <p:cNvSpPr txBox="1">
            <a:spLocks noGrp="1"/>
          </p:cNvSpPr>
          <p:nvPr>
            <p:ph type="body" idx="1"/>
          </p:nvPr>
        </p:nvSpPr>
        <p:spPr>
          <a:xfrm>
            <a:off x="685800" y="4343378"/>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4" name="Google Shape;274;g2548f41fa9c_0_30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6207242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0"/>
        <p:cNvGrpSpPr/>
        <p:nvPr/>
      </p:nvGrpSpPr>
      <p:grpSpPr>
        <a:xfrm>
          <a:off x="0" y="0"/>
          <a:ext cx="0" cy="0"/>
          <a:chOff x="0" y="0"/>
          <a:chExt cx="0" cy="0"/>
        </a:xfrm>
      </p:grpSpPr>
      <p:sp>
        <p:nvSpPr>
          <p:cNvPr id="281" name="Google Shape;281;g2548f41fa9c_0_2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2" name="Google Shape;282;g2548f41fa9c_0_2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97328656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0"/>
        <p:cNvGrpSpPr/>
        <p:nvPr/>
      </p:nvGrpSpPr>
      <p:grpSpPr>
        <a:xfrm>
          <a:off x="0" y="0"/>
          <a:ext cx="0" cy="0"/>
          <a:chOff x="0" y="0"/>
          <a:chExt cx="0" cy="0"/>
        </a:xfrm>
      </p:grpSpPr>
      <p:sp>
        <p:nvSpPr>
          <p:cNvPr id="291" name="Google Shape;291;g2548f41fa9c_0_25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2" name="Google Shape;292;g2548f41fa9c_0_25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88028553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6"/>
        <p:cNvGrpSpPr/>
        <p:nvPr/>
      </p:nvGrpSpPr>
      <p:grpSpPr>
        <a:xfrm>
          <a:off x="0" y="0"/>
          <a:ext cx="0" cy="0"/>
          <a:chOff x="0" y="0"/>
          <a:chExt cx="0" cy="0"/>
        </a:xfrm>
      </p:grpSpPr>
      <p:sp>
        <p:nvSpPr>
          <p:cNvPr id="297" name="Google Shape;297;g2548f41fa9c_0_2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8" name="Google Shape;298;g2548f41fa9c_0_2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86145785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g2548f41fa9c_0_26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5" name="Google Shape;305;g2548f41fa9c_0_26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558791125"/>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5"/>
        <p:cNvGrpSpPr/>
        <p:nvPr/>
      </p:nvGrpSpPr>
      <p:grpSpPr>
        <a:xfrm>
          <a:off x="0" y="0"/>
          <a:ext cx="0" cy="0"/>
          <a:chOff x="0" y="0"/>
          <a:chExt cx="0" cy="0"/>
        </a:xfrm>
      </p:grpSpPr>
      <p:sp>
        <p:nvSpPr>
          <p:cNvPr id="316" name="Google Shape;316;g2548f41fa9c_0_3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7" name="Google Shape;317;g2548f41fa9c_0_3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25182020"/>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1"/>
        <p:cNvGrpSpPr/>
        <p:nvPr/>
      </p:nvGrpSpPr>
      <p:grpSpPr>
        <a:xfrm>
          <a:off x="0" y="0"/>
          <a:ext cx="0" cy="0"/>
          <a:chOff x="0" y="0"/>
          <a:chExt cx="0" cy="0"/>
        </a:xfrm>
      </p:grpSpPr>
      <p:sp>
        <p:nvSpPr>
          <p:cNvPr id="322" name="Google Shape;322;g2548f41fa9c_0_3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3" name="Google Shape;323;g2548f41fa9c_0_3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044137799"/>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1"/>
        <p:cNvGrpSpPr/>
        <p:nvPr/>
      </p:nvGrpSpPr>
      <p:grpSpPr>
        <a:xfrm>
          <a:off x="0" y="0"/>
          <a:ext cx="0" cy="0"/>
          <a:chOff x="0" y="0"/>
          <a:chExt cx="0" cy="0"/>
        </a:xfrm>
      </p:grpSpPr>
      <p:sp>
        <p:nvSpPr>
          <p:cNvPr id="332" name="Google Shape;332;g2548f41fa9c_0_35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3" name="Google Shape;333;g2548f41fa9c_0_35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703423200"/>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0"/>
        <p:cNvGrpSpPr/>
        <p:nvPr/>
      </p:nvGrpSpPr>
      <p:grpSpPr>
        <a:xfrm>
          <a:off x="0" y="0"/>
          <a:ext cx="0" cy="0"/>
          <a:chOff x="0" y="0"/>
          <a:chExt cx="0" cy="0"/>
        </a:xfrm>
      </p:grpSpPr>
      <p:sp>
        <p:nvSpPr>
          <p:cNvPr id="341" name="Google Shape;341;g2548f41fa9c_0_36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2" name="Google Shape;342;g2548f41fa9c_0_36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794017334"/>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6"/>
        <p:cNvGrpSpPr/>
        <p:nvPr/>
      </p:nvGrpSpPr>
      <p:grpSpPr>
        <a:xfrm>
          <a:off x="0" y="0"/>
          <a:ext cx="0" cy="0"/>
          <a:chOff x="0" y="0"/>
          <a:chExt cx="0" cy="0"/>
        </a:xfrm>
      </p:grpSpPr>
      <p:sp>
        <p:nvSpPr>
          <p:cNvPr id="347" name="Google Shape;347;g2548f41fa9c_0_35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8" name="Google Shape;348;g2548f41fa9c_0_3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918481266"/>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5"/>
        <p:cNvGrpSpPr/>
        <p:nvPr/>
      </p:nvGrpSpPr>
      <p:grpSpPr>
        <a:xfrm>
          <a:off x="0" y="0"/>
          <a:ext cx="0" cy="0"/>
          <a:chOff x="0" y="0"/>
          <a:chExt cx="0" cy="0"/>
        </a:xfrm>
      </p:grpSpPr>
      <p:sp>
        <p:nvSpPr>
          <p:cNvPr id="356" name="Google Shape;356;g2548f41fa9c_0_7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7" name="Google Shape;357;g2548f41fa9c_0_7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877465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3"/>
        <p:cNvGrpSpPr/>
        <p:nvPr/>
      </p:nvGrpSpPr>
      <p:grpSpPr>
        <a:xfrm>
          <a:off x="0" y="0"/>
          <a:ext cx="0" cy="0"/>
          <a:chOff x="0" y="0"/>
          <a:chExt cx="0" cy="0"/>
        </a:xfrm>
      </p:grpSpPr>
      <p:sp>
        <p:nvSpPr>
          <p:cNvPr id="364" name="Google Shape;364;g2548f41fa9c_0_38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5" name="Google Shape;365;g2548f41fa9c_0_38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012639299"/>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2"/>
        <p:cNvGrpSpPr/>
        <p:nvPr/>
      </p:nvGrpSpPr>
      <p:grpSpPr>
        <a:xfrm>
          <a:off x="0" y="0"/>
          <a:ext cx="0" cy="0"/>
          <a:chOff x="0" y="0"/>
          <a:chExt cx="0" cy="0"/>
        </a:xfrm>
      </p:grpSpPr>
      <p:sp>
        <p:nvSpPr>
          <p:cNvPr id="373" name="Google Shape;373;g2548f41fa9c_0_39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4" name="Google Shape;374;g2548f41fa9c_0_39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204435350"/>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1"/>
        <p:cNvGrpSpPr/>
        <p:nvPr/>
      </p:nvGrpSpPr>
      <p:grpSpPr>
        <a:xfrm>
          <a:off x="0" y="0"/>
          <a:ext cx="0" cy="0"/>
          <a:chOff x="0" y="0"/>
          <a:chExt cx="0" cy="0"/>
        </a:xfrm>
      </p:grpSpPr>
      <p:sp>
        <p:nvSpPr>
          <p:cNvPr id="382" name="Google Shape;382;g2548f41fa9c_0_4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3" name="Google Shape;383;g2548f41fa9c_0_4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240576243"/>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8"/>
        <p:cNvGrpSpPr/>
        <p:nvPr/>
      </p:nvGrpSpPr>
      <p:grpSpPr>
        <a:xfrm>
          <a:off x="0" y="0"/>
          <a:ext cx="0" cy="0"/>
          <a:chOff x="0" y="0"/>
          <a:chExt cx="0" cy="0"/>
        </a:xfrm>
      </p:grpSpPr>
      <p:sp>
        <p:nvSpPr>
          <p:cNvPr id="389" name="Google Shape;389;g2548f41fa9c_0_4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0" name="Google Shape;390;g2548f41fa9c_0_4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242166089"/>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4"/>
        <p:cNvGrpSpPr/>
        <p:nvPr/>
      </p:nvGrpSpPr>
      <p:grpSpPr>
        <a:xfrm>
          <a:off x="0" y="0"/>
          <a:ext cx="0" cy="0"/>
          <a:chOff x="0" y="0"/>
          <a:chExt cx="0" cy="0"/>
        </a:xfrm>
      </p:grpSpPr>
      <p:sp>
        <p:nvSpPr>
          <p:cNvPr id="395" name="Google Shape;395;g2548f41fa9c_0_4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6" name="Google Shape;396;g2548f41fa9c_0_4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use minibatches is computational efficiency. </a:t>
            </a:r>
            <a:endParaRPr/>
          </a:p>
        </p:txBody>
      </p:sp>
    </p:spTree>
    <p:extLst>
      <p:ext uri="{BB962C8B-B14F-4D97-AF65-F5344CB8AC3E}">
        <p14:creationId xmlns:p14="http://schemas.microsoft.com/office/powerpoint/2010/main" val="3039787309"/>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2"/>
        <p:cNvGrpSpPr/>
        <p:nvPr/>
      </p:nvGrpSpPr>
      <p:grpSpPr>
        <a:xfrm>
          <a:off x="0" y="0"/>
          <a:ext cx="0" cy="0"/>
          <a:chOff x="0" y="0"/>
          <a:chExt cx="0" cy="0"/>
        </a:xfrm>
      </p:grpSpPr>
      <p:sp>
        <p:nvSpPr>
          <p:cNvPr id="403" name="Google Shape;403;g2548f41fa9c_0_43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4" name="Google Shape;404;g2548f41fa9c_0_43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use minibatches is computational efficiency. </a:t>
            </a:r>
            <a:endParaRPr/>
          </a:p>
        </p:txBody>
      </p:sp>
    </p:spTree>
    <p:extLst>
      <p:ext uri="{BB962C8B-B14F-4D97-AF65-F5344CB8AC3E}">
        <p14:creationId xmlns:p14="http://schemas.microsoft.com/office/powerpoint/2010/main" val="4170041287"/>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1"/>
        <p:cNvGrpSpPr/>
        <p:nvPr/>
      </p:nvGrpSpPr>
      <p:grpSpPr>
        <a:xfrm>
          <a:off x="0" y="0"/>
          <a:ext cx="0" cy="0"/>
          <a:chOff x="0" y="0"/>
          <a:chExt cx="0" cy="0"/>
        </a:xfrm>
      </p:grpSpPr>
      <p:sp>
        <p:nvSpPr>
          <p:cNvPr id="412" name="Google Shape;412;g2548f41fa9c_0_67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13" name="Google Shape;413;g2548f41fa9c_0_67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123522262"/>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8"/>
        <p:cNvGrpSpPr/>
        <p:nvPr/>
      </p:nvGrpSpPr>
      <p:grpSpPr>
        <a:xfrm>
          <a:off x="0" y="0"/>
          <a:ext cx="0" cy="0"/>
          <a:chOff x="0" y="0"/>
          <a:chExt cx="0" cy="0"/>
        </a:xfrm>
      </p:grpSpPr>
      <p:sp>
        <p:nvSpPr>
          <p:cNvPr id="419" name="Google Shape;419;g2548f41fa9c_0_6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0" name="Google Shape;420;g2548f41fa9c_0_6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786775164"/>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4"/>
        <p:cNvGrpSpPr/>
        <p:nvPr/>
      </p:nvGrpSpPr>
      <p:grpSpPr>
        <a:xfrm>
          <a:off x="0" y="0"/>
          <a:ext cx="0" cy="0"/>
          <a:chOff x="0" y="0"/>
          <a:chExt cx="0" cy="0"/>
        </a:xfrm>
      </p:grpSpPr>
      <p:sp>
        <p:nvSpPr>
          <p:cNvPr id="425" name="Google Shape;425;g2548f41fa9c_0_6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6" name="Google Shape;426;g2548f41fa9c_0_6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use minibatches is computational efficiency. </a:t>
            </a:r>
            <a:endParaRPr/>
          </a:p>
        </p:txBody>
      </p:sp>
    </p:spTree>
    <p:extLst>
      <p:ext uri="{BB962C8B-B14F-4D97-AF65-F5344CB8AC3E}">
        <p14:creationId xmlns:p14="http://schemas.microsoft.com/office/powerpoint/2010/main" val="3195180022"/>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2"/>
        <p:cNvGrpSpPr/>
        <p:nvPr/>
      </p:nvGrpSpPr>
      <p:grpSpPr>
        <a:xfrm>
          <a:off x="0" y="0"/>
          <a:ext cx="0" cy="0"/>
          <a:chOff x="0" y="0"/>
          <a:chExt cx="0" cy="0"/>
        </a:xfrm>
      </p:grpSpPr>
      <p:sp>
        <p:nvSpPr>
          <p:cNvPr id="433" name="Google Shape;433;g2548f41fa9c_0_68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4" name="Google Shape;434;g2548f41fa9c_0_68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173724269"/>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9"/>
        <p:cNvGrpSpPr/>
        <p:nvPr/>
      </p:nvGrpSpPr>
      <p:grpSpPr>
        <a:xfrm>
          <a:off x="0" y="0"/>
          <a:ext cx="0" cy="0"/>
          <a:chOff x="0" y="0"/>
          <a:chExt cx="0" cy="0"/>
        </a:xfrm>
      </p:grpSpPr>
      <p:sp>
        <p:nvSpPr>
          <p:cNvPr id="440" name="Google Shape;440;g2548f41fa9c_0_46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41" name="Google Shape;441;g2548f41fa9c_0_4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t> if we pick a small learning rate we ensure that the solution does not diverge in the x2 direction but we are saddled with slow convergence in the x1 direction. Conversely, with a large learning rate we progress rapidly in the x1 direction but diverge in x2 .</a:t>
            </a:r>
            <a:endParaRPr/>
          </a:p>
          <a:p>
            <a:pPr marL="0" lvl="0" indent="0" algn="l" rtl="0">
              <a:spcBef>
                <a:spcPts val="0"/>
              </a:spcBef>
              <a:spcAft>
                <a:spcPts val="0"/>
              </a:spcAft>
              <a:buNone/>
            </a:pPr>
            <a:endParaRPr/>
          </a:p>
        </p:txBody>
      </p:sp>
    </p:spTree>
    <p:extLst>
      <p:ext uri="{BB962C8B-B14F-4D97-AF65-F5344CB8AC3E}">
        <p14:creationId xmlns:p14="http://schemas.microsoft.com/office/powerpoint/2010/main" val="2092191658"/>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1"/>
        <p:cNvGrpSpPr/>
        <p:nvPr/>
      </p:nvGrpSpPr>
      <p:grpSpPr>
        <a:xfrm>
          <a:off x="0" y="0"/>
          <a:ext cx="0" cy="0"/>
          <a:chOff x="0" y="0"/>
          <a:chExt cx="0" cy="0"/>
        </a:xfrm>
      </p:grpSpPr>
      <p:sp>
        <p:nvSpPr>
          <p:cNvPr id="452" name="Google Shape;452;g2548f41fa9c_0_50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3" name="Google Shape;453;g2548f41fa9c_0_50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560379592"/>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3"/>
        <p:cNvGrpSpPr/>
        <p:nvPr/>
      </p:nvGrpSpPr>
      <p:grpSpPr>
        <a:xfrm>
          <a:off x="0" y="0"/>
          <a:ext cx="0" cy="0"/>
          <a:chOff x="0" y="0"/>
          <a:chExt cx="0" cy="0"/>
        </a:xfrm>
      </p:grpSpPr>
      <p:sp>
        <p:nvSpPr>
          <p:cNvPr id="464" name="Google Shape;464;g2548f41fa9c_0_56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5" name="Google Shape;465;g2548f41fa9c_0_5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391637933"/>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0"/>
        <p:cNvGrpSpPr/>
        <p:nvPr/>
      </p:nvGrpSpPr>
      <p:grpSpPr>
        <a:xfrm>
          <a:off x="0" y="0"/>
          <a:ext cx="0" cy="0"/>
          <a:chOff x="0" y="0"/>
          <a:chExt cx="0" cy="0"/>
        </a:xfrm>
      </p:grpSpPr>
      <p:sp>
        <p:nvSpPr>
          <p:cNvPr id="471" name="Google Shape;471;g2548f41fa9c_0_5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2" name="Google Shape;472;g2548f41fa9c_0_5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96868673"/>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6"/>
        <p:cNvGrpSpPr/>
        <p:nvPr/>
      </p:nvGrpSpPr>
      <p:grpSpPr>
        <a:xfrm>
          <a:off x="0" y="0"/>
          <a:ext cx="0" cy="0"/>
          <a:chOff x="0" y="0"/>
          <a:chExt cx="0" cy="0"/>
        </a:xfrm>
      </p:grpSpPr>
      <p:sp>
        <p:nvSpPr>
          <p:cNvPr id="477" name="Google Shape;477;g2548f41fa9c_0_53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8" name="Google Shape;478;g2548f41fa9c_0_53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014912483"/>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3"/>
        <p:cNvGrpSpPr/>
        <p:nvPr/>
      </p:nvGrpSpPr>
      <p:grpSpPr>
        <a:xfrm>
          <a:off x="0" y="0"/>
          <a:ext cx="0" cy="0"/>
          <a:chOff x="0" y="0"/>
          <a:chExt cx="0" cy="0"/>
        </a:xfrm>
      </p:grpSpPr>
      <p:sp>
        <p:nvSpPr>
          <p:cNvPr id="484" name="Google Shape;484;g2548f41fa9c_0_64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5" name="Google Shape;485;g2548f41fa9c_0_64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50546454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1"/>
        <p:cNvGrpSpPr/>
        <p:nvPr/>
      </p:nvGrpSpPr>
      <p:grpSpPr>
        <a:xfrm>
          <a:off x="0" y="0"/>
          <a:ext cx="0" cy="0"/>
          <a:chOff x="0" y="0"/>
          <a:chExt cx="0" cy="0"/>
        </a:xfrm>
      </p:grpSpPr>
      <p:sp>
        <p:nvSpPr>
          <p:cNvPr id="492" name="Google Shape;492;g2548f41fa9c_0_56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3" name="Google Shape;493;g2548f41fa9c_0_56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03152210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8"/>
        <p:cNvGrpSpPr/>
        <p:nvPr/>
      </p:nvGrpSpPr>
      <p:grpSpPr>
        <a:xfrm>
          <a:off x="0" y="0"/>
          <a:ext cx="0" cy="0"/>
          <a:chOff x="0" y="0"/>
          <a:chExt cx="0" cy="0"/>
        </a:xfrm>
      </p:grpSpPr>
      <p:sp>
        <p:nvSpPr>
          <p:cNvPr id="499" name="Google Shape;499;g2548f41fa9c_0_5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00" name="Google Shape;500;g2548f41fa9c_0_5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026824264"/>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4"/>
        <p:cNvGrpSpPr/>
        <p:nvPr/>
      </p:nvGrpSpPr>
      <p:grpSpPr>
        <a:xfrm>
          <a:off x="0" y="0"/>
          <a:ext cx="0" cy="0"/>
          <a:chOff x="0" y="0"/>
          <a:chExt cx="0" cy="0"/>
        </a:xfrm>
      </p:grpSpPr>
      <p:sp>
        <p:nvSpPr>
          <p:cNvPr id="505" name="Google Shape;505;g2548f41fa9c_0_5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06" name="Google Shape;506;g2548f41fa9c_0_5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8573954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1"/>
        <p:cNvGrpSpPr/>
        <p:nvPr/>
      </p:nvGrpSpPr>
      <p:grpSpPr>
        <a:xfrm>
          <a:off x="0" y="0"/>
          <a:ext cx="0" cy="0"/>
          <a:chOff x="0" y="0"/>
          <a:chExt cx="0" cy="0"/>
        </a:xfrm>
      </p:grpSpPr>
      <p:sp>
        <p:nvSpPr>
          <p:cNvPr id="512" name="Google Shape;512;g2548f41fa9c_0_6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13" name="Google Shape;513;g2548f41fa9c_0_6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935516594"/>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9"/>
        <p:cNvGrpSpPr/>
        <p:nvPr/>
      </p:nvGrpSpPr>
      <p:grpSpPr>
        <a:xfrm>
          <a:off x="0" y="0"/>
          <a:ext cx="0" cy="0"/>
          <a:chOff x="0" y="0"/>
          <a:chExt cx="0" cy="0"/>
        </a:xfrm>
      </p:grpSpPr>
      <p:sp>
        <p:nvSpPr>
          <p:cNvPr id="520" name="Google Shape;520;g2548f41fa9c_0_68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1" name="Google Shape;521;g2548f41fa9c_0_68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017888333"/>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6"/>
        <p:cNvGrpSpPr/>
        <p:nvPr/>
      </p:nvGrpSpPr>
      <p:grpSpPr>
        <a:xfrm>
          <a:off x="0" y="0"/>
          <a:ext cx="0" cy="0"/>
          <a:chOff x="0" y="0"/>
          <a:chExt cx="0" cy="0"/>
        </a:xfrm>
      </p:grpSpPr>
      <p:sp>
        <p:nvSpPr>
          <p:cNvPr id="527" name="Google Shape;527;g2548f41fa9c_0_55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8" name="Google Shape;528;g2548f41fa9c_0_55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126177817"/>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4"/>
        <p:cNvGrpSpPr/>
        <p:nvPr/>
      </p:nvGrpSpPr>
      <p:grpSpPr>
        <a:xfrm>
          <a:off x="0" y="0"/>
          <a:ext cx="0" cy="0"/>
          <a:chOff x="0" y="0"/>
          <a:chExt cx="0" cy="0"/>
        </a:xfrm>
      </p:grpSpPr>
      <p:sp>
        <p:nvSpPr>
          <p:cNvPr id="535" name="Google Shape;535;g2548f41fa9c_0_57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6" name="Google Shape;536;g2548f41fa9c_0_57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431020282"/>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1"/>
        <p:cNvGrpSpPr/>
        <p:nvPr/>
      </p:nvGrpSpPr>
      <p:grpSpPr>
        <a:xfrm>
          <a:off x="0" y="0"/>
          <a:ext cx="0" cy="0"/>
          <a:chOff x="0" y="0"/>
          <a:chExt cx="0" cy="0"/>
        </a:xfrm>
      </p:grpSpPr>
      <p:sp>
        <p:nvSpPr>
          <p:cNvPr id="542" name="Google Shape;542;g2548f41fa9c_0_58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3" name="Google Shape;543;g2548f41fa9c_0_58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921238105"/>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7"/>
        <p:cNvGrpSpPr/>
        <p:nvPr/>
      </p:nvGrpSpPr>
      <p:grpSpPr>
        <a:xfrm>
          <a:off x="0" y="0"/>
          <a:ext cx="0" cy="0"/>
          <a:chOff x="0" y="0"/>
          <a:chExt cx="0" cy="0"/>
        </a:xfrm>
      </p:grpSpPr>
      <p:sp>
        <p:nvSpPr>
          <p:cNvPr id="548" name="Google Shape;548;g2548f41fa9c_0_58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9" name="Google Shape;549;g2548f41fa9c_0_58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66374313"/>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4"/>
        <p:cNvGrpSpPr/>
        <p:nvPr/>
      </p:nvGrpSpPr>
      <p:grpSpPr>
        <a:xfrm>
          <a:off x="0" y="0"/>
          <a:ext cx="0" cy="0"/>
          <a:chOff x="0" y="0"/>
          <a:chExt cx="0" cy="0"/>
        </a:xfrm>
      </p:grpSpPr>
      <p:sp>
        <p:nvSpPr>
          <p:cNvPr id="555" name="Google Shape;555;g2548f41fa9c_0_59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6" name="Google Shape;556;g2548f41fa9c_0_59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181769900"/>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1"/>
        <p:cNvGrpSpPr/>
        <p:nvPr/>
      </p:nvGrpSpPr>
      <p:grpSpPr>
        <a:xfrm>
          <a:off x="0" y="0"/>
          <a:ext cx="0" cy="0"/>
          <a:chOff x="0" y="0"/>
          <a:chExt cx="0" cy="0"/>
        </a:xfrm>
      </p:grpSpPr>
      <p:sp>
        <p:nvSpPr>
          <p:cNvPr id="562" name="Google Shape;562;g2548f41fa9c_0_6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3" name="Google Shape;563;g2548f41fa9c_0_6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297479433"/>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0"/>
        <p:cNvGrpSpPr/>
        <p:nvPr/>
      </p:nvGrpSpPr>
      <p:grpSpPr>
        <a:xfrm>
          <a:off x="0" y="0"/>
          <a:ext cx="0" cy="0"/>
          <a:chOff x="0" y="0"/>
          <a:chExt cx="0" cy="0"/>
        </a:xfrm>
      </p:grpSpPr>
      <p:sp>
        <p:nvSpPr>
          <p:cNvPr id="571" name="Google Shape;571;g2548f41fa9c_0_66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72" name="Google Shape;572;g2548f41fa9c_0_66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026551535"/>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9"/>
        <p:cNvGrpSpPr/>
        <p:nvPr/>
      </p:nvGrpSpPr>
      <p:grpSpPr>
        <a:xfrm>
          <a:off x="0" y="0"/>
          <a:ext cx="0" cy="0"/>
          <a:chOff x="0" y="0"/>
          <a:chExt cx="0" cy="0"/>
        </a:xfrm>
      </p:grpSpPr>
      <p:sp>
        <p:nvSpPr>
          <p:cNvPr id="580" name="Google Shape;580;g2548f41fa9c_0_69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1" name="Google Shape;581;g2548f41fa9c_0_69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096999875"/>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6"/>
        <p:cNvGrpSpPr/>
        <p:nvPr/>
      </p:nvGrpSpPr>
      <p:grpSpPr>
        <a:xfrm>
          <a:off x="0" y="0"/>
          <a:ext cx="0" cy="0"/>
          <a:chOff x="0" y="0"/>
          <a:chExt cx="0" cy="0"/>
        </a:xfrm>
      </p:grpSpPr>
      <p:sp>
        <p:nvSpPr>
          <p:cNvPr id="587" name="Google Shape;587;g2548f41fa9c_0_70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8" name="Google Shape;588;g2548f41fa9c_0_70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552231545"/>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3"/>
        <p:cNvGrpSpPr/>
        <p:nvPr/>
      </p:nvGrpSpPr>
      <p:grpSpPr>
        <a:xfrm>
          <a:off x="0" y="0"/>
          <a:ext cx="0" cy="0"/>
          <a:chOff x="0" y="0"/>
          <a:chExt cx="0" cy="0"/>
        </a:xfrm>
      </p:grpSpPr>
      <p:sp>
        <p:nvSpPr>
          <p:cNvPr id="594" name="Google Shape;594;g2548f41fa9c_0_7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5" name="Google Shape;595;g2548f41fa9c_0_7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85900817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0"/>
        <p:cNvGrpSpPr/>
        <p:nvPr/>
      </p:nvGrpSpPr>
      <p:grpSpPr>
        <a:xfrm>
          <a:off x="0" y="0"/>
          <a:ext cx="0" cy="0"/>
          <a:chOff x="0" y="0"/>
          <a:chExt cx="0" cy="0"/>
        </a:xfrm>
      </p:grpSpPr>
      <p:sp>
        <p:nvSpPr>
          <p:cNvPr id="601" name="Google Shape;601;g2548f41fa9c_0_7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02" name="Google Shape;602;g2548f41fa9c_0_7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664021509"/>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6"/>
        <p:cNvGrpSpPr/>
        <p:nvPr/>
      </p:nvGrpSpPr>
      <p:grpSpPr>
        <a:xfrm>
          <a:off x="0" y="0"/>
          <a:ext cx="0" cy="0"/>
          <a:chOff x="0" y="0"/>
          <a:chExt cx="0" cy="0"/>
        </a:xfrm>
      </p:grpSpPr>
      <p:sp>
        <p:nvSpPr>
          <p:cNvPr id="607" name="Google Shape;607;g2548f41fa9c_0_7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08" name="Google Shape;608;g2548f41fa9c_0_7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506661775"/>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3"/>
        <p:cNvGrpSpPr/>
        <p:nvPr/>
      </p:nvGrpSpPr>
      <p:grpSpPr>
        <a:xfrm>
          <a:off x="0" y="0"/>
          <a:ext cx="0" cy="0"/>
          <a:chOff x="0" y="0"/>
          <a:chExt cx="0" cy="0"/>
        </a:xfrm>
      </p:grpSpPr>
      <p:sp>
        <p:nvSpPr>
          <p:cNvPr id="614" name="Google Shape;614;g2548f41fa9c_0_7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5" name="Google Shape;615;g2548f41fa9c_0_7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010727148"/>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1"/>
        <p:cNvGrpSpPr/>
        <p:nvPr/>
      </p:nvGrpSpPr>
      <p:grpSpPr>
        <a:xfrm>
          <a:off x="0" y="0"/>
          <a:ext cx="0" cy="0"/>
          <a:chOff x="0" y="0"/>
          <a:chExt cx="0" cy="0"/>
        </a:xfrm>
      </p:grpSpPr>
      <p:sp>
        <p:nvSpPr>
          <p:cNvPr id="622" name="Google Shape;622;g2548f41fa9c_0_7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23" name="Google Shape;623;g2548f41fa9c_0_73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62476898"/>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9"/>
        <p:cNvGrpSpPr/>
        <p:nvPr/>
      </p:nvGrpSpPr>
      <p:grpSpPr>
        <a:xfrm>
          <a:off x="0" y="0"/>
          <a:ext cx="0" cy="0"/>
          <a:chOff x="0" y="0"/>
          <a:chExt cx="0" cy="0"/>
        </a:xfrm>
      </p:grpSpPr>
      <p:sp>
        <p:nvSpPr>
          <p:cNvPr id="630" name="Google Shape;630;g2548f41fa9c_0_74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1" name="Google Shape;631;g2548f41fa9c_0_74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261332838"/>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7"/>
        <p:cNvGrpSpPr/>
        <p:nvPr/>
      </p:nvGrpSpPr>
      <p:grpSpPr>
        <a:xfrm>
          <a:off x="0" y="0"/>
          <a:ext cx="0" cy="0"/>
          <a:chOff x="0" y="0"/>
          <a:chExt cx="0" cy="0"/>
        </a:xfrm>
      </p:grpSpPr>
      <p:sp>
        <p:nvSpPr>
          <p:cNvPr id="638" name="Google Shape;638;g2548f41fa9c_0_75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9" name="Google Shape;639;g2548f41fa9c_0_75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86943532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5"/>
        <p:cNvGrpSpPr/>
        <p:nvPr/>
      </p:nvGrpSpPr>
      <p:grpSpPr>
        <a:xfrm>
          <a:off x="0" y="0"/>
          <a:ext cx="0" cy="0"/>
          <a:chOff x="0" y="0"/>
          <a:chExt cx="0" cy="0"/>
        </a:xfrm>
      </p:grpSpPr>
      <p:sp>
        <p:nvSpPr>
          <p:cNvPr id="646" name="Google Shape;646;g244d658b016_0_54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7" name="Google Shape;647;g244d658b016_0_5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695006290"/>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1"/>
        <p:cNvGrpSpPr/>
        <p:nvPr/>
      </p:nvGrpSpPr>
      <p:grpSpPr>
        <a:xfrm>
          <a:off x="0" y="0"/>
          <a:ext cx="0" cy="0"/>
          <a:chOff x="0" y="0"/>
          <a:chExt cx="0" cy="0"/>
        </a:xfrm>
      </p:grpSpPr>
      <p:sp>
        <p:nvSpPr>
          <p:cNvPr id="652" name="Google Shape;652;g244d658b016_0_54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3" name="Google Shape;653;g244d658b016_0_54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75746047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142450"/>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715150"/>
            <a:ext cx="8520600" cy="4147800"/>
          </a:xfrm>
          <a:prstGeom prst="rect">
            <a:avLst/>
          </a:prstGeom>
        </p:spPr>
        <p:txBody>
          <a:bodyPr spcFirstLastPara="1" wrap="square" lIns="91425" tIns="91425" rIns="91425" bIns="91425" anchor="t" anchorCtr="0">
            <a:normAutofit/>
          </a:bodyPr>
          <a:lstStyle>
            <a:lvl1pPr marL="457200" lvl="0" indent="-355600">
              <a:spcBef>
                <a:spcPts val="0"/>
              </a:spcBef>
              <a:spcAft>
                <a:spcPts val="0"/>
              </a:spcAft>
              <a:buClr>
                <a:schemeClr val="dk1"/>
              </a:buClr>
              <a:buSzPts val="2000"/>
              <a:buChar char="●"/>
              <a:defRPr sz="2000">
                <a:solidFill>
                  <a:schemeClr val="dk1"/>
                </a:solidFill>
              </a:defRPr>
            </a:lvl1pPr>
            <a:lvl2pPr marL="914400" lvl="1" indent="-330200">
              <a:spcBef>
                <a:spcPts val="0"/>
              </a:spcBef>
              <a:spcAft>
                <a:spcPts val="0"/>
              </a:spcAft>
              <a:buClr>
                <a:schemeClr val="dk1"/>
              </a:buClr>
              <a:buSzPts val="1600"/>
              <a:buChar char="○"/>
              <a:defRPr sz="1600">
                <a:solidFill>
                  <a:schemeClr val="dk1"/>
                </a:solidFill>
              </a:defRPr>
            </a:lvl2pPr>
            <a:lvl3pPr marL="1371600" lvl="2" indent="-330200">
              <a:spcBef>
                <a:spcPts val="0"/>
              </a:spcBef>
              <a:spcAft>
                <a:spcPts val="0"/>
              </a:spcAft>
              <a:buClr>
                <a:schemeClr val="dk1"/>
              </a:buClr>
              <a:buSzPts val="1600"/>
              <a:buChar char="■"/>
              <a:defRPr sz="1600">
                <a:solidFill>
                  <a:schemeClr val="dk1"/>
                </a:solidFill>
              </a:defRPr>
            </a:lvl3pPr>
            <a:lvl4pPr marL="1828800" lvl="3" indent="-330200">
              <a:spcBef>
                <a:spcPts val="0"/>
              </a:spcBef>
              <a:spcAft>
                <a:spcPts val="0"/>
              </a:spcAft>
              <a:buClr>
                <a:schemeClr val="dk1"/>
              </a:buClr>
              <a:buSzPts val="1600"/>
              <a:buChar char="●"/>
              <a:defRPr sz="1600">
                <a:solidFill>
                  <a:schemeClr val="dk1"/>
                </a:solidFill>
              </a:defRPr>
            </a:lvl4pPr>
            <a:lvl5pPr marL="2286000" lvl="4" indent="-330200">
              <a:spcBef>
                <a:spcPts val="0"/>
              </a:spcBef>
              <a:spcAft>
                <a:spcPts val="0"/>
              </a:spcAft>
              <a:buClr>
                <a:schemeClr val="dk1"/>
              </a:buClr>
              <a:buSzPts val="1600"/>
              <a:buChar char="○"/>
              <a:defRPr sz="1600">
                <a:solidFill>
                  <a:schemeClr val="dk1"/>
                </a:solidFill>
              </a:defRPr>
            </a:lvl5pPr>
            <a:lvl6pPr marL="2743200" lvl="5" indent="-330200">
              <a:spcBef>
                <a:spcPts val="0"/>
              </a:spcBef>
              <a:spcAft>
                <a:spcPts val="0"/>
              </a:spcAft>
              <a:buClr>
                <a:schemeClr val="dk1"/>
              </a:buClr>
              <a:buSzPts val="1600"/>
              <a:buChar char="■"/>
              <a:defRPr sz="1600">
                <a:solidFill>
                  <a:schemeClr val="dk1"/>
                </a:solidFill>
              </a:defRPr>
            </a:lvl6pPr>
            <a:lvl7pPr marL="3200400" lvl="6" indent="-330200">
              <a:spcBef>
                <a:spcPts val="0"/>
              </a:spcBef>
              <a:spcAft>
                <a:spcPts val="0"/>
              </a:spcAft>
              <a:buClr>
                <a:schemeClr val="dk1"/>
              </a:buClr>
              <a:buSzPts val="1600"/>
              <a:buChar char="●"/>
              <a:defRPr sz="1600">
                <a:solidFill>
                  <a:schemeClr val="dk1"/>
                </a:solidFill>
              </a:defRPr>
            </a:lvl7pPr>
            <a:lvl8pPr marL="3657600" lvl="7" indent="-330200">
              <a:spcBef>
                <a:spcPts val="0"/>
              </a:spcBef>
              <a:spcAft>
                <a:spcPts val="0"/>
              </a:spcAft>
              <a:buClr>
                <a:schemeClr val="dk1"/>
              </a:buClr>
              <a:buSzPts val="1600"/>
              <a:buChar char="○"/>
              <a:defRPr sz="1600">
                <a:solidFill>
                  <a:schemeClr val="dk1"/>
                </a:solidFill>
              </a:defRPr>
            </a:lvl8pPr>
            <a:lvl9pPr marL="4114800" lvl="8" indent="-330200">
              <a:spcBef>
                <a:spcPts val="0"/>
              </a:spcBef>
              <a:spcAft>
                <a:spcPts val="0"/>
              </a:spcAft>
              <a:buClr>
                <a:schemeClr val="dk1"/>
              </a:buClr>
              <a:buSzPts val="1600"/>
              <a:buChar char="■"/>
              <a:defRPr sz="1600">
                <a:solidFill>
                  <a:schemeClr val="dk1"/>
                </a:solidFill>
              </a:defRPr>
            </a:lvl9pPr>
          </a:lstStyle>
          <a:p>
            <a:endParaRPr/>
          </a:p>
        </p:txBody>
      </p:sp>
      <p:sp>
        <p:nvSpPr>
          <p:cNvPr id="19" name="Google Shape;19;p4"/>
          <p:cNvSpPr txBox="1">
            <a:spLocks noGrp="1"/>
          </p:cNvSpPr>
          <p:nvPr>
            <p:ph type="sldNum" idx="12"/>
          </p:nvPr>
        </p:nvSpPr>
        <p:spPr>
          <a:xfrm>
            <a:off x="8484550" y="4863199"/>
            <a:ext cx="548700" cy="310800"/>
          </a:xfrm>
          <a:prstGeom prst="rect">
            <a:avLst/>
          </a:prstGeom>
        </p:spPr>
        <p:txBody>
          <a:bodyPr spcFirstLastPara="1" wrap="square" lIns="91425" tIns="91425" rIns="91425" bIns="91425" anchor="ctr" anchorCtr="0">
            <a:normAutofit lnSpcReduction="20000"/>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
        <p:nvSpPr>
          <p:cNvPr id="50" name="Google Shape;50;p12"/>
          <p:cNvSpPr txBox="1">
            <a:spLocks noGrp="1"/>
          </p:cNvSpPr>
          <p:nvPr>
            <p:ph type="title"/>
          </p:nvPr>
        </p:nvSpPr>
        <p:spPr>
          <a:xfrm>
            <a:off x="311700" y="142450"/>
            <a:ext cx="8520600" cy="572700"/>
          </a:xfrm>
          <a:prstGeom prst="rect">
            <a:avLst/>
          </a:prstGeom>
        </p:spPr>
        <p:txBody>
          <a:bodyPr spcFirstLastPara="1" wrap="square" lIns="91425" tIns="91425" rIns="91425" bIns="91425" anchor="t" anchorCtr="0">
            <a:normAutofit/>
          </a:bodyPr>
          <a:lstStyle>
            <a:lvl1pPr lvl="0" rtl="0">
              <a:spcBef>
                <a:spcPts val="0"/>
              </a:spcBef>
              <a:spcAft>
                <a:spcPts val="0"/>
              </a:spcAft>
              <a:buClr>
                <a:schemeClr val="lt1"/>
              </a:buClr>
              <a:buSzPts val="2800"/>
              <a:buNone/>
              <a:defRPr>
                <a:solidFill>
                  <a:schemeClr val="lt1"/>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lank 1">
  <p:cSld name="Blank">
    <p:spTree>
      <p:nvGrpSpPr>
        <p:cNvPr id="1" name="Shape 51"/>
        <p:cNvGrpSpPr/>
        <p:nvPr/>
      </p:nvGrpSpPr>
      <p:grpSpPr>
        <a:xfrm>
          <a:off x="0" y="0"/>
          <a:ext cx="0" cy="0"/>
          <a:chOff x="0" y="0"/>
          <a:chExt cx="0" cy="0"/>
        </a:xfrm>
      </p:grpSpPr>
      <p:sp>
        <p:nvSpPr>
          <p:cNvPr id="52" name="Google Shape;52;p13"/>
          <p:cNvSpPr txBox="1">
            <a:spLocks noGrp="1"/>
          </p:cNvSpPr>
          <p:nvPr>
            <p:ph type="ftr" idx="11"/>
          </p:nvPr>
        </p:nvSpPr>
        <p:spPr>
          <a:xfrm>
            <a:off x="3108960" y="4783455"/>
            <a:ext cx="2926200" cy="257100"/>
          </a:xfrm>
          <a:prstGeom prst="rect">
            <a:avLst/>
          </a:prstGeom>
          <a:noFill/>
          <a:ln>
            <a:noFill/>
          </a:ln>
        </p:spPr>
        <p:txBody>
          <a:bodyPr spcFirstLastPara="1" wrap="square" lIns="0" tIns="0" rIns="0" bIns="0" anchor="t" anchorCtr="0">
            <a:spAutoFit/>
          </a:bodyPr>
          <a:lstStyle>
            <a:lvl1pPr lvl="0" algn="ctr" rtl="0">
              <a:spcBef>
                <a:spcPts val="0"/>
              </a:spcBef>
              <a:spcAft>
                <a:spcPts val="0"/>
              </a:spcAft>
              <a:buSzPts val="1400"/>
              <a:buNone/>
              <a:defRPr>
                <a:solidFill>
                  <a:srgbClr val="888888"/>
                </a:solidFill>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3" name="Google Shape;53;p13"/>
          <p:cNvSpPr txBox="1">
            <a:spLocks noGrp="1"/>
          </p:cNvSpPr>
          <p:nvPr>
            <p:ph type="dt" idx="10"/>
          </p:nvPr>
        </p:nvSpPr>
        <p:spPr>
          <a:xfrm>
            <a:off x="457200" y="4783455"/>
            <a:ext cx="2103000" cy="257100"/>
          </a:xfrm>
          <a:prstGeom prst="rect">
            <a:avLst/>
          </a:prstGeom>
          <a:noFill/>
          <a:ln>
            <a:noFill/>
          </a:ln>
        </p:spPr>
        <p:txBody>
          <a:bodyPr spcFirstLastPara="1" wrap="square" lIns="0" tIns="0" rIns="0" bIns="0" anchor="t" anchorCtr="0">
            <a:spAutoFit/>
          </a:bodyPr>
          <a:lstStyle>
            <a:lvl1pPr lvl="0" algn="l" rtl="0">
              <a:spcBef>
                <a:spcPts val="0"/>
              </a:spcBef>
              <a:spcAft>
                <a:spcPts val="0"/>
              </a:spcAft>
              <a:buSzPts val="1400"/>
              <a:buNone/>
              <a:defRPr>
                <a:solidFill>
                  <a:srgbClr val="888888"/>
                </a:solidFill>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4" name="Google Shape;54;p13"/>
          <p:cNvSpPr txBox="1">
            <a:spLocks noGrp="1"/>
          </p:cNvSpPr>
          <p:nvPr>
            <p:ph type="sldNum" idx="12"/>
          </p:nvPr>
        </p:nvSpPr>
        <p:spPr>
          <a:xfrm>
            <a:off x="8685521" y="4778067"/>
            <a:ext cx="288300" cy="153900"/>
          </a:xfrm>
          <a:prstGeom prst="rect">
            <a:avLst/>
          </a:prstGeom>
          <a:noFill/>
          <a:ln>
            <a:noFill/>
          </a:ln>
        </p:spPr>
        <p:txBody>
          <a:bodyPr spcFirstLastPara="1" wrap="square" lIns="0" tIns="0" rIns="0" bIns="0" anchor="t" anchorCtr="0">
            <a:spAutoFit/>
          </a:bodyPr>
          <a:lstStyle>
            <a:lvl1pPr marL="38100" marR="0" lvl="0" indent="0" algn="l" rtl="0">
              <a:lnSpc>
                <a:spcPct val="100000"/>
              </a:lnSpc>
              <a:spcBef>
                <a:spcPts val="0"/>
              </a:spcBef>
              <a:buNone/>
              <a:defRPr sz="1000" b="0" i="0" u="none" strike="noStrike" cap="none">
                <a:solidFill>
                  <a:srgbClr val="595959"/>
                </a:solidFill>
                <a:latin typeface="Arial"/>
                <a:ea typeface="Arial"/>
                <a:cs typeface="Arial"/>
                <a:sym typeface="Arial"/>
              </a:defRPr>
            </a:lvl1pPr>
            <a:lvl2pPr marL="38100" marR="0" lvl="1" indent="0" algn="l" rtl="0">
              <a:lnSpc>
                <a:spcPct val="100000"/>
              </a:lnSpc>
              <a:spcBef>
                <a:spcPts val="0"/>
              </a:spcBef>
              <a:buNone/>
              <a:defRPr sz="1000" b="0" i="0" u="none" strike="noStrike" cap="none">
                <a:solidFill>
                  <a:srgbClr val="595959"/>
                </a:solidFill>
                <a:latin typeface="Arial"/>
                <a:ea typeface="Arial"/>
                <a:cs typeface="Arial"/>
                <a:sym typeface="Arial"/>
              </a:defRPr>
            </a:lvl2pPr>
            <a:lvl3pPr marL="38100" marR="0" lvl="2" indent="0" algn="l" rtl="0">
              <a:lnSpc>
                <a:spcPct val="100000"/>
              </a:lnSpc>
              <a:spcBef>
                <a:spcPts val="0"/>
              </a:spcBef>
              <a:buNone/>
              <a:defRPr sz="1000" b="0" i="0" u="none" strike="noStrike" cap="none">
                <a:solidFill>
                  <a:srgbClr val="595959"/>
                </a:solidFill>
                <a:latin typeface="Arial"/>
                <a:ea typeface="Arial"/>
                <a:cs typeface="Arial"/>
                <a:sym typeface="Arial"/>
              </a:defRPr>
            </a:lvl3pPr>
            <a:lvl4pPr marL="38100" marR="0" lvl="3" indent="0" algn="l" rtl="0">
              <a:lnSpc>
                <a:spcPct val="100000"/>
              </a:lnSpc>
              <a:spcBef>
                <a:spcPts val="0"/>
              </a:spcBef>
              <a:buNone/>
              <a:defRPr sz="1000" b="0" i="0" u="none" strike="noStrike" cap="none">
                <a:solidFill>
                  <a:srgbClr val="595959"/>
                </a:solidFill>
                <a:latin typeface="Arial"/>
                <a:ea typeface="Arial"/>
                <a:cs typeface="Arial"/>
                <a:sym typeface="Arial"/>
              </a:defRPr>
            </a:lvl4pPr>
            <a:lvl5pPr marL="38100" marR="0" lvl="4" indent="0" algn="l" rtl="0">
              <a:lnSpc>
                <a:spcPct val="100000"/>
              </a:lnSpc>
              <a:spcBef>
                <a:spcPts val="0"/>
              </a:spcBef>
              <a:buNone/>
              <a:defRPr sz="1000" b="0" i="0" u="none" strike="noStrike" cap="none">
                <a:solidFill>
                  <a:srgbClr val="595959"/>
                </a:solidFill>
                <a:latin typeface="Arial"/>
                <a:ea typeface="Arial"/>
                <a:cs typeface="Arial"/>
                <a:sym typeface="Arial"/>
              </a:defRPr>
            </a:lvl5pPr>
            <a:lvl6pPr marL="38100" marR="0" lvl="5" indent="0" algn="l" rtl="0">
              <a:lnSpc>
                <a:spcPct val="100000"/>
              </a:lnSpc>
              <a:spcBef>
                <a:spcPts val="0"/>
              </a:spcBef>
              <a:buNone/>
              <a:defRPr sz="1000" b="0" i="0" u="none" strike="noStrike" cap="none">
                <a:solidFill>
                  <a:srgbClr val="595959"/>
                </a:solidFill>
                <a:latin typeface="Arial"/>
                <a:ea typeface="Arial"/>
                <a:cs typeface="Arial"/>
                <a:sym typeface="Arial"/>
              </a:defRPr>
            </a:lvl6pPr>
            <a:lvl7pPr marL="38100" marR="0" lvl="6" indent="0" algn="l" rtl="0">
              <a:lnSpc>
                <a:spcPct val="100000"/>
              </a:lnSpc>
              <a:spcBef>
                <a:spcPts val="0"/>
              </a:spcBef>
              <a:buNone/>
              <a:defRPr sz="1000" b="0" i="0" u="none" strike="noStrike" cap="none">
                <a:solidFill>
                  <a:srgbClr val="595959"/>
                </a:solidFill>
                <a:latin typeface="Arial"/>
                <a:ea typeface="Arial"/>
                <a:cs typeface="Arial"/>
                <a:sym typeface="Arial"/>
              </a:defRPr>
            </a:lvl7pPr>
            <a:lvl8pPr marL="38100" marR="0" lvl="7" indent="0" algn="l" rtl="0">
              <a:lnSpc>
                <a:spcPct val="100000"/>
              </a:lnSpc>
              <a:spcBef>
                <a:spcPts val="0"/>
              </a:spcBef>
              <a:buNone/>
              <a:defRPr sz="1000" b="0" i="0" u="none" strike="noStrike" cap="none">
                <a:solidFill>
                  <a:srgbClr val="595959"/>
                </a:solidFill>
                <a:latin typeface="Arial"/>
                <a:ea typeface="Arial"/>
                <a:cs typeface="Arial"/>
                <a:sym typeface="Arial"/>
              </a:defRPr>
            </a:lvl8pPr>
            <a:lvl9pPr marL="38100" marR="0" lvl="8" indent="0" algn="l" rtl="0">
              <a:lnSpc>
                <a:spcPct val="100000"/>
              </a:lnSpc>
              <a:spcBef>
                <a:spcPts val="0"/>
              </a:spcBef>
              <a:buNone/>
              <a:defRPr sz="1000" b="0" i="0" u="none" strike="noStrike" cap="none">
                <a:solidFill>
                  <a:srgbClr val="595959"/>
                </a:solidFill>
                <a:latin typeface="Arial"/>
                <a:ea typeface="Arial"/>
                <a:cs typeface="Arial"/>
                <a:sym typeface="Arial"/>
              </a:defRPr>
            </a:lvl9pPr>
          </a:lstStyle>
          <a:p>
            <a:pPr marL="38100" lvl="0" indent="0" algn="l" rtl="0">
              <a:spcBef>
                <a:spcPts val="0"/>
              </a:spcBef>
              <a:spcAft>
                <a:spcPts val="0"/>
              </a:spcAft>
              <a:buNone/>
            </a:pPr>
            <a:fld id="{00000000-1234-1234-1234-123412341234}" type="slidenum">
              <a:rPr lang="en"/>
              <a:t>‹#›</a:t>
            </a:fld>
            <a:endParaRPr>
              <a:solidFill>
                <a:schemeClr val="dk2"/>
              </a:solidFill>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blipFill>
          <a:blip r:embed="rId14">
            <a:alphaModFix/>
          </a:blip>
          <a:stretch>
            <a:fillRect/>
          </a:stretch>
        </a:blip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22.xml"/><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notesSlide" Target="../notesSlides/notesSlide23.xml"/><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notesSlide" Target="../notesSlides/notesSlide24.xml"/><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0.jpg"/><Relationship Id="rId2" Type="http://schemas.openxmlformats.org/officeDocument/2006/relationships/notesSlide" Target="../notesSlides/notesSlide27.xml"/><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3" Type="http://schemas.openxmlformats.org/officeDocument/2006/relationships/image" Target="../media/image21.jpg"/><Relationship Id="rId2" Type="http://schemas.openxmlformats.org/officeDocument/2006/relationships/notesSlide" Target="../notesSlides/notesSlide28.xml"/><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3" Type="http://schemas.openxmlformats.org/officeDocument/2006/relationships/image" Target="../media/image22.jpg"/><Relationship Id="rId2" Type="http://schemas.openxmlformats.org/officeDocument/2006/relationships/notesSlide" Target="../notesSlides/notesSlide29.xml"/><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3" Type="http://schemas.openxmlformats.org/officeDocument/2006/relationships/image" Target="../media/image23.jpg"/><Relationship Id="rId2" Type="http://schemas.openxmlformats.org/officeDocument/2006/relationships/notesSlide" Target="../notesSlides/notesSlide30.xml"/><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3" Type="http://schemas.openxmlformats.org/officeDocument/2006/relationships/image" Target="../media/image24.jpg"/><Relationship Id="rId2" Type="http://schemas.openxmlformats.org/officeDocument/2006/relationships/notesSlide" Target="../notesSlides/notesSlide31.xml"/><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35.xml"/><Relationship Id="rId1" Type="http://schemas.openxmlformats.org/officeDocument/2006/relationships/slideLayout" Target="../slideLayouts/slideLayout3.xml"/><Relationship Id="rId4" Type="http://schemas.openxmlformats.org/officeDocument/2006/relationships/image" Target="../media/image27.png"/></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7.xml"/><Relationship Id="rId1" Type="http://schemas.openxmlformats.org/officeDocument/2006/relationships/slideLayout" Target="../slideLayouts/slideLayout3.xml"/><Relationship Id="rId5" Type="http://schemas.openxmlformats.org/officeDocument/2006/relationships/image" Target="../media/image30.png"/><Relationship Id="rId4" Type="http://schemas.openxmlformats.org/officeDocument/2006/relationships/image" Target="../media/image29.png"/></Relationships>
</file>

<file path=ppt/slides/_rels/slide38.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38.xml"/><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40.xml"/><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41.xml"/><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42.xml"/><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43.xml"/><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46.xml"/><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47.xml"/><Relationship Id="rId1" Type="http://schemas.openxmlformats.org/officeDocument/2006/relationships/slideLayout" Target="../slideLayouts/slideLayout3.xml"/><Relationship Id="rId4" Type="http://schemas.openxmlformats.org/officeDocument/2006/relationships/image" Target="../media/image37.png"/></Relationships>
</file>

<file path=ppt/slides/_rels/slide48.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48.xml"/><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50.xml"/><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51.xml"/><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52.xml"/><Relationship Id="rId1" Type="http://schemas.openxmlformats.org/officeDocument/2006/relationships/slideLayout" Target="../slideLayouts/slideLayout3.xml"/><Relationship Id="rId5" Type="http://schemas.openxmlformats.org/officeDocument/2006/relationships/image" Target="../media/image43.png"/><Relationship Id="rId4" Type="http://schemas.openxmlformats.org/officeDocument/2006/relationships/image" Target="../media/image42.png"/></Relationships>
</file>

<file path=ppt/slides/_rels/slide53.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53.xml"/><Relationship Id="rId1" Type="http://schemas.openxmlformats.org/officeDocument/2006/relationships/slideLayout" Target="../slideLayouts/slideLayout3.xml"/><Relationship Id="rId5" Type="http://schemas.openxmlformats.org/officeDocument/2006/relationships/image" Target="../media/image45.png"/><Relationship Id="rId4" Type="http://schemas.openxmlformats.org/officeDocument/2006/relationships/image" Target="../media/image44.png"/></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3.xml"/></Relationships>
</file>

<file path=ppt/slides/_rels/slide57.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57.xml"/><Relationship Id="rId1" Type="http://schemas.openxmlformats.org/officeDocument/2006/relationships/slideLayout" Target="../slideLayouts/slideLayout3.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3.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3.xml"/></Relationships>
</file>

<file path=ppt/slides/_rels/slide61.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61.xml"/><Relationship Id="rId1" Type="http://schemas.openxmlformats.org/officeDocument/2006/relationships/slideLayout" Target="../slideLayouts/slideLayout3.xml"/></Relationships>
</file>

<file path=ppt/slides/_rels/slide62.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62.xml"/><Relationship Id="rId1" Type="http://schemas.openxmlformats.org/officeDocument/2006/relationships/slideLayout" Target="../slideLayouts/slideLayout3.xml"/></Relationships>
</file>

<file path=ppt/slides/_rels/slide63.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63.xml"/><Relationship Id="rId1" Type="http://schemas.openxmlformats.org/officeDocument/2006/relationships/slideLayout" Target="../slideLayouts/slideLayout3.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3.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3.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3.xml"/></Relationships>
</file>

<file path=ppt/slides/_rels/slide68.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68.xml"/><Relationship Id="rId1" Type="http://schemas.openxmlformats.org/officeDocument/2006/relationships/slideLayout" Target="../slideLayouts/slideLayout3.xml"/><Relationship Id="rId4" Type="http://schemas.openxmlformats.org/officeDocument/2006/relationships/image" Target="../media/image51.png"/></Relationships>
</file>

<file path=ppt/slides/_rels/slide69.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69.xml"/><Relationship Id="rId1" Type="http://schemas.openxmlformats.org/officeDocument/2006/relationships/slideLayout" Target="../slideLayouts/slideLayout3.xml"/><Relationship Id="rId4" Type="http://schemas.openxmlformats.org/officeDocument/2006/relationships/image" Target="../media/image53.png"/></Relationships>
</file>

<file path=ppt/slides/_rels/slide70.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70.xml"/><Relationship Id="rId1" Type="http://schemas.openxmlformats.org/officeDocument/2006/relationships/slideLayout" Target="../slideLayouts/slideLayout3.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3.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3.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74.xml"/><Relationship Id="rId1" Type="http://schemas.openxmlformats.org/officeDocument/2006/relationships/slideLayout" Target="../slideLayouts/slideLayout3.xml"/></Relationships>
</file>

<file path=ppt/slides/_rels/slide75.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75.xml"/><Relationship Id="rId1" Type="http://schemas.openxmlformats.org/officeDocument/2006/relationships/slideLayout" Target="../slideLayouts/slideLayout3.xml"/></Relationships>
</file>

<file path=ppt/slides/_rels/slide76.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76.xml"/><Relationship Id="rId1" Type="http://schemas.openxmlformats.org/officeDocument/2006/relationships/slideLayout" Target="../slideLayouts/slideLayout3.xml"/></Relationships>
</file>

<file path=ppt/slides/_rels/slide77.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77.xml"/><Relationship Id="rId1" Type="http://schemas.openxmlformats.org/officeDocument/2006/relationships/slideLayout" Target="../slideLayouts/slideLayout3.xml"/></Relationships>
</file>

<file path=ppt/slides/_rels/slide78.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78.xml"/><Relationship Id="rId1" Type="http://schemas.openxmlformats.org/officeDocument/2006/relationships/slideLayout" Target="../slideLayouts/slideLayout3.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58"/>
        <p:cNvGrpSpPr/>
        <p:nvPr/>
      </p:nvGrpSpPr>
      <p:grpSpPr>
        <a:xfrm>
          <a:off x="0" y="0"/>
          <a:ext cx="0" cy="0"/>
          <a:chOff x="0" y="0"/>
          <a:chExt cx="0" cy="0"/>
        </a:xfrm>
      </p:grpSpPr>
      <p:sp>
        <p:nvSpPr>
          <p:cNvPr id="59" name="Google Shape;59;p14"/>
          <p:cNvSpPr txBox="1">
            <a:spLocks noGrp="1"/>
          </p:cNvSpPr>
          <p:nvPr>
            <p:ph type="ctrTitle"/>
          </p:nvPr>
        </p:nvSpPr>
        <p:spPr>
          <a:xfrm>
            <a:off x="2884075" y="1928375"/>
            <a:ext cx="6020700" cy="792600"/>
          </a:xfrm>
          <a:prstGeom prst="rect">
            <a:avLst/>
          </a:prstGeom>
        </p:spPr>
        <p:txBody>
          <a:bodyPr spcFirstLastPara="1" wrap="square" lIns="91425" tIns="91425" rIns="91425" bIns="91425" anchor="b" anchorCtr="0">
            <a:normAutofit fontScale="90000"/>
          </a:bodyPr>
          <a:lstStyle/>
          <a:p>
            <a:pPr marL="0" lvl="0" indent="0" algn="ctr" rtl="0">
              <a:spcBef>
                <a:spcPts val="0"/>
              </a:spcBef>
              <a:spcAft>
                <a:spcPts val="0"/>
              </a:spcAft>
              <a:buNone/>
            </a:pPr>
            <a:r>
              <a:rPr lang="en">
                <a:solidFill>
                  <a:schemeClr val="lt1"/>
                </a:solidFill>
              </a:rPr>
              <a:t>Deep Neural Network</a:t>
            </a:r>
            <a:endParaRPr>
              <a:solidFill>
                <a:schemeClr val="lt1"/>
              </a:solidFill>
            </a:endParaRPr>
          </a:p>
        </p:txBody>
      </p:sp>
      <p:sp>
        <p:nvSpPr>
          <p:cNvPr id="60" name="Google Shape;60;p14"/>
          <p:cNvSpPr txBox="1">
            <a:spLocks noGrp="1"/>
          </p:cNvSpPr>
          <p:nvPr>
            <p:ph type="subTitle" idx="1"/>
          </p:nvPr>
        </p:nvSpPr>
        <p:spPr>
          <a:xfrm>
            <a:off x="2884200" y="2720975"/>
            <a:ext cx="6020700" cy="512100"/>
          </a:xfrm>
          <a:prstGeom prst="rect">
            <a:avLst/>
          </a:prstGeom>
        </p:spPr>
        <p:txBody>
          <a:bodyPr spcFirstLastPara="1" wrap="square" lIns="91425" tIns="91425" rIns="91425" bIns="91425" anchor="t" anchorCtr="0">
            <a:normAutofit fontScale="92500" lnSpcReduction="20000"/>
          </a:bodyPr>
          <a:lstStyle/>
          <a:p>
            <a:pPr marL="0" lvl="0" indent="0" algn="ctr" rtl="0">
              <a:spcBef>
                <a:spcPts val="0"/>
              </a:spcBef>
              <a:spcAft>
                <a:spcPts val="0"/>
              </a:spcAft>
              <a:buNone/>
            </a:pPr>
            <a:r>
              <a:rPr lang="en" dirty="0">
                <a:solidFill>
                  <a:schemeClr val="lt1"/>
                </a:solidFill>
              </a:rPr>
              <a:t>Module 3</a:t>
            </a:r>
            <a:endParaRPr dirty="0">
              <a:solidFill>
                <a:schemeClr val="lt1"/>
              </a:solidFill>
            </a:endParaRPr>
          </a:p>
        </p:txBody>
      </p:sp>
      <p:sp>
        <p:nvSpPr>
          <p:cNvPr id="62" name="Google Shape;62;p1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1</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2"/>
        <p:cNvGrpSpPr/>
        <p:nvPr/>
      </p:nvGrpSpPr>
      <p:grpSpPr>
        <a:xfrm>
          <a:off x="0" y="0"/>
          <a:ext cx="0" cy="0"/>
          <a:chOff x="0" y="0"/>
          <a:chExt cx="0" cy="0"/>
        </a:xfrm>
      </p:grpSpPr>
      <p:sp>
        <p:nvSpPr>
          <p:cNvPr id="73" name="Google Shape;73;p16"/>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r>
              <a:rPr lang="en" dirty="0"/>
              <a:t>Optimization</a:t>
            </a:r>
            <a:endParaRPr dirty="0"/>
          </a:p>
        </p:txBody>
      </p:sp>
      <p:sp>
        <p:nvSpPr>
          <p:cNvPr id="74" name="Google Shape;74;p1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2</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8"/>
        <p:cNvGrpSpPr/>
        <p:nvPr/>
      </p:nvGrpSpPr>
      <p:grpSpPr>
        <a:xfrm>
          <a:off x="0" y="0"/>
          <a:ext cx="0" cy="0"/>
          <a:chOff x="0" y="0"/>
          <a:chExt cx="0" cy="0"/>
        </a:xfrm>
      </p:grpSpPr>
      <p:sp>
        <p:nvSpPr>
          <p:cNvPr id="79" name="Google Shape;79;p17"/>
          <p:cNvSpPr txBox="1">
            <a:spLocks noGrp="1"/>
          </p:cNvSpPr>
          <p:nvPr>
            <p:ph type="title"/>
          </p:nvPr>
        </p:nvSpPr>
        <p:spPr>
          <a:xfrm>
            <a:off x="311700" y="14245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What we Learn…. </a:t>
            </a:r>
            <a:endParaRPr/>
          </a:p>
        </p:txBody>
      </p:sp>
      <p:sp>
        <p:nvSpPr>
          <p:cNvPr id="80" name="Google Shape;80;p17"/>
          <p:cNvSpPr txBox="1">
            <a:spLocks noGrp="1"/>
          </p:cNvSpPr>
          <p:nvPr>
            <p:ph type="body" idx="1"/>
          </p:nvPr>
        </p:nvSpPr>
        <p:spPr>
          <a:xfrm>
            <a:off x="311700" y="715150"/>
            <a:ext cx="8520600" cy="41478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dirty="0"/>
              <a:t>3.1 Challenges in Neural Network Optimization – saddle points and plateau</a:t>
            </a:r>
            <a:endParaRPr dirty="0"/>
          </a:p>
          <a:p>
            <a:pPr marL="0" lvl="0" indent="0" algn="l" rtl="0">
              <a:spcBef>
                <a:spcPts val="1200"/>
              </a:spcBef>
              <a:spcAft>
                <a:spcPts val="0"/>
              </a:spcAft>
              <a:buNone/>
            </a:pPr>
            <a:r>
              <a:rPr lang="en" dirty="0"/>
              <a:t>3.2 Non-convex optimization intuition</a:t>
            </a:r>
            <a:endParaRPr dirty="0"/>
          </a:p>
          <a:p>
            <a:pPr marL="0" lvl="0" indent="0" algn="l" rtl="0">
              <a:spcBef>
                <a:spcPts val="1200"/>
              </a:spcBef>
              <a:spcAft>
                <a:spcPts val="0"/>
              </a:spcAft>
              <a:buNone/>
            </a:pPr>
            <a:r>
              <a:rPr lang="en" dirty="0"/>
              <a:t>3.3 Overview of optimization algorithms</a:t>
            </a:r>
            <a:endParaRPr dirty="0"/>
          </a:p>
          <a:p>
            <a:pPr marL="0" lvl="0" indent="0" algn="l" rtl="0">
              <a:spcBef>
                <a:spcPts val="1200"/>
              </a:spcBef>
              <a:spcAft>
                <a:spcPts val="0"/>
              </a:spcAft>
              <a:buNone/>
            </a:pPr>
            <a:r>
              <a:rPr lang="en" dirty="0"/>
              <a:t>3.4 Momentum based algorithms</a:t>
            </a:r>
            <a:endParaRPr dirty="0"/>
          </a:p>
          <a:p>
            <a:pPr marL="0" lvl="0" indent="0" algn="l" rtl="0">
              <a:spcBef>
                <a:spcPts val="1200"/>
              </a:spcBef>
              <a:spcAft>
                <a:spcPts val="0"/>
              </a:spcAft>
              <a:buNone/>
            </a:pPr>
            <a:r>
              <a:rPr lang="en" dirty="0"/>
              <a:t>3.5 Algorithms with Adaptive Learning Rates</a:t>
            </a:r>
            <a:endParaRPr dirty="0"/>
          </a:p>
          <a:p>
            <a:pPr marL="0" lvl="0" indent="0" algn="l" rtl="0">
              <a:spcBef>
                <a:spcPts val="1200"/>
              </a:spcBef>
              <a:spcAft>
                <a:spcPts val="1200"/>
              </a:spcAft>
              <a:buNone/>
            </a:pPr>
            <a:endParaRPr dirty="0"/>
          </a:p>
        </p:txBody>
      </p:sp>
      <p:sp>
        <p:nvSpPr>
          <p:cNvPr id="81" name="Google Shape;81;p17"/>
          <p:cNvSpPr txBox="1">
            <a:spLocks noGrp="1"/>
          </p:cNvSpPr>
          <p:nvPr>
            <p:ph type="sldNum" idx="12"/>
          </p:nvPr>
        </p:nvSpPr>
        <p:spPr>
          <a:xfrm>
            <a:off x="8484550" y="4863199"/>
            <a:ext cx="548700" cy="310800"/>
          </a:xfrm>
          <a:prstGeom prst="rect">
            <a:avLst/>
          </a:prstGeom>
        </p:spPr>
        <p:txBody>
          <a:bodyPr spcFirstLastPara="1" wrap="square" lIns="91425" tIns="91425" rIns="91425" bIns="91425" anchor="ctr" anchorCtr="0">
            <a:normAutofit fontScale="92500"/>
          </a:bodyPr>
          <a:lstStyle/>
          <a:p>
            <a:pPr marL="0" lvl="0" indent="0" algn="r" rtl="0">
              <a:spcBef>
                <a:spcPts val="0"/>
              </a:spcBef>
              <a:spcAft>
                <a:spcPts val="0"/>
              </a:spcAft>
              <a:buNone/>
            </a:pPr>
            <a:fld id="{00000000-1234-1234-1234-123412341234}" type="slidenum">
              <a:rPr lang="en"/>
              <a:t>3</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85"/>
        <p:cNvGrpSpPr/>
        <p:nvPr/>
      </p:nvGrpSpPr>
      <p:grpSpPr>
        <a:xfrm>
          <a:off x="0" y="0"/>
          <a:ext cx="0" cy="0"/>
          <a:chOff x="0" y="0"/>
          <a:chExt cx="0" cy="0"/>
        </a:xfrm>
      </p:grpSpPr>
      <p:sp>
        <p:nvSpPr>
          <p:cNvPr id="86" name="Google Shape;86;p18"/>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r>
              <a:rPr lang="en"/>
              <a:t>Optimization Algorithms</a:t>
            </a:r>
            <a:endParaRPr/>
          </a:p>
        </p:txBody>
      </p:sp>
      <p:sp>
        <p:nvSpPr>
          <p:cNvPr id="87" name="Google Shape;87;p1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4</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sp>
        <p:nvSpPr>
          <p:cNvPr id="92" name="Google Shape;92;p19"/>
          <p:cNvSpPr txBox="1">
            <a:spLocks noGrp="1"/>
          </p:cNvSpPr>
          <p:nvPr>
            <p:ph type="title"/>
          </p:nvPr>
        </p:nvSpPr>
        <p:spPr>
          <a:xfrm>
            <a:off x="311700" y="14245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Optimization Algorithm</a:t>
            </a:r>
            <a:endParaRPr/>
          </a:p>
        </p:txBody>
      </p:sp>
      <p:sp>
        <p:nvSpPr>
          <p:cNvPr id="93" name="Google Shape;93;p19"/>
          <p:cNvSpPr txBox="1">
            <a:spLocks noGrp="1"/>
          </p:cNvSpPr>
          <p:nvPr>
            <p:ph type="body" idx="1"/>
          </p:nvPr>
        </p:nvSpPr>
        <p:spPr>
          <a:xfrm>
            <a:off x="311700" y="715150"/>
            <a:ext cx="8520600" cy="4147800"/>
          </a:xfrm>
          <a:prstGeom prst="rect">
            <a:avLst/>
          </a:prstGeom>
        </p:spPr>
        <p:txBody>
          <a:bodyPr spcFirstLastPara="1" wrap="square" lIns="91425" tIns="91425" rIns="91425" bIns="91425" anchor="t" anchorCtr="0">
            <a:normAutofit/>
          </a:bodyPr>
          <a:lstStyle/>
          <a:p>
            <a:pPr marL="457200" lvl="0" indent="-349250" algn="just" rtl="0">
              <a:lnSpc>
                <a:spcPct val="150000"/>
              </a:lnSpc>
              <a:spcBef>
                <a:spcPts val="0"/>
              </a:spcBef>
              <a:spcAft>
                <a:spcPts val="0"/>
              </a:spcAft>
              <a:buSzPts val="1900"/>
              <a:buChar char="●"/>
            </a:pPr>
            <a:r>
              <a:rPr lang="en" sz="1900" dirty="0">
                <a:highlight>
                  <a:schemeClr val="lt1"/>
                </a:highlight>
              </a:rPr>
              <a:t>Optimization algorithms train deep learning models. </a:t>
            </a:r>
            <a:endParaRPr sz="1900" dirty="0">
              <a:highlight>
                <a:schemeClr val="lt1"/>
              </a:highlight>
            </a:endParaRPr>
          </a:p>
          <a:p>
            <a:pPr marL="457200" lvl="0" indent="-349250" algn="just" rtl="0">
              <a:lnSpc>
                <a:spcPct val="150000"/>
              </a:lnSpc>
              <a:spcBef>
                <a:spcPts val="0"/>
              </a:spcBef>
              <a:spcAft>
                <a:spcPts val="0"/>
              </a:spcAft>
              <a:buSzPts val="1900"/>
              <a:buChar char="●"/>
            </a:pPr>
            <a:r>
              <a:rPr lang="en" sz="1900" dirty="0">
                <a:highlight>
                  <a:schemeClr val="lt1"/>
                </a:highlight>
              </a:rPr>
              <a:t>Optimization algorithms  are the tools that allow </a:t>
            </a:r>
            <a:endParaRPr sz="1900" dirty="0">
              <a:highlight>
                <a:schemeClr val="lt1"/>
              </a:highlight>
            </a:endParaRPr>
          </a:p>
          <a:p>
            <a:pPr marL="914400" lvl="1" indent="-349250" algn="just" rtl="0">
              <a:lnSpc>
                <a:spcPct val="150000"/>
              </a:lnSpc>
              <a:spcBef>
                <a:spcPts val="0"/>
              </a:spcBef>
              <a:spcAft>
                <a:spcPts val="0"/>
              </a:spcAft>
              <a:buSzPts val="1900"/>
              <a:buChar char="○"/>
            </a:pPr>
            <a:r>
              <a:rPr lang="en" sz="1900" dirty="0">
                <a:highlight>
                  <a:schemeClr val="lt1"/>
                </a:highlight>
              </a:rPr>
              <a:t>continue </a:t>
            </a:r>
            <a:r>
              <a:rPr lang="en" sz="1900" b="1" dirty="0">
                <a:highlight>
                  <a:schemeClr val="lt1"/>
                </a:highlight>
              </a:rPr>
              <a:t>updating model parameters</a:t>
            </a:r>
            <a:r>
              <a:rPr lang="en" sz="1900" dirty="0">
                <a:highlight>
                  <a:schemeClr val="lt1"/>
                </a:highlight>
              </a:rPr>
              <a:t> </a:t>
            </a:r>
            <a:endParaRPr sz="1900" dirty="0">
              <a:highlight>
                <a:schemeClr val="lt1"/>
              </a:highlight>
            </a:endParaRPr>
          </a:p>
          <a:p>
            <a:pPr marL="914400" lvl="1" indent="-349250" algn="just" rtl="0">
              <a:lnSpc>
                <a:spcPct val="150000"/>
              </a:lnSpc>
              <a:spcBef>
                <a:spcPts val="0"/>
              </a:spcBef>
              <a:spcAft>
                <a:spcPts val="0"/>
              </a:spcAft>
              <a:buSzPts val="1900"/>
              <a:buChar char="○"/>
            </a:pPr>
            <a:r>
              <a:rPr lang="en" sz="1900" dirty="0">
                <a:highlight>
                  <a:schemeClr val="lt1"/>
                </a:highlight>
              </a:rPr>
              <a:t>to </a:t>
            </a:r>
            <a:r>
              <a:rPr lang="en" sz="1900" b="1" dirty="0">
                <a:highlight>
                  <a:schemeClr val="lt1"/>
                </a:highlight>
              </a:rPr>
              <a:t>minimize the value of the loss function</a:t>
            </a:r>
            <a:r>
              <a:rPr lang="en" sz="1900" dirty="0">
                <a:highlight>
                  <a:schemeClr val="lt1"/>
                </a:highlight>
              </a:rPr>
              <a:t>, as evaluated on the training set.</a:t>
            </a:r>
            <a:endParaRPr sz="1900" dirty="0">
              <a:highlight>
                <a:schemeClr val="lt1"/>
              </a:highlight>
            </a:endParaRPr>
          </a:p>
          <a:p>
            <a:pPr marL="457200" lvl="0" indent="-349250" algn="just" rtl="0">
              <a:lnSpc>
                <a:spcPct val="150000"/>
              </a:lnSpc>
              <a:spcBef>
                <a:spcPts val="0"/>
              </a:spcBef>
              <a:spcAft>
                <a:spcPts val="0"/>
              </a:spcAft>
              <a:buSzPts val="1900"/>
              <a:buChar char="●"/>
            </a:pPr>
            <a:r>
              <a:rPr lang="en" sz="1900" dirty="0">
                <a:highlight>
                  <a:schemeClr val="lt1"/>
                </a:highlight>
              </a:rPr>
              <a:t>In optimization, a loss function is often referred to as the </a:t>
            </a:r>
            <a:r>
              <a:rPr lang="en" sz="1900" b="1" dirty="0">
                <a:highlight>
                  <a:schemeClr val="lt1"/>
                </a:highlight>
              </a:rPr>
              <a:t>objective function</a:t>
            </a:r>
            <a:r>
              <a:rPr lang="en" sz="1900" dirty="0">
                <a:highlight>
                  <a:schemeClr val="lt1"/>
                </a:highlight>
              </a:rPr>
              <a:t> of the optimization problem. </a:t>
            </a:r>
            <a:endParaRPr sz="1900" dirty="0">
              <a:highlight>
                <a:schemeClr val="lt1"/>
              </a:highlight>
            </a:endParaRPr>
          </a:p>
          <a:p>
            <a:pPr marL="457200" lvl="0" indent="-349250" algn="just" rtl="0">
              <a:lnSpc>
                <a:spcPct val="150000"/>
              </a:lnSpc>
              <a:spcBef>
                <a:spcPts val="0"/>
              </a:spcBef>
              <a:spcAft>
                <a:spcPts val="0"/>
              </a:spcAft>
              <a:buSzPts val="1900"/>
              <a:buChar char="●"/>
            </a:pPr>
            <a:r>
              <a:rPr lang="en" sz="1900" dirty="0">
                <a:highlight>
                  <a:schemeClr val="lt1"/>
                </a:highlight>
              </a:rPr>
              <a:t>By tradition and convention most optimization algorithms are concerned with </a:t>
            </a:r>
            <a:r>
              <a:rPr lang="en" sz="1900" b="1" dirty="0">
                <a:highlight>
                  <a:schemeClr val="lt1"/>
                </a:highlight>
              </a:rPr>
              <a:t>minimization</a:t>
            </a:r>
            <a:r>
              <a:rPr lang="en" sz="1900" dirty="0">
                <a:highlight>
                  <a:schemeClr val="lt1"/>
                </a:highlight>
              </a:rPr>
              <a:t>.</a:t>
            </a:r>
            <a:endParaRPr sz="1900" dirty="0">
              <a:highlight>
                <a:schemeClr val="lt1"/>
              </a:highlight>
            </a:endParaRPr>
          </a:p>
        </p:txBody>
      </p:sp>
      <p:sp>
        <p:nvSpPr>
          <p:cNvPr id="94" name="Google Shape;94;p19"/>
          <p:cNvSpPr txBox="1">
            <a:spLocks noGrp="1"/>
          </p:cNvSpPr>
          <p:nvPr>
            <p:ph type="sldNum" idx="12"/>
          </p:nvPr>
        </p:nvSpPr>
        <p:spPr>
          <a:xfrm>
            <a:off x="8484550" y="4863199"/>
            <a:ext cx="548700" cy="310800"/>
          </a:xfrm>
          <a:prstGeom prst="rect">
            <a:avLst/>
          </a:prstGeom>
        </p:spPr>
        <p:txBody>
          <a:bodyPr spcFirstLastPara="1" wrap="square" lIns="91425" tIns="91425" rIns="91425" bIns="91425" anchor="ctr" anchorCtr="0">
            <a:normAutofit fontScale="92500"/>
          </a:bodyPr>
          <a:lstStyle/>
          <a:p>
            <a:pPr marL="0" lvl="0" indent="0" algn="r" rtl="0">
              <a:spcBef>
                <a:spcPts val="0"/>
              </a:spcBef>
              <a:spcAft>
                <a:spcPts val="0"/>
              </a:spcAft>
              <a:buNone/>
            </a:pPr>
            <a:fld id="{00000000-1234-1234-1234-123412341234}" type="slidenum">
              <a:rPr lang="en"/>
              <a:t>5</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Shape 98"/>
        <p:cNvGrpSpPr/>
        <p:nvPr/>
      </p:nvGrpSpPr>
      <p:grpSpPr>
        <a:xfrm>
          <a:off x="0" y="0"/>
          <a:ext cx="0" cy="0"/>
          <a:chOff x="0" y="0"/>
          <a:chExt cx="0" cy="0"/>
        </a:xfrm>
      </p:grpSpPr>
      <p:pic>
        <p:nvPicPr>
          <p:cNvPr id="99" name="Google Shape;99;p20"/>
          <p:cNvPicPr preferRelativeResize="0"/>
          <p:nvPr/>
        </p:nvPicPr>
        <p:blipFill rotWithShape="1">
          <a:blip r:embed="rId3">
            <a:alphaModFix/>
          </a:blip>
          <a:srcRect t="11699"/>
          <a:stretch/>
        </p:blipFill>
        <p:spPr>
          <a:xfrm>
            <a:off x="1519225" y="778876"/>
            <a:ext cx="6105525" cy="4045525"/>
          </a:xfrm>
          <a:prstGeom prst="rect">
            <a:avLst/>
          </a:prstGeom>
          <a:noFill/>
          <a:ln>
            <a:noFill/>
          </a:ln>
        </p:spPr>
      </p:pic>
      <p:sp>
        <p:nvSpPr>
          <p:cNvPr id="100" name="Google Shape;100;p20"/>
          <p:cNvSpPr txBox="1">
            <a:spLocks noGrp="1"/>
          </p:cNvSpPr>
          <p:nvPr>
            <p:ph type="sldNum" idx="12"/>
          </p:nvPr>
        </p:nvSpPr>
        <p:spPr>
          <a:xfrm>
            <a:off x="8685521" y="4778067"/>
            <a:ext cx="288300" cy="154500"/>
          </a:xfrm>
          <a:prstGeom prst="rect">
            <a:avLst/>
          </a:prstGeom>
          <a:noFill/>
          <a:ln>
            <a:noFill/>
          </a:ln>
        </p:spPr>
        <p:txBody>
          <a:bodyPr spcFirstLastPara="1" wrap="square" lIns="0" tIns="625" rIns="0" bIns="0" anchor="t" anchorCtr="0">
            <a:spAutoFit/>
          </a:bodyPr>
          <a:lstStyle/>
          <a:p>
            <a:pPr marL="38100" lvl="0" indent="0" algn="l" rtl="0">
              <a:lnSpc>
                <a:spcPct val="100000"/>
              </a:lnSpc>
              <a:spcBef>
                <a:spcPts val="0"/>
              </a:spcBef>
              <a:spcAft>
                <a:spcPts val="0"/>
              </a:spcAft>
              <a:buNone/>
            </a:pPr>
            <a:fld id="{00000000-1234-1234-1234-123412341234}" type="slidenum">
              <a:rPr lang="en"/>
              <a:t>6</a:t>
            </a:fld>
            <a:endParaRPr/>
          </a:p>
        </p:txBody>
      </p:sp>
      <p:sp>
        <p:nvSpPr>
          <p:cNvPr id="101" name="Google Shape;101;p20"/>
          <p:cNvSpPr txBox="1">
            <a:spLocks noGrp="1"/>
          </p:cNvSpPr>
          <p:nvPr>
            <p:ph type="title" idx="4294967295"/>
          </p:nvPr>
        </p:nvSpPr>
        <p:spPr>
          <a:xfrm>
            <a:off x="311700" y="14245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solidFill>
                  <a:schemeClr val="lt1"/>
                </a:solidFill>
              </a:rPr>
              <a:t>Optimization</a:t>
            </a:r>
            <a:endParaRPr>
              <a:solidFill>
                <a:schemeClr val="lt1"/>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05"/>
        <p:cNvGrpSpPr/>
        <p:nvPr/>
      </p:nvGrpSpPr>
      <p:grpSpPr>
        <a:xfrm>
          <a:off x="0" y="0"/>
          <a:ext cx="0" cy="0"/>
          <a:chOff x="0" y="0"/>
          <a:chExt cx="0" cy="0"/>
        </a:xfrm>
      </p:grpSpPr>
      <p:sp>
        <p:nvSpPr>
          <p:cNvPr id="106" name="Google Shape;106;p21"/>
          <p:cNvSpPr txBox="1">
            <a:spLocks noGrp="1"/>
          </p:cNvSpPr>
          <p:nvPr>
            <p:ph type="title"/>
          </p:nvPr>
        </p:nvSpPr>
        <p:spPr>
          <a:xfrm>
            <a:off x="311700" y="14245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Why Optimization Algorithm?</a:t>
            </a:r>
            <a:endParaRPr/>
          </a:p>
        </p:txBody>
      </p:sp>
      <p:sp>
        <p:nvSpPr>
          <p:cNvPr id="107" name="Google Shape;107;p21"/>
          <p:cNvSpPr txBox="1">
            <a:spLocks noGrp="1"/>
          </p:cNvSpPr>
          <p:nvPr>
            <p:ph type="body" idx="1"/>
          </p:nvPr>
        </p:nvSpPr>
        <p:spPr>
          <a:xfrm>
            <a:off x="311700" y="715150"/>
            <a:ext cx="8520600" cy="4147800"/>
          </a:xfrm>
          <a:prstGeom prst="rect">
            <a:avLst/>
          </a:prstGeom>
        </p:spPr>
        <p:txBody>
          <a:bodyPr spcFirstLastPara="1" wrap="square" lIns="91425" tIns="91425" rIns="91425" bIns="91425" anchor="t" anchorCtr="0">
            <a:normAutofit/>
          </a:bodyPr>
          <a:lstStyle/>
          <a:p>
            <a:pPr marL="457200" lvl="0" indent="-349250" algn="just" rtl="0">
              <a:lnSpc>
                <a:spcPct val="150000"/>
              </a:lnSpc>
              <a:spcBef>
                <a:spcPts val="0"/>
              </a:spcBef>
              <a:spcAft>
                <a:spcPts val="0"/>
              </a:spcAft>
              <a:buSzPts val="1900"/>
              <a:buChar char="●"/>
            </a:pPr>
            <a:r>
              <a:rPr lang="en" sz="1900" dirty="0">
                <a:highlight>
                  <a:schemeClr val="lt1"/>
                </a:highlight>
              </a:rPr>
              <a:t>The </a:t>
            </a:r>
            <a:r>
              <a:rPr lang="en" sz="1900" b="1" dirty="0">
                <a:highlight>
                  <a:schemeClr val="lt1"/>
                </a:highlight>
              </a:rPr>
              <a:t>performance</a:t>
            </a:r>
            <a:r>
              <a:rPr lang="en" sz="1900" dirty="0">
                <a:highlight>
                  <a:schemeClr val="lt1"/>
                </a:highlight>
              </a:rPr>
              <a:t> of the optimization algorithm directly affects the modelʼs training efficiency. </a:t>
            </a:r>
            <a:endParaRPr sz="1900" dirty="0">
              <a:highlight>
                <a:schemeClr val="lt1"/>
              </a:highlight>
            </a:endParaRPr>
          </a:p>
          <a:p>
            <a:pPr marL="457200" lvl="0" indent="-349250" algn="just" rtl="0">
              <a:lnSpc>
                <a:spcPct val="150000"/>
              </a:lnSpc>
              <a:spcBef>
                <a:spcPts val="0"/>
              </a:spcBef>
              <a:spcAft>
                <a:spcPts val="0"/>
              </a:spcAft>
              <a:buSzPts val="1900"/>
              <a:buChar char="●"/>
            </a:pPr>
            <a:r>
              <a:rPr lang="en" sz="1900" dirty="0">
                <a:highlight>
                  <a:schemeClr val="lt1"/>
                </a:highlight>
              </a:rPr>
              <a:t>Understanding the principles of different optimization algorithms and the role of their hyperparameters will enable us to </a:t>
            </a:r>
            <a:r>
              <a:rPr lang="en" sz="1900" b="1" dirty="0">
                <a:highlight>
                  <a:schemeClr val="lt1"/>
                </a:highlight>
              </a:rPr>
              <a:t>tune the hyperparameters in a targeted manner</a:t>
            </a:r>
            <a:r>
              <a:rPr lang="en" sz="1900" dirty="0">
                <a:highlight>
                  <a:schemeClr val="lt1"/>
                </a:highlight>
              </a:rPr>
              <a:t> to improve the performance of deep learning models.</a:t>
            </a:r>
            <a:endParaRPr sz="1900" dirty="0">
              <a:highlight>
                <a:schemeClr val="lt1"/>
              </a:highlight>
            </a:endParaRPr>
          </a:p>
          <a:p>
            <a:pPr marL="457200" lvl="0" indent="-349250" algn="just" rtl="0">
              <a:lnSpc>
                <a:spcPct val="150000"/>
              </a:lnSpc>
              <a:spcBef>
                <a:spcPts val="0"/>
              </a:spcBef>
              <a:spcAft>
                <a:spcPts val="0"/>
              </a:spcAft>
              <a:buSzPts val="1900"/>
              <a:buChar char="●"/>
            </a:pPr>
            <a:r>
              <a:rPr lang="en" sz="1900" b="1" dirty="0">
                <a:highlight>
                  <a:schemeClr val="lt1"/>
                </a:highlight>
              </a:rPr>
              <a:t>The goal of optimization is to reduce the training error</a:t>
            </a:r>
            <a:r>
              <a:rPr lang="en" sz="1900" dirty="0">
                <a:highlight>
                  <a:schemeClr val="lt1"/>
                </a:highlight>
              </a:rPr>
              <a:t>.  The goal of deep learning is to reduce the generalization error, this requires reduction in overfitting also. </a:t>
            </a:r>
            <a:endParaRPr sz="1900" dirty="0">
              <a:highlight>
                <a:schemeClr val="lt1"/>
              </a:highlight>
            </a:endParaRPr>
          </a:p>
        </p:txBody>
      </p:sp>
      <p:sp>
        <p:nvSpPr>
          <p:cNvPr id="108" name="Google Shape;108;p21"/>
          <p:cNvSpPr txBox="1">
            <a:spLocks noGrp="1"/>
          </p:cNvSpPr>
          <p:nvPr>
            <p:ph type="sldNum" idx="12"/>
          </p:nvPr>
        </p:nvSpPr>
        <p:spPr>
          <a:xfrm>
            <a:off x="8484550" y="4863199"/>
            <a:ext cx="548700" cy="310800"/>
          </a:xfrm>
          <a:prstGeom prst="rect">
            <a:avLst/>
          </a:prstGeom>
        </p:spPr>
        <p:txBody>
          <a:bodyPr spcFirstLastPara="1" wrap="square" lIns="91425" tIns="91425" rIns="91425" bIns="91425" anchor="ctr" anchorCtr="0">
            <a:normAutofit fontScale="92500"/>
          </a:bodyPr>
          <a:lstStyle/>
          <a:p>
            <a:pPr marL="0" lvl="0" indent="0" algn="r" rtl="0">
              <a:spcBef>
                <a:spcPts val="0"/>
              </a:spcBef>
              <a:spcAft>
                <a:spcPts val="0"/>
              </a:spcAft>
              <a:buNone/>
            </a:pPr>
            <a:fld id="{00000000-1234-1234-1234-123412341234}" type="slidenum">
              <a:rPr lang="en"/>
              <a:t>7</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2"/>
        <p:cNvGrpSpPr/>
        <p:nvPr/>
      </p:nvGrpSpPr>
      <p:grpSpPr>
        <a:xfrm>
          <a:off x="0" y="0"/>
          <a:ext cx="0" cy="0"/>
          <a:chOff x="0" y="0"/>
          <a:chExt cx="0" cy="0"/>
        </a:xfrm>
      </p:grpSpPr>
      <p:sp>
        <p:nvSpPr>
          <p:cNvPr id="113" name="Google Shape;113;p22"/>
          <p:cNvSpPr txBox="1">
            <a:spLocks noGrp="1"/>
          </p:cNvSpPr>
          <p:nvPr>
            <p:ph type="title"/>
          </p:nvPr>
        </p:nvSpPr>
        <p:spPr>
          <a:xfrm>
            <a:off x="311700" y="14245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Optimization Challenges in Deep Learning</a:t>
            </a:r>
            <a:endParaRPr/>
          </a:p>
        </p:txBody>
      </p:sp>
      <p:sp>
        <p:nvSpPr>
          <p:cNvPr id="114" name="Google Shape;114;p22"/>
          <p:cNvSpPr txBox="1">
            <a:spLocks noGrp="1"/>
          </p:cNvSpPr>
          <p:nvPr>
            <p:ph type="body" idx="1"/>
          </p:nvPr>
        </p:nvSpPr>
        <p:spPr>
          <a:xfrm>
            <a:off x="311700" y="715150"/>
            <a:ext cx="8520600" cy="4147800"/>
          </a:xfrm>
          <a:prstGeom prst="rect">
            <a:avLst/>
          </a:prstGeom>
        </p:spPr>
        <p:txBody>
          <a:bodyPr spcFirstLastPara="1" wrap="square" lIns="91425" tIns="91425" rIns="91425" bIns="91425" anchor="t" anchorCtr="0">
            <a:normAutofit/>
          </a:bodyPr>
          <a:lstStyle/>
          <a:p>
            <a:pPr marL="457200" lvl="0" indent="-349250" algn="l" rtl="0">
              <a:lnSpc>
                <a:spcPct val="150000"/>
              </a:lnSpc>
              <a:spcBef>
                <a:spcPts val="0"/>
              </a:spcBef>
              <a:spcAft>
                <a:spcPts val="0"/>
              </a:spcAft>
              <a:buSzPts val="1900"/>
              <a:buChar char="●"/>
            </a:pPr>
            <a:r>
              <a:rPr lang="en" sz="1900" dirty="0">
                <a:highlight>
                  <a:schemeClr val="lt1"/>
                </a:highlight>
              </a:rPr>
              <a:t>Local minima</a:t>
            </a:r>
            <a:endParaRPr sz="1900" dirty="0">
              <a:highlight>
                <a:schemeClr val="lt1"/>
              </a:highlight>
            </a:endParaRPr>
          </a:p>
          <a:p>
            <a:pPr marL="457200" lvl="0" indent="-349250" algn="l" rtl="0">
              <a:lnSpc>
                <a:spcPct val="150000"/>
              </a:lnSpc>
              <a:spcBef>
                <a:spcPts val="0"/>
              </a:spcBef>
              <a:spcAft>
                <a:spcPts val="0"/>
              </a:spcAft>
              <a:buSzPts val="1900"/>
              <a:buChar char="●"/>
            </a:pPr>
            <a:r>
              <a:rPr lang="en" sz="1900" dirty="0">
                <a:highlight>
                  <a:schemeClr val="lt1"/>
                </a:highlight>
              </a:rPr>
              <a:t>Saddle points</a:t>
            </a:r>
            <a:endParaRPr sz="1900" dirty="0">
              <a:highlight>
                <a:schemeClr val="lt1"/>
              </a:highlight>
            </a:endParaRPr>
          </a:p>
          <a:p>
            <a:pPr marL="457200" lvl="0" indent="-349250" algn="l" rtl="0">
              <a:lnSpc>
                <a:spcPct val="150000"/>
              </a:lnSpc>
              <a:spcBef>
                <a:spcPts val="0"/>
              </a:spcBef>
              <a:spcAft>
                <a:spcPts val="0"/>
              </a:spcAft>
              <a:buSzPts val="1900"/>
              <a:buChar char="●"/>
            </a:pPr>
            <a:r>
              <a:rPr lang="en" sz="1900" dirty="0">
                <a:highlight>
                  <a:schemeClr val="lt1"/>
                </a:highlight>
              </a:rPr>
              <a:t>Vanishing gradients</a:t>
            </a:r>
            <a:endParaRPr sz="1900" dirty="0">
              <a:highlight>
                <a:schemeClr val="lt1"/>
              </a:highlight>
            </a:endParaRPr>
          </a:p>
          <a:p>
            <a:pPr marL="0" lvl="0" indent="0" algn="l" rtl="0">
              <a:spcBef>
                <a:spcPts val="1200"/>
              </a:spcBef>
              <a:spcAft>
                <a:spcPts val="1200"/>
              </a:spcAft>
              <a:buNone/>
            </a:pPr>
            <a:endParaRPr sz="1900" dirty="0">
              <a:highlight>
                <a:schemeClr val="lt1"/>
              </a:highlight>
            </a:endParaRPr>
          </a:p>
        </p:txBody>
      </p:sp>
      <p:sp>
        <p:nvSpPr>
          <p:cNvPr id="115" name="Google Shape;115;p22"/>
          <p:cNvSpPr txBox="1">
            <a:spLocks noGrp="1"/>
          </p:cNvSpPr>
          <p:nvPr>
            <p:ph type="sldNum" idx="12"/>
          </p:nvPr>
        </p:nvSpPr>
        <p:spPr>
          <a:xfrm>
            <a:off x="8484550" y="4863199"/>
            <a:ext cx="548700" cy="310800"/>
          </a:xfrm>
          <a:prstGeom prst="rect">
            <a:avLst/>
          </a:prstGeom>
        </p:spPr>
        <p:txBody>
          <a:bodyPr spcFirstLastPara="1" wrap="square" lIns="91425" tIns="91425" rIns="91425" bIns="91425" anchor="ctr" anchorCtr="0">
            <a:normAutofit fontScale="92500"/>
          </a:bodyPr>
          <a:lstStyle/>
          <a:p>
            <a:pPr marL="0" lvl="0" indent="0" algn="r" rtl="0">
              <a:spcBef>
                <a:spcPts val="0"/>
              </a:spcBef>
              <a:spcAft>
                <a:spcPts val="0"/>
              </a:spcAft>
              <a:buNone/>
            </a:pPr>
            <a:fld id="{00000000-1234-1234-1234-123412341234}" type="slidenum">
              <a:rPr lang="en"/>
              <a:t>8</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19"/>
        <p:cNvGrpSpPr/>
        <p:nvPr/>
      </p:nvGrpSpPr>
      <p:grpSpPr>
        <a:xfrm>
          <a:off x="0" y="0"/>
          <a:ext cx="0" cy="0"/>
          <a:chOff x="0" y="0"/>
          <a:chExt cx="0" cy="0"/>
        </a:xfrm>
      </p:grpSpPr>
      <p:sp>
        <p:nvSpPr>
          <p:cNvPr id="120" name="Google Shape;120;p23"/>
          <p:cNvSpPr txBox="1">
            <a:spLocks noGrp="1"/>
          </p:cNvSpPr>
          <p:nvPr>
            <p:ph type="title"/>
          </p:nvPr>
        </p:nvSpPr>
        <p:spPr>
          <a:xfrm>
            <a:off x="311700" y="14245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Local Minima</a:t>
            </a:r>
            <a:endParaRPr/>
          </a:p>
        </p:txBody>
      </p:sp>
      <p:sp>
        <p:nvSpPr>
          <p:cNvPr id="121" name="Google Shape;121;p23"/>
          <p:cNvSpPr txBox="1">
            <a:spLocks noGrp="1"/>
          </p:cNvSpPr>
          <p:nvPr>
            <p:ph type="body" idx="1"/>
          </p:nvPr>
        </p:nvSpPr>
        <p:spPr>
          <a:xfrm>
            <a:off x="311700" y="715150"/>
            <a:ext cx="4619100" cy="4147800"/>
          </a:xfrm>
          <a:prstGeom prst="rect">
            <a:avLst/>
          </a:prstGeom>
        </p:spPr>
        <p:txBody>
          <a:bodyPr spcFirstLastPara="1" wrap="square" lIns="91425" tIns="91425" rIns="91425" bIns="91425" anchor="t" anchorCtr="0">
            <a:noAutofit/>
          </a:bodyPr>
          <a:lstStyle/>
          <a:p>
            <a:pPr marL="457200" lvl="0" indent="-355600" algn="just" rtl="0">
              <a:lnSpc>
                <a:spcPct val="150000"/>
              </a:lnSpc>
              <a:spcBef>
                <a:spcPts val="0"/>
              </a:spcBef>
              <a:spcAft>
                <a:spcPts val="0"/>
              </a:spcAft>
              <a:buSzPts val="2000"/>
              <a:buChar char="●"/>
            </a:pPr>
            <a:r>
              <a:rPr lang="en" sz="1600" dirty="0">
                <a:highlight>
                  <a:schemeClr val="lt1"/>
                </a:highlight>
              </a:rPr>
              <a:t>For any objective function f (x), if the value of f (x) at x is smaller than the values of f (x) at any other points in the vicinity of x, then f (x) could be a </a:t>
            </a:r>
            <a:r>
              <a:rPr lang="en" sz="1600" b="1" dirty="0">
                <a:highlight>
                  <a:schemeClr val="lt1"/>
                </a:highlight>
              </a:rPr>
              <a:t>local minimum</a:t>
            </a:r>
            <a:r>
              <a:rPr lang="en" sz="1600" dirty="0">
                <a:highlight>
                  <a:schemeClr val="lt1"/>
                </a:highlight>
              </a:rPr>
              <a:t>. </a:t>
            </a:r>
            <a:endParaRPr sz="1600" dirty="0">
              <a:highlight>
                <a:schemeClr val="lt1"/>
              </a:highlight>
            </a:endParaRPr>
          </a:p>
          <a:p>
            <a:pPr marL="457200" lvl="0" indent="-355600" algn="just" rtl="0">
              <a:lnSpc>
                <a:spcPct val="150000"/>
              </a:lnSpc>
              <a:spcBef>
                <a:spcPts val="0"/>
              </a:spcBef>
              <a:spcAft>
                <a:spcPts val="0"/>
              </a:spcAft>
              <a:buSzPts val="2000"/>
              <a:buChar char="●"/>
            </a:pPr>
            <a:r>
              <a:rPr lang="en" sz="1600" dirty="0">
                <a:highlight>
                  <a:schemeClr val="lt1"/>
                </a:highlight>
              </a:rPr>
              <a:t>If the value of f (x) at x is the minimum of the objective function over the entire domain, then f (x) is the </a:t>
            </a:r>
            <a:r>
              <a:rPr lang="en" sz="1600" b="1" dirty="0">
                <a:highlight>
                  <a:schemeClr val="lt1"/>
                </a:highlight>
              </a:rPr>
              <a:t>global minimum</a:t>
            </a:r>
            <a:r>
              <a:rPr lang="en" sz="1600" dirty="0">
                <a:highlight>
                  <a:schemeClr val="lt1"/>
                </a:highlight>
              </a:rPr>
              <a:t>.</a:t>
            </a:r>
            <a:endParaRPr sz="1600" dirty="0">
              <a:highlight>
                <a:schemeClr val="lt1"/>
              </a:highlight>
            </a:endParaRPr>
          </a:p>
          <a:p>
            <a:pPr marL="457200" lvl="0" indent="-355600" algn="just" rtl="0">
              <a:lnSpc>
                <a:spcPct val="150000"/>
              </a:lnSpc>
              <a:spcBef>
                <a:spcPts val="0"/>
              </a:spcBef>
              <a:spcAft>
                <a:spcPts val="0"/>
              </a:spcAft>
              <a:buSzPts val="2000"/>
              <a:buChar char="●"/>
            </a:pPr>
            <a:r>
              <a:rPr lang="en" sz="1600" dirty="0">
                <a:highlight>
                  <a:schemeClr val="lt1"/>
                </a:highlight>
              </a:rPr>
              <a:t>In minibatch stochastic gradient descent, the natural variation of gradients over minibatches is able to dislodge the parameters from local minima.</a:t>
            </a:r>
            <a:endParaRPr sz="1600" dirty="0">
              <a:highlight>
                <a:schemeClr val="lt1"/>
              </a:highlight>
            </a:endParaRPr>
          </a:p>
        </p:txBody>
      </p:sp>
      <p:pic>
        <p:nvPicPr>
          <p:cNvPr id="122" name="Google Shape;122;p23"/>
          <p:cNvPicPr preferRelativeResize="0"/>
          <p:nvPr/>
        </p:nvPicPr>
        <p:blipFill>
          <a:blip r:embed="rId3">
            <a:alphaModFix/>
          </a:blip>
          <a:stretch>
            <a:fillRect/>
          </a:stretch>
        </p:blipFill>
        <p:spPr>
          <a:xfrm>
            <a:off x="5083200" y="1171725"/>
            <a:ext cx="3908400" cy="2800048"/>
          </a:xfrm>
          <a:prstGeom prst="rect">
            <a:avLst/>
          </a:prstGeom>
          <a:noFill/>
          <a:ln>
            <a:noFill/>
          </a:ln>
        </p:spPr>
      </p:pic>
      <p:sp>
        <p:nvSpPr>
          <p:cNvPr id="123" name="Google Shape;123;p23"/>
          <p:cNvSpPr txBox="1">
            <a:spLocks noGrp="1"/>
          </p:cNvSpPr>
          <p:nvPr>
            <p:ph type="sldNum" idx="12"/>
          </p:nvPr>
        </p:nvSpPr>
        <p:spPr>
          <a:xfrm>
            <a:off x="8484550" y="4863199"/>
            <a:ext cx="548700" cy="310800"/>
          </a:xfrm>
          <a:prstGeom prst="rect">
            <a:avLst/>
          </a:prstGeom>
        </p:spPr>
        <p:txBody>
          <a:bodyPr spcFirstLastPara="1" wrap="square" lIns="91425" tIns="91425" rIns="91425" bIns="91425" anchor="ctr" anchorCtr="0">
            <a:normAutofit fontScale="92500"/>
          </a:bodyPr>
          <a:lstStyle/>
          <a:p>
            <a:pPr marL="0" lvl="0" indent="0" algn="r" rtl="0">
              <a:spcBef>
                <a:spcPts val="0"/>
              </a:spcBef>
              <a:spcAft>
                <a:spcPts val="0"/>
              </a:spcAft>
              <a:buNone/>
            </a:pPr>
            <a:fld id="{00000000-1234-1234-1234-123412341234}" type="slidenum">
              <a:rPr lang="en"/>
              <a:t>9</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Shape 127"/>
        <p:cNvGrpSpPr/>
        <p:nvPr/>
      </p:nvGrpSpPr>
      <p:grpSpPr>
        <a:xfrm>
          <a:off x="0" y="0"/>
          <a:ext cx="0" cy="0"/>
          <a:chOff x="0" y="0"/>
          <a:chExt cx="0" cy="0"/>
        </a:xfrm>
      </p:grpSpPr>
      <p:pic>
        <p:nvPicPr>
          <p:cNvPr id="128" name="Google Shape;128;p24"/>
          <p:cNvPicPr preferRelativeResize="0"/>
          <p:nvPr/>
        </p:nvPicPr>
        <p:blipFill rotWithShape="1">
          <a:blip r:embed="rId3">
            <a:alphaModFix/>
          </a:blip>
          <a:srcRect t="10265"/>
          <a:stretch/>
        </p:blipFill>
        <p:spPr>
          <a:xfrm>
            <a:off x="646268" y="791350"/>
            <a:ext cx="7927091" cy="4171175"/>
          </a:xfrm>
          <a:prstGeom prst="rect">
            <a:avLst/>
          </a:prstGeom>
          <a:noFill/>
          <a:ln>
            <a:noFill/>
          </a:ln>
        </p:spPr>
      </p:pic>
      <p:sp>
        <p:nvSpPr>
          <p:cNvPr id="129" name="Google Shape;129;p24"/>
          <p:cNvSpPr txBox="1">
            <a:spLocks noGrp="1"/>
          </p:cNvSpPr>
          <p:nvPr>
            <p:ph type="sldNum" idx="12"/>
          </p:nvPr>
        </p:nvSpPr>
        <p:spPr>
          <a:xfrm>
            <a:off x="8685521" y="4778067"/>
            <a:ext cx="288300" cy="154500"/>
          </a:xfrm>
          <a:prstGeom prst="rect">
            <a:avLst/>
          </a:prstGeom>
          <a:noFill/>
          <a:ln>
            <a:noFill/>
          </a:ln>
        </p:spPr>
        <p:txBody>
          <a:bodyPr spcFirstLastPara="1" wrap="square" lIns="0" tIns="625" rIns="0" bIns="0" anchor="t" anchorCtr="0">
            <a:spAutoFit/>
          </a:bodyPr>
          <a:lstStyle/>
          <a:p>
            <a:pPr marL="38100" lvl="0" indent="0" algn="l" rtl="0">
              <a:lnSpc>
                <a:spcPct val="100000"/>
              </a:lnSpc>
              <a:spcBef>
                <a:spcPts val="0"/>
              </a:spcBef>
              <a:spcAft>
                <a:spcPts val="0"/>
              </a:spcAft>
              <a:buNone/>
            </a:pPr>
            <a:fld id="{00000000-1234-1234-1234-123412341234}" type="slidenum">
              <a:rPr lang="en"/>
              <a:t>10</a:t>
            </a:fld>
            <a:endParaRPr/>
          </a:p>
        </p:txBody>
      </p:sp>
      <p:sp>
        <p:nvSpPr>
          <p:cNvPr id="130" name="Google Shape;130;p24"/>
          <p:cNvSpPr txBox="1">
            <a:spLocks noGrp="1"/>
          </p:cNvSpPr>
          <p:nvPr>
            <p:ph type="title" idx="4294967295"/>
          </p:nvPr>
        </p:nvSpPr>
        <p:spPr>
          <a:xfrm>
            <a:off x="311700" y="14245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solidFill>
                  <a:schemeClr val="lt1"/>
                </a:solidFill>
              </a:rPr>
              <a:t>Finding Minimum of a Function</a:t>
            </a:r>
            <a:endParaRPr>
              <a:solidFill>
                <a:schemeClr val="lt1"/>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Shape 134"/>
        <p:cNvGrpSpPr/>
        <p:nvPr/>
      </p:nvGrpSpPr>
      <p:grpSpPr>
        <a:xfrm>
          <a:off x="0" y="0"/>
          <a:ext cx="0" cy="0"/>
          <a:chOff x="0" y="0"/>
          <a:chExt cx="0" cy="0"/>
        </a:xfrm>
      </p:grpSpPr>
      <p:pic>
        <p:nvPicPr>
          <p:cNvPr id="135" name="Google Shape;135;p25"/>
          <p:cNvPicPr preferRelativeResize="0"/>
          <p:nvPr/>
        </p:nvPicPr>
        <p:blipFill rotWithShape="1">
          <a:blip r:embed="rId3">
            <a:alphaModFix/>
          </a:blip>
          <a:srcRect t="16957"/>
          <a:stretch/>
        </p:blipFill>
        <p:spPr>
          <a:xfrm>
            <a:off x="1237534" y="626522"/>
            <a:ext cx="7280823" cy="4365725"/>
          </a:xfrm>
          <a:prstGeom prst="rect">
            <a:avLst/>
          </a:prstGeom>
          <a:noFill/>
          <a:ln>
            <a:noFill/>
          </a:ln>
        </p:spPr>
      </p:pic>
      <p:sp>
        <p:nvSpPr>
          <p:cNvPr id="136" name="Google Shape;136;p25"/>
          <p:cNvSpPr txBox="1">
            <a:spLocks noGrp="1"/>
          </p:cNvSpPr>
          <p:nvPr>
            <p:ph type="sldNum" idx="12"/>
          </p:nvPr>
        </p:nvSpPr>
        <p:spPr>
          <a:xfrm>
            <a:off x="8685521" y="4778067"/>
            <a:ext cx="288300" cy="154500"/>
          </a:xfrm>
          <a:prstGeom prst="rect">
            <a:avLst/>
          </a:prstGeom>
          <a:noFill/>
          <a:ln>
            <a:noFill/>
          </a:ln>
        </p:spPr>
        <p:txBody>
          <a:bodyPr spcFirstLastPara="1" wrap="square" lIns="0" tIns="625" rIns="0" bIns="0" anchor="t" anchorCtr="0">
            <a:spAutoFit/>
          </a:bodyPr>
          <a:lstStyle/>
          <a:p>
            <a:pPr marL="38100" lvl="0" indent="0" algn="l" rtl="0">
              <a:lnSpc>
                <a:spcPct val="100000"/>
              </a:lnSpc>
              <a:spcBef>
                <a:spcPts val="0"/>
              </a:spcBef>
              <a:spcAft>
                <a:spcPts val="0"/>
              </a:spcAft>
              <a:buNone/>
            </a:pPr>
            <a:fld id="{00000000-1234-1234-1234-123412341234}" type="slidenum">
              <a:rPr lang="en"/>
              <a:t>11</a:t>
            </a:fld>
            <a:endParaRPr/>
          </a:p>
        </p:txBody>
      </p:sp>
      <p:sp>
        <p:nvSpPr>
          <p:cNvPr id="137" name="Google Shape;137;p25"/>
          <p:cNvSpPr txBox="1">
            <a:spLocks noGrp="1"/>
          </p:cNvSpPr>
          <p:nvPr>
            <p:ph type="title" idx="4294967295"/>
          </p:nvPr>
        </p:nvSpPr>
        <p:spPr>
          <a:xfrm>
            <a:off x="311700" y="14245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solidFill>
                  <a:schemeClr val="lt1"/>
                </a:solidFill>
              </a:rPr>
              <a:t>Finding Minimum of a Function</a:t>
            </a:r>
            <a:endParaRPr>
              <a:solidFill>
                <a:schemeClr val="lt1"/>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Shape 141"/>
        <p:cNvGrpSpPr/>
        <p:nvPr/>
      </p:nvGrpSpPr>
      <p:grpSpPr>
        <a:xfrm>
          <a:off x="0" y="0"/>
          <a:ext cx="0" cy="0"/>
          <a:chOff x="0" y="0"/>
          <a:chExt cx="0" cy="0"/>
        </a:xfrm>
      </p:grpSpPr>
      <p:pic>
        <p:nvPicPr>
          <p:cNvPr id="142" name="Google Shape;142;p26"/>
          <p:cNvPicPr preferRelativeResize="0"/>
          <p:nvPr/>
        </p:nvPicPr>
        <p:blipFill rotWithShape="1">
          <a:blip r:embed="rId3">
            <a:alphaModFix/>
          </a:blip>
          <a:srcRect t="19452"/>
          <a:stretch/>
        </p:blipFill>
        <p:spPr>
          <a:xfrm>
            <a:off x="311700" y="964952"/>
            <a:ext cx="8520600" cy="3813124"/>
          </a:xfrm>
          <a:prstGeom prst="rect">
            <a:avLst/>
          </a:prstGeom>
          <a:noFill/>
          <a:ln>
            <a:noFill/>
          </a:ln>
        </p:spPr>
      </p:pic>
      <p:sp>
        <p:nvSpPr>
          <p:cNvPr id="143" name="Google Shape;143;p26"/>
          <p:cNvSpPr txBox="1">
            <a:spLocks noGrp="1"/>
          </p:cNvSpPr>
          <p:nvPr>
            <p:ph type="sldNum" idx="12"/>
          </p:nvPr>
        </p:nvSpPr>
        <p:spPr>
          <a:xfrm>
            <a:off x="8685521" y="4778067"/>
            <a:ext cx="288300" cy="154500"/>
          </a:xfrm>
          <a:prstGeom prst="rect">
            <a:avLst/>
          </a:prstGeom>
          <a:noFill/>
          <a:ln>
            <a:noFill/>
          </a:ln>
        </p:spPr>
        <p:txBody>
          <a:bodyPr spcFirstLastPara="1" wrap="square" lIns="0" tIns="625" rIns="0" bIns="0" anchor="t" anchorCtr="0">
            <a:spAutoFit/>
          </a:bodyPr>
          <a:lstStyle/>
          <a:p>
            <a:pPr marL="38100" lvl="0" indent="0" algn="l" rtl="0">
              <a:lnSpc>
                <a:spcPct val="100000"/>
              </a:lnSpc>
              <a:spcBef>
                <a:spcPts val="0"/>
              </a:spcBef>
              <a:spcAft>
                <a:spcPts val="0"/>
              </a:spcAft>
              <a:buNone/>
            </a:pPr>
            <a:fld id="{00000000-1234-1234-1234-123412341234}" type="slidenum">
              <a:rPr lang="en"/>
              <a:t>12</a:t>
            </a:fld>
            <a:endParaRPr/>
          </a:p>
        </p:txBody>
      </p:sp>
      <p:sp>
        <p:nvSpPr>
          <p:cNvPr id="144" name="Google Shape;144;p26"/>
          <p:cNvSpPr txBox="1">
            <a:spLocks noGrp="1"/>
          </p:cNvSpPr>
          <p:nvPr>
            <p:ph type="title" idx="4294967295"/>
          </p:nvPr>
        </p:nvSpPr>
        <p:spPr>
          <a:xfrm>
            <a:off x="311700" y="14245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solidFill>
                  <a:schemeClr val="lt1"/>
                </a:solidFill>
              </a:rPr>
              <a:t>Derivatives of a Function</a:t>
            </a:r>
            <a:endParaRPr>
              <a:solidFill>
                <a:schemeClr val="lt1"/>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48"/>
        <p:cNvGrpSpPr/>
        <p:nvPr/>
      </p:nvGrpSpPr>
      <p:grpSpPr>
        <a:xfrm>
          <a:off x="0" y="0"/>
          <a:ext cx="0" cy="0"/>
          <a:chOff x="0" y="0"/>
          <a:chExt cx="0" cy="0"/>
        </a:xfrm>
      </p:grpSpPr>
      <p:sp>
        <p:nvSpPr>
          <p:cNvPr id="149" name="Google Shape;149;p27"/>
          <p:cNvSpPr txBox="1">
            <a:spLocks noGrp="1"/>
          </p:cNvSpPr>
          <p:nvPr>
            <p:ph type="title"/>
          </p:nvPr>
        </p:nvSpPr>
        <p:spPr>
          <a:xfrm>
            <a:off x="311700" y="14245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Saddle points</a:t>
            </a:r>
            <a:endParaRPr/>
          </a:p>
        </p:txBody>
      </p:sp>
      <p:sp>
        <p:nvSpPr>
          <p:cNvPr id="150" name="Google Shape;150;p27"/>
          <p:cNvSpPr txBox="1">
            <a:spLocks noGrp="1"/>
          </p:cNvSpPr>
          <p:nvPr>
            <p:ph type="body" idx="1"/>
          </p:nvPr>
        </p:nvSpPr>
        <p:spPr>
          <a:xfrm>
            <a:off x="311700" y="715150"/>
            <a:ext cx="5082000" cy="4147800"/>
          </a:xfrm>
          <a:prstGeom prst="rect">
            <a:avLst/>
          </a:prstGeom>
        </p:spPr>
        <p:txBody>
          <a:bodyPr spcFirstLastPara="1" wrap="square" lIns="91425" tIns="91425" rIns="91425" bIns="91425" anchor="t" anchorCtr="0">
            <a:normAutofit lnSpcReduction="10000"/>
          </a:bodyPr>
          <a:lstStyle/>
          <a:p>
            <a:pPr marL="457200" lvl="0" indent="-368300" algn="just" rtl="0">
              <a:lnSpc>
                <a:spcPct val="150000"/>
              </a:lnSpc>
              <a:spcBef>
                <a:spcPts val="0"/>
              </a:spcBef>
              <a:spcAft>
                <a:spcPts val="0"/>
              </a:spcAft>
              <a:buSzPts val="2200"/>
              <a:buChar char="●"/>
            </a:pPr>
            <a:r>
              <a:rPr lang="en" sz="2200" dirty="0">
                <a:highlight>
                  <a:schemeClr val="lt1"/>
                </a:highlight>
              </a:rPr>
              <a:t>A saddle point is any location where all gradients of a function vanish but which is neither a global nor a local minimum.</a:t>
            </a:r>
            <a:endParaRPr sz="2200" dirty="0">
              <a:highlight>
                <a:schemeClr val="lt1"/>
              </a:highlight>
            </a:endParaRPr>
          </a:p>
          <a:p>
            <a:pPr marL="457200" lvl="0" indent="-368300" algn="just" rtl="0">
              <a:lnSpc>
                <a:spcPct val="150000"/>
              </a:lnSpc>
              <a:spcBef>
                <a:spcPts val="0"/>
              </a:spcBef>
              <a:spcAft>
                <a:spcPts val="0"/>
              </a:spcAft>
              <a:buSzPts val="2200"/>
              <a:buChar char="●"/>
            </a:pPr>
            <a:r>
              <a:rPr lang="en" sz="2200" dirty="0">
                <a:highlight>
                  <a:schemeClr val="lt1"/>
                </a:highlight>
              </a:rPr>
              <a:t>Eg: f (x, y) = x^2 − y^2</a:t>
            </a:r>
            <a:endParaRPr sz="2200" dirty="0">
              <a:highlight>
                <a:schemeClr val="lt1"/>
              </a:highlight>
            </a:endParaRPr>
          </a:p>
          <a:p>
            <a:pPr marL="914400" lvl="1" indent="-368300" algn="just" rtl="0">
              <a:lnSpc>
                <a:spcPct val="150000"/>
              </a:lnSpc>
              <a:spcBef>
                <a:spcPts val="0"/>
              </a:spcBef>
              <a:spcAft>
                <a:spcPts val="0"/>
              </a:spcAft>
              <a:buSzPts val="2200"/>
              <a:buChar char="○"/>
            </a:pPr>
            <a:r>
              <a:rPr lang="en" sz="2200" dirty="0">
                <a:highlight>
                  <a:schemeClr val="lt1"/>
                </a:highlight>
              </a:rPr>
              <a:t>saddle point at (0, 0)</a:t>
            </a:r>
            <a:endParaRPr sz="2200" dirty="0">
              <a:highlight>
                <a:schemeClr val="lt1"/>
              </a:highlight>
            </a:endParaRPr>
          </a:p>
          <a:p>
            <a:pPr marL="914400" lvl="1" indent="-368300" algn="just" rtl="0">
              <a:lnSpc>
                <a:spcPct val="150000"/>
              </a:lnSpc>
              <a:spcBef>
                <a:spcPts val="0"/>
              </a:spcBef>
              <a:spcAft>
                <a:spcPts val="0"/>
              </a:spcAft>
              <a:buSzPts val="2200"/>
              <a:buChar char="○"/>
            </a:pPr>
            <a:r>
              <a:rPr lang="en" sz="2200" dirty="0">
                <a:highlight>
                  <a:schemeClr val="lt1"/>
                </a:highlight>
              </a:rPr>
              <a:t>Maximum wrt y </a:t>
            </a:r>
            <a:endParaRPr sz="2200" dirty="0">
              <a:highlight>
                <a:schemeClr val="lt1"/>
              </a:highlight>
            </a:endParaRPr>
          </a:p>
          <a:p>
            <a:pPr marL="914400" lvl="1" indent="-368300" algn="just" rtl="0">
              <a:lnSpc>
                <a:spcPct val="150000"/>
              </a:lnSpc>
              <a:spcBef>
                <a:spcPts val="0"/>
              </a:spcBef>
              <a:spcAft>
                <a:spcPts val="0"/>
              </a:spcAft>
              <a:buSzPts val="2200"/>
              <a:buChar char="○"/>
            </a:pPr>
            <a:r>
              <a:rPr lang="en" sz="2200" dirty="0">
                <a:highlight>
                  <a:schemeClr val="lt1"/>
                </a:highlight>
              </a:rPr>
              <a:t>Minimum wrt x</a:t>
            </a:r>
            <a:endParaRPr sz="2200" dirty="0">
              <a:highlight>
                <a:schemeClr val="lt1"/>
              </a:highlight>
            </a:endParaRPr>
          </a:p>
        </p:txBody>
      </p:sp>
      <p:pic>
        <p:nvPicPr>
          <p:cNvPr id="151" name="Google Shape;151;p27"/>
          <p:cNvPicPr preferRelativeResize="0"/>
          <p:nvPr/>
        </p:nvPicPr>
        <p:blipFill>
          <a:blip r:embed="rId3">
            <a:alphaModFix/>
          </a:blip>
          <a:stretch>
            <a:fillRect/>
          </a:stretch>
        </p:blipFill>
        <p:spPr>
          <a:xfrm>
            <a:off x="5571150" y="1290425"/>
            <a:ext cx="3445500" cy="2562639"/>
          </a:xfrm>
          <a:prstGeom prst="rect">
            <a:avLst/>
          </a:prstGeom>
          <a:noFill/>
          <a:ln>
            <a:noFill/>
          </a:ln>
        </p:spPr>
      </p:pic>
      <p:sp>
        <p:nvSpPr>
          <p:cNvPr id="152" name="Google Shape;152;p27"/>
          <p:cNvSpPr txBox="1">
            <a:spLocks noGrp="1"/>
          </p:cNvSpPr>
          <p:nvPr>
            <p:ph type="sldNum" idx="12"/>
          </p:nvPr>
        </p:nvSpPr>
        <p:spPr>
          <a:xfrm>
            <a:off x="8484550" y="4863199"/>
            <a:ext cx="548700" cy="310800"/>
          </a:xfrm>
          <a:prstGeom prst="rect">
            <a:avLst/>
          </a:prstGeom>
        </p:spPr>
        <p:txBody>
          <a:bodyPr spcFirstLastPara="1" wrap="square" lIns="91425" tIns="91425" rIns="91425" bIns="91425" anchor="ctr" anchorCtr="0">
            <a:normAutofit fontScale="92500"/>
          </a:bodyPr>
          <a:lstStyle/>
          <a:p>
            <a:pPr marL="0" lvl="0" indent="0" algn="r" rtl="0">
              <a:spcBef>
                <a:spcPts val="0"/>
              </a:spcBef>
              <a:spcAft>
                <a:spcPts val="0"/>
              </a:spcAft>
              <a:buNone/>
            </a:pPr>
            <a:fld id="{00000000-1234-1234-1234-123412341234}" type="slidenum">
              <a:rPr lang="en"/>
              <a:t>13</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Shape 156"/>
        <p:cNvGrpSpPr/>
        <p:nvPr/>
      </p:nvGrpSpPr>
      <p:grpSpPr>
        <a:xfrm>
          <a:off x="0" y="0"/>
          <a:ext cx="0" cy="0"/>
          <a:chOff x="0" y="0"/>
          <a:chExt cx="0" cy="0"/>
        </a:xfrm>
      </p:grpSpPr>
      <p:pic>
        <p:nvPicPr>
          <p:cNvPr id="157" name="Google Shape;157;p28"/>
          <p:cNvPicPr preferRelativeResize="0"/>
          <p:nvPr/>
        </p:nvPicPr>
        <p:blipFill rotWithShape="1">
          <a:blip r:embed="rId3">
            <a:alphaModFix/>
          </a:blip>
          <a:srcRect t="21272"/>
          <a:stretch/>
        </p:blipFill>
        <p:spPr>
          <a:xfrm>
            <a:off x="412863" y="715150"/>
            <a:ext cx="8318275" cy="4314675"/>
          </a:xfrm>
          <a:prstGeom prst="rect">
            <a:avLst/>
          </a:prstGeom>
          <a:noFill/>
          <a:ln>
            <a:noFill/>
          </a:ln>
        </p:spPr>
      </p:pic>
      <p:sp>
        <p:nvSpPr>
          <p:cNvPr id="158" name="Google Shape;158;p28"/>
          <p:cNvSpPr txBox="1">
            <a:spLocks noGrp="1"/>
          </p:cNvSpPr>
          <p:nvPr>
            <p:ph type="sldNum" idx="12"/>
          </p:nvPr>
        </p:nvSpPr>
        <p:spPr>
          <a:xfrm>
            <a:off x="8685521" y="4778067"/>
            <a:ext cx="288300" cy="154500"/>
          </a:xfrm>
          <a:prstGeom prst="rect">
            <a:avLst/>
          </a:prstGeom>
          <a:noFill/>
          <a:ln>
            <a:noFill/>
          </a:ln>
        </p:spPr>
        <p:txBody>
          <a:bodyPr spcFirstLastPara="1" wrap="square" lIns="0" tIns="625" rIns="0" bIns="0" anchor="t" anchorCtr="0">
            <a:spAutoFit/>
          </a:bodyPr>
          <a:lstStyle/>
          <a:p>
            <a:pPr marL="38100" lvl="0" indent="0" algn="l" rtl="0">
              <a:lnSpc>
                <a:spcPct val="100000"/>
              </a:lnSpc>
              <a:spcBef>
                <a:spcPts val="0"/>
              </a:spcBef>
              <a:spcAft>
                <a:spcPts val="0"/>
              </a:spcAft>
              <a:buNone/>
            </a:pPr>
            <a:fld id="{00000000-1234-1234-1234-123412341234}" type="slidenum">
              <a:rPr lang="en"/>
              <a:t>14</a:t>
            </a:fld>
            <a:endParaRPr/>
          </a:p>
        </p:txBody>
      </p:sp>
      <p:sp>
        <p:nvSpPr>
          <p:cNvPr id="159" name="Google Shape;159;p28"/>
          <p:cNvSpPr txBox="1">
            <a:spLocks noGrp="1"/>
          </p:cNvSpPr>
          <p:nvPr>
            <p:ph type="title" idx="4294967295"/>
          </p:nvPr>
        </p:nvSpPr>
        <p:spPr>
          <a:xfrm>
            <a:off x="311700" y="14245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solidFill>
                  <a:schemeClr val="lt1"/>
                </a:solidFill>
              </a:rPr>
              <a:t>Derivatives at Saddle (Inflection) Point</a:t>
            </a:r>
            <a:endParaRPr>
              <a:solidFill>
                <a:schemeClr val="lt1"/>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Shape 163"/>
        <p:cNvGrpSpPr/>
        <p:nvPr/>
      </p:nvGrpSpPr>
      <p:grpSpPr>
        <a:xfrm>
          <a:off x="0" y="0"/>
          <a:ext cx="0" cy="0"/>
          <a:chOff x="0" y="0"/>
          <a:chExt cx="0" cy="0"/>
        </a:xfrm>
      </p:grpSpPr>
      <p:pic>
        <p:nvPicPr>
          <p:cNvPr id="164" name="Google Shape;164;p29"/>
          <p:cNvPicPr preferRelativeResize="0"/>
          <p:nvPr/>
        </p:nvPicPr>
        <p:blipFill rotWithShape="1">
          <a:blip r:embed="rId3">
            <a:alphaModFix/>
          </a:blip>
          <a:srcRect t="20070"/>
          <a:stretch/>
        </p:blipFill>
        <p:spPr>
          <a:xfrm>
            <a:off x="1082612" y="715150"/>
            <a:ext cx="6978775" cy="4367075"/>
          </a:xfrm>
          <a:prstGeom prst="rect">
            <a:avLst/>
          </a:prstGeom>
          <a:noFill/>
          <a:ln>
            <a:noFill/>
          </a:ln>
        </p:spPr>
      </p:pic>
      <p:sp>
        <p:nvSpPr>
          <p:cNvPr id="165" name="Google Shape;165;p29"/>
          <p:cNvSpPr txBox="1">
            <a:spLocks noGrp="1"/>
          </p:cNvSpPr>
          <p:nvPr>
            <p:ph type="sldNum" idx="12"/>
          </p:nvPr>
        </p:nvSpPr>
        <p:spPr>
          <a:xfrm>
            <a:off x="8685521" y="4778067"/>
            <a:ext cx="288300" cy="154500"/>
          </a:xfrm>
          <a:prstGeom prst="rect">
            <a:avLst/>
          </a:prstGeom>
          <a:noFill/>
          <a:ln>
            <a:noFill/>
          </a:ln>
        </p:spPr>
        <p:txBody>
          <a:bodyPr spcFirstLastPara="1" wrap="square" lIns="0" tIns="625" rIns="0" bIns="0" anchor="t" anchorCtr="0">
            <a:spAutoFit/>
          </a:bodyPr>
          <a:lstStyle/>
          <a:p>
            <a:pPr marL="38100" lvl="0" indent="0" algn="l" rtl="0">
              <a:lnSpc>
                <a:spcPct val="100000"/>
              </a:lnSpc>
              <a:spcBef>
                <a:spcPts val="0"/>
              </a:spcBef>
              <a:spcAft>
                <a:spcPts val="0"/>
              </a:spcAft>
              <a:buNone/>
            </a:pPr>
            <a:fld id="{00000000-1234-1234-1234-123412341234}" type="slidenum">
              <a:rPr lang="en"/>
              <a:t>15</a:t>
            </a:fld>
            <a:endParaRPr/>
          </a:p>
        </p:txBody>
      </p:sp>
      <p:sp>
        <p:nvSpPr>
          <p:cNvPr id="166" name="Google Shape;166;p29"/>
          <p:cNvSpPr txBox="1">
            <a:spLocks noGrp="1"/>
          </p:cNvSpPr>
          <p:nvPr>
            <p:ph type="title" idx="4294967295"/>
          </p:nvPr>
        </p:nvSpPr>
        <p:spPr>
          <a:xfrm>
            <a:off x="311700" y="14245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Clr>
                <a:schemeClr val="dk1"/>
              </a:buClr>
              <a:buSzPct val="39285"/>
              <a:buFont typeface="Arial"/>
              <a:buNone/>
            </a:pPr>
            <a:r>
              <a:rPr lang="en">
                <a:solidFill>
                  <a:schemeClr val="lt1"/>
                </a:solidFill>
              </a:rPr>
              <a:t>Derivatives at Saddle (Inflection) Point</a:t>
            </a:r>
            <a:endParaRPr>
              <a:solidFill>
                <a:schemeClr val="lt1"/>
              </a:solidFill>
            </a:endParaRPr>
          </a:p>
          <a:p>
            <a:pPr marL="0" lvl="0" indent="0" algn="l" rtl="0">
              <a:spcBef>
                <a:spcPts val="0"/>
              </a:spcBef>
              <a:spcAft>
                <a:spcPts val="0"/>
              </a:spcAft>
              <a:buNone/>
            </a:pPr>
            <a:endParaRPr>
              <a:solidFill>
                <a:schemeClr val="lt1"/>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Shape 170"/>
        <p:cNvGrpSpPr/>
        <p:nvPr/>
      </p:nvGrpSpPr>
      <p:grpSpPr>
        <a:xfrm>
          <a:off x="0" y="0"/>
          <a:ext cx="0" cy="0"/>
          <a:chOff x="0" y="0"/>
          <a:chExt cx="0" cy="0"/>
        </a:xfrm>
      </p:grpSpPr>
      <p:pic>
        <p:nvPicPr>
          <p:cNvPr id="171" name="Google Shape;171;p30"/>
          <p:cNvPicPr preferRelativeResize="0"/>
          <p:nvPr/>
        </p:nvPicPr>
        <p:blipFill rotWithShape="1">
          <a:blip r:embed="rId3">
            <a:alphaModFix/>
          </a:blip>
          <a:srcRect t="17736"/>
          <a:stretch/>
        </p:blipFill>
        <p:spPr>
          <a:xfrm>
            <a:off x="762350" y="715150"/>
            <a:ext cx="7619301" cy="4296099"/>
          </a:xfrm>
          <a:prstGeom prst="rect">
            <a:avLst/>
          </a:prstGeom>
          <a:noFill/>
          <a:ln>
            <a:noFill/>
          </a:ln>
        </p:spPr>
      </p:pic>
      <p:sp>
        <p:nvSpPr>
          <p:cNvPr id="172" name="Google Shape;172;p30"/>
          <p:cNvSpPr txBox="1">
            <a:spLocks noGrp="1"/>
          </p:cNvSpPr>
          <p:nvPr>
            <p:ph type="sldNum" idx="12"/>
          </p:nvPr>
        </p:nvSpPr>
        <p:spPr>
          <a:xfrm>
            <a:off x="8685521" y="4778067"/>
            <a:ext cx="288300" cy="154500"/>
          </a:xfrm>
          <a:prstGeom prst="rect">
            <a:avLst/>
          </a:prstGeom>
          <a:noFill/>
          <a:ln>
            <a:noFill/>
          </a:ln>
        </p:spPr>
        <p:txBody>
          <a:bodyPr spcFirstLastPara="1" wrap="square" lIns="0" tIns="625" rIns="0" bIns="0" anchor="t" anchorCtr="0">
            <a:spAutoFit/>
          </a:bodyPr>
          <a:lstStyle/>
          <a:p>
            <a:pPr marL="38100" lvl="0" indent="0" algn="l" rtl="0">
              <a:lnSpc>
                <a:spcPct val="100000"/>
              </a:lnSpc>
              <a:spcBef>
                <a:spcPts val="0"/>
              </a:spcBef>
              <a:spcAft>
                <a:spcPts val="0"/>
              </a:spcAft>
              <a:buNone/>
            </a:pPr>
            <a:fld id="{00000000-1234-1234-1234-123412341234}" type="slidenum">
              <a:rPr lang="en"/>
              <a:t>16</a:t>
            </a:fld>
            <a:endParaRPr/>
          </a:p>
        </p:txBody>
      </p:sp>
      <p:sp>
        <p:nvSpPr>
          <p:cNvPr id="173" name="Google Shape;173;p30"/>
          <p:cNvSpPr txBox="1">
            <a:spLocks noGrp="1"/>
          </p:cNvSpPr>
          <p:nvPr>
            <p:ph type="title" idx="4294967295"/>
          </p:nvPr>
        </p:nvSpPr>
        <p:spPr>
          <a:xfrm>
            <a:off x="311700" y="14245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solidFill>
                  <a:schemeClr val="lt1"/>
                </a:solidFill>
              </a:rPr>
              <a:t>Functions of Multiple Variables</a:t>
            </a:r>
            <a:endParaRPr>
              <a:solidFill>
                <a:schemeClr val="lt1"/>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Shape 177"/>
        <p:cNvGrpSpPr/>
        <p:nvPr/>
      </p:nvGrpSpPr>
      <p:grpSpPr>
        <a:xfrm>
          <a:off x="0" y="0"/>
          <a:ext cx="0" cy="0"/>
          <a:chOff x="0" y="0"/>
          <a:chExt cx="0" cy="0"/>
        </a:xfrm>
      </p:grpSpPr>
      <p:pic>
        <p:nvPicPr>
          <p:cNvPr id="178" name="Google Shape;178;p31"/>
          <p:cNvPicPr preferRelativeResize="0"/>
          <p:nvPr/>
        </p:nvPicPr>
        <p:blipFill rotWithShape="1">
          <a:blip r:embed="rId3">
            <a:alphaModFix/>
          </a:blip>
          <a:srcRect t="10095" b="8"/>
          <a:stretch/>
        </p:blipFill>
        <p:spPr>
          <a:xfrm>
            <a:off x="570641" y="715150"/>
            <a:ext cx="8114880" cy="4319424"/>
          </a:xfrm>
          <a:prstGeom prst="rect">
            <a:avLst/>
          </a:prstGeom>
          <a:noFill/>
          <a:ln>
            <a:noFill/>
          </a:ln>
        </p:spPr>
      </p:pic>
      <p:sp>
        <p:nvSpPr>
          <p:cNvPr id="179" name="Google Shape;179;p31"/>
          <p:cNvSpPr txBox="1">
            <a:spLocks noGrp="1"/>
          </p:cNvSpPr>
          <p:nvPr>
            <p:ph type="sldNum" idx="12"/>
          </p:nvPr>
        </p:nvSpPr>
        <p:spPr>
          <a:xfrm>
            <a:off x="8685521" y="4778067"/>
            <a:ext cx="288300" cy="154500"/>
          </a:xfrm>
          <a:prstGeom prst="rect">
            <a:avLst/>
          </a:prstGeom>
          <a:noFill/>
          <a:ln>
            <a:noFill/>
          </a:ln>
        </p:spPr>
        <p:txBody>
          <a:bodyPr spcFirstLastPara="1" wrap="square" lIns="0" tIns="625" rIns="0" bIns="0" anchor="t" anchorCtr="0">
            <a:spAutoFit/>
          </a:bodyPr>
          <a:lstStyle/>
          <a:p>
            <a:pPr marL="38100" lvl="0" indent="0" algn="l" rtl="0">
              <a:lnSpc>
                <a:spcPct val="100000"/>
              </a:lnSpc>
              <a:spcBef>
                <a:spcPts val="0"/>
              </a:spcBef>
              <a:spcAft>
                <a:spcPts val="0"/>
              </a:spcAft>
              <a:buNone/>
            </a:pPr>
            <a:fld id="{00000000-1234-1234-1234-123412341234}" type="slidenum">
              <a:rPr lang="en"/>
              <a:t>17</a:t>
            </a:fld>
            <a:endParaRPr/>
          </a:p>
        </p:txBody>
      </p:sp>
      <p:sp>
        <p:nvSpPr>
          <p:cNvPr id="180" name="Google Shape;180;p31"/>
          <p:cNvSpPr txBox="1">
            <a:spLocks noGrp="1"/>
          </p:cNvSpPr>
          <p:nvPr>
            <p:ph type="title" idx="4294967295"/>
          </p:nvPr>
        </p:nvSpPr>
        <p:spPr>
          <a:xfrm>
            <a:off x="311700" y="14245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solidFill>
                  <a:schemeClr val="lt1"/>
                </a:solidFill>
              </a:rPr>
              <a:t>Gradient of a Scalar Function</a:t>
            </a:r>
            <a:endParaRPr>
              <a:solidFill>
                <a:schemeClr val="lt1"/>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Shape 184"/>
        <p:cNvGrpSpPr/>
        <p:nvPr/>
      </p:nvGrpSpPr>
      <p:grpSpPr>
        <a:xfrm>
          <a:off x="0" y="0"/>
          <a:ext cx="0" cy="0"/>
          <a:chOff x="0" y="0"/>
          <a:chExt cx="0" cy="0"/>
        </a:xfrm>
      </p:grpSpPr>
      <p:pic>
        <p:nvPicPr>
          <p:cNvPr id="185" name="Google Shape;185;p32"/>
          <p:cNvPicPr preferRelativeResize="0"/>
          <p:nvPr/>
        </p:nvPicPr>
        <p:blipFill rotWithShape="1">
          <a:blip r:embed="rId3">
            <a:alphaModFix/>
          </a:blip>
          <a:srcRect t="20057" r="1048"/>
          <a:stretch/>
        </p:blipFill>
        <p:spPr>
          <a:xfrm>
            <a:off x="364385" y="729450"/>
            <a:ext cx="8321135" cy="4261650"/>
          </a:xfrm>
          <a:prstGeom prst="rect">
            <a:avLst/>
          </a:prstGeom>
          <a:noFill/>
          <a:ln>
            <a:noFill/>
          </a:ln>
        </p:spPr>
      </p:pic>
      <p:sp>
        <p:nvSpPr>
          <p:cNvPr id="186" name="Google Shape;186;p32"/>
          <p:cNvSpPr txBox="1">
            <a:spLocks noGrp="1"/>
          </p:cNvSpPr>
          <p:nvPr>
            <p:ph type="sldNum" idx="12"/>
          </p:nvPr>
        </p:nvSpPr>
        <p:spPr>
          <a:xfrm>
            <a:off x="8685521" y="4778067"/>
            <a:ext cx="288300" cy="154500"/>
          </a:xfrm>
          <a:prstGeom prst="rect">
            <a:avLst/>
          </a:prstGeom>
          <a:noFill/>
          <a:ln>
            <a:noFill/>
          </a:ln>
        </p:spPr>
        <p:txBody>
          <a:bodyPr spcFirstLastPara="1" wrap="square" lIns="0" tIns="625" rIns="0" bIns="0" anchor="t" anchorCtr="0">
            <a:spAutoFit/>
          </a:bodyPr>
          <a:lstStyle/>
          <a:p>
            <a:pPr marL="38100" lvl="0" indent="0" algn="l" rtl="0">
              <a:lnSpc>
                <a:spcPct val="100000"/>
              </a:lnSpc>
              <a:spcBef>
                <a:spcPts val="0"/>
              </a:spcBef>
              <a:spcAft>
                <a:spcPts val="0"/>
              </a:spcAft>
              <a:buNone/>
            </a:pPr>
            <a:fld id="{00000000-1234-1234-1234-123412341234}" type="slidenum">
              <a:rPr lang="en"/>
              <a:t>18</a:t>
            </a:fld>
            <a:endParaRPr/>
          </a:p>
        </p:txBody>
      </p:sp>
      <p:sp>
        <p:nvSpPr>
          <p:cNvPr id="187" name="Google Shape;187;p32"/>
          <p:cNvSpPr txBox="1">
            <a:spLocks noGrp="1"/>
          </p:cNvSpPr>
          <p:nvPr>
            <p:ph type="title" idx="4294967295"/>
          </p:nvPr>
        </p:nvSpPr>
        <p:spPr>
          <a:xfrm>
            <a:off x="311700" y="14245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solidFill>
                  <a:schemeClr val="lt1"/>
                </a:solidFill>
              </a:rPr>
              <a:t>Gradient of a Scalar Function with multiple variables</a:t>
            </a:r>
            <a:endParaRPr>
              <a:solidFill>
                <a:schemeClr val="lt1"/>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Shape 191"/>
        <p:cNvGrpSpPr/>
        <p:nvPr/>
      </p:nvGrpSpPr>
      <p:grpSpPr>
        <a:xfrm>
          <a:off x="0" y="0"/>
          <a:ext cx="0" cy="0"/>
          <a:chOff x="0" y="0"/>
          <a:chExt cx="0" cy="0"/>
        </a:xfrm>
      </p:grpSpPr>
      <p:pic>
        <p:nvPicPr>
          <p:cNvPr id="192" name="Google Shape;192;p33"/>
          <p:cNvPicPr preferRelativeResize="0"/>
          <p:nvPr/>
        </p:nvPicPr>
        <p:blipFill rotWithShape="1">
          <a:blip r:embed="rId3">
            <a:alphaModFix/>
          </a:blip>
          <a:srcRect t="10976"/>
          <a:stretch/>
        </p:blipFill>
        <p:spPr>
          <a:xfrm>
            <a:off x="226699" y="758600"/>
            <a:ext cx="8821047" cy="4314675"/>
          </a:xfrm>
          <a:prstGeom prst="rect">
            <a:avLst/>
          </a:prstGeom>
          <a:noFill/>
          <a:ln>
            <a:noFill/>
          </a:ln>
        </p:spPr>
      </p:pic>
      <p:sp>
        <p:nvSpPr>
          <p:cNvPr id="193" name="Google Shape;193;p33"/>
          <p:cNvSpPr txBox="1">
            <a:spLocks noGrp="1"/>
          </p:cNvSpPr>
          <p:nvPr>
            <p:ph type="sldNum" idx="12"/>
          </p:nvPr>
        </p:nvSpPr>
        <p:spPr>
          <a:xfrm>
            <a:off x="8685521" y="4778067"/>
            <a:ext cx="288300" cy="154500"/>
          </a:xfrm>
          <a:prstGeom prst="rect">
            <a:avLst/>
          </a:prstGeom>
          <a:noFill/>
          <a:ln>
            <a:noFill/>
          </a:ln>
        </p:spPr>
        <p:txBody>
          <a:bodyPr spcFirstLastPara="1" wrap="square" lIns="0" tIns="625" rIns="0" bIns="0" anchor="t" anchorCtr="0">
            <a:spAutoFit/>
          </a:bodyPr>
          <a:lstStyle/>
          <a:p>
            <a:pPr marL="38100" lvl="0" indent="0" algn="l" rtl="0">
              <a:lnSpc>
                <a:spcPct val="100000"/>
              </a:lnSpc>
              <a:spcBef>
                <a:spcPts val="0"/>
              </a:spcBef>
              <a:spcAft>
                <a:spcPts val="0"/>
              </a:spcAft>
              <a:buNone/>
            </a:pPr>
            <a:fld id="{00000000-1234-1234-1234-123412341234}" type="slidenum">
              <a:rPr lang="en"/>
              <a:t>19</a:t>
            </a:fld>
            <a:endParaRPr/>
          </a:p>
        </p:txBody>
      </p:sp>
      <p:sp>
        <p:nvSpPr>
          <p:cNvPr id="194" name="Google Shape;194;p33"/>
          <p:cNvSpPr txBox="1">
            <a:spLocks noGrp="1"/>
          </p:cNvSpPr>
          <p:nvPr>
            <p:ph type="title" idx="4294967295"/>
          </p:nvPr>
        </p:nvSpPr>
        <p:spPr>
          <a:xfrm>
            <a:off x="311700" y="14245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solidFill>
                  <a:schemeClr val="lt1"/>
                </a:solidFill>
              </a:rPr>
              <a:t>Hessian</a:t>
            </a:r>
            <a:endParaRPr>
              <a:solidFill>
                <a:schemeClr val="lt1"/>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Shape 198"/>
        <p:cNvGrpSpPr/>
        <p:nvPr/>
      </p:nvGrpSpPr>
      <p:grpSpPr>
        <a:xfrm>
          <a:off x="0" y="0"/>
          <a:ext cx="0" cy="0"/>
          <a:chOff x="0" y="0"/>
          <a:chExt cx="0" cy="0"/>
        </a:xfrm>
      </p:grpSpPr>
      <p:pic>
        <p:nvPicPr>
          <p:cNvPr id="199" name="Google Shape;199;p34"/>
          <p:cNvPicPr preferRelativeResize="0"/>
          <p:nvPr/>
        </p:nvPicPr>
        <p:blipFill rotWithShape="1">
          <a:blip r:embed="rId3">
            <a:alphaModFix/>
          </a:blip>
          <a:srcRect t="19113"/>
          <a:stretch/>
        </p:blipFill>
        <p:spPr>
          <a:xfrm>
            <a:off x="311700" y="742075"/>
            <a:ext cx="8520600" cy="4036000"/>
          </a:xfrm>
          <a:prstGeom prst="rect">
            <a:avLst/>
          </a:prstGeom>
          <a:noFill/>
          <a:ln>
            <a:noFill/>
          </a:ln>
        </p:spPr>
      </p:pic>
      <p:sp>
        <p:nvSpPr>
          <p:cNvPr id="200" name="Google Shape;200;p34"/>
          <p:cNvSpPr txBox="1">
            <a:spLocks noGrp="1"/>
          </p:cNvSpPr>
          <p:nvPr>
            <p:ph type="sldNum" idx="12"/>
          </p:nvPr>
        </p:nvSpPr>
        <p:spPr>
          <a:xfrm>
            <a:off x="8685521" y="4778067"/>
            <a:ext cx="288300" cy="154500"/>
          </a:xfrm>
          <a:prstGeom prst="rect">
            <a:avLst/>
          </a:prstGeom>
          <a:noFill/>
          <a:ln>
            <a:noFill/>
          </a:ln>
        </p:spPr>
        <p:txBody>
          <a:bodyPr spcFirstLastPara="1" wrap="square" lIns="0" tIns="625" rIns="0" bIns="0" anchor="t" anchorCtr="0">
            <a:spAutoFit/>
          </a:bodyPr>
          <a:lstStyle/>
          <a:p>
            <a:pPr marL="38100" lvl="0" indent="0" algn="l" rtl="0">
              <a:lnSpc>
                <a:spcPct val="100000"/>
              </a:lnSpc>
              <a:spcBef>
                <a:spcPts val="0"/>
              </a:spcBef>
              <a:spcAft>
                <a:spcPts val="0"/>
              </a:spcAft>
              <a:buNone/>
            </a:pPr>
            <a:fld id="{00000000-1234-1234-1234-123412341234}" type="slidenum">
              <a:rPr lang="en"/>
              <a:t>20</a:t>
            </a:fld>
            <a:endParaRPr/>
          </a:p>
        </p:txBody>
      </p:sp>
      <p:sp>
        <p:nvSpPr>
          <p:cNvPr id="201" name="Google Shape;201;p34"/>
          <p:cNvSpPr txBox="1">
            <a:spLocks noGrp="1"/>
          </p:cNvSpPr>
          <p:nvPr>
            <p:ph type="title" idx="4294967295"/>
          </p:nvPr>
        </p:nvSpPr>
        <p:spPr>
          <a:xfrm>
            <a:off x="311700" y="14245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Clr>
                <a:schemeClr val="dk1"/>
              </a:buClr>
              <a:buSzPct val="39285"/>
              <a:buFont typeface="Arial"/>
              <a:buNone/>
            </a:pPr>
            <a:r>
              <a:rPr lang="en">
                <a:solidFill>
                  <a:schemeClr val="lt1"/>
                </a:solidFill>
              </a:rPr>
              <a:t>Gradient of a Scalar Function with multiple variables</a:t>
            </a:r>
            <a:endParaRPr>
              <a:solidFill>
                <a:schemeClr val="lt1"/>
              </a:solidFill>
            </a:endParaRPr>
          </a:p>
          <a:p>
            <a:pPr marL="0" lvl="0" indent="0" algn="l" rtl="0">
              <a:spcBef>
                <a:spcPts val="0"/>
              </a:spcBef>
              <a:spcAft>
                <a:spcPts val="0"/>
              </a:spcAft>
              <a:buNone/>
            </a:pPr>
            <a:endParaRPr>
              <a:solidFill>
                <a:schemeClr val="lt1"/>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Shape 205"/>
        <p:cNvGrpSpPr/>
        <p:nvPr/>
      </p:nvGrpSpPr>
      <p:grpSpPr>
        <a:xfrm>
          <a:off x="0" y="0"/>
          <a:ext cx="0" cy="0"/>
          <a:chOff x="0" y="0"/>
          <a:chExt cx="0" cy="0"/>
        </a:xfrm>
      </p:grpSpPr>
      <p:sp>
        <p:nvSpPr>
          <p:cNvPr id="206" name="Google Shape;206;p35"/>
          <p:cNvSpPr txBox="1">
            <a:spLocks noGrp="1"/>
          </p:cNvSpPr>
          <p:nvPr>
            <p:ph type="sldNum" idx="12"/>
          </p:nvPr>
        </p:nvSpPr>
        <p:spPr>
          <a:xfrm>
            <a:off x="8685521" y="4778067"/>
            <a:ext cx="288300" cy="154500"/>
          </a:xfrm>
          <a:prstGeom prst="rect">
            <a:avLst/>
          </a:prstGeom>
          <a:noFill/>
          <a:ln>
            <a:noFill/>
          </a:ln>
        </p:spPr>
        <p:txBody>
          <a:bodyPr spcFirstLastPara="1" wrap="square" lIns="0" tIns="625" rIns="0" bIns="0" anchor="t" anchorCtr="0">
            <a:spAutoFit/>
          </a:bodyPr>
          <a:lstStyle/>
          <a:p>
            <a:pPr marL="38100" lvl="0" indent="0" algn="l" rtl="0">
              <a:lnSpc>
                <a:spcPct val="100000"/>
              </a:lnSpc>
              <a:spcBef>
                <a:spcPts val="0"/>
              </a:spcBef>
              <a:spcAft>
                <a:spcPts val="0"/>
              </a:spcAft>
              <a:buNone/>
            </a:pPr>
            <a:fld id="{00000000-1234-1234-1234-123412341234}" type="slidenum">
              <a:rPr lang="en"/>
              <a:t>21</a:t>
            </a:fld>
            <a:endParaRPr/>
          </a:p>
        </p:txBody>
      </p:sp>
      <p:sp>
        <p:nvSpPr>
          <p:cNvPr id="207" name="Google Shape;207;p35"/>
          <p:cNvSpPr txBox="1">
            <a:spLocks noGrp="1"/>
          </p:cNvSpPr>
          <p:nvPr>
            <p:ph type="title" idx="4294967295"/>
          </p:nvPr>
        </p:nvSpPr>
        <p:spPr>
          <a:xfrm>
            <a:off x="311700" y="14245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solidFill>
                  <a:schemeClr val="lt1"/>
                </a:solidFill>
              </a:rPr>
              <a:t>Solution of Unconstrained Minimization</a:t>
            </a:r>
            <a:endParaRPr>
              <a:solidFill>
                <a:schemeClr val="lt1"/>
              </a:solidFill>
            </a:endParaRPr>
          </a:p>
        </p:txBody>
      </p:sp>
      <p:sp>
        <p:nvSpPr>
          <p:cNvPr id="208" name="Google Shape;208;p35"/>
          <p:cNvSpPr txBox="1"/>
          <p:nvPr/>
        </p:nvSpPr>
        <p:spPr>
          <a:xfrm>
            <a:off x="311700" y="788425"/>
            <a:ext cx="8754900" cy="4146600"/>
          </a:xfrm>
          <a:prstGeom prst="rect">
            <a:avLst/>
          </a:prstGeom>
          <a:noFill/>
          <a:ln>
            <a:noFill/>
          </a:ln>
        </p:spPr>
        <p:txBody>
          <a:bodyPr spcFirstLastPara="1" wrap="square" lIns="91425" tIns="91425" rIns="91425" bIns="91425" anchor="t" anchorCtr="0">
            <a:noAutofit/>
          </a:bodyPr>
          <a:lstStyle/>
          <a:p>
            <a:pPr marL="457200" lvl="0" indent="-355600" algn="just" rtl="0">
              <a:spcBef>
                <a:spcPts val="0"/>
              </a:spcBef>
              <a:spcAft>
                <a:spcPts val="0"/>
              </a:spcAft>
              <a:buSzPts val="2000"/>
              <a:buFont typeface="Wingdings" panose="05000000000000000000" pitchFamily="2" charset="2"/>
              <a:buChar char="Ø"/>
            </a:pPr>
            <a:r>
              <a:rPr lang="en" sz="2000" dirty="0"/>
              <a:t>Solve for X where the gradient equation equal to zero.</a:t>
            </a:r>
            <a:endParaRPr sz="2000" dirty="0"/>
          </a:p>
          <a:p>
            <a:pPr marL="457200" lvl="0" indent="0" algn="just" rtl="0">
              <a:spcBef>
                <a:spcPts val="0"/>
              </a:spcBef>
              <a:spcAft>
                <a:spcPts val="0"/>
              </a:spcAft>
              <a:buNone/>
            </a:pPr>
            <a:r>
              <a:rPr lang="en" sz="2000" dirty="0"/>
              <a:t>	⛛f(x) = 0</a:t>
            </a:r>
            <a:endParaRPr sz="2000" dirty="0"/>
          </a:p>
          <a:p>
            <a:pPr marL="457200" lvl="0" indent="-355600" algn="just" rtl="0">
              <a:spcBef>
                <a:spcPts val="0"/>
              </a:spcBef>
              <a:spcAft>
                <a:spcPts val="0"/>
              </a:spcAft>
              <a:buSzPts val="2000"/>
              <a:buFont typeface="Wingdings" panose="05000000000000000000" pitchFamily="2" charset="2"/>
              <a:buChar char="Ø"/>
            </a:pPr>
            <a:r>
              <a:rPr lang="en" sz="2000" dirty="0"/>
              <a:t>Compute the Hessian matrix </a:t>
            </a:r>
            <a:r>
              <a:rPr lang="en" sz="2000" dirty="0">
                <a:solidFill>
                  <a:schemeClr val="dk1"/>
                </a:solidFill>
              </a:rPr>
              <a:t>⛛</a:t>
            </a:r>
            <a:r>
              <a:rPr lang="en" sz="2000" baseline="30000" dirty="0">
                <a:solidFill>
                  <a:schemeClr val="dk1"/>
                </a:solidFill>
              </a:rPr>
              <a:t>2</a:t>
            </a:r>
            <a:r>
              <a:rPr lang="en" sz="2000" dirty="0">
                <a:solidFill>
                  <a:schemeClr val="dk1"/>
                </a:solidFill>
              </a:rPr>
              <a:t>f(x) </a:t>
            </a:r>
            <a:r>
              <a:rPr lang="en" sz="2000" dirty="0"/>
              <a:t>at the candidate solution and verify that</a:t>
            </a:r>
            <a:endParaRPr sz="2000" dirty="0"/>
          </a:p>
          <a:p>
            <a:pPr marL="914400" lvl="1" indent="-355600" algn="just" rtl="0">
              <a:spcBef>
                <a:spcPts val="0"/>
              </a:spcBef>
              <a:spcAft>
                <a:spcPts val="0"/>
              </a:spcAft>
              <a:buSzPts val="2000"/>
              <a:buChar char="○"/>
            </a:pPr>
            <a:r>
              <a:rPr lang="en" sz="2000" dirty="0"/>
              <a:t>Local Minimum </a:t>
            </a:r>
            <a:endParaRPr sz="2000" dirty="0"/>
          </a:p>
          <a:p>
            <a:pPr marL="1371600" lvl="2" indent="-355600" algn="just" rtl="0">
              <a:spcBef>
                <a:spcPts val="0"/>
              </a:spcBef>
              <a:spcAft>
                <a:spcPts val="0"/>
              </a:spcAft>
              <a:buSzPts val="2000"/>
              <a:buChar char="■"/>
            </a:pPr>
            <a:r>
              <a:rPr lang="en" sz="2000" dirty="0"/>
              <a:t>Eigenvalues of Hessian matrix are all positive</a:t>
            </a:r>
            <a:endParaRPr sz="2000" dirty="0"/>
          </a:p>
          <a:p>
            <a:pPr marL="914400" lvl="1" indent="-355600" algn="just" rtl="0">
              <a:spcBef>
                <a:spcPts val="0"/>
              </a:spcBef>
              <a:spcAft>
                <a:spcPts val="0"/>
              </a:spcAft>
              <a:buSzPts val="2000"/>
              <a:buChar char="○"/>
            </a:pPr>
            <a:r>
              <a:rPr lang="en" sz="2000" dirty="0"/>
              <a:t>Local Maximum </a:t>
            </a:r>
            <a:endParaRPr sz="2000" dirty="0"/>
          </a:p>
          <a:p>
            <a:pPr marL="1371600" lvl="2" indent="-355600" algn="just" rtl="0">
              <a:spcBef>
                <a:spcPts val="0"/>
              </a:spcBef>
              <a:spcAft>
                <a:spcPts val="0"/>
              </a:spcAft>
              <a:buSzPts val="2000"/>
              <a:buChar char="■"/>
            </a:pPr>
            <a:r>
              <a:rPr lang="en" sz="2000" dirty="0"/>
              <a:t>Eigenvalues of Hessian matrix are all negative</a:t>
            </a:r>
            <a:endParaRPr sz="2000" dirty="0"/>
          </a:p>
          <a:p>
            <a:pPr marL="914400" lvl="1" indent="-355600" algn="just" rtl="0">
              <a:spcBef>
                <a:spcPts val="0"/>
              </a:spcBef>
              <a:spcAft>
                <a:spcPts val="0"/>
              </a:spcAft>
              <a:buSzPts val="2000"/>
              <a:buChar char="○"/>
            </a:pPr>
            <a:r>
              <a:rPr lang="en" sz="2000" dirty="0"/>
              <a:t>Saddle Point </a:t>
            </a:r>
            <a:endParaRPr sz="2000" dirty="0"/>
          </a:p>
          <a:p>
            <a:pPr marL="1371600" lvl="2" indent="-355600" algn="just" rtl="0">
              <a:spcBef>
                <a:spcPts val="0"/>
              </a:spcBef>
              <a:spcAft>
                <a:spcPts val="0"/>
              </a:spcAft>
              <a:buSzPts val="2000"/>
              <a:buChar char="■"/>
            </a:pPr>
            <a:r>
              <a:rPr lang="en" sz="2000" dirty="0"/>
              <a:t>Eigenvalues of Hessian matrix at the zero-gradient position are negative and positive</a:t>
            </a:r>
            <a:endParaRPr sz="2000" dirty="0"/>
          </a:p>
          <a:p>
            <a:pPr marL="0" lvl="0" indent="0" algn="l" rtl="0">
              <a:spcBef>
                <a:spcPts val="0"/>
              </a:spcBef>
              <a:spcAft>
                <a:spcPts val="0"/>
              </a:spcAft>
              <a:buNone/>
            </a:pPr>
            <a:endParaRPr sz="2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Shape 212"/>
        <p:cNvGrpSpPr/>
        <p:nvPr/>
      </p:nvGrpSpPr>
      <p:grpSpPr>
        <a:xfrm>
          <a:off x="0" y="0"/>
          <a:ext cx="0" cy="0"/>
          <a:chOff x="0" y="0"/>
          <a:chExt cx="0" cy="0"/>
        </a:xfrm>
      </p:grpSpPr>
      <p:pic>
        <p:nvPicPr>
          <p:cNvPr id="213" name="Google Shape;213;p36"/>
          <p:cNvPicPr preferRelativeResize="0"/>
          <p:nvPr/>
        </p:nvPicPr>
        <p:blipFill rotWithShape="1">
          <a:blip r:embed="rId3">
            <a:alphaModFix/>
          </a:blip>
          <a:srcRect t="24081"/>
          <a:stretch/>
        </p:blipFill>
        <p:spPr>
          <a:xfrm>
            <a:off x="311700" y="867050"/>
            <a:ext cx="5943600" cy="3065950"/>
          </a:xfrm>
          <a:prstGeom prst="rect">
            <a:avLst/>
          </a:prstGeom>
          <a:noFill/>
          <a:ln>
            <a:noFill/>
          </a:ln>
        </p:spPr>
      </p:pic>
      <p:sp>
        <p:nvSpPr>
          <p:cNvPr id="214" name="Google Shape;214;p36"/>
          <p:cNvSpPr txBox="1">
            <a:spLocks noGrp="1"/>
          </p:cNvSpPr>
          <p:nvPr>
            <p:ph type="sldNum" idx="12"/>
          </p:nvPr>
        </p:nvSpPr>
        <p:spPr>
          <a:xfrm>
            <a:off x="8685521" y="4778067"/>
            <a:ext cx="288300" cy="154500"/>
          </a:xfrm>
          <a:prstGeom prst="rect">
            <a:avLst/>
          </a:prstGeom>
          <a:noFill/>
          <a:ln>
            <a:noFill/>
          </a:ln>
        </p:spPr>
        <p:txBody>
          <a:bodyPr spcFirstLastPara="1" wrap="square" lIns="0" tIns="625" rIns="0" bIns="0" anchor="t" anchorCtr="0">
            <a:spAutoFit/>
          </a:bodyPr>
          <a:lstStyle/>
          <a:p>
            <a:pPr marL="38100" lvl="0" indent="0" algn="l" rtl="0">
              <a:lnSpc>
                <a:spcPct val="100000"/>
              </a:lnSpc>
              <a:spcBef>
                <a:spcPts val="0"/>
              </a:spcBef>
              <a:spcAft>
                <a:spcPts val="0"/>
              </a:spcAft>
              <a:buNone/>
            </a:pPr>
            <a:fld id="{00000000-1234-1234-1234-123412341234}" type="slidenum">
              <a:rPr lang="en"/>
              <a:t>22</a:t>
            </a:fld>
            <a:endParaRPr/>
          </a:p>
        </p:txBody>
      </p:sp>
      <p:sp>
        <p:nvSpPr>
          <p:cNvPr id="215" name="Google Shape;215;p36"/>
          <p:cNvSpPr txBox="1">
            <a:spLocks noGrp="1"/>
          </p:cNvSpPr>
          <p:nvPr>
            <p:ph type="title" idx="4294967295"/>
          </p:nvPr>
        </p:nvSpPr>
        <p:spPr>
          <a:xfrm>
            <a:off x="311700" y="14245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solidFill>
                  <a:schemeClr val="lt1"/>
                </a:solidFill>
              </a:rPr>
              <a:t>Example</a:t>
            </a:r>
            <a:endParaRPr>
              <a:solidFill>
                <a:schemeClr val="lt1"/>
              </a:solidFill>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Shape 219"/>
        <p:cNvGrpSpPr/>
        <p:nvPr/>
      </p:nvGrpSpPr>
      <p:grpSpPr>
        <a:xfrm>
          <a:off x="0" y="0"/>
          <a:ext cx="0" cy="0"/>
          <a:chOff x="0" y="0"/>
          <a:chExt cx="0" cy="0"/>
        </a:xfrm>
      </p:grpSpPr>
      <p:pic>
        <p:nvPicPr>
          <p:cNvPr id="220" name="Google Shape;220;p37"/>
          <p:cNvPicPr preferRelativeResize="0"/>
          <p:nvPr/>
        </p:nvPicPr>
        <p:blipFill rotWithShape="1">
          <a:blip r:embed="rId3">
            <a:alphaModFix/>
          </a:blip>
          <a:srcRect t="21222"/>
          <a:stretch/>
        </p:blipFill>
        <p:spPr>
          <a:xfrm>
            <a:off x="311700" y="896452"/>
            <a:ext cx="6477000" cy="3661799"/>
          </a:xfrm>
          <a:prstGeom prst="rect">
            <a:avLst/>
          </a:prstGeom>
          <a:noFill/>
          <a:ln>
            <a:noFill/>
          </a:ln>
        </p:spPr>
      </p:pic>
      <p:sp>
        <p:nvSpPr>
          <p:cNvPr id="221" name="Google Shape;221;p37"/>
          <p:cNvSpPr txBox="1">
            <a:spLocks noGrp="1"/>
          </p:cNvSpPr>
          <p:nvPr>
            <p:ph type="sldNum" idx="12"/>
          </p:nvPr>
        </p:nvSpPr>
        <p:spPr>
          <a:xfrm>
            <a:off x="8685521" y="4778067"/>
            <a:ext cx="288300" cy="154500"/>
          </a:xfrm>
          <a:prstGeom prst="rect">
            <a:avLst/>
          </a:prstGeom>
          <a:noFill/>
          <a:ln>
            <a:noFill/>
          </a:ln>
        </p:spPr>
        <p:txBody>
          <a:bodyPr spcFirstLastPara="1" wrap="square" lIns="0" tIns="625" rIns="0" bIns="0" anchor="t" anchorCtr="0">
            <a:spAutoFit/>
          </a:bodyPr>
          <a:lstStyle/>
          <a:p>
            <a:pPr marL="38100" lvl="0" indent="0" algn="l" rtl="0">
              <a:lnSpc>
                <a:spcPct val="100000"/>
              </a:lnSpc>
              <a:spcBef>
                <a:spcPts val="0"/>
              </a:spcBef>
              <a:spcAft>
                <a:spcPts val="0"/>
              </a:spcAft>
              <a:buNone/>
            </a:pPr>
            <a:fld id="{00000000-1234-1234-1234-123412341234}" type="slidenum">
              <a:rPr lang="en"/>
              <a:t>23</a:t>
            </a:fld>
            <a:endParaRPr/>
          </a:p>
        </p:txBody>
      </p:sp>
      <p:sp>
        <p:nvSpPr>
          <p:cNvPr id="222" name="Google Shape;222;p37"/>
          <p:cNvSpPr txBox="1">
            <a:spLocks noGrp="1"/>
          </p:cNvSpPr>
          <p:nvPr>
            <p:ph type="title" idx="4294967295"/>
          </p:nvPr>
        </p:nvSpPr>
        <p:spPr>
          <a:xfrm>
            <a:off x="311700" y="14245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solidFill>
                  <a:schemeClr val="lt1"/>
                </a:solidFill>
              </a:rPr>
              <a:t>Example</a:t>
            </a:r>
            <a:endParaRPr>
              <a:solidFill>
                <a:schemeClr val="lt1"/>
              </a:solidFill>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Shape 226"/>
        <p:cNvGrpSpPr/>
        <p:nvPr/>
      </p:nvGrpSpPr>
      <p:grpSpPr>
        <a:xfrm>
          <a:off x="0" y="0"/>
          <a:ext cx="0" cy="0"/>
          <a:chOff x="0" y="0"/>
          <a:chExt cx="0" cy="0"/>
        </a:xfrm>
      </p:grpSpPr>
      <p:pic>
        <p:nvPicPr>
          <p:cNvPr id="227" name="Google Shape;227;p38"/>
          <p:cNvPicPr preferRelativeResize="0"/>
          <p:nvPr/>
        </p:nvPicPr>
        <p:blipFill rotWithShape="1">
          <a:blip r:embed="rId3">
            <a:alphaModFix/>
          </a:blip>
          <a:srcRect t="18113"/>
          <a:stretch/>
        </p:blipFill>
        <p:spPr>
          <a:xfrm>
            <a:off x="311699" y="815675"/>
            <a:ext cx="8179157" cy="3962400"/>
          </a:xfrm>
          <a:prstGeom prst="rect">
            <a:avLst/>
          </a:prstGeom>
          <a:noFill/>
          <a:ln>
            <a:noFill/>
          </a:ln>
        </p:spPr>
      </p:pic>
      <p:sp>
        <p:nvSpPr>
          <p:cNvPr id="228" name="Google Shape;228;p38"/>
          <p:cNvSpPr txBox="1">
            <a:spLocks noGrp="1"/>
          </p:cNvSpPr>
          <p:nvPr>
            <p:ph type="sldNum" idx="12"/>
          </p:nvPr>
        </p:nvSpPr>
        <p:spPr>
          <a:xfrm>
            <a:off x="8685521" y="4778067"/>
            <a:ext cx="288300" cy="154500"/>
          </a:xfrm>
          <a:prstGeom prst="rect">
            <a:avLst/>
          </a:prstGeom>
          <a:noFill/>
          <a:ln>
            <a:noFill/>
          </a:ln>
        </p:spPr>
        <p:txBody>
          <a:bodyPr spcFirstLastPara="1" wrap="square" lIns="0" tIns="625" rIns="0" bIns="0" anchor="t" anchorCtr="0">
            <a:spAutoFit/>
          </a:bodyPr>
          <a:lstStyle/>
          <a:p>
            <a:pPr marL="38100" lvl="0" indent="0" algn="l" rtl="0">
              <a:lnSpc>
                <a:spcPct val="100000"/>
              </a:lnSpc>
              <a:spcBef>
                <a:spcPts val="0"/>
              </a:spcBef>
              <a:spcAft>
                <a:spcPts val="0"/>
              </a:spcAft>
              <a:buNone/>
            </a:pPr>
            <a:fld id="{00000000-1234-1234-1234-123412341234}" type="slidenum">
              <a:rPr lang="en"/>
              <a:t>24</a:t>
            </a:fld>
            <a:endParaRPr/>
          </a:p>
        </p:txBody>
      </p:sp>
      <p:sp>
        <p:nvSpPr>
          <p:cNvPr id="229" name="Google Shape;229;p38"/>
          <p:cNvSpPr txBox="1">
            <a:spLocks noGrp="1"/>
          </p:cNvSpPr>
          <p:nvPr>
            <p:ph type="title" idx="4294967295"/>
          </p:nvPr>
        </p:nvSpPr>
        <p:spPr>
          <a:xfrm>
            <a:off x="311700" y="14245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solidFill>
                  <a:schemeClr val="lt1"/>
                </a:solidFill>
              </a:rPr>
              <a:t>Example</a:t>
            </a:r>
            <a:endParaRPr>
              <a:solidFill>
                <a:schemeClr val="lt1"/>
              </a:solidFill>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33"/>
        <p:cNvGrpSpPr/>
        <p:nvPr/>
      </p:nvGrpSpPr>
      <p:grpSpPr>
        <a:xfrm>
          <a:off x="0" y="0"/>
          <a:ext cx="0" cy="0"/>
          <a:chOff x="0" y="0"/>
          <a:chExt cx="0" cy="0"/>
        </a:xfrm>
      </p:grpSpPr>
      <p:sp>
        <p:nvSpPr>
          <p:cNvPr id="234" name="Google Shape;234;p39"/>
          <p:cNvSpPr txBox="1">
            <a:spLocks noGrp="1"/>
          </p:cNvSpPr>
          <p:nvPr>
            <p:ph type="title"/>
          </p:nvPr>
        </p:nvSpPr>
        <p:spPr>
          <a:xfrm>
            <a:off x="311700" y="14245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Vanishing gradients</a:t>
            </a:r>
            <a:endParaRPr/>
          </a:p>
        </p:txBody>
      </p:sp>
      <p:sp>
        <p:nvSpPr>
          <p:cNvPr id="235" name="Google Shape;235;p39"/>
          <p:cNvSpPr txBox="1">
            <a:spLocks noGrp="1"/>
          </p:cNvSpPr>
          <p:nvPr>
            <p:ph type="body" idx="1"/>
          </p:nvPr>
        </p:nvSpPr>
        <p:spPr>
          <a:xfrm>
            <a:off x="311700" y="715150"/>
            <a:ext cx="4281900" cy="4147800"/>
          </a:xfrm>
          <a:prstGeom prst="rect">
            <a:avLst/>
          </a:prstGeom>
        </p:spPr>
        <p:txBody>
          <a:bodyPr spcFirstLastPara="1" wrap="square" lIns="91425" tIns="91425" rIns="91425" bIns="91425" anchor="t" anchorCtr="0">
            <a:normAutofit lnSpcReduction="10000"/>
          </a:bodyPr>
          <a:lstStyle/>
          <a:p>
            <a:pPr marL="457200" lvl="0" indent="-368300" algn="just" rtl="0">
              <a:lnSpc>
                <a:spcPct val="150000"/>
              </a:lnSpc>
              <a:spcBef>
                <a:spcPts val="0"/>
              </a:spcBef>
              <a:spcAft>
                <a:spcPts val="0"/>
              </a:spcAft>
              <a:buSzPts val="2200"/>
              <a:buChar char="●"/>
            </a:pPr>
            <a:r>
              <a:rPr lang="en" sz="1800" dirty="0">
                <a:highlight>
                  <a:schemeClr val="lt1"/>
                </a:highlight>
              </a:rPr>
              <a:t>Function f (x) = tanh(x) </a:t>
            </a:r>
            <a:endParaRPr sz="1800" dirty="0">
              <a:highlight>
                <a:schemeClr val="lt1"/>
              </a:highlight>
            </a:endParaRPr>
          </a:p>
          <a:p>
            <a:pPr marL="457200" lvl="0" indent="-368300" algn="just" rtl="0">
              <a:lnSpc>
                <a:spcPct val="150000"/>
              </a:lnSpc>
              <a:spcBef>
                <a:spcPts val="0"/>
              </a:spcBef>
              <a:spcAft>
                <a:spcPts val="0"/>
              </a:spcAft>
              <a:buSzPts val="2200"/>
              <a:buChar char="●"/>
            </a:pPr>
            <a:r>
              <a:rPr lang="en" sz="1800" dirty="0">
                <a:highlight>
                  <a:schemeClr val="lt1"/>
                </a:highlight>
              </a:rPr>
              <a:t>f ′(x) = 1 − tanh</a:t>
            </a:r>
            <a:r>
              <a:rPr lang="en" sz="1800" baseline="30000" dirty="0">
                <a:highlight>
                  <a:schemeClr val="lt1"/>
                </a:highlight>
              </a:rPr>
              <a:t>2</a:t>
            </a:r>
            <a:r>
              <a:rPr lang="en" sz="1800" dirty="0">
                <a:highlight>
                  <a:schemeClr val="lt1"/>
                </a:highlight>
              </a:rPr>
              <a:t>(x) </a:t>
            </a:r>
            <a:endParaRPr sz="1800" dirty="0">
              <a:highlight>
                <a:schemeClr val="lt1"/>
              </a:highlight>
            </a:endParaRPr>
          </a:p>
          <a:p>
            <a:pPr marL="914400" lvl="1" indent="-342900" algn="just" rtl="0">
              <a:lnSpc>
                <a:spcPct val="150000"/>
              </a:lnSpc>
              <a:spcBef>
                <a:spcPts val="0"/>
              </a:spcBef>
              <a:spcAft>
                <a:spcPts val="0"/>
              </a:spcAft>
              <a:buSzPts val="1800"/>
              <a:buChar char="○"/>
            </a:pPr>
            <a:r>
              <a:rPr lang="en" sz="1800" dirty="0">
                <a:highlight>
                  <a:schemeClr val="lt1"/>
                </a:highlight>
              </a:rPr>
              <a:t>f ′(4) = 0.0013. </a:t>
            </a:r>
            <a:endParaRPr sz="1800" dirty="0">
              <a:highlight>
                <a:schemeClr val="lt1"/>
              </a:highlight>
            </a:endParaRPr>
          </a:p>
          <a:p>
            <a:pPr marL="457200" lvl="0" indent="-368300" algn="just" rtl="0">
              <a:lnSpc>
                <a:spcPct val="150000"/>
              </a:lnSpc>
              <a:spcBef>
                <a:spcPts val="0"/>
              </a:spcBef>
              <a:spcAft>
                <a:spcPts val="0"/>
              </a:spcAft>
              <a:buSzPts val="2200"/>
              <a:buChar char="●"/>
            </a:pPr>
            <a:r>
              <a:rPr lang="en" sz="1800" dirty="0">
                <a:highlight>
                  <a:schemeClr val="lt1"/>
                </a:highlight>
              </a:rPr>
              <a:t>Gradient of f is close to nil. </a:t>
            </a:r>
            <a:endParaRPr sz="1800" dirty="0">
              <a:highlight>
                <a:schemeClr val="lt1"/>
              </a:highlight>
            </a:endParaRPr>
          </a:p>
          <a:p>
            <a:pPr marL="457200" lvl="0" indent="-368300" algn="just" rtl="0">
              <a:lnSpc>
                <a:spcPct val="150000"/>
              </a:lnSpc>
              <a:spcBef>
                <a:spcPts val="0"/>
              </a:spcBef>
              <a:spcAft>
                <a:spcPts val="0"/>
              </a:spcAft>
              <a:buSzPts val="2200"/>
              <a:buChar char="●"/>
            </a:pPr>
            <a:r>
              <a:rPr lang="en" sz="1800" dirty="0">
                <a:highlight>
                  <a:schemeClr val="lt1"/>
                </a:highlight>
              </a:rPr>
              <a:t>Vanishing gradients can cause optimization to stall. </a:t>
            </a:r>
            <a:endParaRPr sz="1800" dirty="0">
              <a:highlight>
                <a:schemeClr val="lt1"/>
              </a:highlight>
            </a:endParaRPr>
          </a:p>
          <a:p>
            <a:pPr marL="914400" lvl="1" indent="-368300" algn="just" rtl="0">
              <a:lnSpc>
                <a:spcPct val="150000"/>
              </a:lnSpc>
              <a:spcBef>
                <a:spcPts val="0"/>
              </a:spcBef>
              <a:spcAft>
                <a:spcPts val="0"/>
              </a:spcAft>
              <a:buSzPts val="2200"/>
              <a:buChar char="○"/>
            </a:pPr>
            <a:r>
              <a:rPr lang="en" sz="1800" dirty="0">
                <a:highlight>
                  <a:schemeClr val="lt1"/>
                </a:highlight>
              </a:rPr>
              <a:t>Reparameterization of the problem helps. </a:t>
            </a:r>
            <a:endParaRPr sz="1800" dirty="0">
              <a:highlight>
                <a:schemeClr val="lt1"/>
              </a:highlight>
            </a:endParaRPr>
          </a:p>
          <a:p>
            <a:pPr marL="914400" lvl="1" indent="-368300" algn="just" rtl="0">
              <a:lnSpc>
                <a:spcPct val="150000"/>
              </a:lnSpc>
              <a:spcBef>
                <a:spcPts val="0"/>
              </a:spcBef>
              <a:spcAft>
                <a:spcPts val="0"/>
              </a:spcAft>
              <a:buSzPts val="2200"/>
              <a:buChar char="○"/>
            </a:pPr>
            <a:r>
              <a:rPr lang="en" sz="1800" dirty="0">
                <a:highlight>
                  <a:schemeClr val="lt1"/>
                </a:highlight>
              </a:rPr>
              <a:t>Good initialization of the parameters</a:t>
            </a:r>
            <a:endParaRPr sz="1800" dirty="0">
              <a:highlight>
                <a:schemeClr val="lt1"/>
              </a:highlight>
            </a:endParaRPr>
          </a:p>
          <a:p>
            <a:pPr marL="0" lvl="0" indent="0" algn="just" rtl="0">
              <a:spcBef>
                <a:spcPts val="1200"/>
              </a:spcBef>
              <a:spcAft>
                <a:spcPts val="1200"/>
              </a:spcAft>
              <a:buNone/>
            </a:pPr>
            <a:endParaRPr sz="2200" dirty="0">
              <a:highlight>
                <a:schemeClr val="lt1"/>
              </a:highlight>
            </a:endParaRPr>
          </a:p>
        </p:txBody>
      </p:sp>
      <p:pic>
        <p:nvPicPr>
          <p:cNvPr id="236" name="Google Shape;236;p39"/>
          <p:cNvPicPr preferRelativeResize="0"/>
          <p:nvPr/>
        </p:nvPicPr>
        <p:blipFill>
          <a:blip r:embed="rId3">
            <a:alphaModFix/>
          </a:blip>
          <a:stretch>
            <a:fillRect/>
          </a:stretch>
        </p:blipFill>
        <p:spPr>
          <a:xfrm>
            <a:off x="4593663" y="1132375"/>
            <a:ext cx="4467225" cy="3143250"/>
          </a:xfrm>
          <a:prstGeom prst="rect">
            <a:avLst/>
          </a:prstGeom>
          <a:noFill/>
          <a:ln>
            <a:noFill/>
          </a:ln>
        </p:spPr>
      </p:pic>
      <p:sp>
        <p:nvSpPr>
          <p:cNvPr id="237" name="Google Shape;237;p39"/>
          <p:cNvSpPr txBox="1">
            <a:spLocks noGrp="1"/>
          </p:cNvSpPr>
          <p:nvPr>
            <p:ph type="sldNum" idx="12"/>
          </p:nvPr>
        </p:nvSpPr>
        <p:spPr>
          <a:xfrm>
            <a:off x="8484550" y="4863199"/>
            <a:ext cx="548700" cy="310800"/>
          </a:xfrm>
          <a:prstGeom prst="rect">
            <a:avLst/>
          </a:prstGeom>
        </p:spPr>
        <p:txBody>
          <a:bodyPr spcFirstLastPara="1" wrap="square" lIns="91425" tIns="91425" rIns="91425" bIns="91425" anchor="ctr" anchorCtr="0">
            <a:normAutofit fontScale="92500"/>
          </a:bodyPr>
          <a:lstStyle/>
          <a:p>
            <a:pPr marL="0" lvl="0" indent="0" algn="r" rtl="0">
              <a:spcBef>
                <a:spcPts val="0"/>
              </a:spcBef>
              <a:spcAft>
                <a:spcPts val="0"/>
              </a:spcAft>
              <a:buNone/>
            </a:pPr>
            <a:fld id="{00000000-1234-1234-1234-123412341234}" type="slidenum">
              <a:rPr lang="en"/>
              <a:t>25</a:t>
            </a:fld>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41"/>
        <p:cNvGrpSpPr/>
        <p:nvPr/>
      </p:nvGrpSpPr>
      <p:grpSpPr>
        <a:xfrm>
          <a:off x="0" y="0"/>
          <a:ext cx="0" cy="0"/>
          <a:chOff x="0" y="0"/>
          <a:chExt cx="0" cy="0"/>
        </a:xfrm>
      </p:grpSpPr>
      <p:sp>
        <p:nvSpPr>
          <p:cNvPr id="242" name="Google Shape;242;p40"/>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r>
              <a:rPr lang="en"/>
              <a:t>Gradient Descent</a:t>
            </a:r>
            <a:endParaRPr/>
          </a:p>
        </p:txBody>
      </p:sp>
      <p:sp>
        <p:nvSpPr>
          <p:cNvPr id="243" name="Google Shape;243;p4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26</a:t>
            </a:fld>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Shape 247"/>
        <p:cNvGrpSpPr/>
        <p:nvPr/>
      </p:nvGrpSpPr>
      <p:grpSpPr>
        <a:xfrm>
          <a:off x="0" y="0"/>
          <a:ext cx="0" cy="0"/>
          <a:chOff x="0" y="0"/>
          <a:chExt cx="0" cy="0"/>
        </a:xfrm>
      </p:grpSpPr>
      <p:pic>
        <p:nvPicPr>
          <p:cNvPr id="248" name="Google Shape;248;p41"/>
          <p:cNvPicPr preferRelativeResize="0"/>
          <p:nvPr/>
        </p:nvPicPr>
        <p:blipFill rotWithShape="1">
          <a:blip r:embed="rId3">
            <a:alphaModFix/>
          </a:blip>
          <a:srcRect t="17898"/>
          <a:stretch/>
        </p:blipFill>
        <p:spPr>
          <a:xfrm>
            <a:off x="852522" y="746141"/>
            <a:ext cx="7979777" cy="4031926"/>
          </a:xfrm>
          <a:prstGeom prst="rect">
            <a:avLst/>
          </a:prstGeom>
          <a:noFill/>
          <a:ln>
            <a:noFill/>
          </a:ln>
        </p:spPr>
      </p:pic>
      <p:sp>
        <p:nvSpPr>
          <p:cNvPr id="249" name="Google Shape;249;p41"/>
          <p:cNvSpPr txBox="1">
            <a:spLocks noGrp="1"/>
          </p:cNvSpPr>
          <p:nvPr>
            <p:ph type="sldNum" idx="12"/>
          </p:nvPr>
        </p:nvSpPr>
        <p:spPr>
          <a:xfrm>
            <a:off x="8685521" y="4778067"/>
            <a:ext cx="288300" cy="154500"/>
          </a:xfrm>
          <a:prstGeom prst="rect">
            <a:avLst/>
          </a:prstGeom>
          <a:noFill/>
          <a:ln>
            <a:noFill/>
          </a:ln>
        </p:spPr>
        <p:txBody>
          <a:bodyPr spcFirstLastPara="1" wrap="square" lIns="0" tIns="625" rIns="0" bIns="0" anchor="t" anchorCtr="0">
            <a:spAutoFit/>
          </a:bodyPr>
          <a:lstStyle/>
          <a:p>
            <a:pPr marL="38100" lvl="0" indent="0" algn="l" rtl="0">
              <a:lnSpc>
                <a:spcPct val="100000"/>
              </a:lnSpc>
              <a:spcBef>
                <a:spcPts val="0"/>
              </a:spcBef>
              <a:spcAft>
                <a:spcPts val="0"/>
              </a:spcAft>
              <a:buNone/>
            </a:pPr>
            <a:fld id="{00000000-1234-1234-1234-123412341234}" type="slidenum">
              <a:rPr lang="en"/>
              <a:t>27</a:t>
            </a:fld>
            <a:endParaRPr/>
          </a:p>
        </p:txBody>
      </p:sp>
      <p:sp>
        <p:nvSpPr>
          <p:cNvPr id="250" name="Google Shape;250;p41"/>
          <p:cNvSpPr txBox="1">
            <a:spLocks noGrp="1"/>
          </p:cNvSpPr>
          <p:nvPr>
            <p:ph type="title" idx="4294967295"/>
          </p:nvPr>
        </p:nvSpPr>
        <p:spPr>
          <a:xfrm>
            <a:off x="311700" y="14245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solidFill>
                  <a:schemeClr val="lt1"/>
                </a:solidFill>
              </a:rPr>
              <a:t>How to find Global Minima?</a:t>
            </a:r>
            <a:endParaRPr>
              <a:solidFill>
                <a:schemeClr val="lt1"/>
              </a:solidFill>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Shape 254"/>
        <p:cNvGrpSpPr/>
        <p:nvPr/>
      </p:nvGrpSpPr>
      <p:grpSpPr>
        <a:xfrm>
          <a:off x="0" y="0"/>
          <a:ext cx="0" cy="0"/>
          <a:chOff x="0" y="0"/>
          <a:chExt cx="0" cy="0"/>
        </a:xfrm>
      </p:grpSpPr>
      <p:pic>
        <p:nvPicPr>
          <p:cNvPr id="255" name="Google Shape;255;p42"/>
          <p:cNvPicPr preferRelativeResize="0"/>
          <p:nvPr/>
        </p:nvPicPr>
        <p:blipFill rotWithShape="1">
          <a:blip r:embed="rId3">
            <a:alphaModFix/>
          </a:blip>
          <a:srcRect t="8634"/>
          <a:stretch/>
        </p:blipFill>
        <p:spPr>
          <a:xfrm>
            <a:off x="536266" y="715150"/>
            <a:ext cx="8236474" cy="4290325"/>
          </a:xfrm>
          <a:prstGeom prst="rect">
            <a:avLst/>
          </a:prstGeom>
          <a:noFill/>
          <a:ln>
            <a:noFill/>
          </a:ln>
        </p:spPr>
      </p:pic>
      <p:sp>
        <p:nvSpPr>
          <p:cNvPr id="256" name="Google Shape;256;p42"/>
          <p:cNvSpPr txBox="1">
            <a:spLocks noGrp="1"/>
          </p:cNvSpPr>
          <p:nvPr>
            <p:ph type="sldNum" idx="12"/>
          </p:nvPr>
        </p:nvSpPr>
        <p:spPr>
          <a:xfrm>
            <a:off x="8685521" y="4778067"/>
            <a:ext cx="288300" cy="154500"/>
          </a:xfrm>
          <a:prstGeom prst="rect">
            <a:avLst/>
          </a:prstGeom>
          <a:noFill/>
          <a:ln>
            <a:noFill/>
          </a:ln>
        </p:spPr>
        <p:txBody>
          <a:bodyPr spcFirstLastPara="1" wrap="square" lIns="0" tIns="625" rIns="0" bIns="0" anchor="t" anchorCtr="0">
            <a:spAutoFit/>
          </a:bodyPr>
          <a:lstStyle/>
          <a:p>
            <a:pPr marL="38100" lvl="0" indent="0" algn="l" rtl="0">
              <a:lnSpc>
                <a:spcPct val="100000"/>
              </a:lnSpc>
              <a:spcBef>
                <a:spcPts val="0"/>
              </a:spcBef>
              <a:spcAft>
                <a:spcPts val="0"/>
              </a:spcAft>
              <a:buNone/>
            </a:pPr>
            <a:fld id="{00000000-1234-1234-1234-123412341234}" type="slidenum">
              <a:rPr lang="en"/>
              <a:t>28</a:t>
            </a:fld>
            <a:endParaRPr/>
          </a:p>
        </p:txBody>
      </p:sp>
      <p:sp>
        <p:nvSpPr>
          <p:cNvPr id="257" name="Google Shape;257;p42"/>
          <p:cNvSpPr txBox="1">
            <a:spLocks noGrp="1"/>
          </p:cNvSpPr>
          <p:nvPr>
            <p:ph type="title" idx="4294967295"/>
          </p:nvPr>
        </p:nvSpPr>
        <p:spPr>
          <a:xfrm>
            <a:off x="311700" y="14245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solidFill>
                  <a:schemeClr val="lt1"/>
                </a:solidFill>
              </a:rPr>
              <a:t>Find Global Minima Iteratively</a:t>
            </a:r>
            <a:endParaRPr>
              <a:solidFill>
                <a:schemeClr val="lt1"/>
              </a:solidFill>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Shape 261"/>
        <p:cNvGrpSpPr/>
        <p:nvPr/>
      </p:nvGrpSpPr>
      <p:grpSpPr>
        <a:xfrm>
          <a:off x="0" y="0"/>
          <a:ext cx="0" cy="0"/>
          <a:chOff x="0" y="0"/>
          <a:chExt cx="0" cy="0"/>
        </a:xfrm>
      </p:grpSpPr>
      <p:pic>
        <p:nvPicPr>
          <p:cNvPr id="262" name="Google Shape;262;p43"/>
          <p:cNvPicPr preferRelativeResize="0"/>
          <p:nvPr/>
        </p:nvPicPr>
        <p:blipFill rotWithShape="1">
          <a:blip r:embed="rId3">
            <a:alphaModFix/>
          </a:blip>
          <a:srcRect t="12118"/>
          <a:stretch/>
        </p:blipFill>
        <p:spPr>
          <a:xfrm>
            <a:off x="391886" y="715150"/>
            <a:ext cx="8293635" cy="4355525"/>
          </a:xfrm>
          <a:prstGeom prst="rect">
            <a:avLst/>
          </a:prstGeom>
          <a:noFill/>
          <a:ln>
            <a:noFill/>
          </a:ln>
        </p:spPr>
      </p:pic>
      <p:sp>
        <p:nvSpPr>
          <p:cNvPr id="263" name="Google Shape;263;p43"/>
          <p:cNvSpPr txBox="1">
            <a:spLocks noGrp="1"/>
          </p:cNvSpPr>
          <p:nvPr>
            <p:ph type="sldNum" idx="12"/>
          </p:nvPr>
        </p:nvSpPr>
        <p:spPr>
          <a:xfrm>
            <a:off x="8685521" y="4778067"/>
            <a:ext cx="288300" cy="154500"/>
          </a:xfrm>
          <a:prstGeom prst="rect">
            <a:avLst/>
          </a:prstGeom>
          <a:noFill/>
          <a:ln>
            <a:noFill/>
          </a:ln>
        </p:spPr>
        <p:txBody>
          <a:bodyPr spcFirstLastPara="1" wrap="square" lIns="0" tIns="625" rIns="0" bIns="0" anchor="t" anchorCtr="0">
            <a:spAutoFit/>
          </a:bodyPr>
          <a:lstStyle/>
          <a:p>
            <a:pPr marL="38100" lvl="0" indent="0" algn="l" rtl="0">
              <a:lnSpc>
                <a:spcPct val="100000"/>
              </a:lnSpc>
              <a:spcBef>
                <a:spcPts val="0"/>
              </a:spcBef>
              <a:spcAft>
                <a:spcPts val="0"/>
              </a:spcAft>
              <a:buNone/>
            </a:pPr>
            <a:fld id="{00000000-1234-1234-1234-123412341234}" type="slidenum">
              <a:rPr lang="en"/>
              <a:t>29</a:t>
            </a:fld>
            <a:endParaRPr/>
          </a:p>
        </p:txBody>
      </p:sp>
      <p:sp>
        <p:nvSpPr>
          <p:cNvPr id="264" name="Google Shape;264;p43"/>
          <p:cNvSpPr txBox="1">
            <a:spLocks noGrp="1"/>
          </p:cNvSpPr>
          <p:nvPr>
            <p:ph type="title" idx="4294967295"/>
          </p:nvPr>
        </p:nvSpPr>
        <p:spPr>
          <a:xfrm>
            <a:off x="311700" y="14245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solidFill>
                  <a:schemeClr val="lt1"/>
                </a:solidFill>
              </a:rPr>
              <a:t>Approach of Gradient Descent</a:t>
            </a:r>
            <a:endParaRPr>
              <a:solidFill>
                <a:schemeClr val="lt1"/>
              </a:solidFill>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Shape 268"/>
        <p:cNvGrpSpPr/>
        <p:nvPr/>
      </p:nvGrpSpPr>
      <p:grpSpPr>
        <a:xfrm>
          <a:off x="0" y="0"/>
          <a:ext cx="0" cy="0"/>
          <a:chOff x="0" y="0"/>
          <a:chExt cx="0" cy="0"/>
        </a:xfrm>
      </p:grpSpPr>
      <p:pic>
        <p:nvPicPr>
          <p:cNvPr id="269" name="Google Shape;269;p44"/>
          <p:cNvPicPr preferRelativeResize="0"/>
          <p:nvPr/>
        </p:nvPicPr>
        <p:blipFill rotWithShape="1">
          <a:blip r:embed="rId3">
            <a:alphaModFix/>
          </a:blip>
          <a:srcRect t="11652"/>
          <a:stretch/>
        </p:blipFill>
        <p:spPr>
          <a:xfrm>
            <a:off x="570641" y="715150"/>
            <a:ext cx="8208974" cy="4364876"/>
          </a:xfrm>
          <a:prstGeom prst="rect">
            <a:avLst/>
          </a:prstGeom>
          <a:noFill/>
          <a:ln>
            <a:noFill/>
          </a:ln>
        </p:spPr>
      </p:pic>
      <p:sp>
        <p:nvSpPr>
          <p:cNvPr id="270" name="Google Shape;270;p44"/>
          <p:cNvSpPr txBox="1">
            <a:spLocks noGrp="1"/>
          </p:cNvSpPr>
          <p:nvPr>
            <p:ph type="sldNum" idx="12"/>
          </p:nvPr>
        </p:nvSpPr>
        <p:spPr>
          <a:xfrm>
            <a:off x="8685521" y="4778067"/>
            <a:ext cx="288300" cy="154500"/>
          </a:xfrm>
          <a:prstGeom prst="rect">
            <a:avLst/>
          </a:prstGeom>
          <a:noFill/>
          <a:ln>
            <a:noFill/>
          </a:ln>
        </p:spPr>
        <p:txBody>
          <a:bodyPr spcFirstLastPara="1" wrap="square" lIns="0" tIns="625" rIns="0" bIns="0" anchor="t" anchorCtr="0">
            <a:spAutoFit/>
          </a:bodyPr>
          <a:lstStyle/>
          <a:p>
            <a:pPr marL="38100" lvl="0" indent="0" algn="l" rtl="0">
              <a:lnSpc>
                <a:spcPct val="100000"/>
              </a:lnSpc>
              <a:spcBef>
                <a:spcPts val="0"/>
              </a:spcBef>
              <a:spcAft>
                <a:spcPts val="0"/>
              </a:spcAft>
              <a:buNone/>
            </a:pPr>
            <a:fld id="{00000000-1234-1234-1234-123412341234}" type="slidenum">
              <a:rPr lang="en"/>
              <a:t>30</a:t>
            </a:fld>
            <a:endParaRPr/>
          </a:p>
        </p:txBody>
      </p:sp>
      <p:sp>
        <p:nvSpPr>
          <p:cNvPr id="271" name="Google Shape;271;p44"/>
          <p:cNvSpPr txBox="1">
            <a:spLocks noGrp="1"/>
          </p:cNvSpPr>
          <p:nvPr>
            <p:ph type="title" idx="4294967295"/>
          </p:nvPr>
        </p:nvSpPr>
        <p:spPr>
          <a:xfrm>
            <a:off x="311700" y="14245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solidFill>
                  <a:schemeClr val="lt1"/>
                </a:solidFill>
              </a:rPr>
              <a:t>Approach of Gradient Descent</a:t>
            </a:r>
            <a:endParaRPr>
              <a:solidFill>
                <a:schemeClr val="lt1"/>
              </a:solidFill>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MasterSp="0">
  <p:cSld>
    <p:spTree>
      <p:nvGrpSpPr>
        <p:cNvPr id="1" name="Shape 275"/>
        <p:cNvGrpSpPr/>
        <p:nvPr/>
      </p:nvGrpSpPr>
      <p:grpSpPr>
        <a:xfrm>
          <a:off x="0" y="0"/>
          <a:ext cx="0" cy="0"/>
          <a:chOff x="0" y="0"/>
          <a:chExt cx="0" cy="0"/>
        </a:xfrm>
      </p:grpSpPr>
      <p:pic>
        <p:nvPicPr>
          <p:cNvPr id="276" name="Google Shape;276;p45"/>
          <p:cNvPicPr preferRelativeResize="0"/>
          <p:nvPr/>
        </p:nvPicPr>
        <p:blipFill rotWithShape="1">
          <a:blip r:embed="rId3">
            <a:alphaModFix/>
          </a:blip>
          <a:srcRect t="11808"/>
          <a:stretch/>
        </p:blipFill>
        <p:spPr>
          <a:xfrm>
            <a:off x="442370" y="715150"/>
            <a:ext cx="8259259" cy="4339675"/>
          </a:xfrm>
          <a:prstGeom prst="rect">
            <a:avLst/>
          </a:prstGeom>
          <a:noFill/>
          <a:ln>
            <a:noFill/>
          </a:ln>
        </p:spPr>
      </p:pic>
      <p:sp>
        <p:nvSpPr>
          <p:cNvPr id="277" name="Google Shape;277;p45"/>
          <p:cNvSpPr txBox="1">
            <a:spLocks noGrp="1"/>
          </p:cNvSpPr>
          <p:nvPr>
            <p:ph type="sldNum" idx="12"/>
          </p:nvPr>
        </p:nvSpPr>
        <p:spPr>
          <a:xfrm>
            <a:off x="8685521" y="4778067"/>
            <a:ext cx="288300" cy="154500"/>
          </a:xfrm>
          <a:prstGeom prst="rect">
            <a:avLst/>
          </a:prstGeom>
          <a:noFill/>
          <a:ln>
            <a:noFill/>
          </a:ln>
        </p:spPr>
        <p:txBody>
          <a:bodyPr spcFirstLastPara="1" wrap="square" lIns="0" tIns="625" rIns="0" bIns="0" anchor="t" anchorCtr="0">
            <a:spAutoFit/>
          </a:bodyPr>
          <a:lstStyle/>
          <a:p>
            <a:pPr marL="38100" lvl="0" indent="0" algn="l" rtl="0">
              <a:lnSpc>
                <a:spcPct val="100000"/>
              </a:lnSpc>
              <a:spcBef>
                <a:spcPts val="0"/>
              </a:spcBef>
              <a:spcAft>
                <a:spcPts val="0"/>
              </a:spcAft>
              <a:buNone/>
            </a:pPr>
            <a:fld id="{00000000-1234-1234-1234-123412341234}" type="slidenum">
              <a:rPr lang="en"/>
              <a:t>31</a:t>
            </a:fld>
            <a:endParaRPr/>
          </a:p>
        </p:txBody>
      </p:sp>
      <p:sp>
        <p:nvSpPr>
          <p:cNvPr id="278" name="Google Shape;278;p45"/>
          <p:cNvSpPr txBox="1">
            <a:spLocks noGrp="1"/>
          </p:cNvSpPr>
          <p:nvPr>
            <p:ph type="title" idx="4294967295"/>
          </p:nvPr>
        </p:nvSpPr>
        <p:spPr>
          <a:xfrm>
            <a:off x="311700" y="14245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solidFill>
                  <a:schemeClr val="lt1"/>
                </a:solidFill>
              </a:rPr>
              <a:t>Approach of Gradient Descent</a:t>
            </a:r>
            <a:endParaRPr>
              <a:solidFill>
                <a:schemeClr val="lt1"/>
              </a:solidFill>
            </a:endParaRPr>
          </a:p>
        </p:txBody>
      </p:sp>
      <p:sp>
        <p:nvSpPr>
          <p:cNvPr id="279" name="Google Shape;279;p45"/>
          <p:cNvSpPr txBox="1"/>
          <p:nvPr/>
        </p:nvSpPr>
        <p:spPr>
          <a:xfrm>
            <a:off x="5497250" y="3353925"/>
            <a:ext cx="36420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000">
                <a:solidFill>
                  <a:srgbClr val="001080"/>
                </a:solidFill>
                <a:highlight>
                  <a:schemeClr val="accent6"/>
                </a:highlight>
              </a:rPr>
              <a:t>gd(eta, grad)</a:t>
            </a:r>
            <a:endParaRPr sz="2000">
              <a:solidFill>
                <a:srgbClr val="001080"/>
              </a:solidFill>
              <a:highlight>
                <a:schemeClr val="accent6"/>
              </a:highlight>
            </a:endParaRPr>
          </a:p>
          <a:p>
            <a:pPr marL="457200" lvl="0" indent="0" algn="l" rtl="0">
              <a:spcBef>
                <a:spcPts val="0"/>
              </a:spcBef>
              <a:spcAft>
                <a:spcPts val="0"/>
              </a:spcAft>
              <a:buNone/>
            </a:pPr>
            <a:r>
              <a:rPr lang="en" sz="2000">
                <a:solidFill>
                  <a:srgbClr val="001080"/>
                </a:solidFill>
                <a:highlight>
                  <a:schemeClr val="accent6"/>
                </a:highlight>
              </a:rPr>
              <a:t>new = old - eta * grad </a:t>
            </a:r>
            <a:endParaRPr sz="2000">
              <a:solidFill>
                <a:srgbClr val="001080"/>
              </a:solidFill>
              <a:highlight>
                <a:schemeClr val="accent6"/>
              </a:highlight>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283"/>
        <p:cNvGrpSpPr/>
        <p:nvPr/>
      </p:nvGrpSpPr>
      <p:grpSpPr>
        <a:xfrm>
          <a:off x="0" y="0"/>
          <a:ext cx="0" cy="0"/>
          <a:chOff x="0" y="0"/>
          <a:chExt cx="0" cy="0"/>
        </a:xfrm>
      </p:grpSpPr>
      <p:sp>
        <p:nvSpPr>
          <p:cNvPr id="284" name="Google Shape;284;p46"/>
          <p:cNvSpPr txBox="1">
            <a:spLocks noGrp="1"/>
          </p:cNvSpPr>
          <p:nvPr>
            <p:ph type="title"/>
          </p:nvPr>
        </p:nvSpPr>
        <p:spPr>
          <a:xfrm>
            <a:off x="311700" y="14245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Clr>
                <a:schemeClr val="dk1"/>
              </a:buClr>
              <a:buSzPct val="39285"/>
              <a:buFont typeface="Arial"/>
              <a:buNone/>
            </a:pPr>
            <a:r>
              <a:rPr lang="en"/>
              <a:t>Approach of Gradient Descent</a:t>
            </a:r>
            <a:endParaRPr/>
          </a:p>
          <a:p>
            <a:pPr marL="0" lvl="0" indent="0" algn="l" rtl="0">
              <a:spcBef>
                <a:spcPts val="0"/>
              </a:spcBef>
              <a:spcAft>
                <a:spcPts val="0"/>
              </a:spcAft>
              <a:buNone/>
            </a:pPr>
            <a:endParaRPr/>
          </a:p>
        </p:txBody>
      </p:sp>
      <p:sp>
        <p:nvSpPr>
          <p:cNvPr id="285" name="Google Shape;285;p46"/>
          <p:cNvSpPr txBox="1">
            <a:spLocks noGrp="1"/>
          </p:cNvSpPr>
          <p:nvPr>
            <p:ph type="body" idx="1"/>
          </p:nvPr>
        </p:nvSpPr>
        <p:spPr>
          <a:xfrm>
            <a:off x="311700" y="715150"/>
            <a:ext cx="8520600" cy="4147800"/>
          </a:xfrm>
          <a:prstGeom prst="rect">
            <a:avLst/>
          </a:prstGeom>
        </p:spPr>
        <p:txBody>
          <a:bodyPr spcFirstLastPara="1" wrap="square" lIns="91425" tIns="91425" rIns="91425" bIns="91425" anchor="t" anchorCtr="0">
            <a:normAutofit/>
          </a:bodyPr>
          <a:lstStyle/>
          <a:p>
            <a:pPr marL="457200" lvl="0" indent="-355600" algn="l" rtl="0">
              <a:spcBef>
                <a:spcPts val="0"/>
              </a:spcBef>
              <a:spcAft>
                <a:spcPts val="0"/>
              </a:spcAft>
              <a:buSzPts val="2000"/>
              <a:buChar char="●"/>
            </a:pPr>
            <a:r>
              <a:rPr lang="en" dirty="0"/>
              <a:t>First order Gradient Descent algos consider the first order derivatives to get the value (magnitude) and direction of update. </a:t>
            </a:r>
            <a:endParaRPr dirty="0"/>
          </a:p>
        </p:txBody>
      </p:sp>
      <p:sp>
        <p:nvSpPr>
          <p:cNvPr id="286" name="Google Shape;286;p46"/>
          <p:cNvSpPr txBox="1"/>
          <p:nvPr/>
        </p:nvSpPr>
        <p:spPr>
          <a:xfrm>
            <a:off x="540300" y="2291250"/>
            <a:ext cx="4331100" cy="2717700"/>
          </a:xfrm>
          <a:prstGeom prst="rect">
            <a:avLst/>
          </a:prstGeom>
          <a:noFill/>
          <a:ln>
            <a:noFill/>
          </a:ln>
        </p:spPr>
        <p:txBody>
          <a:bodyPr spcFirstLastPara="1" wrap="square" lIns="91425" tIns="91425" rIns="91425" bIns="91425" anchor="t" anchorCtr="0">
            <a:spAutoFit/>
          </a:bodyPr>
          <a:lstStyle/>
          <a:p>
            <a:pPr marL="0" lvl="0" indent="0" algn="l" rtl="0">
              <a:lnSpc>
                <a:spcPct val="135714"/>
              </a:lnSpc>
              <a:spcBef>
                <a:spcPts val="0"/>
              </a:spcBef>
              <a:spcAft>
                <a:spcPts val="0"/>
              </a:spcAft>
              <a:buNone/>
            </a:pPr>
            <a:r>
              <a:rPr lang="en" sz="1800">
                <a:solidFill>
                  <a:srgbClr val="0000FF"/>
                </a:solidFill>
                <a:highlight>
                  <a:srgbClr val="F7F7F7"/>
                </a:highlight>
                <a:latin typeface="Courier New"/>
                <a:ea typeface="Courier New"/>
                <a:cs typeface="Courier New"/>
                <a:sym typeface="Courier New"/>
              </a:rPr>
              <a:t>def</a:t>
            </a:r>
            <a:r>
              <a:rPr lang="en" sz="1800">
                <a:solidFill>
                  <a:schemeClr val="dk1"/>
                </a:solidFill>
                <a:highlight>
                  <a:srgbClr val="F7F7F7"/>
                </a:highlight>
                <a:latin typeface="Courier New"/>
                <a:ea typeface="Courier New"/>
                <a:cs typeface="Courier New"/>
                <a:sym typeface="Courier New"/>
              </a:rPr>
              <a:t> </a:t>
            </a:r>
            <a:r>
              <a:rPr lang="en" sz="1800">
                <a:solidFill>
                  <a:srgbClr val="795E26"/>
                </a:solidFill>
                <a:highlight>
                  <a:srgbClr val="F7F7F7"/>
                </a:highlight>
                <a:latin typeface="Courier New"/>
                <a:ea typeface="Courier New"/>
                <a:cs typeface="Courier New"/>
                <a:sym typeface="Courier New"/>
              </a:rPr>
              <a:t>gd</a:t>
            </a:r>
            <a:r>
              <a:rPr lang="en" sz="1800">
                <a:solidFill>
                  <a:schemeClr val="dk1"/>
                </a:solidFill>
                <a:highlight>
                  <a:srgbClr val="F7F7F7"/>
                </a:highlight>
                <a:latin typeface="Courier New"/>
                <a:ea typeface="Courier New"/>
                <a:cs typeface="Courier New"/>
                <a:sym typeface="Courier New"/>
              </a:rPr>
              <a:t>(</a:t>
            </a:r>
            <a:r>
              <a:rPr lang="en" sz="1800">
                <a:solidFill>
                  <a:srgbClr val="001080"/>
                </a:solidFill>
                <a:highlight>
                  <a:srgbClr val="F7F7F7"/>
                </a:highlight>
                <a:latin typeface="Courier New"/>
                <a:ea typeface="Courier New"/>
                <a:cs typeface="Courier New"/>
                <a:sym typeface="Courier New"/>
              </a:rPr>
              <a:t>eta</a:t>
            </a:r>
            <a:r>
              <a:rPr lang="en" sz="1800">
                <a:solidFill>
                  <a:schemeClr val="dk1"/>
                </a:solidFill>
                <a:highlight>
                  <a:srgbClr val="F7F7F7"/>
                </a:highlight>
                <a:latin typeface="Courier New"/>
                <a:ea typeface="Courier New"/>
                <a:cs typeface="Courier New"/>
                <a:sym typeface="Courier New"/>
              </a:rPr>
              <a:t>, </a:t>
            </a:r>
            <a:r>
              <a:rPr lang="en" sz="1800">
                <a:solidFill>
                  <a:srgbClr val="001080"/>
                </a:solidFill>
                <a:highlight>
                  <a:srgbClr val="F7F7F7"/>
                </a:highlight>
                <a:latin typeface="Courier New"/>
                <a:ea typeface="Courier New"/>
                <a:cs typeface="Courier New"/>
                <a:sym typeface="Courier New"/>
              </a:rPr>
              <a:t>f_grad</a:t>
            </a:r>
            <a:r>
              <a:rPr lang="en" sz="1800">
                <a:solidFill>
                  <a:schemeClr val="dk1"/>
                </a:solidFill>
                <a:highlight>
                  <a:srgbClr val="F7F7F7"/>
                </a:highlight>
                <a:latin typeface="Courier New"/>
                <a:ea typeface="Courier New"/>
                <a:cs typeface="Courier New"/>
                <a:sym typeface="Courier New"/>
              </a:rPr>
              <a:t>):</a:t>
            </a:r>
            <a:endParaRPr sz="1800">
              <a:solidFill>
                <a:schemeClr val="dk1"/>
              </a:solidFill>
              <a:highlight>
                <a:srgbClr val="F7F7F7"/>
              </a:highlight>
              <a:latin typeface="Courier New"/>
              <a:ea typeface="Courier New"/>
              <a:cs typeface="Courier New"/>
              <a:sym typeface="Courier New"/>
            </a:endParaRPr>
          </a:p>
          <a:p>
            <a:pPr marL="0" lvl="0" indent="0" algn="l" rtl="0">
              <a:lnSpc>
                <a:spcPct val="135714"/>
              </a:lnSpc>
              <a:spcBef>
                <a:spcPts val="0"/>
              </a:spcBef>
              <a:spcAft>
                <a:spcPts val="0"/>
              </a:spcAft>
              <a:buNone/>
            </a:pPr>
            <a:r>
              <a:rPr lang="en" sz="1800">
                <a:solidFill>
                  <a:schemeClr val="dk1"/>
                </a:solidFill>
                <a:highlight>
                  <a:srgbClr val="F7F7F7"/>
                </a:highlight>
                <a:latin typeface="Courier New"/>
                <a:ea typeface="Courier New"/>
                <a:cs typeface="Courier New"/>
                <a:sym typeface="Courier New"/>
              </a:rPr>
              <a:t> x = </a:t>
            </a:r>
            <a:r>
              <a:rPr lang="en" sz="1800">
                <a:solidFill>
                  <a:srgbClr val="098156"/>
                </a:solidFill>
                <a:highlight>
                  <a:srgbClr val="F7F7F7"/>
                </a:highlight>
                <a:latin typeface="Courier New"/>
                <a:ea typeface="Courier New"/>
                <a:cs typeface="Courier New"/>
                <a:sym typeface="Courier New"/>
              </a:rPr>
              <a:t>10.0</a:t>
            </a:r>
            <a:endParaRPr sz="1800">
              <a:solidFill>
                <a:srgbClr val="098156"/>
              </a:solidFill>
              <a:highlight>
                <a:srgbClr val="F7F7F7"/>
              </a:highlight>
              <a:latin typeface="Courier New"/>
              <a:ea typeface="Courier New"/>
              <a:cs typeface="Courier New"/>
              <a:sym typeface="Courier New"/>
            </a:endParaRPr>
          </a:p>
          <a:p>
            <a:pPr marL="0" lvl="0" indent="0" algn="l" rtl="0">
              <a:lnSpc>
                <a:spcPct val="135714"/>
              </a:lnSpc>
              <a:spcBef>
                <a:spcPts val="0"/>
              </a:spcBef>
              <a:spcAft>
                <a:spcPts val="0"/>
              </a:spcAft>
              <a:buNone/>
            </a:pPr>
            <a:r>
              <a:rPr lang="en" sz="1800">
                <a:solidFill>
                  <a:schemeClr val="dk1"/>
                </a:solidFill>
                <a:highlight>
                  <a:srgbClr val="F7F7F7"/>
                </a:highlight>
                <a:latin typeface="Courier New"/>
                <a:ea typeface="Courier New"/>
                <a:cs typeface="Courier New"/>
                <a:sym typeface="Courier New"/>
              </a:rPr>
              <a:t> results = [x]</a:t>
            </a:r>
            <a:endParaRPr sz="1800">
              <a:solidFill>
                <a:schemeClr val="dk1"/>
              </a:solidFill>
              <a:highlight>
                <a:srgbClr val="F7F7F7"/>
              </a:highlight>
              <a:latin typeface="Courier New"/>
              <a:ea typeface="Courier New"/>
              <a:cs typeface="Courier New"/>
              <a:sym typeface="Courier New"/>
            </a:endParaRPr>
          </a:p>
          <a:p>
            <a:pPr marL="0" lvl="0" indent="0" algn="l" rtl="0">
              <a:lnSpc>
                <a:spcPct val="135714"/>
              </a:lnSpc>
              <a:spcBef>
                <a:spcPts val="0"/>
              </a:spcBef>
              <a:spcAft>
                <a:spcPts val="0"/>
              </a:spcAft>
              <a:buNone/>
            </a:pPr>
            <a:r>
              <a:rPr lang="en" sz="1800">
                <a:solidFill>
                  <a:schemeClr val="dk1"/>
                </a:solidFill>
                <a:highlight>
                  <a:srgbClr val="F7F7F7"/>
                </a:highlight>
                <a:latin typeface="Courier New"/>
                <a:ea typeface="Courier New"/>
                <a:cs typeface="Courier New"/>
                <a:sym typeface="Courier New"/>
              </a:rPr>
              <a:t> </a:t>
            </a:r>
            <a:r>
              <a:rPr lang="en" sz="1800">
                <a:solidFill>
                  <a:srgbClr val="AF00DB"/>
                </a:solidFill>
                <a:highlight>
                  <a:srgbClr val="F7F7F7"/>
                </a:highlight>
                <a:latin typeface="Courier New"/>
                <a:ea typeface="Courier New"/>
                <a:cs typeface="Courier New"/>
                <a:sym typeface="Courier New"/>
              </a:rPr>
              <a:t>for</a:t>
            </a:r>
            <a:r>
              <a:rPr lang="en" sz="1800">
                <a:solidFill>
                  <a:schemeClr val="dk1"/>
                </a:solidFill>
                <a:highlight>
                  <a:srgbClr val="F7F7F7"/>
                </a:highlight>
                <a:latin typeface="Courier New"/>
                <a:ea typeface="Courier New"/>
                <a:cs typeface="Courier New"/>
                <a:sym typeface="Courier New"/>
              </a:rPr>
              <a:t> i </a:t>
            </a:r>
            <a:r>
              <a:rPr lang="en" sz="1800">
                <a:solidFill>
                  <a:srgbClr val="0000FF"/>
                </a:solidFill>
                <a:highlight>
                  <a:srgbClr val="F7F7F7"/>
                </a:highlight>
                <a:latin typeface="Courier New"/>
                <a:ea typeface="Courier New"/>
                <a:cs typeface="Courier New"/>
                <a:sym typeface="Courier New"/>
              </a:rPr>
              <a:t>in</a:t>
            </a:r>
            <a:r>
              <a:rPr lang="en" sz="1800">
                <a:solidFill>
                  <a:schemeClr val="dk1"/>
                </a:solidFill>
                <a:highlight>
                  <a:srgbClr val="F7F7F7"/>
                </a:highlight>
                <a:latin typeface="Courier New"/>
                <a:ea typeface="Courier New"/>
                <a:cs typeface="Courier New"/>
                <a:sym typeface="Courier New"/>
              </a:rPr>
              <a:t> </a:t>
            </a:r>
            <a:r>
              <a:rPr lang="en" sz="1800">
                <a:solidFill>
                  <a:srgbClr val="795E26"/>
                </a:solidFill>
                <a:highlight>
                  <a:srgbClr val="F7F7F7"/>
                </a:highlight>
                <a:latin typeface="Courier New"/>
                <a:ea typeface="Courier New"/>
                <a:cs typeface="Courier New"/>
                <a:sym typeface="Courier New"/>
              </a:rPr>
              <a:t>range</a:t>
            </a:r>
            <a:r>
              <a:rPr lang="en" sz="1800">
                <a:solidFill>
                  <a:schemeClr val="dk1"/>
                </a:solidFill>
                <a:highlight>
                  <a:srgbClr val="F7F7F7"/>
                </a:highlight>
                <a:latin typeface="Courier New"/>
                <a:ea typeface="Courier New"/>
                <a:cs typeface="Courier New"/>
                <a:sym typeface="Courier New"/>
              </a:rPr>
              <a:t>(</a:t>
            </a:r>
            <a:r>
              <a:rPr lang="en" sz="1800">
                <a:solidFill>
                  <a:srgbClr val="098156"/>
                </a:solidFill>
                <a:highlight>
                  <a:srgbClr val="F7F7F7"/>
                </a:highlight>
                <a:latin typeface="Courier New"/>
                <a:ea typeface="Courier New"/>
                <a:cs typeface="Courier New"/>
                <a:sym typeface="Courier New"/>
              </a:rPr>
              <a:t>10</a:t>
            </a:r>
            <a:r>
              <a:rPr lang="en" sz="1800">
                <a:solidFill>
                  <a:schemeClr val="dk1"/>
                </a:solidFill>
                <a:highlight>
                  <a:srgbClr val="F7F7F7"/>
                </a:highlight>
                <a:latin typeface="Courier New"/>
                <a:ea typeface="Courier New"/>
                <a:cs typeface="Courier New"/>
                <a:sym typeface="Courier New"/>
              </a:rPr>
              <a:t>):</a:t>
            </a:r>
            <a:endParaRPr sz="1800">
              <a:solidFill>
                <a:schemeClr val="dk1"/>
              </a:solidFill>
              <a:highlight>
                <a:srgbClr val="F7F7F7"/>
              </a:highlight>
              <a:latin typeface="Courier New"/>
              <a:ea typeface="Courier New"/>
              <a:cs typeface="Courier New"/>
              <a:sym typeface="Courier New"/>
            </a:endParaRPr>
          </a:p>
          <a:p>
            <a:pPr marL="0" lvl="0" indent="0" algn="l" rtl="0">
              <a:lnSpc>
                <a:spcPct val="135714"/>
              </a:lnSpc>
              <a:spcBef>
                <a:spcPts val="0"/>
              </a:spcBef>
              <a:spcAft>
                <a:spcPts val="0"/>
              </a:spcAft>
              <a:buNone/>
            </a:pPr>
            <a:r>
              <a:rPr lang="en" sz="1800">
                <a:solidFill>
                  <a:schemeClr val="dk1"/>
                </a:solidFill>
                <a:highlight>
                  <a:srgbClr val="F7F7F7"/>
                </a:highlight>
                <a:latin typeface="Courier New"/>
                <a:ea typeface="Courier New"/>
                <a:cs typeface="Courier New"/>
                <a:sym typeface="Courier New"/>
              </a:rPr>
              <a:t>   x -= eta * f_grad(x)</a:t>
            </a:r>
            <a:endParaRPr sz="1800">
              <a:solidFill>
                <a:schemeClr val="dk1"/>
              </a:solidFill>
              <a:highlight>
                <a:srgbClr val="F7F7F7"/>
              </a:highlight>
              <a:latin typeface="Courier New"/>
              <a:ea typeface="Courier New"/>
              <a:cs typeface="Courier New"/>
              <a:sym typeface="Courier New"/>
            </a:endParaRPr>
          </a:p>
          <a:p>
            <a:pPr marL="0" lvl="0" indent="0" algn="l" rtl="0">
              <a:lnSpc>
                <a:spcPct val="135714"/>
              </a:lnSpc>
              <a:spcBef>
                <a:spcPts val="0"/>
              </a:spcBef>
              <a:spcAft>
                <a:spcPts val="0"/>
              </a:spcAft>
              <a:buNone/>
            </a:pPr>
            <a:r>
              <a:rPr lang="en" sz="1800">
                <a:solidFill>
                  <a:schemeClr val="dk1"/>
                </a:solidFill>
                <a:highlight>
                  <a:srgbClr val="F7F7F7"/>
                </a:highlight>
                <a:latin typeface="Courier New"/>
                <a:ea typeface="Courier New"/>
                <a:cs typeface="Courier New"/>
                <a:sym typeface="Courier New"/>
              </a:rPr>
              <a:t>   results.append(</a:t>
            </a:r>
            <a:r>
              <a:rPr lang="en" sz="1800">
                <a:solidFill>
                  <a:srgbClr val="257693"/>
                </a:solidFill>
                <a:highlight>
                  <a:srgbClr val="F7F7F7"/>
                </a:highlight>
                <a:latin typeface="Courier New"/>
                <a:ea typeface="Courier New"/>
                <a:cs typeface="Courier New"/>
                <a:sym typeface="Courier New"/>
              </a:rPr>
              <a:t>float</a:t>
            </a:r>
            <a:r>
              <a:rPr lang="en" sz="1800">
                <a:solidFill>
                  <a:schemeClr val="dk1"/>
                </a:solidFill>
                <a:highlight>
                  <a:srgbClr val="F7F7F7"/>
                </a:highlight>
                <a:latin typeface="Courier New"/>
                <a:ea typeface="Courier New"/>
                <a:cs typeface="Courier New"/>
                <a:sym typeface="Courier New"/>
              </a:rPr>
              <a:t>(x))</a:t>
            </a:r>
            <a:endParaRPr sz="1800">
              <a:solidFill>
                <a:schemeClr val="dk1"/>
              </a:solidFill>
              <a:highlight>
                <a:srgbClr val="F7F7F7"/>
              </a:highlight>
              <a:latin typeface="Courier New"/>
              <a:ea typeface="Courier New"/>
              <a:cs typeface="Courier New"/>
              <a:sym typeface="Courier New"/>
            </a:endParaRPr>
          </a:p>
          <a:p>
            <a:pPr marL="0" lvl="0" indent="0" algn="l" rtl="0">
              <a:lnSpc>
                <a:spcPct val="135714"/>
              </a:lnSpc>
              <a:spcBef>
                <a:spcPts val="0"/>
              </a:spcBef>
              <a:spcAft>
                <a:spcPts val="0"/>
              </a:spcAft>
              <a:buNone/>
            </a:pPr>
            <a:r>
              <a:rPr lang="en" sz="1800">
                <a:solidFill>
                  <a:schemeClr val="dk1"/>
                </a:solidFill>
                <a:highlight>
                  <a:srgbClr val="F7F7F7"/>
                </a:highlight>
                <a:latin typeface="Courier New"/>
                <a:ea typeface="Courier New"/>
                <a:cs typeface="Courier New"/>
                <a:sym typeface="Courier New"/>
              </a:rPr>
              <a:t> </a:t>
            </a:r>
            <a:r>
              <a:rPr lang="en" sz="1800">
                <a:solidFill>
                  <a:srgbClr val="AF00DB"/>
                </a:solidFill>
                <a:highlight>
                  <a:srgbClr val="F7F7F7"/>
                </a:highlight>
                <a:latin typeface="Courier New"/>
                <a:ea typeface="Courier New"/>
                <a:cs typeface="Courier New"/>
                <a:sym typeface="Courier New"/>
              </a:rPr>
              <a:t>return</a:t>
            </a:r>
            <a:r>
              <a:rPr lang="en" sz="1800">
                <a:solidFill>
                  <a:schemeClr val="dk1"/>
                </a:solidFill>
                <a:highlight>
                  <a:srgbClr val="F7F7F7"/>
                </a:highlight>
                <a:latin typeface="Courier New"/>
                <a:ea typeface="Courier New"/>
                <a:cs typeface="Courier New"/>
                <a:sym typeface="Courier New"/>
              </a:rPr>
              <a:t> results</a:t>
            </a:r>
            <a:endParaRPr sz="1800">
              <a:solidFill>
                <a:schemeClr val="dk1"/>
              </a:solidFill>
              <a:highlight>
                <a:srgbClr val="F7F7F7"/>
              </a:highlight>
              <a:latin typeface="Courier New"/>
              <a:ea typeface="Courier New"/>
              <a:cs typeface="Courier New"/>
              <a:sym typeface="Courier New"/>
            </a:endParaRPr>
          </a:p>
        </p:txBody>
      </p:sp>
      <p:pic>
        <p:nvPicPr>
          <p:cNvPr id="287" name="Google Shape;287;p46"/>
          <p:cNvPicPr preferRelativeResize="0"/>
          <p:nvPr/>
        </p:nvPicPr>
        <p:blipFill>
          <a:blip r:embed="rId3">
            <a:alphaModFix/>
          </a:blip>
          <a:stretch>
            <a:fillRect/>
          </a:stretch>
        </p:blipFill>
        <p:spPr>
          <a:xfrm>
            <a:off x="5540449" y="2702375"/>
            <a:ext cx="3211701" cy="2312975"/>
          </a:xfrm>
          <a:prstGeom prst="rect">
            <a:avLst/>
          </a:prstGeom>
          <a:noFill/>
          <a:ln>
            <a:noFill/>
          </a:ln>
        </p:spPr>
      </p:pic>
      <p:sp>
        <p:nvSpPr>
          <p:cNvPr id="288" name="Google Shape;288;p46"/>
          <p:cNvSpPr txBox="1"/>
          <p:nvPr/>
        </p:nvSpPr>
        <p:spPr>
          <a:xfrm>
            <a:off x="5734200" y="2164475"/>
            <a:ext cx="3326700" cy="461700"/>
          </a:xfrm>
          <a:prstGeom prst="rect">
            <a:avLst/>
          </a:prstGeom>
          <a:noFill/>
          <a:ln>
            <a:noFill/>
          </a:ln>
        </p:spPr>
        <p:txBody>
          <a:bodyPr spcFirstLastPara="1" wrap="square" lIns="91425" tIns="91425" rIns="91425" bIns="91425" anchor="t" anchorCtr="0">
            <a:spAutoFit/>
          </a:bodyPr>
          <a:lstStyle/>
          <a:p>
            <a:pPr marL="0" lvl="0" indent="0" algn="l" rtl="0">
              <a:lnSpc>
                <a:spcPct val="135714"/>
              </a:lnSpc>
              <a:spcBef>
                <a:spcPts val="0"/>
              </a:spcBef>
              <a:spcAft>
                <a:spcPts val="0"/>
              </a:spcAft>
              <a:buNone/>
            </a:pPr>
            <a:r>
              <a:rPr lang="en" sz="1800">
                <a:solidFill>
                  <a:schemeClr val="dk1"/>
                </a:solidFill>
                <a:highlight>
                  <a:srgbClr val="F7F7F7"/>
                </a:highlight>
                <a:latin typeface="Courier New"/>
                <a:ea typeface="Courier New"/>
                <a:cs typeface="Courier New"/>
                <a:sym typeface="Courier New"/>
              </a:rPr>
              <a:t>gd(eta = </a:t>
            </a:r>
            <a:r>
              <a:rPr lang="en" sz="1800">
                <a:solidFill>
                  <a:srgbClr val="098156"/>
                </a:solidFill>
                <a:highlight>
                  <a:srgbClr val="F7F7F7"/>
                </a:highlight>
                <a:latin typeface="Courier New"/>
                <a:ea typeface="Courier New"/>
                <a:cs typeface="Courier New"/>
                <a:sym typeface="Courier New"/>
              </a:rPr>
              <a:t>0.2</a:t>
            </a:r>
            <a:r>
              <a:rPr lang="en" sz="1800">
                <a:solidFill>
                  <a:schemeClr val="dk1"/>
                </a:solidFill>
                <a:highlight>
                  <a:srgbClr val="F7F7F7"/>
                </a:highlight>
                <a:latin typeface="Courier New"/>
                <a:ea typeface="Courier New"/>
                <a:cs typeface="Courier New"/>
                <a:sym typeface="Courier New"/>
              </a:rPr>
              <a:t>, f_grad)</a:t>
            </a:r>
            <a:endParaRPr sz="1800">
              <a:solidFill>
                <a:srgbClr val="0000FF"/>
              </a:solidFill>
              <a:highlight>
                <a:srgbClr val="F7F7F7"/>
              </a:highlight>
              <a:latin typeface="Courier New"/>
              <a:ea typeface="Courier New"/>
              <a:cs typeface="Courier New"/>
              <a:sym typeface="Courier New"/>
            </a:endParaRPr>
          </a:p>
        </p:txBody>
      </p:sp>
      <p:sp>
        <p:nvSpPr>
          <p:cNvPr id="289" name="Google Shape;289;p46"/>
          <p:cNvSpPr txBox="1">
            <a:spLocks noGrp="1"/>
          </p:cNvSpPr>
          <p:nvPr>
            <p:ph type="sldNum" idx="12"/>
          </p:nvPr>
        </p:nvSpPr>
        <p:spPr>
          <a:xfrm>
            <a:off x="8484550" y="4863199"/>
            <a:ext cx="548700" cy="310800"/>
          </a:xfrm>
          <a:prstGeom prst="rect">
            <a:avLst/>
          </a:prstGeom>
        </p:spPr>
        <p:txBody>
          <a:bodyPr spcFirstLastPara="1" wrap="square" lIns="91425" tIns="91425" rIns="91425" bIns="91425" anchor="ctr" anchorCtr="0">
            <a:normAutofit fontScale="92500"/>
          </a:bodyPr>
          <a:lstStyle/>
          <a:p>
            <a:pPr marL="0" lvl="0" indent="0" algn="r" rtl="0">
              <a:spcBef>
                <a:spcPts val="0"/>
              </a:spcBef>
              <a:spcAft>
                <a:spcPts val="0"/>
              </a:spcAft>
              <a:buNone/>
            </a:pPr>
            <a:fld id="{00000000-1234-1234-1234-123412341234}" type="slidenum">
              <a:rPr lang="en"/>
              <a:t>32</a:t>
            </a:fld>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293"/>
        <p:cNvGrpSpPr/>
        <p:nvPr/>
      </p:nvGrpSpPr>
      <p:grpSpPr>
        <a:xfrm>
          <a:off x="0" y="0"/>
          <a:ext cx="0" cy="0"/>
          <a:chOff x="0" y="0"/>
          <a:chExt cx="0" cy="0"/>
        </a:xfrm>
      </p:grpSpPr>
      <p:sp>
        <p:nvSpPr>
          <p:cNvPr id="294" name="Google Shape;294;p47"/>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r>
              <a:rPr lang="en" sz="2800" b="1" dirty="0"/>
              <a:t>Effect of Learning Rate on Gradient Descent</a:t>
            </a:r>
            <a:endParaRPr sz="2800" b="1" dirty="0"/>
          </a:p>
        </p:txBody>
      </p:sp>
      <p:sp>
        <p:nvSpPr>
          <p:cNvPr id="295" name="Google Shape;295;p4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33</a:t>
            </a:fld>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299"/>
        <p:cNvGrpSpPr/>
        <p:nvPr/>
      </p:nvGrpSpPr>
      <p:grpSpPr>
        <a:xfrm>
          <a:off x="0" y="0"/>
          <a:ext cx="0" cy="0"/>
          <a:chOff x="0" y="0"/>
          <a:chExt cx="0" cy="0"/>
        </a:xfrm>
      </p:grpSpPr>
      <p:sp>
        <p:nvSpPr>
          <p:cNvPr id="300" name="Google Shape;300;p48"/>
          <p:cNvSpPr txBox="1">
            <a:spLocks noGrp="1"/>
          </p:cNvSpPr>
          <p:nvPr>
            <p:ph type="title"/>
          </p:nvPr>
        </p:nvSpPr>
        <p:spPr>
          <a:xfrm>
            <a:off x="311700" y="14245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Learning Rate</a:t>
            </a:r>
            <a:endParaRPr/>
          </a:p>
        </p:txBody>
      </p:sp>
      <p:sp>
        <p:nvSpPr>
          <p:cNvPr id="301" name="Google Shape;301;p48"/>
          <p:cNvSpPr txBox="1">
            <a:spLocks noGrp="1"/>
          </p:cNvSpPr>
          <p:nvPr>
            <p:ph type="body" idx="1"/>
          </p:nvPr>
        </p:nvSpPr>
        <p:spPr>
          <a:xfrm>
            <a:off x="311700" y="715150"/>
            <a:ext cx="8520600" cy="4147800"/>
          </a:xfrm>
          <a:prstGeom prst="rect">
            <a:avLst/>
          </a:prstGeom>
        </p:spPr>
        <p:txBody>
          <a:bodyPr spcFirstLastPara="1" wrap="square" lIns="91425" tIns="91425" rIns="91425" bIns="91425" anchor="t" anchorCtr="0">
            <a:normAutofit/>
          </a:bodyPr>
          <a:lstStyle/>
          <a:p>
            <a:pPr marL="457200" lvl="0" indent="-355600" algn="just" rtl="0">
              <a:lnSpc>
                <a:spcPct val="150000"/>
              </a:lnSpc>
              <a:spcBef>
                <a:spcPts val="0"/>
              </a:spcBef>
              <a:spcAft>
                <a:spcPts val="0"/>
              </a:spcAft>
              <a:buSzPts val="2000"/>
              <a:buChar char="●"/>
            </a:pPr>
            <a:r>
              <a:rPr lang="en" dirty="0"/>
              <a:t>The role of the learning rate is to moderate the degree to which weights are changed at each step. </a:t>
            </a:r>
            <a:endParaRPr dirty="0"/>
          </a:p>
          <a:p>
            <a:pPr marL="457200" lvl="0" indent="-355600" algn="just" rtl="0">
              <a:lnSpc>
                <a:spcPct val="150000"/>
              </a:lnSpc>
              <a:spcBef>
                <a:spcPts val="0"/>
              </a:spcBef>
              <a:spcAft>
                <a:spcPts val="0"/>
              </a:spcAft>
              <a:buSzPts val="2000"/>
              <a:buChar char="●"/>
            </a:pPr>
            <a:r>
              <a:rPr lang="en" dirty="0"/>
              <a:t>Learning rate η is set by the algorithm designer. </a:t>
            </a:r>
            <a:endParaRPr dirty="0"/>
          </a:p>
          <a:p>
            <a:pPr marL="457200" lvl="0" indent="-355600" algn="just" rtl="0">
              <a:lnSpc>
                <a:spcPct val="150000"/>
              </a:lnSpc>
              <a:spcBef>
                <a:spcPts val="0"/>
              </a:spcBef>
              <a:spcAft>
                <a:spcPts val="0"/>
              </a:spcAft>
              <a:buSzPts val="2000"/>
              <a:buChar char="●"/>
            </a:pPr>
            <a:r>
              <a:rPr lang="en" dirty="0"/>
              <a:t>If the learning rate that is too small, it will cause x to update very slowly, requiring more iterations to get a better solution. </a:t>
            </a:r>
            <a:endParaRPr dirty="0"/>
          </a:p>
          <a:p>
            <a:pPr marL="457200" lvl="0" indent="-355600" algn="just" rtl="0">
              <a:lnSpc>
                <a:spcPct val="150000"/>
              </a:lnSpc>
              <a:spcBef>
                <a:spcPts val="0"/>
              </a:spcBef>
              <a:spcAft>
                <a:spcPts val="0"/>
              </a:spcAft>
              <a:buSzPts val="2000"/>
              <a:buChar char="●"/>
            </a:pPr>
            <a:r>
              <a:rPr lang="en" dirty="0"/>
              <a:t>If the learning rate that is too large, the solution oscillates and in the worst case it might even diverge.</a:t>
            </a:r>
            <a:endParaRPr dirty="0"/>
          </a:p>
          <a:p>
            <a:pPr marL="0" lvl="0" indent="0" algn="l" rtl="0">
              <a:spcBef>
                <a:spcPts val="1200"/>
              </a:spcBef>
              <a:spcAft>
                <a:spcPts val="1200"/>
              </a:spcAft>
              <a:buNone/>
            </a:pPr>
            <a:endParaRPr dirty="0"/>
          </a:p>
        </p:txBody>
      </p:sp>
      <p:sp>
        <p:nvSpPr>
          <p:cNvPr id="302" name="Google Shape;302;p48"/>
          <p:cNvSpPr txBox="1">
            <a:spLocks noGrp="1"/>
          </p:cNvSpPr>
          <p:nvPr>
            <p:ph type="sldNum" idx="12"/>
          </p:nvPr>
        </p:nvSpPr>
        <p:spPr>
          <a:xfrm>
            <a:off x="8484550" y="4863199"/>
            <a:ext cx="548700" cy="310800"/>
          </a:xfrm>
          <a:prstGeom prst="rect">
            <a:avLst/>
          </a:prstGeom>
        </p:spPr>
        <p:txBody>
          <a:bodyPr spcFirstLastPara="1" wrap="square" lIns="91425" tIns="91425" rIns="91425" bIns="91425" anchor="ctr" anchorCtr="0">
            <a:normAutofit fontScale="92500"/>
          </a:bodyPr>
          <a:lstStyle/>
          <a:p>
            <a:pPr marL="0" lvl="0" indent="0" algn="r" rtl="0">
              <a:spcBef>
                <a:spcPts val="0"/>
              </a:spcBef>
              <a:spcAft>
                <a:spcPts val="0"/>
              </a:spcAft>
              <a:buNone/>
            </a:pPr>
            <a:fld id="{00000000-1234-1234-1234-123412341234}" type="slidenum">
              <a:rPr lang="en"/>
              <a:t>34</a:t>
            </a:fld>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sp>
        <p:nvSpPr>
          <p:cNvPr id="307" name="Google Shape;307;p49"/>
          <p:cNvSpPr txBox="1">
            <a:spLocks noGrp="1"/>
          </p:cNvSpPr>
          <p:nvPr>
            <p:ph type="title"/>
          </p:nvPr>
        </p:nvSpPr>
        <p:spPr>
          <a:xfrm>
            <a:off x="311700" y="14245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Learning rate and Gradient Descent</a:t>
            </a:r>
            <a:endParaRPr/>
          </a:p>
        </p:txBody>
      </p:sp>
      <p:sp>
        <p:nvSpPr>
          <p:cNvPr id="308" name="Google Shape;308;p49"/>
          <p:cNvSpPr txBox="1"/>
          <p:nvPr/>
        </p:nvSpPr>
        <p:spPr>
          <a:xfrm>
            <a:off x="419838" y="925138"/>
            <a:ext cx="3326700" cy="461700"/>
          </a:xfrm>
          <a:prstGeom prst="rect">
            <a:avLst/>
          </a:prstGeom>
          <a:noFill/>
          <a:ln>
            <a:noFill/>
          </a:ln>
        </p:spPr>
        <p:txBody>
          <a:bodyPr spcFirstLastPara="1" wrap="square" lIns="91425" tIns="91425" rIns="91425" bIns="91425" anchor="t" anchorCtr="0">
            <a:spAutoFit/>
          </a:bodyPr>
          <a:lstStyle/>
          <a:p>
            <a:pPr marL="0" lvl="0" indent="0" algn="l" rtl="0">
              <a:lnSpc>
                <a:spcPct val="135714"/>
              </a:lnSpc>
              <a:spcBef>
                <a:spcPts val="0"/>
              </a:spcBef>
              <a:spcAft>
                <a:spcPts val="0"/>
              </a:spcAft>
              <a:buNone/>
            </a:pPr>
            <a:r>
              <a:rPr lang="en" sz="1800">
                <a:solidFill>
                  <a:schemeClr val="dk1"/>
                </a:solidFill>
                <a:highlight>
                  <a:srgbClr val="F7F7F7"/>
                </a:highlight>
                <a:latin typeface="Courier New"/>
                <a:ea typeface="Courier New"/>
                <a:cs typeface="Courier New"/>
                <a:sym typeface="Courier New"/>
              </a:rPr>
              <a:t>gd(eta = </a:t>
            </a:r>
            <a:r>
              <a:rPr lang="en" sz="1800">
                <a:solidFill>
                  <a:srgbClr val="098156"/>
                </a:solidFill>
                <a:highlight>
                  <a:srgbClr val="F7F7F7"/>
                </a:highlight>
                <a:latin typeface="Courier New"/>
                <a:ea typeface="Courier New"/>
                <a:cs typeface="Courier New"/>
                <a:sym typeface="Courier New"/>
              </a:rPr>
              <a:t>0.05</a:t>
            </a:r>
            <a:r>
              <a:rPr lang="en" sz="1800">
                <a:solidFill>
                  <a:schemeClr val="dk1"/>
                </a:solidFill>
                <a:highlight>
                  <a:srgbClr val="F7F7F7"/>
                </a:highlight>
                <a:latin typeface="Courier New"/>
                <a:ea typeface="Courier New"/>
                <a:cs typeface="Courier New"/>
                <a:sym typeface="Courier New"/>
              </a:rPr>
              <a:t>, f_grad)</a:t>
            </a:r>
            <a:endParaRPr sz="1800">
              <a:solidFill>
                <a:srgbClr val="0000FF"/>
              </a:solidFill>
              <a:highlight>
                <a:srgbClr val="F7F7F7"/>
              </a:highlight>
              <a:latin typeface="Courier New"/>
              <a:ea typeface="Courier New"/>
              <a:cs typeface="Courier New"/>
              <a:sym typeface="Courier New"/>
            </a:endParaRPr>
          </a:p>
        </p:txBody>
      </p:sp>
      <p:sp>
        <p:nvSpPr>
          <p:cNvPr id="309" name="Google Shape;309;p49"/>
          <p:cNvSpPr txBox="1"/>
          <p:nvPr/>
        </p:nvSpPr>
        <p:spPr>
          <a:xfrm>
            <a:off x="5334000" y="925150"/>
            <a:ext cx="3326700" cy="461700"/>
          </a:xfrm>
          <a:prstGeom prst="rect">
            <a:avLst/>
          </a:prstGeom>
          <a:noFill/>
          <a:ln>
            <a:noFill/>
          </a:ln>
        </p:spPr>
        <p:txBody>
          <a:bodyPr spcFirstLastPara="1" wrap="square" lIns="91425" tIns="91425" rIns="91425" bIns="91425" anchor="t" anchorCtr="0">
            <a:spAutoFit/>
          </a:bodyPr>
          <a:lstStyle/>
          <a:p>
            <a:pPr marL="0" lvl="0" indent="0" algn="l" rtl="0">
              <a:lnSpc>
                <a:spcPct val="135714"/>
              </a:lnSpc>
              <a:spcBef>
                <a:spcPts val="0"/>
              </a:spcBef>
              <a:spcAft>
                <a:spcPts val="0"/>
              </a:spcAft>
              <a:buNone/>
            </a:pPr>
            <a:r>
              <a:rPr lang="en" sz="1800">
                <a:solidFill>
                  <a:schemeClr val="dk1"/>
                </a:solidFill>
                <a:highlight>
                  <a:srgbClr val="F7F7F7"/>
                </a:highlight>
                <a:latin typeface="Courier New"/>
                <a:ea typeface="Courier New"/>
                <a:cs typeface="Courier New"/>
                <a:sym typeface="Courier New"/>
              </a:rPr>
              <a:t>gd(eta = </a:t>
            </a:r>
            <a:r>
              <a:rPr lang="en" sz="1800">
                <a:solidFill>
                  <a:srgbClr val="098156"/>
                </a:solidFill>
                <a:highlight>
                  <a:srgbClr val="F7F7F7"/>
                </a:highlight>
                <a:latin typeface="Courier New"/>
                <a:ea typeface="Courier New"/>
                <a:cs typeface="Courier New"/>
                <a:sym typeface="Courier New"/>
              </a:rPr>
              <a:t>1.1</a:t>
            </a:r>
            <a:r>
              <a:rPr lang="en" sz="1800">
                <a:solidFill>
                  <a:schemeClr val="dk1"/>
                </a:solidFill>
                <a:highlight>
                  <a:srgbClr val="F7F7F7"/>
                </a:highlight>
                <a:latin typeface="Courier New"/>
                <a:ea typeface="Courier New"/>
                <a:cs typeface="Courier New"/>
                <a:sym typeface="Courier New"/>
              </a:rPr>
              <a:t>, f_grad)</a:t>
            </a:r>
            <a:endParaRPr sz="1800">
              <a:solidFill>
                <a:srgbClr val="0000FF"/>
              </a:solidFill>
              <a:highlight>
                <a:srgbClr val="F7F7F7"/>
              </a:highlight>
              <a:latin typeface="Courier New"/>
              <a:ea typeface="Courier New"/>
              <a:cs typeface="Courier New"/>
              <a:sym typeface="Courier New"/>
            </a:endParaRPr>
          </a:p>
        </p:txBody>
      </p:sp>
      <p:pic>
        <p:nvPicPr>
          <p:cNvPr id="310" name="Google Shape;310;p49"/>
          <p:cNvPicPr preferRelativeResize="0"/>
          <p:nvPr/>
        </p:nvPicPr>
        <p:blipFill>
          <a:blip r:embed="rId3">
            <a:alphaModFix/>
          </a:blip>
          <a:stretch>
            <a:fillRect/>
          </a:stretch>
        </p:blipFill>
        <p:spPr>
          <a:xfrm>
            <a:off x="419850" y="1478150"/>
            <a:ext cx="3326700" cy="2333871"/>
          </a:xfrm>
          <a:prstGeom prst="rect">
            <a:avLst/>
          </a:prstGeom>
          <a:noFill/>
          <a:ln>
            <a:noFill/>
          </a:ln>
        </p:spPr>
      </p:pic>
      <p:pic>
        <p:nvPicPr>
          <p:cNvPr id="311" name="Google Shape;311;p49"/>
          <p:cNvPicPr preferRelativeResize="0"/>
          <p:nvPr/>
        </p:nvPicPr>
        <p:blipFill>
          <a:blip r:embed="rId4">
            <a:alphaModFix/>
          </a:blip>
          <a:stretch>
            <a:fillRect/>
          </a:stretch>
        </p:blipFill>
        <p:spPr>
          <a:xfrm>
            <a:off x="5408325" y="1543425"/>
            <a:ext cx="3178051" cy="2203350"/>
          </a:xfrm>
          <a:prstGeom prst="rect">
            <a:avLst/>
          </a:prstGeom>
          <a:noFill/>
          <a:ln>
            <a:noFill/>
          </a:ln>
        </p:spPr>
      </p:pic>
      <p:sp>
        <p:nvSpPr>
          <p:cNvPr id="312" name="Google Shape;312;p49"/>
          <p:cNvSpPr txBox="1"/>
          <p:nvPr/>
        </p:nvSpPr>
        <p:spPr>
          <a:xfrm>
            <a:off x="488075" y="3830700"/>
            <a:ext cx="3704400" cy="1201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000" b="1" dirty="0"/>
              <a:t>Slow Learning</a:t>
            </a:r>
            <a:endParaRPr sz="2000" b="1" dirty="0"/>
          </a:p>
          <a:p>
            <a:pPr marL="0" lvl="0" indent="0" algn="just" rtl="0">
              <a:spcBef>
                <a:spcPts val="0"/>
              </a:spcBef>
              <a:spcAft>
                <a:spcPts val="0"/>
              </a:spcAft>
              <a:buClr>
                <a:schemeClr val="dk1"/>
              </a:buClr>
              <a:buSzPts val="1100"/>
              <a:buFont typeface="Arial"/>
              <a:buNone/>
            </a:pPr>
            <a:r>
              <a:rPr lang="en" sz="2000" dirty="0"/>
              <a:t>If we pick eta too small, we make little progress. </a:t>
            </a:r>
            <a:endParaRPr sz="2000" dirty="0"/>
          </a:p>
          <a:p>
            <a:pPr marL="0" lvl="0" indent="0" algn="l" rtl="0">
              <a:spcBef>
                <a:spcPts val="0"/>
              </a:spcBef>
              <a:spcAft>
                <a:spcPts val="0"/>
              </a:spcAft>
              <a:buNone/>
            </a:pPr>
            <a:endParaRPr sz="2000" dirty="0"/>
          </a:p>
        </p:txBody>
      </p:sp>
      <p:sp>
        <p:nvSpPr>
          <p:cNvPr id="313" name="Google Shape;313;p49"/>
          <p:cNvSpPr txBox="1"/>
          <p:nvPr/>
        </p:nvSpPr>
        <p:spPr>
          <a:xfrm>
            <a:off x="5408325" y="3782575"/>
            <a:ext cx="3378900" cy="1277564"/>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000" b="1" dirty="0"/>
              <a:t>Oscillations</a:t>
            </a:r>
            <a:endParaRPr sz="2000" b="1" dirty="0"/>
          </a:p>
          <a:p>
            <a:pPr marL="0" lvl="0" indent="0" algn="just" rtl="0">
              <a:spcBef>
                <a:spcPts val="0"/>
              </a:spcBef>
              <a:spcAft>
                <a:spcPts val="0"/>
              </a:spcAft>
              <a:buClr>
                <a:schemeClr val="dk1"/>
              </a:buClr>
              <a:buSzPts val="1100"/>
              <a:buFont typeface="Arial"/>
              <a:buNone/>
            </a:pPr>
            <a:r>
              <a:rPr lang="en" sz="1800" dirty="0"/>
              <a:t>If we pick eta too large, the solution oscillates and in the worst case it might diverge.</a:t>
            </a:r>
            <a:endParaRPr sz="1800" dirty="0"/>
          </a:p>
          <a:p>
            <a:pPr marL="0" lvl="0" indent="0" algn="l" rtl="0">
              <a:spcBef>
                <a:spcPts val="0"/>
              </a:spcBef>
              <a:spcAft>
                <a:spcPts val="0"/>
              </a:spcAft>
              <a:buNone/>
            </a:pPr>
            <a:endParaRPr sz="2000" dirty="0"/>
          </a:p>
        </p:txBody>
      </p:sp>
      <p:sp>
        <p:nvSpPr>
          <p:cNvPr id="314" name="Google Shape;314;p49"/>
          <p:cNvSpPr txBox="1">
            <a:spLocks noGrp="1"/>
          </p:cNvSpPr>
          <p:nvPr>
            <p:ph type="sldNum" idx="12"/>
          </p:nvPr>
        </p:nvSpPr>
        <p:spPr>
          <a:xfrm>
            <a:off x="8484550" y="4863199"/>
            <a:ext cx="548700" cy="310800"/>
          </a:xfrm>
          <a:prstGeom prst="rect">
            <a:avLst/>
          </a:prstGeom>
        </p:spPr>
        <p:txBody>
          <a:bodyPr spcFirstLastPara="1" wrap="square" lIns="91425" tIns="91425" rIns="91425" bIns="91425" anchor="ctr" anchorCtr="0">
            <a:normAutofit fontScale="92500"/>
          </a:bodyPr>
          <a:lstStyle/>
          <a:p>
            <a:pPr marL="0" lvl="0" indent="0" algn="r" rtl="0">
              <a:spcBef>
                <a:spcPts val="0"/>
              </a:spcBef>
              <a:spcAft>
                <a:spcPts val="0"/>
              </a:spcAft>
              <a:buNone/>
            </a:pPr>
            <a:fld id="{00000000-1234-1234-1234-123412341234}" type="slidenum">
              <a:rPr lang="en"/>
              <a:t>35</a:t>
            </a:fld>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318"/>
        <p:cNvGrpSpPr/>
        <p:nvPr/>
      </p:nvGrpSpPr>
      <p:grpSpPr>
        <a:xfrm>
          <a:off x="0" y="0"/>
          <a:ext cx="0" cy="0"/>
          <a:chOff x="0" y="0"/>
          <a:chExt cx="0" cy="0"/>
        </a:xfrm>
      </p:grpSpPr>
      <p:sp>
        <p:nvSpPr>
          <p:cNvPr id="319" name="Google Shape;319;p50"/>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r>
              <a:rPr lang="en"/>
              <a:t>Stochastic Gradient Descent</a:t>
            </a:r>
            <a:endParaRPr/>
          </a:p>
        </p:txBody>
      </p:sp>
      <p:sp>
        <p:nvSpPr>
          <p:cNvPr id="320" name="Google Shape;320;p5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36</a:t>
            </a:fld>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324"/>
        <p:cNvGrpSpPr/>
        <p:nvPr/>
      </p:nvGrpSpPr>
      <p:grpSpPr>
        <a:xfrm>
          <a:off x="0" y="0"/>
          <a:ext cx="0" cy="0"/>
          <a:chOff x="0" y="0"/>
          <a:chExt cx="0" cy="0"/>
        </a:xfrm>
      </p:grpSpPr>
      <p:sp>
        <p:nvSpPr>
          <p:cNvPr id="325" name="Google Shape;325;p51"/>
          <p:cNvSpPr txBox="1">
            <a:spLocks noGrp="1"/>
          </p:cNvSpPr>
          <p:nvPr>
            <p:ph type="title"/>
          </p:nvPr>
        </p:nvSpPr>
        <p:spPr>
          <a:xfrm>
            <a:off x="311700" y="14245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Clr>
                <a:schemeClr val="dk1"/>
              </a:buClr>
              <a:buSzPct val="39285"/>
              <a:buFont typeface="Arial"/>
              <a:buNone/>
            </a:pPr>
            <a:r>
              <a:rPr lang="en"/>
              <a:t>Stochastic Gradient Descent</a:t>
            </a:r>
            <a:endParaRPr/>
          </a:p>
          <a:p>
            <a:pPr marL="0" lvl="0" indent="0" algn="l" rtl="0">
              <a:spcBef>
                <a:spcPts val="0"/>
              </a:spcBef>
              <a:spcAft>
                <a:spcPts val="0"/>
              </a:spcAft>
              <a:buClr>
                <a:schemeClr val="dk1"/>
              </a:buClr>
              <a:buSzPct val="39285"/>
              <a:buFont typeface="Arial"/>
              <a:buNone/>
            </a:pPr>
            <a:endParaRPr/>
          </a:p>
          <a:p>
            <a:pPr marL="0" lvl="0" indent="0" algn="l" rtl="0">
              <a:spcBef>
                <a:spcPts val="0"/>
              </a:spcBef>
              <a:spcAft>
                <a:spcPts val="0"/>
              </a:spcAft>
              <a:buNone/>
            </a:pPr>
            <a:endParaRPr/>
          </a:p>
        </p:txBody>
      </p:sp>
      <p:sp>
        <p:nvSpPr>
          <p:cNvPr id="326" name="Google Shape;326;p51"/>
          <p:cNvSpPr txBox="1">
            <a:spLocks noGrp="1"/>
          </p:cNvSpPr>
          <p:nvPr>
            <p:ph type="body" idx="1"/>
          </p:nvPr>
        </p:nvSpPr>
        <p:spPr>
          <a:xfrm>
            <a:off x="311700" y="715150"/>
            <a:ext cx="8520600" cy="4328100"/>
          </a:xfrm>
          <a:prstGeom prst="rect">
            <a:avLst/>
          </a:prstGeom>
        </p:spPr>
        <p:txBody>
          <a:bodyPr spcFirstLastPara="1" wrap="square" lIns="91425" tIns="91425" rIns="91425" bIns="91425" anchor="t" anchorCtr="0">
            <a:normAutofit fontScale="85000" lnSpcReduction="10000"/>
          </a:bodyPr>
          <a:lstStyle/>
          <a:p>
            <a:pPr marL="457200" lvl="0" indent="-346075" algn="l" rtl="0">
              <a:spcBef>
                <a:spcPts val="0"/>
              </a:spcBef>
              <a:spcAft>
                <a:spcPts val="0"/>
              </a:spcAft>
              <a:buSzPct val="100000"/>
              <a:buChar char="●"/>
            </a:pPr>
            <a:r>
              <a:rPr lang="en" dirty="0"/>
              <a:t>In deep learning, the objective function is the average of the loss functions for each example in the training dataset. </a:t>
            </a:r>
            <a:endParaRPr dirty="0"/>
          </a:p>
          <a:p>
            <a:pPr marL="457200" lvl="0" indent="-346075" algn="l" rtl="0">
              <a:spcBef>
                <a:spcPts val="0"/>
              </a:spcBef>
              <a:spcAft>
                <a:spcPts val="0"/>
              </a:spcAft>
              <a:buSzPct val="100000"/>
              <a:buChar char="●"/>
            </a:pPr>
            <a:r>
              <a:rPr lang="en" dirty="0"/>
              <a:t>Given a training dataset of n examples, let f</a:t>
            </a:r>
            <a:r>
              <a:rPr lang="en" baseline="-25000" dirty="0"/>
              <a:t>i </a:t>
            </a:r>
            <a:r>
              <a:rPr lang="en" dirty="0"/>
              <a:t>(x) is the loss function with respect to the training example of index i, where x is the parameter vector. </a:t>
            </a:r>
            <a:endParaRPr dirty="0"/>
          </a:p>
          <a:p>
            <a:pPr marL="457200" lvl="0" indent="-346075" algn="l" rtl="0">
              <a:spcBef>
                <a:spcPts val="0"/>
              </a:spcBef>
              <a:spcAft>
                <a:spcPts val="0"/>
              </a:spcAft>
              <a:buSzPct val="100000"/>
              <a:buChar char="●"/>
            </a:pPr>
            <a:r>
              <a:rPr lang="en" dirty="0"/>
              <a:t>The objective function</a:t>
            </a:r>
            <a:endParaRPr dirty="0"/>
          </a:p>
          <a:p>
            <a:pPr marL="457200" lvl="0" indent="0" algn="l" rtl="0">
              <a:spcBef>
                <a:spcPts val="1200"/>
              </a:spcBef>
              <a:spcAft>
                <a:spcPts val="0"/>
              </a:spcAft>
              <a:buNone/>
            </a:pPr>
            <a:endParaRPr dirty="0"/>
          </a:p>
          <a:p>
            <a:pPr marL="457200" lvl="0" indent="-346075" algn="l" rtl="0">
              <a:spcBef>
                <a:spcPts val="1200"/>
              </a:spcBef>
              <a:spcAft>
                <a:spcPts val="0"/>
              </a:spcAft>
              <a:buSzPct val="100000"/>
              <a:buChar char="●"/>
            </a:pPr>
            <a:r>
              <a:rPr lang="en" dirty="0"/>
              <a:t>The gradient of the objective function at x</a:t>
            </a:r>
            <a:endParaRPr dirty="0"/>
          </a:p>
          <a:p>
            <a:pPr marL="0" lvl="0" indent="0" algn="l" rtl="0">
              <a:spcBef>
                <a:spcPts val="1200"/>
              </a:spcBef>
              <a:spcAft>
                <a:spcPts val="0"/>
              </a:spcAft>
              <a:buNone/>
            </a:pPr>
            <a:endParaRPr dirty="0"/>
          </a:p>
          <a:p>
            <a:pPr marL="457200" lvl="0" indent="-346075" algn="l" rtl="0">
              <a:spcBef>
                <a:spcPts val="1200"/>
              </a:spcBef>
              <a:spcAft>
                <a:spcPts val="0"/>
              </a:spcAft>
              <a:buSzPct val="100000"/>
              <a:buChar char="●"/>
            </a:pPr>
            <a:r>
              <a:rPr lang="en" dirty="0"/>
              <a:t>Update x as</a:t>
            </a:r>
            <a:endParaRPr dirty="0"/>
          </a:p>
          <a:p>
            <a:pPr marL="0" lvl="0" indent="0" algn="l" rtl="0">
              <a:spcBef>
                <a:spcPts val="1200"/>
              </a:spcBef>
              <a:spcAft>
                <a:spcPts val="0"/>
              </a:spcAft>
              <a:buNone/>
            </a:pPr>
            <a:endParaRPr dirty="0"/>
          </a:p>
          <a:p>
            <a:pPr marL="457200" lvl="0" indent="-346075" algn="l" rtl="0">
              <a:spcBef>
                <a:spcPts val="1200"/>
              </a:spcBef>
              <a:spcAft>
                <a:spcPts val="0"/>
              </a:spcAft>
              <a:buSzPct val="100000"/>
              <a:buChar char="●"/>
            </a:pPr>
            <a:r>
              <a:rPr lang="en" dirty="0"/>
              <a:t>Computational cost of each iteration is O(1).</a:t>
            </a:r>
            <a:endParaRPr dirty="0"/>
          </a:p>
        </p:txBody>
      </p:sp>
      <p:pic>
        <p:nvPicPr>
          <p:cNvPr id="327" name="Google Shape;327;p51"/>
          <p:cNvPicPr preferRelativeResize="0"/>
          <p:nvPr/>
        </p:nvPicPr>
        <p:blipFill>
          <a:blip r:embed="rId3">
            <a:alphaModFix/>
          </a:blip>
          <a:stretch>
            <a:fillRect/>
          </a:stretch>
        </p:blipFill>
        <p:spPr>
          <a:xfrm>
            <a:off x="3490727" y="1885950"/>
            <a:ext cx="2137873" cy="808925"/>
          </a:xfrm>
          <a:prstGeom prst="rect">
            <a:avLst/>
          </a:prstGeom>
          <a:noFill/>
          <a:ln>
            <a:noFill/>
          </a:ln>
        </p:spPr>
      </p:pic>
      <p:pic>
        <p:nvPicPr>
          <p:cNvPr id="328" name="Google Shape;328;p51"/>
          <p:cNvPicPr preferRelativeResize="0"/>
          <p:nvPr/>
        </p:nvPicPr>
        <p:blipFill>
          <a:blip r:embed="rId4">
            <a:alphaModFix/>
          </a:blip>
          <a:stretch>
            <a:fillRect/>
          </a:stretch>
        </p:blipFill>
        <p:spPr>
          <a:xfrm>
            <a:off x="3490727" y="2962490"/>
            <a:ext cx="2437707" cy="808925"/>
          </a:xfrm>
          <a:prstGeom prst="rect">
            <a:avLst/>
          </a:prstGeom>
          <a:noFill/>
          <a:ln>
            <a:noFill/>
          </a:ln>
        </p:spPr>
      </p:pic>
      <p:pic>
        <p:nvPicPr>
          <p:cNvPr id="329" name="Google Shape;329;p51"/>
          <p:cNvPicPr preferRelativeResize="0"/>
          <p:nvPr/>
        </p:nvPicPr>
        <p:blipFill>
          <a:blip r:embed="rId5">
            <a:alphaModFix/>
          </a:blip>
          <a:stretch>
            <a:fillRect/>
          </a:stretch>
        </p:blipFill>
        <p:spPr>
          <a:xfrm>
            <a:off x="3566928" y="3865675"/>
            <a:ext cx="1981542" cy="572700"/>
          </a:xfrm>
          <a:prstGeom prst="rect">
            <a:avLst/>
          </a:prstGeom>
          <a:noFill/>
          <a:ln>
            <a:noFill/>
          </a:ln>
        </p:spPr>
      </p:pic>
      <p:sp>
        <p:nvSpPr>
          <p:cNvPr id="330" name="Google Shape;330;p51"/>
          <p:cNvSpPr txBox="1">
            <a:spLocks noGrp="1"/>
          </p:cNvSpPr>
          <p:nvPr>
            <p:ph type="sldNum" idx="12"/>
          </p:nvPr>
        </p:nvSpPr>
        <p:spPr>
          <a:xfrm>
            <a:off x="8484550" y="4863199"/>
            <a:ext cx="548700" cy="310800"/>
          </a:xfrm>
          <a:prstGeom prst="rect">
            <a:avLst/>
          </a:prstGeom>
        </p:spPr>
        <p:txBody>
          <a:bodyPr spcFirstLastPara="1" wrap="square" lIns="91425" tIns="91425" rIns="91425" bIns="91425" anchor="ctr" anchorCtr="0">
            <a:normAutofit fontScale="92500"/>
          </a:bodyPr>
          <a:lstStyle/>
          <a:p>
            <a:pPr marL="0" lvl="0" indent="0" algn="r" rtl="0">
              <a:spcBef>
                <a:spcPts val="0"/>
              </a:spcBef>
              <a:spcAft>
                <a:spcPts val="0"/>
              </a:spcAft>
              <a:buNone/>
            </a:pPr>
            <a:fld id="{00000000-1234-1234-1234-123412341234}" type="slidenum">
              <a:rPr lang="en"/>
              <a:t>37</a:t>
            </a:fld>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334"/>
        <p:cNvGrpSpPr/>
        <p:nvPr/>
      </p:nvGrpSpPr>
      <p:grpSpPr>
        <a:xfrm>
          <a:off x="0" y="0"/>
          <a:ext cx="0" cy="0"/>
          <a:chOff x="0" y="0"/>
          <a:chExt cx="0" cy="0"/>
        </a:xfrm>
      </p:grpSpPr>
      <p:sp>
        <p:nvSpPr>
          <p:cNvPr id="335" name="Google Shape;335;p52"/>
          <p:cNvSpPr txBox="1">
            <a:spLocks noGrp="1"/>
          </p:cNvSpPr>
          <p:nvPr>
            <p:ph type="title"/>
          </p:nvPr>
        </p:nvSpPr>
        <p:spPr>
          <a:xfrm>
            <a:off x="311700" y="14245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SGD with Constant Learning Rate</a:t>
            </a:r>
            <a:endParaRPr/>
          </a:p>
        </p:txBody>
      </p:sp>
      <p:sp>
        <p:nvSpPr>
          <p:cNvPr id="336" name="Google Shape;336;p52"/>
          <p:cNvSpPr txBox="1">
            <a:spLocks noGrp="1"/>
          </p:cNvSpPr>
          <p:nvPr>
            <p:ph type="body" idx="1"/>
          </p:nvPr>
        </p:nvSpPr>
        <p:spPr>
          <a:xfrm>
            <a:off x="311700" y="715150"/>
            <a:ext cx="8520600" cy="4147800"/>
          </a:xfrm>
          <a:prstGeom prst="rect">
            <a:avLst/>
          </a:prstGeom>
        </p:spPr>
        <p:txBody>
          <a:bodyPr spcFirstLastPara="1" wrap="square" lIns="91425" tIns="91425" rIns="91425" bIns="91425" anchor="t" anchorCtr="0">
            <a:normAutofit/>
          </a:bodyPr>
          <a:lstStyle/>
          <a:p>
            <a:pPr marL="457200" lvl="0" indent="-355600" algn="l" rtl="0">
              <a:spcBef>
                <a:spcPts val="0"/>
              </a:spcBef>
              <a:spcAft>
                <a:spcPts val="0"/>
              </a:spcAft>
              <a:buSzPts val="2000"/>
              <a:buChar char="●"/>
            </a:pPr>
            <a:r>
              <a:rPr lang="en"/>
              <a:t>Trajectory of the variables in the stochastic gradient descent is much more noisy. This is due to the stochastic nature of the gradient. Even near the minimum, uncertainty is injected by the instantaneous gradient via η∇f</a:t>
            </a:r>
            <a:r>
              <a:rPr lang="en" baseline="-25000"/>
              <a:t>i</a:t>
            </a:r>
            <a:r>
              <a:rPr lang="en"/>
              <a:t> (x).</a:t>
            </a:r>
            <a:endParaRPr/>
          </a:p>
        </p:txBody>
      </p:sp>
      <p:sp>
        <p:nvSpPr>
          <p:cNvPr id="337" name="Google Shape;337;p52"/>
          <p:cNvSpPr txBox="1">
            <a:spLocks noGrp="1"/>
          </p:cNvSpPr>
          <p:nvPr>
            <p:ph type="sldNum" idx="12"/>
          </p:nvPr>
        </p:nvSpPr>
        <p:spPr>
          <a:xfrm>
            <a:off x="8484550" y="4863199"/>
            <a:ext cx="548700" cy="310800"/>
          </a:xfrm>
          <a:prstGeom prst="rect">
            <a:avLst/>
          </a:prstGeom>
        </p:spPr>
        <p:txBody>
          <a:bodyPr spcFirstLastPara="1" wrap="square" lIns="91425" tIns="91425" rIns="91425" bIns="91425" anchor="ctr" anchorCtr="0">
            <a:normAutofit fontScale="92500"/>
          </a:bodyPr>
          <a:lstStyle/>
          <a:p>
            <a:pPr marL="0" lvl="0" indent="0" algn="r" rtl="0">
              <a:spcBef>
                <a:spcPts val="0"/>
              </a:spcBef>
              <a:spcAft>
                <a:spcPts val="0"/>
              </a:spcAft>
              <a:buNone/>
            </a:pPr>
            <a:fld id="{00000000-1234-1234-1234-123412341234}" type="slidenum">
              <a:rPr lang="en"/>
              <a:t>38</a:t>
            </a:fld>
            <a:endParaRPr/>
          </a:p>
        </p:txBody>
      </p:sp>
      <p:sp>
        <p:nvSpPr>
          <p:cNvPr id="338" name="Google Shape;338;p52"/>
          <p:cNvSpPr txBox="1"/>
          <p:nvPr/>
        </p:nvSpPr>
        <p:spPr>
          <a:xfrm>
            <a:off x="311700" y="2479450"/>
            <a:ext cx="7222200" cy="2154900"/>
          </a:xfrm>
          <a:prstGeom prst="rect">
            <a:avLst/>
          </a:prstGeom>
          <a:noFill/>
          <a:ln>
            <a:noFill/>
          </a:ln>
        </p:spPr>
        <p:txBody>
          <a:bodyPr spcFirstLastPara="1" wrap="square" lIns="91425" tIns="91425" rIns="91425" bIns="91425" anchor="t" anchorCtr="0">
            <a:spAutoFit/>
          </a:bodyPr>
          <a:lstStyle/>
          <a:p>
            <a:pPr marL="0" lvl="0" indent="0" algn="l" rtl="0">
              <a:lnSpc>
                <a:spcPct val="135714"/>
              </a:lnSpc>
              <a:spcBef>
                <a:spcPts val="0"/>
              </a:spcBef>
              <a:spcAft>
                <a:spcPts val="0"/>
              </a:spcAft>
              <a:buNone/>
            </a:pPr>
            <a:r>
              <a:rPr lang="en">
                <a:solidFill>
                  <a:srgbClr val="0000FF"/>
                </a:solidFill>
                <a:highlight>
                  <a:srgbClr val="F7F7F7"/>
                </a:highlight>
                <a:latin typeface="Courier New"/>
                <a:ea typeface="Courier New"/>
                <a:cs typeface="Courier New"/>
                <a:sym typeface="Courier New"/>
              </a:rPr>
              <a:t>def</a:t>
            </a:r>
            <a:r>
              <a:rPr lang="en">
                <a:solidFill>
                  <a:schemeClr val="dk1"/>
                </a:solidFill>
                <a:highlight>
                  <a:srgbClr val="F7F7F7"/>
                </a:highlight>
                <a:latin typeface="Courier New"/>
                <a:ea typeface="Courier New"/>
                <a:cs typeface="Courier New"/>
                <a:sym typeface="Courier New"/>
              </a:rPr>
              <a:t> </a:t>
            </a:r>
            <a:r>
              <a:rPr lang="en">
                <a:solidFill>
                  <a:srgbClr val="795E26"/>
                </a:solidFill>
                <a:highlight>
                  <a:srgbClr val="F7F7F7"/>
                </a:highlight>
                <a:latin typeface="Courier New"/>
                <a:ea typeface="Courier New"/>
                <a:cs typeface="Courier New"/>
                <a:sym typeface="Courier New"/>
              </a:rPr>
              <a:t>sgd</a:t>
            </a:r>
            <a:r>
              <a:rPr lang="en">
                <a:solidFill>
                  <a:schemeClr val="dk1"/>
                </a:solidFill>
                <a:highlight>
                  <a:srgbClr val="F7F7F7"/>
                </a:highlight>
                <a:latin typeface="Courier New"/>
                <a:ea typeface="Courier New"/>
                <a:cs typeface="Courier New"/>
                <a:sym typeface="Courier New"/>
              </a:rPr>
              <a:t>(</a:t>
            </a:r>
            <a:r>
              <a:rPr lang="en">
                <a:solidFill>
                  <a:srgbClr val="001080"/>
                </a:solidFill>
                <a:highlight>
                  <a:srgbClr val="F7F7F7"/>
                </a:highlight>
                <a:latin typeface="Courier New"/>
                <a:ea typeface="Courier New"/>
                <a:cs typeface="Courier New"/>
                <a:sym typeface="Courier New"/>
              </a:rPr>
              <a:t>x1</a:t>
            </a:r>
            <a:r>
              <a:rPr lang="en">
                <a:solidFill>
                  <a:schemeClr val="dk1"/>
                </a:solidFill>
                <a:highlight>
                  <a:srgbClr val="F7F7F7"/>
                </a:highlight>
                <a:latin typeface="Courier New"/>
                <a:ea typeface="Courier New"/>
                <a:cs typeface="Courier New"/>
                <a:sym typeface="Courier New"/>
              </a:rPr>
              <a:t>, </a:t>
            </a:r>
            <a:r>
              <a:rPr lang="en">
                <a:solidFill>
                  <a:srgbClr val="001080"/>
                </a:solidFill>
                <a:highlight>
                  <a:srgbClr val="F7F7F7"/>
                </a:highlight>
                <a:latin typeface="Courier New"/>
                <a:ea typeface="Courier New"/>
                <a:cs typeface="Courier New"/>
                <a:sym typeface="Courier New"/>
              </a:rPr>
              <a:t>x2</a:t>
            </a:r>
            <a:r>
              <a:rPr lang="en">
                <a:solidFill>
                  <a:schemeClr val="dk1"/>
                </a:solidFill>
                <a:highlight>
                  <a:srgbClr val="F7F7F7"/>
                </a:highlight>
                <a:latin typeface="Courier New"/>
                <a:ea typeface="Courier New"/>
                <a:cs typeface="Courier New"/>
                <a:sym typeface="Courier New"/>
              </a:rPr>
              <a:t>, </a:t>
            </a:r>
            <a:r>
              <a:rPr lang="en">
                <a:solidFill>
                  <a:srgbClr val="001080"/>
                </a:solidFill>
                <a:highlight>
                  <a:srgbClr val="F7F7F7"/>
                </a:highlight>
                <a:latin typeface="Courier New"/>
                <a:ea typeface="Courier New"/>
                <a:cs typeface="Courier New"/>
                <a:sym typeface="Courier New"/>
              </a:rPr>
              <a:t>s1</a:t>
            </a:r>
            <a:r>
              <a:rPr lang="en">
                <a:solidFill>
                  <a:schemeClr val="dk1"/>
                </a:solidFill>
                <a:highlight>
                  <a:srgbClr val="F7F7F7"/>
                </a:highlight>
                <a:latin typeface="Courier New"/>
                <a:ea typeface="Courier New"/>
                <a:cs typeface="Courier New"/>
                <a:sym typeface="Courier New"/>
              </a:rPr>
              <a:t>, </a:t>
            </a:r>
            <a:r>
              <a:rPr lang="en">
                <a:solidFill>
                  <a:srgbClr val="001080"/>
                </a:solidFill>
                <a:highlight>
                  <a:srgbClr val="F7F7F7"/>
                </a:highlight>
                <a:latin typeface="Courier New"/>
                <a:ea typeface="Courier New"/>
                <a:cs typeface="Courier New"/>
                <a:sym typeface="Courier New"/>
              </a:rPr>
              <a:t>s2</a:t>
            </a:r>
            <a:r>
              <a:rPr lang="en">
                <a:solidFill>
                  <a:schemeClr val="dk1"/>
                </a:solidFill>
                <a:highlight>
                  <a:srgbClr val="F7F7F7"/>
                </a:highlight>
                <a:latin typeface="Courier New"/>
                <a:ea typeface="Courier New"/>
                <a:cs typeface="Courier New"/>
                <a:sym typeface="Courier New"/>
              </a:rPr>
              <a:t>, </a:t>
            </a:r>
            <a:r>
              <a:rPr lang="en">
                <a:solidFill>
                  <a:srgbClr val="001080"/>
                </a:solidFill>
                <a:highlight>
                  <a:srgbClr val="F7F7F7"/>
                </a:highlight>
                <a:latin typeface="Courier New"/>
                <a:ea typeface="Courier New"/>
                <a:cs typeface="Courier New"/>
                <a:sym typeface="Courier New"/>
              </a:rPr>
              <a:t>f_grad</a:t>
            </a:r>
            <a:r>
              <a:rPr lang="en">
                <a:solidFill>
                  <a:schemeClr val="dk1"/>
                </a:solidFill>
                <a:highlight>
                  <a:srgbClr val="F7F7F7"/>
                </a:highlight>
                <a:latin typeface="Courier New"/>
                <a:ea typeface="Courier New"/>
                <a:cs typeface="Courier New"/>
                <a:sym typeface="Courier New"/>
              </a:rPr>
              <a:t>):</a:t>
            </a:r>
            <a:endParaRPr>
              <a:solidFill>
                <a:schemeClr val="dk1"/>
              </a:solidFill>
              <a:highlight>
                <a:srgbClr val="F7F7F7"/>
              </a:highlight>
              <a:latin typeface="Courier New"/>
              <a:ea typeface="Courier New"/>
              <a:cs typeface="Courier New"/>
              <a:sym typeface="Courier New"/>
            </a:endParaRPr>
          </a:p>
          <a:p>
            <a:pPr marL="0" lvl="0" indent="0" algn="l" rtl="0">
              <a:lnSpc>
                <a:spcPct val="135714"/>
              </a:lnSpc>
              <a:spcBef>
                <a:spcPts val="0"/>
              </a:spcBef>
              <a:spcAft>
                <a:spcPts val="0"/>
              </a:spcAft>
              <a:buNone/>
            </a:pPr>
            <a:r>
              <a:rPr lang="en">
                <a:solidFill>
                  <a:schemeClr val="dk1"/>
                </a:solidFill>
                <a:highlight>
                  <a:srgbClr val="F7F7F7"/>
                </a:highlight>
                <a:latin typeface="Courier New"/>
                <a:ea typeface="Courier New"/>
                <a:cs typeface="Courier New"/>
                <a:sym typeface="Courier New"/>
              </a:rPr>
              <a:t> g1, g2 = f_grad(x1, x2)</a:t>
            </a:r>
            <a:endParaRPr>
              <a:solidFill>
                <a:schemeClr val="dk1"/>
              </a:solidFill>
              <a:highlight>
                <a:srgbClr val="F7F7F7"/>
              </a:highlight>
              <a:latin typeface="Courier New"/>
              <a:ea typeface="Courier New"/>
              <a:cs typeface="Courier New"/>
              <a:sym typeface="Courier New"/>
            </a:endParaRPr>
          </a:p>
          <a:p>
            <a:pPr marL="0" lvl="0" indent="0" algn="l" rtl="0">
              <a:lnSpc>
                <a:spcPct val="135714"/>
              </a:lnSpc>
              <a:spcBef>
                <a:spcPts val="0"/>
              </a:spcBef>
              <a:spcAft>
                <a:spcPts val="0"/>
              </a:spcAft>
              <a:buNone/>
            </a:pPr>
            <a:r>
              <a:rPr lang="en">
                <a:solidFill>
                  <a:schemeClr val="dk1"/>
                </a:solidFill>
                <a:highlight>
                  <a:srgbClr val="F7F7F7"/>
                </a:highlight>
                <a:latin typeface="Courier New"/>
                <a:ea typeface="Courier New"/>
                <a:cs typeface="Courier New"/>
                <a:sym typeface="Courier New"/>
              </a:rPr>
              <a:t> </a:t>
            </a:r>
            <a:r>
              <a:rPr lang="en">
                <a:solidFill>
                  <a:srgbClr val="008000"/>
                </a:solidFill>
                <a:highlight>
                  <a:srgbClr val="F7F7F7"/>
                </a:highlight>
                <a:latin typeface="Courier New"/>
                <a:ea typeface="Courier New"/>
                <a:cs typeface="Courier New"/>
                <a:sym typeface="Courier New"/>
              </a:rPr>
              <a:t># Simulate noisy gradient</a:t>
            </a:r>
            <a:endParaRPr>
              <a:solidFill>
                <a:srgbClr val="008000"/>
              </a:solidFill>
              <a:highlight>
                <a:srgbClr val="F7F7F7"/>
              </a:highlight>
              <a:latin typeface="Courier New"/>
              <a:ea typeface="Courier New"/>
              <a:cs typeface="Courier New"/>
              <a:sym typeface="Courier New"/>
            </a:endParaRPr>
          </a:p>
          <a:p>
            <a:pPr marL="0" lvl="0" indent="0" algn="l" rtl="0">
              <a:lnSpc>
                <a:spcPct val="135714"/>
              </a:lnSpc>
              <a:spcBef>
                <a:spcPts val="0"/>
              </a:spcBef>
              <a:spcAft>
                <a:spcPts val="0"/>
              </a:spcAft>
              <a:buNone/>
            </a:pPr>
            <a:r>
              <a:rPr lang="en">
                <a:solidFill>
                  <a:schemeClr val="dk1"/>
                </a:solidFill>
                <a:highlight>
                  <a:srgbClr val="F7F7F7"/>
                </a:highlight>
                <a:latin typeface="Courier New"/>
                <a:ea typeface="Courier New"/>
                <a:cs typeface="Courier New"/>
                <a:sym typeface="Courier New"/>
              </a:rPr>
              <a:t> g1 += np.random.normal(</a:t>
            </a:r>
            <a:r>
              <a:rPr lang="en">
                <a:solidFill>
                  <a:srgbClr val="098156"/>
                </a:solidFill>
                <a:highlight>
                  <a:srgbClr val="F7F7F7"/>
                </a:highlight>
                <a:latin typeface="Courier New"/>
                <a:ea typeface="Courier New"/>
                <a:cs typeface="Courier New"/>
                <a:sym typeface="Courier New"/>
              </a:rPr>
              <a:t>0.0</a:t>
            </a:r>
            <a:r>
              <a:rPr lang="en">
                <a:solidFill>
                  <a:schemeClr val="dk1"/>
                </a:solidFill>
                <a:highlight>
                  <a:srgbClr val="F7F7F7"/>
                </a:highlight>
                <a:latin typeface="Courier New"/>
                <a:ea typeface="Courier New"/>
                <a:cs typeface="Courier New"/>
                <a:sym typeface="Courier New"/>
              </a:rPr>
              <a:t>, </a:t>
            </a:r>
            <a:r>
              <a:rPr lang="en">
                <a:solidFill>
                  <a:srgbClr val="098156"/>
                </a:solidFill>
                <a:highlight>
                  <a:srgbClr val="F7F7F7"/>
                </a:highlight>
                <a:latin typeface="Courier New"/>
                <a:ea typeface="Courier New"/>
                <a:cs typeface="Courier New"/>
                <a:sym typeface="Courier New"/>
              </a:rPr>
              <a:t>1</a:t>
            </a:r>
            <a:r>
              <a:rPr lang="en">
                <a:solidFill>
                  <a:schemeClr val="dk1"/>
                </a:solidFill>
                <a:highlight>
                  <a:srgbClr val="F7F7F7"/>
                </a:highlight>
                <a:latin typeface="Courier New"/>
                <a:ea typeface="Courier New"/>
                <a:cs typeface="Courier New"/>
                <a:sym typeface="Courier New"/>
              </a:rPr>
              <a:t>, (</a:t>
            </a:r>
            <a:r>
              <a:rPr lang="en">
                <a:solidFill>
                  <a:srgbClr val="098156"/>
                </a:solidFill>
                <a:highlight>
                  <a:srgbClr val="F7F7F7"/>
                </a:highlight>
                <a:latin typeface="Courier New"/>
                <a:ea typeface="Courier New"/>
                <a:cs typeface="Courier New"/>
                <a:sym typeface="Courier New"/>
              </a:rPr>
              <a:t>1</a:t>
            </a:r>
            <a:r>
              <a:rPr lang="en">
                <a:solidFill>
                  <a:schemeClr val="dk1"/>
                </a:solidFill>
                <a:highlight>
                  <a:srgbClr val="F7F7F7"/>
                </a:highlight>
                <a:latin typeface="Courier New"/>
                <a:ea typeface="Courier New"/>
                <a:cs typeface="Courier New"/>
                <a:sym typeface="Courier New"/>
              </a:rPr>
              <a:t>,))</a:t>
            </a:r>
            <a:endParaRPr>
              <a:solidFill>
                <a:schemeClr val="dk1"/>
              </a:solidFill>
              <a:highlight>
                <a:srgbClr val="F7F7F7"/>
              </a:highlight>
              <a:latin typeface="Courier New"/>
              <a:ea typeface="Courier New"/>
              <a:cs typeface="Courier New"/>
              <a:sym typeface="Courier New"/>
            </a:endParaRPr>
          </a:p>
          <a:p>
            <a:pPr marL="0" lvl="0" indent="0" algn="l" rtl="0">
              <a:lnSpc>
                <a:spcPct val="135714"/>
              </a:lnSpc>
              <a:spcBef>
                <a:spcPts val="0"/>
              </a:spcBef>
              <a:spcAft>
                <a:spcPts val="0"/>
              </a:spcAft>
              <a:buNone/>
            </a:pPr>
            <a:r>
              <a:rPr lang="en">
                <a:solidFill>
                  <a:schemeClr val="dk1"/>
                </a:solidFill>
                <a:highlight>
                  <a:srgbClr val="F7F7F7"/>
                </a:highlight>
                <a:latin typeface="Courier New"/>
                <a:ea typeface="Courier New"/>
                <a:cs typeface="Courier New"/>
                <a:sym typeface="Courier New"/>
              </a:rPr>
              <a:t> g2 += np.random.normal(</a:t>
            </a:r>
            <a:r>
              <a:rPr lang="en">
                <a:solidFill>
                  <a:srgbClr val="098156"/>
                </a:solidFill>
                <a:highlight>
                  <a:srgbClr val="F7F7F7"/>
                </a:highlight>
                <a:latin typeface="Courier New"/>
                <a:ea typeface="Courier New"/>
                <a:cs typeface="Courier New"/>
                <a:sym typeface="Courier New"/>
              </a:rPr>
              <a:t>0.0</a:t>
            </a:r>
            <a:r>
              <a:rPr lang="en">
                <a:solidFill>
                  <a:schemeClr val="dk1"/>
                </a:solidFill>
                <a:highlight>
                  <a:srgbClr val="F7F7F7"/>
                </a:highlight>
                <a:latin typeface="Courier New"/>
                <a:ea typeface="Courier New"/>
                <a:cs typeface="Courier New"/>
                <a:sym typeface="Courier New"/>
              </a:rPr>
              <a:t>, </a:t>
            </a:r>
            <a:r>
              <a:rPr lang="en">
                <a:solidFill>
                  <a:srgbClr val="098156"/>
                </a:solidFill>
                <a:highlight>
                  <a:srgbClr val="F7F7F7"/>
                </a:highlight>
                <a:latin typeface="Courier New"/>
                <a:ea typeface="Courier New"/>
                <a:cs typeface="Courier New"/>
                <a:sym typeface="Courier New"/>
              </a:rPr>
              <a:t>1</a:t>
            </a:r>
            <a:r>
              <a:rPr lang="en">
                <a:solidFill>
                  <a:schemeClr val="dk1"/>
                </a:solidFill>
                <a:highlight>
                  <a:srgbClr val="F7F7F7"/>
                </a:highlight>
                <a:latin typeface="Courier New"/>
                <a:ea typeface="Courier New"/>
                <a:cs typeface="Courier New"/>
                <a:sym typeface="Courier New"/>
              </a:rPr>
              <a:t>, (</a:t>
            </a:r>
            <a:r>
              <a:rPr lang="en">
                <a:solidFill>
                  <a:srgbClr val="098156"/>
                </a:solidFill>
                <a:highlight>
                  <a:srgbClr val="F7F7F7"/>
                </a:highlight>
                <a:latin typeface="Courier New"/>
                <a:ea typeface="Courier New"/>
                <a:cs typeface="Courier New"/>
                <a:sym typeface="Courier New"/>
              </a:rPr>
              <a:t>1</a:t>
            </a:r>
            <a:r>
              <a:rPr lang="en">
                <a:solidFill>
                  <a:schemeClr val="dk1"/>
                </a:solidFill>
                <a:highlight>
                  <a:srgbClr val="F7F7F7"/>
                </a:highlight>
                <a:latin typeface="Courier New"/>
                <a:ea typeface="Courier New"/>
                <a:cs typeface="Courier New"/>
                <a:sym typeface="Courier New"/>
              </a:rPr>
              <a:t>,))</a:t>
            </a:r>
            <a:endParaRPr>
              <a:solidFill>
                <a:schemeClr val="dk1"/>
              </a:solidFill>
              <a:highlight>
                <a:srgbClr val="F7F7F7"/>
              </a:highlight>
              <a:latin typeface="Courier New"/>
              <a:ea typeface="Courier New"/>
              <a:cs typeface="Courier New"/>
              <a:sym typeface="Courier New"/>
            </a:endParaRPr>
          </a:p>
          <a:p>
            <a:pPr marL="0" lvl="0" indent="0" algn="l" rtl="0">
              <a:lnSpc>
                <a:spcPct val="135714"/>
              </a:lnSpc>
              <a:spcBef>
                <a:spcPts val="0"/>
              </a:spcBef>
              <a:spcAft>
                <a:spcPts val="0"/>
              </a:spcAft>
              <a:buNone/>
            </a:pPr>
            <a:r>
              <a:rPr lang="en">
                <a:solidFill>
                  <a:schemeClr val="dk1"/>
                </a:solidFill>
                <a:highlight>
                  <a:srgbClr val="F7F7F7"/>
                </a:highlight>
                <a:latin typeface="Courier New"/>
                <a:ea typeface="Courier New"/>
                <a:cs typeface="Courier New"/>
                <a:sym typeface="Courier New"/>
              </a:rPr>
              <a:t> eta_t = eta * lr()</a:t>
            </a:r>
            <a:endParaRPr>
              <a:solidFill>
                <a:schemeClr val="dk1"/>
              </a:solidFill>
              <a:highlight>
                <a:srgbClr val="F7F7F7"/>
              </a:highlight>
              <a:latin typeface="Courier New"/>
              <a:ea typeface="Courier New"/>
              <a:cs typeface="Courier New"/>
              <a:sym typeface="Courier New"/>
            </a:endParaRPr>
          </a:p>
          <a:p>
            <a:pPr marL="0" lvl="0" indent="0" algn="l" rtl="0">
              <a:lnSpc>
                <a:spcPct val="135714"/>
              </a:lnSpc>
              <a:spcBef>
                <a:spcPts val="0"/>
              </a:spcBef>
              <a:spcAft>
                <a:spcPts val="0"/>
              </a:spcAft>
              <a:buNone/>
            </a:pPr>
            <a:r>
              <a:rPr lang="en">
                <a:solidFill>
                  <a:schemeClr val="dk1"/>
                </a:solidFill>
                <a:highlight>
                  <a:srgbClr val="F7F7F7"/>
                </a:highlight>
                <a:latin typeface="Courier New"/>
                <a:ea typeface="Courier New"/>
                <a:cs typeface="Courier New"/>
                <a:sym typeface="Courier New"/>
              </a:rPr>
              <a:t> </a:t>
            </a:r>
            <a:r>
              <a:rPr lang="en">
                <a:solidFill>
                  <a:srgbClr val="AF00DB"/>
                </a:solidFill>
                <a:highlight>
                  <a:srgbClr val="F7F7F7"/>
                </a:highlight>
                <a:latin typeface="Courier New"/>
                <a:ea typeface="Courier New"/>
                <a:cs typeface="Courier New"/>
                <a:sym typeface="Courier New"/>
              </a:rPr>
              <a:t>return</a:t>
            </a:r>
            <a:r>
              <a:rPr lang="en">
                <a:solidFill>
                  <a:schemeClr val="dk1"/>
                </a:solidFill>
                <a:highlight>
                  <a:srgbClr val="F7F7F7"/>
                </a:highlight>
                <a:latin typeface="Courier New"/>
                <a:ea typeface="Courier New"/>
                <a:cs typeface="Courier New"/>
                <a:sym typeface="Courier New"/>
              </a:rPr>
              <a:t> (x1 - eta_t * g1, x2 - eta_t * g2, </a:t>
            </a:r>
            <a:r>
              <a:rPr lang="en">
                <a:solidFill>
                  <a:srgbClr val="098156"/>
                </a:solidFill>
                <a:highlight>
                  <a:srgbClr val="F7F7F7"/>
                </a:highlight>
                <a:latin typeface="Courier New"/>
                <a:ea typeface="Courier New"/>
                <a:cs typeface="Courier New"/>
                <a:sym typeface="Courier New"/>
              </a:rPr>
              <a:t>0</a:t>
            </a:r>
            <a:r>
              <a:rPr lang="en">
                <a:solidFill>
                  <a:schemeClr val="dk1"/>
                </a:solidFill>
                <a:highlight>
                  <a:srgbClr val="F7F7F7"/>
                </a:highlight>
                <a:latin typeface="Courier New"/>
                <a:ea typeface="Courier New"/>
                <a:cs typeface="Courier New"/>
                <a:sym typeface="Courier New"/>
              </a:rPr>
              <a:t>, </a:t>
            </a:r>
            <a:r>
              <a:rPr lang="en">
                <a:solidFill>
                  <a:srgbClr val="098156"/>
                </a:solidFill>
                <a:highlight>
                  <a:srgbClr val="F7F7F7"/>
                </a:highlight>
                <a:latin typeface="Courier New"/>
                <a:ea typeface="Courier New"/>
                <a:cs typeface="Courier New"/>
                <a:sym typeface="Courier New"/>
              </a:rPr>
              <a:t>0</a:t>
            </a:r>
            <a:r>
              <a:rPr lang="en">
                <a:solidFill>
                  <a:schemeClr val="dk1"/>
                </a:solidFill>
                <a:highlight>
                  <a:srgbClr val="F7F7F7"/>
                </a:highlight>
                <a:latin typeface="Courier New"/>
                <a:ea typeface="Courier New"/>
                <a:cs typeface="Courier New"/>
                <a:sym typeface="Courier New"/>
              </a:rPr>
              <a:t>)</a:t>
            </a:r>
            <a:endParaRPr>
              <a:solidFill>
                <a:schemeClr val="dk1"/>
              </a:solidFill>
              <a:highlight>
                <a:srgbClr val="F7F7F7"/>
              </a:highlight>
              <a:latin typeface="Courier New"/>
              <a:ea typeface="Courier New"/>
              <a:cs typeface="Courier New"/>
              <a:sym typeface="Courier New"/>
            </a:endParaRPr>
          </a:p>
        </p:txBody>
      </p:sp>
      <p:pic>
        <p:nvPicPr>
          <p:cNvPr id="339" name="Google Shape;339;p52"/>
          <p:cNvPicPr preferRelativeResize="0"/>
          <p:nvPr/>
        </p:nvPicPr>
        <p:blipFill>
          <a:blip r:embed="rId3">
            <a:alphaModFix/>
          </a:blip>
          <a:stretch>
            <a:fillRect/>
          </a:stretch>
        </p:blipFill>
        <p:spPr>
          <a:xfrm>
            <a:off x="5582697" y="2584322"/>
            <a:ext cx="3249600" cy="2335400"/>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343"/>
        <p:cNvGrpSpPr/>
        <p:nvPr/>
      </p:nvGrpSpPr>
      <p:grpSpPr>
        <a:xfrm>
          <a:off x="0" y="0"/>
          <a:ext cx="0" cy="0"/>
          <a:chOff x="0" y="0"/>
          <a:chExt cx="0" cy="0"/>
        </a:xfrm>
      </p:grpSpPr>
      <p:sp>
        <p:nvSpPr>
          <p:cNvPr id="344" name="Google Shape;344;p5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r>
              <a:rPr lang="en"/>
              <a:t> Dynamic Learning Rate</a:t>
            </a:r>
            <a:endParaRPr/>
          </a:p>
        </p:txBody>
      </p:sp>
      <p:sp>
        <p:nvSpPr>
          <p:cNvPr id="345" name="Google Shape;345;p5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39</a:t>
            </a:fld>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349"/>
        <p:cNvGrpSpPr/>
        <p:nvPr/>
      </p:nvGrpSpPr>
      <p:grpSpPr>
        <a:xfrm>
          <a:off x="0" y="0"/>
          <a:ext cx="0" cy="0"/>
          <a:chOff x="0" y="0"/>
          <a:chExt cx="0" cy="0"/>
        </a:xfrm>
      </p:grpSpPr>
      <p:sp>
        <p:nvSpPr>
          <p:cNvPr id="350" name="Google Shape;350;p54"/>
          <p:cNvSpPr txBox="1">
            <a:spLocks noGrp="1"/>
          </p:cNvSpPr>
          <p:nvPr>
            <p:ph type="title"/>
          </p:nvPr>
        </p:nvSpPr>
        <p:spPr>
          <a:xfrm>
            <a:off x="311700" y="14245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Dynamic Learning Rate</a:t>
            </a:r>
            <a:endParaRPr/>
          </a:p>
        </p:txBody>
      </p:sp>
      <p:sp>
        <p:nvSpPr>
          <p:cNvPr id="351" name="Google Shape;351;p54"/>
          <p:cNvSpPr txBox="1">
            <a:spLocks noGrp="1"/>
          </p:cNvSpPr>
          <p:nvPr>
            <p:ph type="body" idx="1"/>
          </p:nvPr>
        </p:nvSpPr>
        <p:spPr>
          <a:xfrm>
            <a:off x="311700" y="715150"/>
            <a:ext cx="8520600" cy="2463600"/>
          </a:xfrm>
          <a:prstGeom prst="rect">
            <a:avLst/>
          </a:prstGeom>
        </p:spPr>
        <p:txBody>
          <a:bodyPr spcFirstLastPara="1" wrap="square" lIns="91425" tIns="91425" rIns="91425" bIns="91425" anchor="t" anchorCtr="0">
            <a:normAutofit/>
          </a:bodyPr>
          <a:lstStyle/>
          <a:p>
            <a:pPr marL="457200" lvl="0" indent="-355600" algn="just" rtl="0">
              <a:spcBef>
                <a:spcPts val="0"/>
              </a:spcBef>
              <a:spcAft>
                <a:spcPts val="0"/>
              </a:spcAft>
              <a:buSzPts val="2000"/>
              <a:buChar char="●"/>
            </a:pPr>
            <a:r>
              <a:rPr lang="en" sz="1600" dirty="0"/>
              <a:t>Replace η with a time-dependent learning rate η(t) </a:t>
            </a:r>
            <a:endParaRPr sz="1600" dirty="0"/>
          </a:p>
          <a:p>
            <a:pPr marL="914400" lvl="1" indent="-330200" algn="just" rtl="0">
              <a:spcBef>
                <a:spcPts val="0"/>
              </a:spcBef>
              <a:spcAft>
                <a:spcPts val="0"/>
              </a:spcAft>
              <a:buSzPts val="1600"/>
              <a:buChar char="○"/>
            </a:pPr>
            <a:r>
              <a:rPr lang="en" dirty="0"/>
              <a:t>adds to the complexity of controlling convergence of an optimization algorithm.</a:t>
            </a:r>
            <a:endParaRPr dirty="0"/>
          </a:p>
          <a:p>
            <a:pPr marL="457200" lvl="0" indent="-355600" algn="just" rtl="0">
              <a:spcBef>
                <a:spcPts val="0"/>
              </a:spcBef>
              <a:spcAft>
                <a:spcPts val="0"/>
              </a:spcAft>
              <a:buSzPts val="2000"/>
              <a:buChar char="●"/>
            </a:pPr>
            <a:r>
              <a:rPr lang="en" sz="1600" dirty="0"/>
              <a:t>A few basic strategies that adjust η over time.</a:t>
            </a:r>
            <a:endParaRPr sz="1600" dirty="0"/>
          </a:p>
        </p:txBody>
      </p:sp>
      <p:sp>
        <p:nvSpPr>
          <p:cNvPr id="352" name="Google Shape;352;p54"/>
          <p:cNvSpPr txBox="1">
            <a:spLocks noGrp="1"/>
          </p:cNvSpPr>
          <p:nvPr>
            <p:ph type="sldNum" idx="12"/>
          </p:nvPr>
        </p:nvSpPr>
        <p:spPr>
          <a:xfrm>
            <a:off x="8484550" y="4863199"/>
            <a:ext cx="548700" cy="310800"/>
          </a:xfrm>
          <a:prstGeom prst="rect">
            <a:avLst/>
          </a:prstGeom>
        </p:spPr>
        <p:txBody>
          <a:bodyPr spcFirstLastPara="1" wrap="square" lIns="91425" tIns="91425" rIns="91425" bIns="91425" anchor="ctr" anchorCtr="0">
            <a:normAutofit fontScale="92500"/>
          </a:bodyPr>
          <a:lstStyle/>
          <a:p>
            <a:pPr marL="0" lvl="0" indent="0" algn="r" rtl="0">
              <a:spcBef>
                <a:spcPts val="0"/>
              </a:spcBef>
              <a:spcAft>
                <a:spcPts val="0"/>
              </a:spcAft>
              <a:buNone/>
            </a:pPr>
            <a:fld id="{00000000-1234-1234-1234-123412341234}" type="slidenum">
              <a:rPr lang="en"/>
              <a:t>40</a:t>
            </a:fld>
            <a:endParaRPr/>
          </a:p>
        </p:txBody>
      </p:sp>
      <p:pic>
        <p:nvPicPr>
          <p:cNvPr id="353" name="Google Shape;353;p54"/>
          <p:cNvPicPr preferRelativeResize="0"/>
          <p:nvPr/>
        </p:nvPicPr>
        <p:blipFill>
          <a:blip r:embed="rId3">
            <a:alphaModFix/>
          </a:blip>
          <a:stretch>
            <a:fillRect/>
          </a:stretch>
        </p:blipFill>
        <p:spPr>
          <a:xfrm>
            <a:off x="1855875" y="1857650"/>
            <a:ext cx="5432250" cy="1428200"/>
          </a:xfrm>
          <a:prstGeom prst="rect">
            <a:avLst/>
          </a:prstGeom>
          <a:noFill/>
          <a:ln>
            <a:noFill/>
          </a:ln>
        </p:spPr>
      </p:pic>
      <p:sp>
        <p:nvSpPr>
          <p:cNvPr id="354" name="Google Shape;354;p54"/>
          <p:cNvSpPr txBox="1"/>
          <p:nvPr/>
        </p:nvSpPr>
        <p:spPr>
          <a:xfrm>
            <a:off x="300350" y="3291350"/>
            <a:ext cx="8520600" cy="1777200"/>
          </a:xfrm>
          <a:prstGeom prst="rect">
            <a:avLst/>
          </a:prstGeom>
          <a:noFill/>
          <a:ln>
            <a:noFill/>
          </a:ln>
        </p:spPr>
        <p:txBody>
          <a:bodyPr spcFirstLastPara="1" wrap="square" lIns="91425" tIns="91425" rIns="91425" bIns="91425" anchor="t" anchorCtr="0">
            <a:noAutofit/>
          </a:bodyPr>
          <a:lstStyle/>
          <a:p>
            <a:pPr marL="457200" lvl="0" indent="-342900" algn="just" rtl="0">
              <a:spcBef>
                <a:spcPts val="0"/>
              </a:spcBef>
              <a:spcAft>
                <a:spcPts val="0"/>
              </a:spcAft>
              <a:buSzPts val="1800"/>
              <a:buAutoNum type="arabicPeriod"/>
            </a:pPr>
            <a:r>
              <a:rPr lang="en" sz="1800" dirty="0"/>
              <a:t>Piecewise constant </a:t>
            </a:r>
            <a:endParaRPr sz="1800" dirty="0"/>
          </a:p>
          <a:p>
            <a:pPr marL="914400" lvl="1" indent="-342900" algn="just" rtl="0">
              <a:spcBef>
                <a:spcPts val="0"/>
              </a:spcBef>
              <a:spcAft>
                <a:spcPts val="0"/>
              </a:spcAft>
              <a:buSzPts val="1800"/>
              <a:buAutoNum type="alphaLcPeriod"/>
            </a:pPr>
            <a:r>
              <a:rPr lang="en" sz="1800" dirty="0"/>
              <a:t>decrease the learning rate, e.g., whenever progress in optimization stalls. </a:t>
            </a:r>
            <a:endParaRPr sz="1800" dirty="0"/>
          </a:p>
          <a:p>
            <a:pPr marL="914400" lvl="1" indent="-342900" algn="just" rtl="0">
              <a:spcBef>
                <a:spcPts val="0"/>
              </a:spcBef>
              <a:spcAft>
                <a:spcPts val="0"/>
              </a:spcAft>
              <a:buSzPts val="1800"/>
              <a:buAutoNum type="alphaLcPeriod"/>
            </a:pPr>
            <a:r>
              <a:rPr lang="en" sz="1800" dirty="0"/>
              <a:t>This is a common strategy for training deep networks. A</a:t>
            </a:r>
            <a:endParaRPr sz="1800" dirty="0"/>
          </a:p>
          <a:p>
            <a:pPr marL="457200" lvl="0" indent="-342900" algn="just" rtl="0">
              <a:spcBef>
                <a:spcPts val="0"/>
              </a:spcBef>
              <a:spcAft>
                <a:spcPts val="0"/>
              </a:spcAft>
              <a:buSzPts val="1800"/>
              <a:buAutoNum type="arabicPeriod"/>
            </a:pPr>
            <a:r>
              <a:rPr lang="en" sz="1800" dirty="0"/>
              <a:t>Exponential decay</a:t>
            </a:r>
            <a:endParaRPr sz="1800" dirty="0"/>
          </a:p>
          <a:p>
            <a:pPr marL="914400" lvl="1" indent="-342900" algn="just" rtl="0">
              <a:spcBef>
                <a:spcPts val="0"/>
              </a:spcBef>
              <a:spcAft>
                <a:spcPts val="0"/>
              </a:spcAft>
              <a:buSzPts val="1800"/>
              <a:buAutoNum type="alphaLcPeriod"/>
            </a:pPr>
            <a:r>
              <a:rPr lang="en" sz="1800" dirty="0"/>
              <a:t>Leads to premature stopping before the algorithm has converged. </a:t>
            </a:r>
            <a:endParaRPr sz="1800" dirty="0"/>
          </a:p>
          <a:p>
            <a:pPr marL="457200" lvl="0" indent="-342900" algn="just" rtl="0">
              <a:spcBef>
                <a:spcPts val="0"/>
              </a:spcBef>
              <a:spcAft>
                <a:spcPts val="0"/>
              </a:spcAft>
              <a:buSzPts val="1800"/>
              <a:buAutoNum type="arabicPeriod"/>
            </a:pPr>
            <a:r>
              <a:rPr lang="en" sz="1800" dirty="0"/>
              <a:t>Polynomial decay with α = 0.5. </a:t>
            </a:r>
            <a:endParaRPr sz="18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358"/>
        <p:cNvGrpSpPr/>
        <p:nvPr/>
      </p:nvGrpSpPr>
      <p:grpSpPr>
        <a:xfrm>
          <a:off x="0" y="0"/>
          <a:ext cx="0" cy="0"/>
          <a:chOff x="0" y="0"/>
          <a:chExt cx="0" cy="0"/>
        </a:xfrm>
      </p:grpSpPr>
      <p:sp>
        <p:nvSpPr>
          <p:cNvPr id="359" name="Google Shape;359;p55"/>
          <p:cNvSpPr txBox="1">
            <a:spLocks noGrp="1"/>
          </p:cNvSpPr>
          <p:nvPr>
            <p:ph type="title"/>
          </p:nvPr>
        </p:nvSpPr>
        <p:spPr>
          <a:xfrm>
            <a:off x="311700" y="14245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Dynamic Learning Rate</a:t>
            </a:r>
            <a:endParaRPr/>
          </a:p>
        </p:txBody>
      </p:sp>
      <p:sp>
        <p:nvSpPr>
          <p:cNvPr id="360" name="Google Shape;360;p55"/>
          <p:cNvSpPr txBox="1">
            <a:spLocks noGrp="1"/>
          </p:cNvSpPr>
          <p:nvPr>
            <p:ph type="body" idx="1"/>
          </p:nvPr>
        </p:nvSpPr>
        <p:spPr>
          <a:xfrm>
            <a:off x="311700" y="715150"/>
            <a:ext cx="8520600" cy="2463600"/>
          </a:xfrm>
          <a:prstGeom prst="rect">
            <a:avLst/>
          </a:prstGeom>
        </p:spPr>
        <p:txBody>
          <a:bodyPr spcFirstLastPara="1" wrap="square" lIns="91425" tIns="91425" rIns="91425" bIns="91425" anchor="t" anchorCtr="0">
            <a:normAutofit/>
          </a:bodyPr>
          <a:lstStyle/>
          <a:p>
            <a:pPr marL="457200" lvl="0" indent="-355600" algn="just" rtl="0">
              <a:spcBef>
                <a:spcPts val="0"/>
              </a:spcBef>
              <a:spcAft>
                <a:spcPts val="0"/>
              </a:spcAft>
              <a:buSzPts val="2000"/>
              <a:buChar char="●"/>
            </a:pPr>
            <a:r>
              <a:rPr lang="en" dirty="0"/>
              <a:t>Replace η with a time-dependent learning rate η(t) </a:t>
            </a:r>
            <a:endParaRPr dirty="0"/>
          </a:p>
          <a:p>
            <a:pPr marL="914400" lvl="1" indent="-330200" algn="just" rtl="0">
              <a:spcBef>
                <a:spcPts val="0"/>
              </a:spcBef>
              <a:spcAft>
                <a:spcPts val="0"/>
              </a:spcAft>
              <a:buSzPts val="1600"/>
              <a:buChar char="○"/>
            </a:pPr>
            <a:r>
              <a:rPr lang="en" sz="2000" dirty="0"/>
              <a:t>adds to the complexity of controlling convergence of an optimization algorithm.</a:t>
            </a:r>
            <a:endParaRPr sz="2000" dirty="0"/>
          </a:p>
          <a:p>
            <a:pPr marL="457200" lvl="0" indent="-355600" algn="just" rtl="0">
              <a:spcBef>
                <a:spcPts val="0"/>
              </a:spcBef>
              <a:spcAft>
                <a:spcPts val="0"/>
              </a:spcAft>
              <a:buSzPts val="2000"/>
              <a:buChar char="●"/>
            </a:pPr>
            <a:r>
              <a:rPr lang="en" dirty="0"/>
              <a:t>A few basic strategies that adjust η over time.</a:t>
            </a:r>
            <a:endParaRPr dirty="0"/>
          </a:p>
        </p:txBody>
      </p:sp>
      <p:sp>
        <p:nvSpPr>
          <p:cNvPr id="361" name="Google Shape;361;p55"/>
          <p:cNvSpPr txBox="1">
            <a:spLocks noGrp="1"/>
          </p:cNvSpPr>
          <p:nvPr>
            <p:ph type="sldNum" idx="12"/>
          </p:nvPr>
        </p:nvSpPr>
        <p:spPr>
          <a:xfrm>
            <a:off x="8484550" y="4863199"/>
            <a:ext cx="548700" cy="310800"/>
          </a:xfrm>
          <a:prstGeom prst="rect">
            <a:avLst/>
          </a:prstGeom>
        </p:spPr>
        <p:txBody>
          <a:bodyPr spcFirstLastPara="1" wrap="square" lIns="91425" tIns="91425" rIns="91425" bIns="91425" anchor="ctr" anchorCtr="0">
            <a:normAutofit fontScale="92500"/>
          </a:bodyPr>
          <a:lstStyle/>
          <a:p>
            <a:pPr marL="0" lvl="0" indent="0" algn="r" rtl="0">
              <a:spcBef>
                <a:spcPts val="0"/>
              </a:spcBef>
              <a:spcAft>
                <a:spcPts val="0"/>
              </a:spcAft>
              <a:buNone/>
            </a:pPr>
            <a:fld id="{00000000-1234-1234-1234-123412341234}" type="slidenum">
              <a:rPr lang="en"/>
              <a:t>41</a:t>
            </a:fld>
            <a:endParaRPr/>
          </a:p>
        </p:txBody>
      </p:sp>
      <p:pic>
        <p:nvPicPr>
          <p:cNvPr id="362" name="Google Shape;362;p55"/>
          <p:cNvPicPr preferRelativeResize="0"/>
          <p:nvPr/>
        </p:nvPicPr>
        <p:blipFill>
          <a:blip r:embed="rId3">
            <a:alphaModFix/>
          </a:blip>
          <a:stretch>
            <a:fillRect/>
          </a:stretch>
        </p:blipFill>
        <p:spPr>
          <a:xfrm>
            <a:off x="1855875" y="2552044"/>
            <a:ext cx="5432250" cy="1428200"/>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366"/>
        <p:cNvGrpSpPr/>
        <p:nvPr/>
      </p:nvGrpSpPr>
      <p:grpSpPr>
        <a:xfrm>
          <a:off x="0" y="0"/>
          <a:ext cx="0" cy="0"/>
          <a:chOff x="0" y="0"/>
          <a:chExt cx="0" cy="0"/>
        </a:xfrm>
      </p:grpSpPr>
      <p:sp>
        <p:nvSpPr>
          <p:cNvPr id="367" name="Google Shape;367;p56"/>
          <p:cNvSpPr txBox="1">
            <a:spLocks noGrp="1"/>
          </p:cNvSpPr>
          <p:nvPr>
            <p:ph type="title"/>
          </p:nvPr>
        </p:nvSpPr>
        <p:spPr>
          <a:xfrm>
            <a:off x="311700" y="14245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Exponential Decay</a:t>
            </a:r>
            <a:endParaRPr/>
          </a:p>
        </p:txBody>
      </p:sp>
      <p:sp>
        <p:nvSpPr>
          <p:cNvPr id="368" name="Google Shape;368;p56"/>
          <p:cNvSpPr txBox="1">
            <a:spLocks noGrp="1"/>
          </p:cNvSpPr>
          <p:nvPr>
            <p:ph type="body" idx="1"/>
          </p:nvPr>
        </p:nvSpPr>
        <p:spPr>
          <a:xfrm>
            <a:off x="311700" y="3266300"/>
            <a:ext cx="8520600" cy="1596600"/>
          </a:xfrm>
          <a:prstGeom prst="rect">
            <a:avLst/>
          </a:prstGeom>
        </p:spPr>
        <p:txBody>
          <a:bodyPr spcFirstLastPara="1" wrap="square" lIns="91425" tIns="91425" rIns="91425" bIns="91425" anchor="t" anchorCtr="0">
            <a:normAutofit/>
          </a:bodyPr>
          <a:lstStyle/>
          <a:p>
            <a:pPr marL="457200" lvl="0" indent="-355600" algn="just" rtl="0">
              <a:lnSpc>
                <a:spcPct val="150000"/>
              </a:lnSpc>
              <a:spcBef>
                <a:spcPts val="0"/>
              </a:spcBef>
              <a:spcAft>
                <a:spcPts val="0"/>
              </a:spcAft>
              <a:buSzPts val="2000"/>
              <a:buChar char="●"/>
            </a:pPr>
            <a:r>
              <a:rPr lang="en" dirty="0"/>
              <a:t>Variance in the parameters is significantly reduced. </a:t>
            </a:r>
            <a:endParaRPr dirty="0"/>
          </a:p>
          <a:p>
            <a:pPr marL="457200" lvl="0" indent="-355600" algn="just" rtl="0">
              <a:lnSpc>
                <a:spcPct val="150000"/>
              </a:lnSpc>
              <a:spcBef>
                <a:spcPts val="0"/>
              </a:spcBef>
              <a:spcAft>
                <a:spcPts val="0"/>
              </a:spcAft>
              <a:buSzPts val="2000"/>
              <a:buChar char="●"/>
            </a:pPr>
            <a:r>
              <a:rPr lang="en" dirty="0"/>
              <a:t>The algorithm fails to converge at all. </a:t>
            </a:r>
            <a:endParaRPr dirty="0"/>
          </a:p>
        </p:txBody>
      </p:sp>
      <p:sp>
        <p:nvSpPr>
          <p:cNvPr id="369" name="Google Shape;369;p56"/>
          <p:cNvSpPr txBox="1">
            <a:spLocks noGrp="1"/>
          </p:cNvSpPr>
          <p:nvPr>
            <p:ph type="sldNum" idx="12"/>
          </p:nvPr>
        </p:nvSpPr>
        <p:spPr>
          <a:xfrm>
            <a:off x="8484550" y="4863199"/>
            <a:ext cx="548700" cy="310800"/>
          </a:xfrm>
          <a:prstGeom prst="rect">
            <a:avLst/>
          </a:prstGeom>
        </p:spPr>
        <p:txBody>
          <a:bodyPr spcFirstLastPara="1" wrap="square" lIns="91425" tIns="91425" rIns="91425" bIns="91425" anchor="ctr" anchorCtr="0">
            <a:normAutofit fontScale="92500"/>
          </a:bodyPr>
          <a:lstStyle/>
          <a:p>
            <a:pPr marL="0" lvl="0" indent="0" algn="r" rtl="0">
              <a:spcBef>
                <a:spcPts val="0"/>
              </a:spcBef>
              <a:spcAft>
                <a:spcPts val="0"/>
              </a:spcAft>
              <a:buNone/>
            </a:pPr>
            <a:fld id="{00000000-1234-1234-1234-123412341234}" type="slidenum">
              <a:rPr lang="en"/>
              <a:t>42</a:t>
            </a:fld>
            <a:endParaRPr/>
          </a:p>
        </p:txBody>
      </p:sp>
      <p:sp>
        <p:nvSpPr>
          <p:cNvPr id="370" name="Google Shape;370;p56"/>
          <p:cNvSpPr txBox="1"/>
          <p:nvPr/>
        </p:nvSpPr>
        <p:spPr>
          <a:xfrm>
            <a:off x="311700" y="775900"/>
            <a:ext cx="5695200" cy="1965900"/>
          </a:xfrm>
          <a:prstGeom prst="rect">
            <a:avLst/>
          </a:prstGeom>
          <a:noFill/>
          <a:ln>
            <a:noFill/>
          </a:ln>
        </p:spPr>
        <p:txBody>
          <a:bodyPr spcFirstLastPara="1" wrap="square" lIns="91425" tIns="91425" rIns="91425" bIns="91425" anchor="t" anchorCtr="0">
            <a:spAutoFit/>
          </a:bodyPr>
          <a:lstStyle/>
          <a:p>
            <a:pPr marL="0" lvl="0" indent="0" algn="l" rtl="0">
              <a:lnSpc>
                <a:spcPct val="135714"/>
              </a:lnSpc>
              <a:spcBef>
                <a:spcPts val="0"/>
              </a:spcBef>
              <a:spcAft>
                <a:spcPts val="0"/>
              </a:spcAft>
              <a:buNone/>
            </a:pPr>
            <a:r>
              <a:rPr lang="en" sz="1800">
                <a:solidFill>
                  <a:srgbClr val="0000FF"/>
                </a:solidFill>
                <a:highlight>
                  <a:srgbClr val="F7F7F7"/>
                </a:highlight>
                <a:latin typeface="Courier New"/>
                <a:ea typeface="Courier New"/>
                <a:cs typeface="Courier New"/>
                <a:sym typeface="Courier New"/>
              </a:rPr>
              <a:t>def</a:t>
            </a:r>
            <a:r>
              <a:rPr lang="en" sz="1800">
                <a:solidFill>
                  <a:schemeClr val="dk1"/>
                </a:solidFill>
                <a:highlight>
                  <a:srgbClr val="F7F7F7"/>
                </a:highlight>
                <a:latin typeface="Courier New"/>
                <a:ea typeface="Courier New"/>
                <a:cs typeface="Courier New"/>
                <a:sym typeface="Courier New"/>
              </a:rPr>
              <a:t> </a:t>
            </a:r>
            <a:r>
              <a:rPr lang="en" sz="1800">
                <a:solidFill>
                  <a:srgbClr val="795E26"/>
                </a:solidFill>
                <a:highlight>
                  <a:srgbClr val="F7F7F7"/>
                </a:highlight>
                <a:latin typeface="Courier New"/>
                <a:ea typeface="Courier New"/>
                <a:cs typeface="Courier New"/>
                <a:sym typeface="Courier New"/>
              </a:rPr>
              <a:t>exponential_lr</a:t>
            </a:r>
            <a:r>
              <a:rPr lang="en" sz="1800">
                <a:solidFill>
                  <a:schemeClr val="dk1"/>
                </a:solidFill>
                <a:highlight>
                  <a:srgbClr val="F7F7F7"/>
                </a:highlight>
                <a:latin typeface="Courier New"/>
                <a:ea typeface="Courier New"/>
                <a:cs typeface="Courier New"/>
                <a:sym typeface="Courier New"/>
              </a:rPr>
              <a:t>():</a:t>
            </a:r>
            <a:endParaRPr sz="1800">
              <a:solidFill>
                <a:srgbClr val="008000"/>
              </a:solidFill>
              <a:highlight>
                <a:srgbClr val="F7F7F7"/>
              </a:highlight>
              <a:latin typeface="Courier New"/>
              <a:ea typeface="Courier New"/>
              <a:cs typeface="Courier New"/>
              <a:sym typeface="Courier New"/>
            </a:endParaRPr>
          </a:p>
          <a:p>
            <a:pPr marL="0" lvl="0" indent="0" algn="l" rtl="0">
              <a:lnSpc>
                <a:spcPct val="135714"/>
              </a:lnSpc>
              <a:spcBef>
                <a:spcPts val="0"/>
              </a:spcBef>
              <a:spcAft>
                <a:spcPts val="0"/>
              </a:spcAft>
              <a:buNone/>
            </a:pPr>
            <a:r>
              <a:rPr lang="en" sz="1800">
                <a:solidFill>
                  <a:schemeClr val="dk1"/>
                </a:solidFill>
                <a:highlight>
                  <a:srgbClr val="F7F7F7"/>
                </a:highlight>
                <a:latin typeface="Courier New"/>
                <a:ea typeface="Courier New"/>
                <a:cs typeface="Courier New"/>
                <a:sym typeface="Courier New"/>
              </a:rPr>
              <a:t> </a:t>
            </a:r>
            <a:r>
              <a:rPr lang="en" sz="1800">
                <a:solidFill>
                  <a:srgbClr val="0000FF"/>
                </a:solidFill>
                <a:highlight>
                  <a:srgbClr val="F7F7F7"/>
                </a:highlight>
                <a:latin typeface="Courier New"/>
                <a:ea typeface="Courier New"/>
                <a:cs typeface="Courier New"/>
                <a:sym typeface="Courier New"/>
              </a:rPr>
              <a:t>global</a:t>
            </a:r>
            <a:r>
              <a:rPr lang="en" sz="1800">
                <a:solidFill>
                  <a:schemeClr val="dk1"/>
                </a:solidFill>
                <a:highlight>
                  <a:srgbClr val="F7F7F7"/>
                </a:highlight>
                <a:latin typeface="Courier New"/>
                <a:ea typeface="Courier New"/>
                <a:cs typeface="Courier New"/>
                <a:sym typeface="Courier New"/>
              </a:rPr>
              <a:t> t</a:t>
            </a:r>
            <a:endParaRPr sz="1800">
              <a:solidFill>
                <a:schemeClr val="dk1"/>
              </a:solidFill>
              <a:highlight>
                <a:srgbClr val="F7F7F7"/>
              </a:highlight>
              <a:latin typeface="Courier New"/>
              <a:ea typeface="Courier New"/>
              <a:cs typeface="Courier New"/>
              <a:sym typeface="Courier New"/>
            </a:endParaRPr>
          </a:p>
          <a:p>
            <a:pPr marL="0" lvl="0" indent="0" algn="l" rtl="0">
              <a:lnSpc>
                <a:spcPct val="135714"/>
              </a:lnSpc>
              <a:spcBef>
                <a:spcPts val="0"/>
              </a:spcBef>
              <a:spcAft>
                <a:spcPts val="0"/>
              </a:spcAft>
              <a:buNone/>
            </a:pPr>
            <a:r>
              <a:rPr lang="en" sz="1800">
                <a:solidFill>
                  <a:schemeClr val="dk1"/>
                </a:solidFill>
                <a:highlight>
                  <a:srgbClr val="F7F7F7"/>
                </a:highlight>
                <a:latin typeface="Courier New"/>
                <a:ea typeface="Courier New"/>
                <a:cs typeface="Courier New"/>
                <a:sym typeface="Courier New"/>
              </a:rPr>
              <a:t> t += </a:t>
            </a:r>
            <a:r>
              <a:rPr lang="en" sz="1800">
                <a:solidFill>
                  <a:srgbClr val="098156"/>
                </a:solidFill>
                <a:highlight>
                  <a:srgbClr val="F7F7F7"/>
                </a:highlight>
                <a:latin typeface="Courier New"/>
                <a:ea typeface="Courier New"/>
                <a:cs typeface="Courier New"/>
                <a:sym typeface="Courier New"/>
              </a:rPr>
              <a:t>1</a:t>
            </a:r>
            <a:endParaRPr sz="1800">
              <a:solidFill>
                <a:srgbClr val="098156"/>
              </a:solidFill>
              <a:highlight>
                <a:srgbClr val="F7F7F7"/>
              </a:highlight>
              <a:latin typeface="Courier New"/>
              <a:ea typeface="Courier New"/>
              <a:cs typeface="Courier New"/>
              <a:sym typeface="Courier New"/>
            </a:endParaRPr>
          </a:p>
          <a:p>
            <a:pPr marL="0" lvl="0" indent="0" algn="l" rtl="0">
              <a:lnSpc>
                <a:spcPct val="135714"/>
              </a:lnSpc>
              <a:spcBef>
                <a:spcPts val="0"/>
              </a:spcBef>
              <a:spcAft>
                <a:spcPts val="0"/>
              </a:spcAft>
              <a:buNone/>
            </a:pPr>
            <a:r>
              <a:rPr lang="en" sz="1800">
                <a:solidFill>
                  <a:schemeClr val="dk1"/>
                </a:solidFill>
                <a:highlight>
                  <a:srgbClr val="F7F7F7"/>
                </a:highlight>
                <a:latin typeface="Courier New"/>
                <a:ea typeface="Courier New"/>
                <a:cs typeface="Courier New"/>
                <a:sym typeface="Courier New"/>
              </a:rPr>
              <a:t> </a:t>
            </a:r>
            <a:r>
              <a:rPr lang="en" sz="1800">
                <a:solidFill>
                  <a:srgbClr val="AF00DB"/>
                </a:solidFill>
                <a:highlight>
                  <a:srgbClr val="F7F7F7"/>
                </a:highlight>
                <a:latin typeface="Courier New"/>
                <a:ea typeface="Courier New"/>
                <a:cs typeface="Courier New"/>
                <a:sym typeface="Courier New"/>
              </a:rPr>
              <a:t>return</a:t>
            </a:r>
            <a:r>
              <a:rPr lang="en" sz="1800">
                <a:solidFill>
                  <a:schemeClr val="dk1"/>
                </a:solidFill>
                <a:highlight>
                  <a:srgbClr val="F7F7F7"/>
                </a:highlight>
                <a:latin typeface="Courier New"/>
                <a:ea typeface="Courier New"/>
                <a:cs typeface="Courier New"/>
                <a:sym typeface="Courier New"/>
              </a:rPr>
              <a:t> math.exp(</a:t>
            </a:r>
            <a:r>
              <a:rPr lang="en" sz="1800">
                <a:solidFill>
                  <a:srgbClr val="098156"/>
                </a:solidFill>
                <a:highlight>
                  <a:srgbClr val="F7F7F7"/>
                </a:highlight>
                <a:latin typeface="Courier New"/>
                <a:ea typeface="Courier New"/>
                <a:cs typeface="Courier New"/>
                <a:sym typeface="Courier New"/>
              </a:rPr>
              <a:t>-0.1</a:t>
            </a:r>
            <a:r>
              <a:rPr lang="en" sz="1800">
                <a:solidFill>
                  <a:schemeClr val="dk1"/>
                </a:solidFill>
                <a:highlight>
                  <a:srgbClr val="F7F7F7"/>
                </a:highlight>
                <a:latin typeface="Courier New"/>
                <a:ea typeface="Courier New"/>
                <a:cs typeface="Courier New"/>
                <a:sym typeface="Courier New"/>
              </a:rPr>
              <a:t> * t)</a:t>
            </a:r>
            <a:endParaRPr sz="1800">
              <a:solidFill>
                <a:schemeClr val="dk1"/>
              </a:solidFill>
              <a:highlight>
                <a:srgbClr val="F7F7F7"/>
              </a:highlight>
              <a:latin typeface="Courier New"/>
              <a:ea typeface="Courier New"/>
              <a:cs typeface="Courier New"/>
              <a:sym typeface="Courier New"/>
            </a:endParaRPr>
          </a:p>
          <a:p>
            <a:pPr marL="0" lvl="0" indent="0" algn="l" rtl="0">
              <a:lnSpc>
                <a:spcPct val="135714"/>
              </a:lnSpc>
              <a:spcBef>
                <a:spcPts val="0"/>
              </a:spcBef>
              <a:spcAft>
                <a:spcPts val="0"/>
              </a:spcAft>
              <a:buNone/>
            </a:pPr>
            <a:endParaRPr sz="1800">
              <a:solidFill>
                <a:schemeClr val="dk1"/>
              </a:solidFill>
              <a:highlight>
                <a:srgbClr val="F7F7F7"/>
              </a:highlight>
              <a:latin typeface="Courier New"/>
              <a:ea typeface="Courier New"/>
              <a:cs typeface="Courier New"/>
              <a:sym typeface="Courier New"/>
            </a:endParaRPr>
          </a:p>
        </p:txBody>
      </p:sp>
      <p:pic>
        <p:nvPicPr>
          <p:cNvPr id="371" name="Google Shape;371;p56"/>
          <p:cNvPicPr preferRelativeResize="0"/>
          <p:nvPr/>
        </p:nvPicPr>
        <p:blipFill>
          <a:blip r:embed="rId3">
            <a:alphaModFix/>
          </a:blip>
          <a:stretch>
            <a:fillRect/>
          </a:stretch>
        </p:blipFill>
        <p:spPr>
          <a:xfrm>
            <a:off x="5368775" y="715150"/>
            <a:ext cx="3470425" cy="2432400"/>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375"/>
        <p:cNvGrpSpPr/>
        <p:nvPr/>
      </p:nvGrpSpPr>
      <p:grpSpPr>
        <a:xfrm>
          <a:off x="0" y="0"/>
          <a:ext cx="0" cy="0"/>
          <a:chOff x="0" y="0"/>
          <a:chExt cx="0" cy="0"/>
        </a:xfrm>
      </p:grpSpPr>
      <p:sp>
        <p:nvSpPr>
          <p:cNvPr id="376" name="Google Shape;376;p57"/>
          <p:cNvSpPr txBox="1">
            <a:spLocks noGrp="1"/>
          </p:cNvSpPr>
          <p:nvPr>
            <p:ph type="title"/>
          </p:nvPr>
        </p:nvSpPr>
        <p:spPr>
          <a:xfrm>
            <a:off x="311700" y="14245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Polynomial decay </a:t>
            </a:r>
            <a:endParaRPr/>
          </a:p>
        </p:txBody>
      </p:sp>
      <p:sp>
        <p:nvSpPr>
          <p:cNvPr id="377" name="Google Shape;377;p57"/>
          <p:cNvSpPr txBox="1">
            <a:spLocks noGrp="1"/>
          </p:cNvSpPr>
          <p:nvPr>
            <p:ph type="body" idx="1"/>
          </p:nvPr>
        </p:nvSpPr>
        <p:spPr>
          <a:xfrm>
            <a:off x="311700" y="3091100"/>
            <a:ext cx="8520600" cy="1771800"/>
          </a:xfrm>
          <a:prstGeom prst="rect">
            <a:avLst/>
          </a:prstGeom>
        </p:spPr>
        <p:txBody>
          <a:bodyPr spcFirstLastPara="1" wrap="square" lIns="91425" tIns="91425" rIns="91425" bIns="91425" anchor="t" anchorCtr="0">
            <a:normAutofit/>
          </a:bodyPr>
          <a:lstStyle/>
          <a:p>
            <a:pPr marL="457200" lvl="0" indent="-355600" algn="just" rtl="0">
              <a:lnSpc>
                <a:spcPct val="150000"/>
              </a:lnSpc>
              <a:spcBef>
                <a:spcPts val="0"/>
              </a:spcBef>
              <a:spcAft>
                <a:spcPts val="0"/>
              </a:spcAft>
              <a:buSzPts val="2000"/>
              <a:buChar char="●"/>
            </a:pPr>
            <a:r>
              <a:rPr lang="en" sz="1800" dirty="0"/>
              <a:t>Use a polynomial decay </a:t>
            </a:r>
            <a:endParaRPr sz="1800" dirty="0"/>
          </a:p>
          <a:p>
            <a:pPr marL="914400" lvl="1" indent="-330200" algn="just" rtl="0">
              <a:lnSpc>
                <a:spcPct val="150000"/>
              </a:lnSpc>
              <a:spcBef>
                <a:spcPts val="0"/>
              </a:spcBef>
              <a:spcAft>
                <a:spcPts val="0"/>
              </a:spcAft>
              <a:buSzPts val="1600"/>
              <a:buChar char="○"/>
            </a:pPr>
            <a:r>
              <a:rPr lang="en" sz="1800" dirty="0"/>
              <a:t>Learning rate decays with the inverse square root of the number of steps</a:t>
            </a:r>
            <a:endParaRPr sz="1800" dirty="0"/>
          </a:p>
          <a:p>
            <a:pPr marL="914400" lvl="1" indent="-330200" algn="just" rtl="0">
              <a:lnSpc>
                <a:spcPct val="150000"/>
              </a:lnSpc>
              <a:spcBef>
                <a:spcPts val="0"/>
              </a:spcBef>
              <a:spcAft>
                <a:spcPts val="0"/>
              </a:spcAft>
              <a:buSzPts val="1600"/>
              <a:buChar char="○"/>
            </a:pPr>
            <a:r>
              <a:rPr lang="en" sz="1800" dirty="0"/>
              <a:t>Convergence gets better after only 50 steps.</a:t>
            </a:r>
            <a:endParaRPr sz="1800" dirty="0"/>
          </a:p>
          <a:p>
            <a:pPr marL="457200" lvl="0" indent="-355600" algn="l" rtl="0">
              <a:spcBef>
                <a:spcPts val="0"/>
              </a:spcBef>
              <a:spcAft>
                <a:spcPts val="0"/>
              </a:spcAft>
              <a:buSzPts val="2000"/>
              <a:buChar char="●"/>
            </a:pPr>
            <a:endParaRPr dirty="0"/>
          </a:p>
        </p:txBody>
      </p:sp>
      <p:sp>
        <p:nvSpPr>
          <p:cNvPr id="378" name="Google Shape;378;p57"/>
          <p:cNvSpPr txBox="1">
            <a:spLocks noGrp="1"/>
          </p:cNvSpPr>
          <p:nvPr>
            <p:ph type="sldNum" idx="12"/>
          </p:nvPr>
        </p:nvSpPr>
        <p:spPr>
          <a:xfrm>
            <a:off x="8484550" y="4863199"/>
            <a:ext cx="548700" cy="310800"/>
          </a:xfrm>
          <a:prstGeom prst="rect">
            <a:avLst/>
          </a:prstGeom>
        </p:spPr>
        <p:txBody>
          <a:bodyPr spcFirstLastPara="1" wrap="square" lIns="91425" tIns="91425" rIns="91425" bIns="91425" anchor="ctr" anchorCtr="0">
            <a:normAutofit fontScale="92500"/>
          </a:bodyPr>
          <a:lstStyle/>
          <a:p>
            <a:pPr marL="0" lvl="0" indent="0" algn="r" rtl="0">
              <a:spcBef>
                <a:spcPts val="0"/>
              </a:spcBef>
              <a:spcAft>
                <a:spcPts val="0"/>
              </a:spcAft>
              <a:buNone/>
            </a:pPr>
            <a:fld id="{00000000-1234-1234-1234-123412341234}" type="slidenum">
              <a:rPr lang="en"/>
              <a:t>43</a:t>
            </a:fld>
            <a:endParaRPr/>
          </a:p>
        </p:txBody>
      </p:sp>
      <p:sp>
        <p:nvSpPr>
          <p:cNvPr id="379" name="Google Shape;379;p57"/>
          <p:cNvSpPr txBox="1"/>
          <p:nvPr/>
        </p:nvSpPr>
        <p:spPr>
          <a:xfrm>
            <a:off x="311700" y="715150"/>
            <a:ext cx="4644000" cy="1589700"/>
          </a:xfrm>
          <a:prstGeom prst="rect">
            <a:avLst/>
          </a:prstGeom>
          <a:noFill/>
          <a:ln>
            <a:noFill/>
          </a:ln>
        </p:spPr>
        <p:txBody>
          <a:bodyPr spcFirstLastPara="1" wrap="square" lIns="91425" tIns="91425" rIns="91425" bIns="91425" anchor="t" anchorCtr="0">
            <a:spAutoFit/>
          </a:bodyPr>
          <a:lstStyle/>
          <a:p>
            <a:pPr marL="0" lvl="0" indent="0" algn="l" rtl="0">
              <a:lnSpc>
                <a:spcPct val="135714"/>
              </a:lnSpc>
              <a:spcBef>
                <a:spcPts val="0"/>
              </a:spcBef>
              <a:spcAft>
                <a:spcPts val="0"/>
              </a:spcAft>
              <a:buNone/>
            </a:pPr>
            <a:r>
              <a:rPr lang="en" sz="1800">
                <a:solidFill>
                  <a:srgbClr val="0000FF"/>
                </a:solidFill>
                <a:highlight>
                  <a:srgbClr val="F7F7F7"/>
                </a:highlight>
                <a:latin typeface="Courier New"/>
                <a:ea typeface="Courier New"/>
                <a:cs typeface="Courier New"/>
                <a:sym typeface="Courier New"/>
              </a:rPr>
              <a:t>def</a:t>
            </a:r>
            <a:r>
              <a:rPr lang="en" sz="1800">
                <a:solidFill>
                  <a:schemeClr val="dk1"/>
                </a:solidFill>
                <a:highlight>
                  <a:srgbClr val="F7F7F7"/>
                </a:highlight>
                <a:latin typeface="Courier New"/>
                <a:ea typeface="Courier New"/>
                <a:cs typeface="Courier New"/>
                <a:sym typeface="Courier New"/>
              </a:rPr>
              <a:t> </a:t>
            </a:r>
            <a:r>
              <a:rPr lang="en" sz="1800">
                <a:solidFill>
                  <a:srgbClr val="795E26"/>
                </a:solidFill>
                <a:highlight>
                  <a:srgbClr val="F7F7F7"/>
                </a:highlight>
                <a:latin typeface="Courier New"/>
                <a:ea typeface="Courier New"/>
                <a:cs typeface="Courier New"/>
                <a:sym typeface="Courier New"/>
              </a:rPr>
              <a:t>polynomial_lr</a:t>
            </a:r>
            <a:r>
              <a:rPr lang="en" sz="1800">
                <a:solidFill>
                  <a:schemeClr val="dk1"/>
                </a:solidFill>
                <a:highlight>
                  <a:srgbClr val="F7F7F7"/>
                </a:highlight>
                <a:latin typeface="Courier New"/>
                <a:ea typeface="Courier New"/>
                <a:cs typeface="Courier New"/>
                <a:sym typeface="Courier New"/>
              </a:rPr>
              <a:t>():</a:t>
            </a:r>
            <a:endParaRPr sz="1800">
              <a:solidFill>
                <a:schemeClr val="dk1"/>
              </a:solidFill>
              <a:highlight>
                <a:srgbClr val="F7F7F7"/>
              </a:highlight>
              <a:latin typeface="Courier New"/>
              <a:ea typeface="Courier New"/>
              <a:cs typeface="Courier New"/>
              <a:sym typeface="Courier New"/>
            </a:endParaRPr>
          </a:p>
          <a:p>
            <a:pPr marL="0" lvl="0" indent="0" algn="l" rtl="0">
              <a:lnSpc>
                <a:spcPct val="135714"/>
              </a:lnSpc>
              <a:spcBef>
                <a:spcPts val="0"/>
              </a:spcBef>
              <a:spcAft>
                <a:spcPts val="0"/>
              </a:spcAft>
              <a:buNone/>
            </a:pPr>
            <a:r>
              <a:rPr lang="en" sz="1800">
                <a:solidFill>
                  <a:schemeClr val="dk1"/>
                </a:solidFill>
                <a:highlight>
                  <a:srgbClr val="F7F7F7"/>
                </a:highlight>
                <a:latin typeface="Courier New"/>
                <a:ea typeface="Courier New"/>
                <a:cs typeface="Courier New"/>
                <a:sym typeface="Courier New"/>
              </a:rPr>
              <a:t> </a:t>
            </a:r>
            <a:r>
              <a:rPr lang="en" sz="1800">
                <a:solidFill>
                  <a:srgbClr val="0000FF"/>
                </a:solidFill>
                <a:highlight>
                  <a:srgbClr val="F7F7F7"/>
                </a:highlight>
                <a:latin typeface="Courier New"/>
                <a:ea typeface="Courier New"/>
                <a:cs typeface="Courier New"/>
                <a:sym typeface="Courier New"/>
              </a:rPr>
              <a:t>global</a:t>
            </a:r>
            <a:r>
              <a:rPr lang="en" sz="1800">
                <a:solidFill>
                  <a:schemeClr val="dk1"/>
                </a:solidFill>
                <a:highlight>
                  <a:srgbClr val="F7F7F7"/>
                </a:highlight>
                <a:latin typeface="Courier New"/>
                <a:ea typeface="Courier New"/>
                <a:cs typeface="Courier New"/>
                <a:sym typeface="Courier New"/>
              </a:rPr>
              <a:t> t</a:t>
            </a:r>
            <a:endParaRPr sz="1800">
              <a:solidFill>
                <a:schemeClr val="dk1"/>
              </a:solidFill>
              <a:highlight>
                <a:srgbClr val="F7F7F7"/>
              </a:highlight>
              <a:latin typeface="Courier New"/>
              <a:ea typeface="Courier New"/>
              <a:cs typeface="Courier New"/>
              <a:sym typeface="Courier New"/>
            </a:endParaRPr>
          </a:p>
          <a:p>
            <a:pPr marL="0" lvl="0" indent="0" algn="l" rtl="0">
              <a:lnSpc>
                <a:spcPct val="135714"/>
              </a:lnSpc>
              <a:spcBef>
                <a:spcPts val="0"/>
              </a:spcBef>
              <a:spcAft>
                <a:spcPts val="0"/>
              </a:spcAft>
              <a:buNone/>
            </a:pPr>
            <a:r>
              <a:rPr lang="en" sz="1800">
                <a:solidFill>
                  <a:schemeClr val="dk1"/>
                </a:solidFill>
                <a:highlight>
                  <a:srgbClr val="F7F7F7"/>
                </a:highlight>
                <a:latin typeface="Courier New"/>
                <a:ea typeface="Courier New"/>
                <a:cs typeface="Courier New"/>
                <a:sym typeface="Courier New"/>
              </a:rPr>
              <a:t> t += </a:t>
            </a:r>
            <a:r>
              <a:rPr lang="en" sz="1800">
                <a:solidFill>
                  <a:srgbClr val="098156"/>
                </a:solidFill>
                <a:highlight>
                  <a:srgbClr val="F7F7F7"/>
                </a:highlight>
                <a:latin typeface="Courier New"/>
                <a:ea typeface="Courier New"/>
                <a:cs typeface="Courier New"/>
                <a:sym typeface="Courier New"/>
              </a:rPr>
              <a:t>1</a:t>
            </a:r>
            <a:endParaRPr sz="1800">
              <a:solidFill>
                <a:srgbClr val="098156"/>
              </a:solidFill>
              <a:highlight>
                <a:srgbClr val="F7F7F7"/>
              </a:highlight>
              <a:latin typeface="Courier New"/>
              <a:ea typeface="Courier New"/>
              <a:cs typeface="Courier New"/>
              <a:sym typeface="Courier New"/>
            </a:endParaRPr>
          </a:p>
          <a:p>
            <a:pPr marL="0" lvl="0" indent="0" algn="l" rtl="0">
              <a:lnSpc>
                <a:spcPct val="135714"/>
              </a:lnSpc>
              <a:spcBef>
                <a:spcPts val="0"/>
              </a:spcBef>
              <a:spcAft>
                <a:spcPts val="0"/>
              </a:spcAft>
              <a:buNone/>
            </a:pPr>
            <a:r>
              <a:rPr lang="en" sz="1800">
                <a:solidFill>
                  <a:schemeClr val="dk1"/>
                </a:solidFill>
                <a:highlight>
                  <a:srgbClr val="F7F7F7"/>
                </a:highlight>
                <a:latin typeface="Courier New"/>
                <a:ea typeface="Courier New"/>
                <a:cs typeface="Courier New"/>
                <a:sym typeface="Courier New"/>
              </a:rPr>
              <a:t> </a:t>
            </a:r>
            <a:r>
              <a:rPr lang="en" sz="1800">
                <a:solidFill>
                  <a:srgbClr val="AF00DB"/>
                </a:solidFill>
                <a:highlight>
                  <a:srgbClr val="F7F7F7"/>
                </a:highlight>
                <a:latin typeface="Courier New"/>
                <a:ea typeface="Courier New"/>
                <a:cs typeface="Courier New"/>
                <a:sym typeface="Courier New"/>
              </a:rPr>
              <a:t>return</a:t>
            </a:r>
            <a:r>
              <a:rPr lang="en" sz="1800">
                <a:solidFill>
                  <a:schemeClr val="dk1"/>
                </a:solidFill>
                <a:highlight>
                  <a:srgbClr val="F7F7F7"/>
                </a:highlight>
                <a:latin typeface="Courier New"/>
                <a:ea typeface="Courier New"/>
                <a:cs typeface="Courier New"/>
                <a:sym typeface="Courier New"/>
              </a:rPr>
              <a:t> (</a:t>
            </a:r>
            <a:r>
              <a:rPr lang="en" sz="1800">
                <a:solidFill>
                  <a:srgbClr val="098156"/>
                </a:solidFill>
                <a:highlight>
                  <a:srgbClr val="F7F7F7"/>
                </a:highlight>
                <a:latin typeface="Courier New"/>
                <a:ea typeface="Courier New"/>
                <a:cs typeface="Courier New"/>
                <a:sym typeface="Courier New"/>
              </a:rPr>
              <a:t>1</a:t>
            </a:r>
            <a:r>
              <a:rPr lang="en" sz="1800">
                <a:solidFill>
                  <a:schemeClr val="dk1"/>
                </a:solidFill>
                <a:highlight>
                  <a:srgbClr val="F7F7F7"/>
                </a:highlight>
                <a:latin typeface="Courier New"/>
                <a:ea typeface="Courier New"/>
                <a:cs typeface="Courier New"/>
                <a:sym typeface="Courier New"/>
              </a:rPr>
              <a:t> + </a:t>
            </a:r>
            <a:r>
              <a:rPr lang="en" sz="1800">
                <a:solidFill>
                  <a:srgbClr val="098156"/>
                </a:solidFill>
                <a:highlight>
                  <a:srgbClr val="F7F7F7"/>
                </a:highlight>
                <a:latin typeface="Courier New"/>
                <a:ea typeface="Courier New"/>
                <a:cs typeface="Courier New"/>
                <a:sym typeface="Courier New"/>
              </a:rPr>
              <a:t>0.1</a:t>
            </a:r>
            <a:r>
              <a:rPr lang="en" sz="1800">
                <a:solidFill>
                  <a:schemeClr val="dk1"/>
                </a:solidFill>
                <a:highlight>
                  <a:srgbClr val="F7F7F7"/>
                </a:highlight>
                <a:latin typeface="Courier New"/>
                <a:ea typeface="Courier New"/>
                <a:cs typeface="Courier New"/>
                <a:sym typeface="Courier New"/>
              </a:rPr>
              <a:t> * t) ** (</a:t>
            </a:r>
            <a:r>
              <a:rPr lang="en" sz="1800">
                <a:solidFill>
                  <a:srgbClr val="098156"/>
                </a:solidFill>
                <a:highlight>
                  <a:srgbClr val="F7F7F7"/>
                </a:highlight>
                <a:latin typeface="Courier New"/>
                <a:ea typeface="Courier New"/>
                <a:cs typeface="Courier New"/>
                <a:sym typeface="Courier New"/>
              </a:rPr>
              <a:t>-0.5</a:t>
            </a:r>
            <a:r>
              <a:rPr lang="en" sz="1800">
                <a:solidFill>
                  <a:schemeClr val="dk1"/>
                </a:solidFill>
                <a:highlight>
                  <a:srgbClr val="F7F7F7"/>
                </a:highlight>
                <a:latin typeface="Courier New"/>
                <a:ea typeface="Courier New"/>
                <a:cs typeface="Courier New"/>
                <a:sym typeface="Courier New"/>
              </a:rPr>
              <a:t>)</a:t>
            </a:r>
            <a:endParaRPr sz="1800">
              <a:solidFill>
                <a:schemeClr val="dk1"/>
              </a:solidFill>
              <a:highlight>
                <a:srgbClr val="F7F7F7"/>
              </a:highlight>
              <a:latin typeface="Courier New"/>
              <a:ea typeface="Courier New"/>
              <a:cs typeface="Courier New"/>
              <a:sym typeface="Courier New"/>
            </a:endParaRPr>
          </a:p>
        </p:txBody>
      </p:sp>
      <p:pic>
        <p:nvPicPr>
          <p:cNvPr id="380" name="Google Shape;380;p57"/>
          <p:cNvPicPr preferRelativeResize="0"/>
          <p:nvPr/>
        </p:nvPicPr>
        <p:blipFill>
          <a:blip r:embed="rId3">
            <a:alphaModFix/>
          </a:blip>
          <a:stretch>
            <a:fillRect/>
          </a:stretch>
        </p:blipFill>
        <p:spPr>
          <a:xfrm>
            <a:off x="5481400" y="715148"/>
            <a:ext cx="3551850" cy="2581000"/>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384"/>
        <p:cNvGrpSpPr/>
        <p:nvPr/>
      </p:nvGrpSpPr>
      <p:grpSpPr>
        <a:xfrm>
          <a:off x="0" y="0"/>
          <a:ext cx="0" cy="0"/>
          <a:chOff x="0" y="0"/>
          <a:chExt cx="0" cy="0"/>
        </a:xfrm>
      </p:grpSpPr>
      <p:sp>
        <p:nvSpPr>
          <p:cNvPr id="385" name="Google Shape;385;p58"/>
          <p:cNvSpPr txBox="1">
            <a:spLocks noGrp="1"/>
          </p:cNvSpPr>
          <p:nvPr>
            <p:ph type="title"/>
          </p:nvPr>
        </p:nvSpPr>
        <p:spPr>
          <a:xfrm>
            <a:off x="311700" y="14245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Review</a:t>
            </a:r>
            <a:endParaRPr/>
          </a:p>
        </p:txBody>
      </p:sp>
      <p:sp>
        <p:nvSpPr>
          <p:cNvPr id="386" name="Google Shape;386;p58"/>
          <p:cNvSpPr txBox="1">
            <a:spLocks noGrp="1"/>
          </p:cNvSpPr>
          <p:nvPr>
            <p:ph type="body" idx="1"/>
          </p:nvPr>
        </p:nvSpPr>
        <p:spPr>
          <a:xfrm>
            <a:off x="130629" y="708275"/>
            <a:ext cx="8765864" cy="4147800"/>
          </a:xfrm>
          <a:prstGeom prst="rect">
            <a:avLst/>
          </a:prstGeom>
        </p:spPr>
        <p:txBody>
          <a:bodyPr spcFirstLastPara="1" wrap="square" lIns="91425" tIns="91425" rIns="91425" bIns="91425" anchor="t" anchorCtr="0">
            <a:noAutofit/>
          </a:bodyPr>
          <a:lstStyle/>
          <a:p>
            <a:pPr marL="457200" lvl="0" indent="-357822" algn="just" rtl="0">
              <a:lnSpc>
                <a:spcPct val="150000"/>
              </a:lnSpc>
              <a:spcBef>
                <a:spcPts val="0"/>
              </a:spcBef>
              <a:spcAft>
                <a:spcPts val="0"/>
              </a:spcAft>
              <a:buSzPct val="100000"/>
              <a:buChar char="●"/>
            </a:pPr>
            <a:r>
              <a:rPr lang="en" sz="1400" b="1" dirty="0"/>
              <a:t>Gradient descent </a:t>
            </a:r>
            <a:endParaRPr sz="1400" b="1" dirty="0"/>
          </a:p>
          <a:p>
            <a:pPr marL="914400" lvl="1" indent="-334327" algn="just" rtl="0">
              <a:lnSpc>
                <a:spcPct val="150000"/>
              </a:lnSpc>
              <a:spcBef>
                <a:spcPts val="0"/>
              </a:spcBef>
              <a:spcAft>
                <a:spcPts val="0"/>
              </a:spcAft>
              <a:buSzPct val="100000"/>
              <a:buChar char="○"/>
            </a:pPr>
            <a:r>
              <a:rPr lang="en" sz="1400" dirty="0"/>
              <a:t>Uses the full dataset to compute gradients and to update parameters, one pass at a time. </a:t>
            </a:r>
            <a:endParaRPr sz="1400" dirty="0"/>
          </a:p>
          <a:p>
            <a:pPr marL="914400" lvl="1" indent="-334327" algn="just" rtl="0">
              <a:lnSpc>
                <a:spcPct val="150000"/>
              </a:lnSpc>
              <a:spcBef>
                <a:spcPts val="0"/>
              </a:spcBef>
              <a:spcAft>
                <a:spcPts val="0"/>
              </a:spcAft>
              <a:buSzPct val="100000"/>
              <a:buChar char="○"/>
            </a:pPr>
            <a:r>
              <a:rPr lang="en" sz="1400" dirty="0"/>
              <a:t>Gradient Descent is not particularly data efficient whenever data is very similar.</a:t>
            </a:r>
            <a:endParaRPr sz="1400" dirty="0"/>
          </a:p>
          <a:p>
            <a:pPr marL="457200" lvl="0" indent="-357822" algn="just" rtl="0">
              <a:lnSpc>
                <a:spcPct val="150000"/>
              </a:lnSpc>
              <a:spcBef>
                <a:spcPts val="0"/>
              </a:spcBef>
              <a:spcAft>
                <a:spcPts val="0"/>
              </a:spcAft>
              <a:buSzPct val="100000"/>
              <a:buChar char="●"/>
            </a:pPr>
            <a:r>
              <a:rPr lang="en" sz="1400" b="1" dirty="0"/>
              <a:t>Stochastic Gradient descent</a:t>
            </a:r>
            <a:endParaRPr sz="1400" b="1" dirty="0"/>
          </a:p>
          <a:p>
            <a:pPr marL="914400" lvl="1" indent="-334327" algn="just" rtl="0">
              <a:lnSpc>
                <a:spcPct val="100000"/>
              </a:lnSpc>
              <a:spcBef>
                <a:spcPts val="0"/>
              </a:spcBef>
              <a:spcAft>
                <a:spcPts val="0"/>
              </a:spcAft>
              <a:buSzPct val="100000"/>
              <a:buChar char="○"/>
            </a:pPr>
            <a:r>
              <a:rPr lang="en" sz="1400" dirty="0"/>
              <a:t>Processes one observation at a time to make progress. </a:t>
            </a:r>
            <a:endParaRPr sz="1400" dirty="0"/>
          </a:p>
          <a:p>
            <a:pPr marL="914400" lvl="1" indent="-334327" algn="just" rtl="0">
              <a:lnSpc>
                <a:spcPct val="100000"/>
              </a:lnSpc>
              <a:spcBef>
                <a:spcPts val="0"/>
              </a:spcBef>
              <a:spcAft>
                <a:spcPts val="0"/>
              </a:spcAft>
              <a:buSzPct val="100000"/>
              <a:buChar char="○"/>
            </a:pPr>
            <a:r>
              <a:rPr lang="en" sz="1400" dirty="0"/>
              <a:t>Stochastic Gradient Descent is not particularly computationally efficient since CPUs and GPUs cannot exploit the full power of vectorization.</a:t>
            </a:r>
            <a:endParaRPr sz="1400" dirty="0"/>
          </a:p>
          <a:p>
            <a:pPr marL="914400" lvl="1" indent="-334327" algn="just" rtl="0">
              <a:lnSpc>
                <a:spcPct val="150000"/>
              </a:lnSpc>
              <a:spcBef>
                <a:spcPts val="0"/>
              </a:spcBef>
              <a:spcAft>
                <a:spcPts val="0"/>
              </a:spcAft>
              <a:buSzPct val="100000"/>
              <a:buChar char="○"/>
            </a:pPr>
            <a:r>
              <a:rPr lang="en" sz="1400" dirty="0"/>
              <a:t>For noisy gradients, choice of the learning rate is critical. </a:t>
            </a:r>
            <a:endParaRPr sz="1400" dirty="0"/>
          </a:p>
          <a:p>
            <a:pPr marL="1371600" lvl="2" indent="-334327" algn="just" rtl="0">
              <a:lnSpc>
                <a:spcPct val="150000"/>
              </a:lnSpc>
              <a:spcBef>
                <a:spcPts val="0"/>
              </a:spcBef>
              <a:spcAft>
                <a:spcPts val="0"/>
              </a:spcAft>
              <a:buSzPct val="100000"/>
              <a:buChar char="■"/>
            </a:pPr>
            <a:r>
              <a:rPr lang="en" sz="1400" dirty="0"/>
              <a:t>If we decrease it too rapidly, convergence stalls. </a:t>
            </a:r>
            <a:endParaRPr sz="1400" dirty="0"/>
          </a:p>
          <a:p>
            <a:pPr marL="1371600" lvl="2" indent="-334327" algn="just" rtl="0">
              <a:lnSpc>
                <a:spcPct val="150000"/>
              </a:lnSpc>
              <a:spcBef>
                <a:spcPts val="0"/>
              </a:spcBef>
              <a:spcAft>
                <a:spcPts val="0"/>
              </a:spcAft>
              <a:buSzPct val="100000"/>
              <a:buChar char="■"/>
            </a:pPr>
            <a:r>
              <a:rPr lang="en" sz="1400" dirty="0"/>
              <a:t>If we are too lenient, we fail to converge to a good enough solution since noise keeps on driving us away from optimality.</a:t>
            </a:r>
            <a:endParaRPr sz="1400" dirty="0"/>
          </a:p>
          <a:p>
            <a:pPr marL="457200" lvl="0" indent="-334327" algn="just" rtl="0">
              <a:lnSpc>
                <a:spcPct val="150000"/>
              </a:lnSpc>
              <a:spcBef>
                <a:spcPts val="0"/>
              </a:spcBef>
              <a:spcAft>
                <a:spcPts val="0"/>
              </a:spcAft>
              <a:buSzPct val="100000"/>
              <a:buChar char="●"/>
            </a:pPr>
            <a:r>
              <a:rPr lang="en" sz="1400" b="1" dirty="0"/>
              <a:t>MInibatch SGD</a:t>
            </a:r>
            <a:endParaRPr sz="1400" b="1" dirty="0"/>
          </a:p>
          <a:p>
            <a:pPr marL="914400" lvl="1" indent="-334327" algn="just" rtl="0">
              <a:lnSpc>
                <a:spcPct val="100000"/>
              </a:lnSpc>
              <a:spcBef>
                <a:spcPts val="0"/>
              </a:spcBef>
              <a:spcAft>
                <a:spcPts val="0"/>
              </a:spcAft>
              <a:buSzPct val="100000"/>
              <a:buChar char="○"/>
            </a:pPr>
            <a:r>
              <a:rPr lang="en" sz="1400" dirty="0"/>
              <a:t>Accelerate computation, or better or computational efficiency.  </a:t>
            </a:r>
            <a:endParaRPr sz="1400" dirty="0"/>
          </a:p>
          <a:p>
            <a:pPr marL="914400" lvl="1" indent="-334327" algn="just" rtl="0">
              <a:lnSpc>
                <a:spcPct val="100000"/>
              </a:lnSpc>
              <a:spcBef>
                <a:spcPts val="0"/>
              </a:spcBef>
              <a:spcAft>
                <a:spcPts val="0"/>
              </a:spcAft>
              <a:buSzPct val="100000"/>
              <a:buChar char="○"/>
            </a:pPr>
            <a:r>
              <a:rPr lang="en" sz="1400" dirty="0"/>
              <a:t>Averaging gradients reduce the amount of variance.</a:t>
            </a:r>
            <a:endParaRPr sz="1400" dirty="0"/>
          </a:p>
        </p:txBody>
      </p:sp>
      <p:sp>
        <p:nvSpPr>
          <p:cNvPr id="387" name="Google Shape;387;p58"/>
          <p:cNvSpPr txBox="1">
            <a:spLocks noGrp="1"/>
          </p:cNvSpPr>
          <p:nvPr>
            <p:ph type="sldNum" idx="12"/>
          </p:nvPr>
        </p:nvSpPr>
        <p:spPr>
          <a:xfrm>
            <a:off x="8484550" y="4863199"/>
            <a:ext cx="548700" cy="310800"/>
          </a:xfrm>
          <a:prstGeom prst="rect">
            <a:avLst/>
          </a:prstGeom>
        </p:spPr>
        <p:txBody>
          <a:bodyPr spcFirstLastPara="1" wrap="square" lIns="91425" tIns="91425" rIns="91425" bIns="91425" anchor="ctr" anchorCtr="0">
            <a:normAutofit fontScale="92500"/>
          </a:bodyPr>
          <a:lstStyle/>
          <a:p>
            <a:pPr marL="0" lvl="0" indent="0" algn="r" rtl="0">
              <a:spcBef>
                <a:spcPts val="0"/>
              </a:spcBef>
              <a:spcAft>
                <a:spcPts val="0"/>
              </a:spcAft>
              <a:buNone/>
            </a:pPr>
            <a:fld id="{00000000-1234-1234-1234-123412341234}" type="slidenum">
              <a:rPr lang="en"/>
              <a:t>44</a:t>
            </a:fld>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391"/>
        <p:cNvGrpSpPr/>
        <p:nvPr/>
      </p:nvGrpSpPr>
      <p:grpSpPr>
        <a:xfrm>
          <a:off x="0" y="0"/>
          <a:ext cx="0" cy="0"/>
          <a:chOff x="0" y="0"/>
          <a:chExt cx="0" cy="0"/>
        </a:xfrm>
      </p:grpSpPr>
      <p:sp>
        <p:nvSpPr>
          <p:cNvPr id="392" name="Google Shape;392;p59"/>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r>
              <a:rPr lang="en" sz="2800" b="1" dirty="0"/>
              <a:t>Minibatch Stochastic Gradient Descent</a:t>
            </a:r>
            <a:endParaRPr sz="2800" b="1" dirty="0"/>
          </a:p>
        </p:txBody>
      </p:sp>
      <p:sp>
        <p:nvSpPr>
          <p:cNvPr id="393" name="Google Shape;393;p5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45</a:t>
            </a:fld>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397"/>
        <p:cNvGrpSpPr/>
        <p:nvPr/>
      </p:nvGrpSpPr>
      <p:grpSpPr>
        <a:xfrm>
          <a:off x="0" y="0"/>
          <a:ext cx="0" cy="0"/>
          <a:chOff x="0" y="0"/>
          <a:chExt cx="0" cy="0"/>
        </a:xfrm>
      </p:grpSpPr>
      <p:sp>
        <p:nvSpPr>
          <p:cNvPr id="398" name="Google Shape;398;p60"/>
          <p:cNvSpPr txBox="1">
            <a:spLocks noGrp="1"/>
          </p:cNvSpPr>
          <p:nvPr>
            <p:ph type="title"/>
          </p:nvPr>
        </p:nvSpPr>
        <p:spPr>
          <a:xfrm>
            <a:off x="311700" y="14245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Clr>
                <a:schemeClr val="dk1"/>
              </a:buClr>
              <a:buSzPct val="39285"/>
              <a:buFont typeface="Arial"/>
              <a:buNone/>
            </a:pPr>
            <a:r>
              <a:rPr lang="en"/>
              <a:t>Minibatch Stochastic Gradient Descent</a:t>
            </a:r>
            <a:endParaRPr/>
          </a:p>
          <a:p>
            <a:pPr marL="0" lvl="0" indent="0" algn="l" rtl="0">
              <a:spcBef>
                <a:spcPts val="0"/>
              </a:spcBef>
              <a:spcAft>
                <a:spcPts val="0"/>
              </a:spcAft>
              <a:buClr>
                <a:schemeClr val="dk1"/>
              </a:buClr>
              <a:buSzPct val="39285"/>
              <a:buFont typeface="Arial"/>
              <a:buNone/>
            </a:pPr>
            <a:endParaRPr/>
          </a:p>
          <a:p>
            <a:pPr marL="0" lvl="0" indent="0" algn="l" rtl="0">
              <a:spcBef>
                <a:spcPts val="0"/>
              </a:spcBef>
              <a:spcAft>
                <a:spcPts val="0"/>
              </a:spcAft>
              <a:buNone/>
            </a:pPr>
            <a:endParaRPr/>
          </a:p>
        </p:txBody>
      </p:sp>
      <p:sp>
        <p:nvSpPr>
          <p:cNvPr id="399" name="Google Shape;399;p60"/>
          <p:cNvSpPr txBox="1">
            <a:spLocks noGrp="1"/>
          </p:cNvSpPr>
          <p:nvPr>
            <p:ph type="body" idx="1"/>
          </p:nvPr>
        </p:nvSpPr>
        <p:spPr>
          <a:xfrm>
            <a:off x="311700" y="715150"/>
            <a:ext cx="8520600" cy="4147800"/>
          </a:xfrm>
          <a:prstGeom prst="rect">
            <a:avLst/>
          </a:prstGeom>
        </p:spPr>
        <p:txBody>
          <a:bodyPr spcFirstLastPara="1" wrap="square" lIns="91425" tIns="91425" rIns="91425" bIns="91425" anchor="t" anchorCtr="0">
            <a:normAutofit fontScale="77500" lnSpcReduction="20000"/>
          </a:bodyPr>
          <a:lstStyle/>
          <a:p>
            <a:pPr marL="457200" lvl="0" indent="-355600" algn="l" rtl="0">
              <a:lnSpc>
                <a:spcPct val="150000"/>
              </a:lnSpc>
              <a:spcBef>
                <a:spcPts val="0"/>
              </a:spcBef>
              <a:spcAft>
                <a:spcPts val="0"/>
              </a:spcAft>
              <a:buSzPts val="2000"/>
              <a:buChar char="●"/>
            </a:pPr>
            <a:r>
              <a:rPr lang="en" dirty="0"/>
              <a:t>In each iteration, we first randomly sample a minibatch B consisting of a fixed number of training examples. </a:t>
            </a:r>
            <a:endParaRPr dirty="0"/>
          </a:p>
          <a:p>
            <a:pPr marL="457200" lvl="0" indent="-355600" algn="l" rtl="0">
              <a:lnSpc>
                <a:spcPct val="150000"/>
              </a:lnSpc>
              <a:spcBef>
                <a:spcPts val="0"/>
              </a:spcBef>
              <a:spcAft>
                <a:spcPts val="0"/>
              </a:spcAft>
              <a:buSzPts val="2000"/>
              <a:buChar char="●"/>
            </a:pPr>
            <a:r>
              <a:rPr lang="en" dirty="0"/>
              <a:t>We then compute the derivative (gradient) of the average loss on the minibatch with regard to the model parameters. </a:t>
            </a:r>
            <a:endParaRPr dirty="0"/>
          </a:p>
          <a:p>
            <a:pPr marL="457200" lvl="0" indent="-355600" algn="l" rtl="0">
              <a:lnSpc>
                <a:spcPct val="150000"/>
              </a:lnSpc>
              <a:spcBef>
                <a:spcPts val="0"/>
              </a:spcBef>
              <a:spcAft>
                <a:spcPts val="0"/>
              </a:spcAft>
              <a:buSzPts val="2000"/>
              <a:buChar char="●"/>
            </a:pPr>
            <a:r>
              <a:rPr lang="en" dirty="0"/>
              <a:t>Finally, we multiply the gradient by a predetermined positive value η and subtract the resulting term from the current parameter values.</a:t>
            </a:r>
            <a:endParaRPr dirty="0"/>
          </a:p>
          <a:p>
            <a:pPr marL="0" lvl="0" indent="0" algn="l" rtl="0">
              <a:spcBef>
                <a:spcPts val="1200"/>
              </a:spcBef>
              <a:spcAft>
                <a:spcPts val="0"/>
              </a:spcAft>
              <a:buNone/>
            </a:pPr>
            <a:endParaRPr dirty="0"/>
          </a:p>
          <a:p>
            <a:pPr marL="0" lvl="0" indent="0" algn="l" rtl="0">
              <a:spcBef>
                <a:spcPts val="1200"/>
              </a:spcBef>
              <a:spcAft>
                <a:spcPts val="0"/>
              </a:spcAft>
              <a:buNone/>
            </a:pPr>
            <a:endParaRPr dirty="0"/>
          </a:p>
          <a:p>
            <a:pPr marL="0" lvl="0" indent="0" algn="l" rtl="0">
              <a:spcBef>
                <a:spcPts val="1200"/>
              </a:spcBef>
              <a:spcAft>
                <a:spcPts val="0"/>
              </a:spcAft>
              <a:buNone/>
            </a:pPr>
            <a:endParaRPr dirty="0"/>
          </a:p>
          <a:p>
            <a:pPr marL="457200" lvl="0" indent="-355600" algn="just" rtl="0">
              <a:lnSpc>
                <a:spcPct val="170000"/>
              </a:lnSpc>
              <a:spcAft>
                <a:spcPts val="0"/>
              </a:spcAft>
              <a:buSzPts val="2000"/>
              <a:buChar char="●"/>
            </a:pPr>
            <a:r>
              <a:rPr lang="en" dirty="0"/>
              <a:t>|B| represents the number of examples in each minibatch (the batch size) and η denotes the learning rate.</a:t>
            </a:r>
            <a:endParaRPr dirty="0"/>
          </a:p>
        </p:txBody>
      </p:sp>
      <p:sp>
        <p:nvSpPr>
          <p:cNvPr id="400" name="Google Shape;400;p60"/>
          <p:cNvSpPr txBox="1">
            <a:spLocks noGrp="1"/>
          </p:cNvSpPr>
          <p:nvPr>
            <p:ph type="sldNum" idx="12"/>
          </p:nvPr>
        </p:nvSpPr>
        <p:spPr>
          <a:xfrm>
            <a:off x="8484550" y="4863199"/>
            <a:ext cx="548700" cy="310800"/>
          </a:xfrm>
          <a:prstGeom prst="rect">
            <a:avLst/>
          </a:prstGeom>
        </p:spPr>
        <p:txBody>
          <a:bodyPr spcFirstLastPara="1" wrap="square" lIns="91425" tIns="91425" rIns="91425" bIns="91425" anchor="ctr" anchorCtr="0">
            <a:normAutofit fontScale="92500"/>
          </a:bodyPr>
          <a:lstStyle/>
          <a:p>
            <a:pPr marL="0" lvl="0" indent="0" algn="r" rtl="0">
              <a:spcBef>
                <a:spcPts val="0"/>
              </a:spcBef>
              <a:spcAft>
                <a:spcPts val="0"/>
              </a:spcAft>
              <a:buNone/>
            </a:pPr>
            <a:fld id="{00000000-1234-1234-1234-123412341234}" type="slidenum">
              <a:rPr lang="en"/>
              <a:t>46</a:t>
            </a:fld>
            <a:endParaRPr/>
          </a:p>
        </p:txBody>
      </p:sp>
      <p:pic>
        <p:nvPicPr>
          <p:cNvPr id="401" name="Google Shape;401;p60"/>
          <p:cNvPicPr preferRelativeResize="0"/>
          <p:nvPr/>
        </p:nvPicPr>
        <p:blipFill>
          <a:blip r:embed="rId3">
            <a:alphaModFix/>
          </a:blip>
          <a:stretch>
            <a:fillRect/>
          </a:stretch>
        </p:blipFill>
        <p:spPr>
          <a:xfrm>
            <a:off x="2119150" y="2818631"/>
            <a:ext cx="5080900" cy="1007650"/>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405"/>
        <p:cNvGrpSpPr/>
        <p:nvPr/>
      </p:nvGrpSpPr>
      <p:grpSpPr>
        <a:xfrm>
          <a:off x="0" y="0"/>
          <a:ext cx="0" cy="0"/>
          <a:chOff x="0" y="0"/>
          <a:chExt cx="0" cy="0"/>
        </a:xfrm>
      </p:grpSpPr>
      <p:sp>
        <p:nvSpPr>
          <p:cNvPr id="406" name="Google Shape;406;p61"/>
          <p:cNvSpPr txBox="1">
            <a:spLocks noGrp="1"/>
          </p:cNvSpPr>
          <p:nvPr>
            <p:ph type="title"/>
          </p:nvPr>
        </p:nvSpPr>
        <p:spPr>
          <a:xfrm>
            <a:off x="311700" y="14245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Minibatch Stochastic Gradient Descent Algorithm</a:t>
            </a:r>
            <a:endParaRPr/>
          </a:p>
          <a:p>
            <a:pPr marL="0" lvl="0" indent="0" algn="l" rtl="0">
              <a:spcBef>
                <a:spcPts val="0"/>
              </a:spcBef>
              <a:spcAft>
                <a:spcPts val="0"/>
              </a:spcAft>
              <a:buNone/>
            </a:pPr>
            <a:endParaRPr/>
          </a:p>
          <a:p>
            <a:pPr marL="0" lvl="0" indent="0" algn="l" rtl="0">
              <a:spcBef>
                <a:spcPts val="0"/>
              </a:spcBef>
              <a:spcAft>
                <a:spcPts val="0"/>
              </a:spcAft>
              <a:buNone/>
            </a:pPr>
            <a:endParaRPr/>
          </a:p>
        </p:txBody>
      </p:sp>
      <p:sp>
        <p:nvSpPr>
          <p:cNvPr id="407" name="Google Shape;407;p61"/>
          <p:cNvSpPr txBox="1">
            <a:spLocks noGrp="1"/>
          </p:cNvSpPr>
          <p:nvPr>
            <p:ph type="body" idx="1"/>
          </p:nvPr>
        </p:nvSpPr>
        <p:spPr>
          <a:xfrm>
            <a:off x="311700" y="715150"/>
            <a:ext cx="8520600" cy="4147800"/>
          </a:xfrm>
          <a:prstGeom prst="rect">
            <a:avLst/>
          </a:prstGeom>
        </p:spPr>
        <p:txBody>
          <a:bodyPr spcFirstLastPara="1" wrap="square" lIns="91425" tIns="91425" rIns="91425" bIns="91425" anchor="t" anchorCtr="0">
            <a:normAutofit/>
          </a:bodyPr>
          <a:lstStyle/>
          <a:p>
            <a:pPr marL="457200" lvl="0" indent="-355600" algn="l" rtl="0">
              <a:lnSpc>
                <a:spcPct val="150000"/>
              </a:lnSpc>
              <a:spcBef>
                <a:spcPts val="0"/>
              </a:spcBef>
              <a:spcAft>
                <a:spcPts val="0"/>
              </a:spcAft>
              <a:buSzPts val="2000"/>
              <a:buChar char="●"/>
            </a:pPr>
            <a:r>
              <a:rPr lang="en" dirty="0"/>
              <a:t>Gradients at time t is calculated as </a:t>
            </a:r>
            <a:endParaRPr dirty="0"/>
          </a:p>
          <a:p>
            <a:pPr marL="0" lvl="0" indent="0" algn="l" rtl="0">
              <a:spcBef>
                <a:spcPts val="1200"/>
              </a:spcBef>
              <a:spcAft>
                <a:spcPts val="0"/>
              </a:spcAft>
              <a:buNone/>
            </a:pPr>
            <a:endParaRPr dirty="0"/>
          </a:p>
          <a:p>
            <a:pPr marL="0" lvl="0" indent="0" algn="l" rtl="0">
              <a:spcBef>
                <a:spcPts val="1200"/>
              </a:spcBef>
              <a:spcAft>
                <a:spcPts val="0"/>
              </a:spcAft>
              <a:buNone/>
            </a:pPr>
            <a:endParaRPr dirty="0"/>
          </a:p>
          <a:p>
            <a:pPr marL="457200" lvl="0" indent="-355600" algn="just" rtl="0">
              <a:spcBef>
                <a:spcPts val="1200"/>
              </a:spcBef>
              <a:spcAft>
                <a:spcPts val="0"/>
              </a:spcAft>
              <a:buSzPts val="2000"/>
              <a:buChar char="●"/>
            </a:pPr>
            <a:r>
              <a:rPr lang="en" dirty="0"/>
              <a:t>|B| represents the number of examples in each minibatch (the batch size) and η denotes the learning rate.</a:t>
            </a:r>
            <a:endParaRPr dirty="0"/>
          </a:p>
          <a:p>
            <a:pPr marL="457200" lvl="0" indent="-355600" algn="l" rtl="0">
              <a:spcBef>
                <a:spcPts val="0"/>
              </a:spcBef>
              <a:spcAft>
                <a:spcPts val="0"/>
              </a:spcAft>
              <a:buSzPts val="2000"/>
              <a:buChar char="●"/>
            </a:pPr>
            <a:r>
              <a:rPr lang="en" dirty="0"/>
              <a:t>                                    </a:t>
            </a:r>
          </a:p>
          <a:p>
            <a:pPr marL="457200" lvl="0" indent="-355600" algn="just" rtl="0">
              <a:lnSpc>
                <a:spcPct val="150000"/>
              </a:lnSpc>
              <a:spcBef>
                <a:spcPts val="0"/>
              </a:spcBef>
              <a:spcAft>
                <a:spcPts val="0"/>
              </a:spcAft>
              <a:buSzPts val="2000"/>
              <a:buChar char="●"/>
            </a:pPr>
            <a:r>
              <a:rPr lang="en" dirty="0"/>
              <a:t>                                    is the stochastic gradient descent for sample i using the weights updated at time t − 1. </a:t>
            </a:r>
            <a:endParaRPr dirty="0"/>
          </a:p>
          <a:p>
            <a:pPr marL="0" lvl="0" indent="0" algn="l" rtl="0">
              <a:spcBef>
                <a:spcPts val="1200"/>
              </a:spcBef>
              <a:spcAft>
                <a:spcPts val="1200"/>
              </a:spcAft>
              <a:buNone/>
            </a:pPr>
            <a:endParaRPr dirty="0"/>
          </a:p>
        </p:txBody>
      </p:sp>
      <p:sp>
        <p:nvSpPr>
          <p:cNvPr id="408" name="Google Shape;408;p61"/>
          <p:cNvSpPr txBox="1">
            <a:spLocks noGrp="1"/>
          </p:cNvSpPr>
          <p:nvPr>
            <p:ph type="sldNum" idx="12"/>
          </p:nvPr>
        </p:nvSpPr>
        <p:spPr>
          <a:xfrm>
            <a:off x="8484550" y="4863199"/>
            <a:ext cx="548700" cy="310800"/>
          </a:xfrm>
          <a:prstGeom prst="rect">
            <a:avLst/>
          </a:prstGeom>
        </p:spPr>
        <p:txBody>
          <a:bodyPr spcFirstLastPara="1" wrap="square" lIns="91425" tIns="91425" rIns="91425" bIns="91425" anchor="ctr" anchorCtr="0">
            <a:normAutofit fontScale="92500"/>
          </a:bodyPr>
          <a:lstStyle/>
          <a:p>
            <a:pPr marL="0" lvl="0" indent="0" algn="r" rtl="0">
              <a:spcBef>
                <a:spcPts val="0"/>
              </a:spcBef>
              <a:spcAft>
                <a:spcPts val="0"/>
              </a:spcAft>
              <a:buNone/>
            </a:pPr>
            <a:fld id="{00000000-1234-1234-1234-123412341234}" type="slidenum">
              <a:rPr lang="en"/>
              <a:t>47</a:t>
            </a:fld>
            <a:endParaRPr/>
          </a:p>
        </p:txBody>
      </p:sp>
      <p:pic>
        <p:nvPicPr>
          <p:cNvPr id="409" name="Google Shape;409;p61"/>
          <p:cNvPicPr preferRelativeResize="0"/>
          <p:nvPr/>
        </p:nvPicPr>
        <p:blipFill>
          <a:blip r:embed="rId3">
            <a:alphaModFix/>
          </a:blip>
          <a:stretch>
            <a:fillRect/>
          </a:stretch>
        </p:blipFill>
        <p:spPr>
          <a:xfrm>
            <a:off x="1744163" y="1146154"/>
            <a:ext cx="5655675" cy="1219100"/>
          </a:xfrm>
          <a:prstGeom prst="rect">
            <a:avLst/>
          </a:prstGeom>
          <a:noFill/>
          <a:ln>
            <a:noFill/>
          </a:ln>
        </p:spPr>
      </p:pic>
      <p:pic>
        <p:nvPicPr>
          <p:cNvPr id="410" name="Google Shape;410;p61"/>
          <p:cNvPicPr preferRelativeResize="0"/>
          <p:nvPr/>
        </p:nvPicPr>
        <p:blipFill>
          <a:blip r:embed="rId4">
            <a:alphaModFix/>
          </a:blip>
          <a:stretch>
            <a:fillRect/>
          </a:stretch>
        </p:blipFill>
        <p:spPr>
          <a:xfrm>
            <a:off x="804950" y="3405057"/>
            <a:ext cx="2462600" cy="394025"/>
          </a:xfrm>
          <a:prstGeom prst="rect">
            <a:avLst/>
          </a:prstGeom>
          <a:noFill/>
          <a:ln>
            <a:noFill/>
          </a:ln>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414"/>
        <p:cNvGrpSpPr/>
        <p:nvPr/>
      </p:nvGrpSpPr>
      <p:grpSpPr>
        <a:xfrm>
          <a:off x="0" y="0"/>
          <a:ext cx="0" cy="0"/>
          <a:chOff x="0" y="0"/>
          <a:chExt cx="0" cy="0"/>
        </a:xfrm>
      </p:grpSpPr>
      <p:sp>
        <p:nvSpPr>
          <p:cNvPr id="415" name="Google Shape;415;p62"/>
          <p:cNvSpPr txBox="1">
            <a:spLocks noGrp="1"/>
          </p:cNvSpPr>
          <p:nvPr>
            <p:ph type="title"/>
          </p:nvPr>
        </p:nvSpPr>
        <p:spPr>
          <a:xfrm>
            <a:off x="311700" y="14245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SGD Algorithm</a:t>
            </a:r>
            <a:endParaRPr/>
          </a:p>
        </p:txBody>
      </p:sp>
      <p:sp>
        <p:nvSpPr>
          <p:cNvPr id="416" name="Google Shape;416;p62"/>
          <p:cNvSpPr txBox="1">
            <a:spLocks noGrp="1"/>
          </p:cNvSpPr>
          <p:nvPr>
            <p:ph type="sldNum" idx="12"/>
          </p:nvPr>
        </p:nvSpPr>
        <p:spPr>
          <a:xfrm>
            <a:off x="8484550" y="4863199"/>
            <a:ext cx="548700" cy="310800"/>
          </a:xfrm>
          <a:prstGeom prst="rect">
            <a:avLst/>
          </a:prstGeom>
        </p:spPr>
        <p:txBody>
          <a:bodyPr spcFirstLastPara="1" wrap="square" lIns="91425" tIns="91425" rIns="91425" bIns="91425" anchor="ctr" anchorCtr="0">
            <a:normAutofit fontScale="92500"/>
          </a:bodyPr>
          <a:lstStyle/>
          <a:p>
            <a:pPr marL="0" lvl="0" indent="0" algn="r" rtl="0">
              <a:spcBef>
                <a:spcPts val="0"/>
              </a:spcBef>
              <a:spcAft>
                <a:spcPts val="0"/>
              </a:spcAft>
              <a:buNone/>
            </a:pPr>
            <a:fld id="{00000000-1234-1234-1234-123412341234}" type="slidenum">
              <a:rPr lang="en"/>
              <a:t>48</a:t>
            </a:fld>
            <a:endParaRPr/>
          </a:p>
        </p:txBody>
      </p:sp>
      <p:pic>
        <p:nvPicPr>
          <p:cNvPr id="417" name="Google Shape;417;p62"/>
          <p:cNvPicPr preferRelativeResize="0"/>
          <p:nvPr/>
        </p:nvPicPr>
        <p:blipFill>
          <a:blip r:embed="rId3">
            <a:alphaModFix/>
          </a:blip>
          <a:stretch>
            <a:fillRect/>
          </a:stretch>
        </p:blipFill>
        <p:spPr>
          <a:xfrm>
            <a:off x="311688" y="1176325"/>
            <a:ext cx="8172862" cy="2790825"/>
          </a:xfrm>
          <a:prstGeom prst="rect">
            <a:avLst/>
          </a:prstGeom>
          <a:noFill/>
          <a:ln>
            <a:noFill/>
          </a:ln>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421"/>
        <p:cNvGrpSpPr/>
        <p:nvPr/>
      </p:nvGrpSpPr>
      <p:grpSpPr>
        <a:xfrm>
          <a:off x="0" y="0"/>
          <a:ext cx="0" cy="0"/>
          <a:chOff x="0" y="0"/>
          <a:chExt cx="0" cy="0"/>
        </a:xfrm>
      </p:grpSpPr>
      <p:sp>
        <p:nvSpPr>
          <p:cNvPr id="422" name="Google Shape;422;p6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r>
              <a:rPr lang="en"/>
              <a:t>Momentum</a:t>
            </a:r>
            <a:endParaRPr/>
          </a:p>
        </p:txBody>
      </p:sp>
      <p:sp>
        <p:nvSpPr>
          <p:cNvPr id="423" name="Google Shape;423;p6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49</a:t>
            </a:fld>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427"/>
        <p:cNvGrpSpPr/>
        <p:nvPr/>
      </p:nvGrpSpPr>
      <p:grpSpPr>
        <a:xfrm>
          <a:off x="0" y="0"/>
          <a:ext cx="0" cy="0"/>
          <a:chOff x="0" y="0"/>
          <a:chExt cx="0" cy="0"/>
        </a:xfrm>
      </p:grpSpPr>
      <p:sp>
        <p:nvSpPr>
          <p:cNvPr id="428" name="Google Shape;428;p64"/>
          <p:cNvSpPr txBox="1">
            <a:spLocks noGrp="1"/>
          </p:cNvSpPr>
          <p:nvPr>
            <p:ph type="title"/>
          </p:nvPr>
        </p:nvSpPr>
        <p:spPr>
          <a:xfrm>
            <a:off x="311700" y="14245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Leaky Average in Minibatch SGD</a:t>
            </a:r>
            <a:endParaRPr/>
          </a:p>
        </p:txBody>
      </p:sp>
      <p:sp>
        <p:nvSpPr>
          <p:cNvPr id="429" name="Google Shape;429;p64"/>
          <p:cNvSpPr txBox="1">
            <a:spLocks noGrp="1"/>
          </p:cNvSpPr>
          <p:nvPr>
            <p:ph type="body" idx="1"/>
          </p:nvPr>
        </p:nvSpPr>
        <p:spPr>
          <a:xfrm>
            <a:off x="311700" y="715150"/>
            <a:ext cx="8520600" cy="4428300"/>
          </a:xfrm>
          <a:prstGeom prst="rect">
            <a:avLst/>
          </a:prstGeom>
        </p:spPr>
        <p:txBody>
          <a:bodyPr spcFirstLastPara="1" wrap="square" lIns="91425" tIns="91425" rIns="91425" bIns="91425" anchor="t" anchorCtr="0">
            <a:normAutofit fontScale="85000" lnSpcReduction="20000"/>
          </a:bodyPr>
          <a:lstStyle/>
          <a:p>
            <a:pPr marL="457200" lvl="0" indent="-355600" algn="just" rtl="0">
              <a:lnSpc>
                <a:spcPct val="150000"/>
              </a:lnSpc>
              <a:spcBef>
                <a:spcPts val="0"/>
              </a:spcBef>
              <a:spcAft>
                <a:spcPts val="0"/>
              </a:spcAft>
              <a:buSzPts val="2000"/>
              <a:buChar char="●"/>
            </a:pPr>
            <a:r>
              <a:rPr lang="en" dirty="0"/>
              <a:t>Replace the gradient computation by a “leaky average “ for better variance reduction.  β ∈ (0, 1).</a:t>
            </a:r>
            <a:endParaRPr dirty="0"/>
          </a:p>
          <a:p>
            <a:pPr marL="457200" lvl="0" indent="0" algn="l" rtl="0">
              <a:spcBef>
                <a:spcPts val="1200"/>
              </a:spcBef>
              <a:spcAft>
                <a:spcPts val="0"/>
              </a:spcAft>
              <a:buNone/>
            </a:pPr>
            <a:endParaRPr dirty="0"/>
          </a:p>
          <a:p>
            <a:pPr marL="457200" lvl="0" indent="-355600" algn="just" rtl="0">
              <a:lnSpc>
                <a:spcPct val="160000"/>
              </a:lnSpc>
              <a:spcAft>
                <a:spcPts val="0"/>
              </a:spcAft>
              <a:buSzPts val="2000"/>
              <a:buChar char="●"/>
            </a:pPr>
            <a:r>
              <a:rPr lang="en" dirty="0"/>
              <a:t>This effectively replaces the instantaneous gradient by one thatʼs been averaged over multiple past gradients. </a:t>
            </a:r>
            <a:endParaRPr dirty="0"/>
          </a:p>
          <a:p>
            <a:pPr marL="457200" lvl="0" indent="-355600" algn="just" rtl="0">
              <a:lnSpc>
                <a:spcPct val="160000"/>
              </a:lnSpc>
              <a:spcAft>
                <a:spcPts val="0"/>
              </a:spcAft>
              <a:buSzPts val="2000"/>
              <a:buChar char="●"/>
            </a:pPr>
            <a:r>
              <a:rPr lang="en" b="1" dirty="0"/>
              <a:t>v</a:t>
            </a:r>
            <a:r>
              <a:rPr lang="en" dirty="0"/>
              <a:t> is called momentum. It accumulates past gradients.</a:t>
            </a:r>
            <a:endParaRPr dirty="0"/>
          </a:p>
          <a:p>
            <a:pPr marL="457200" lvl="0" indent="-355600" algn="just" rtl="0">
              <a:lnSpc>
                <a:spcPct val="160000"/>
              </a:lnSpc>
              <a:spcAft>
                <a:spcPts val="0"/>
              </a:spcAft>
              <a:buSzPts val="2000"/>
              <a:buChar char="●"/>
            </a:pPr>
            <a:r>
              <a:rPr lang="en" dirty="0"/>
              <a:t>Large β amounts to a long-range average and small β amounts to only a slight correction relative to a gradient method.</a:t>
            </a:r>
            <a:endParaRPr dirty="0"/>
          </a:p>
          <a:p>
            <a:pPr marL="457200" lvl="0" indent="-355600" algn="just" rtl="0">
              <a:lnSpc>
                <a:spcPct val="160000"/>
              </a:lnSpc>
              <a:spcAft>
                <a:spcPts val="0"/>
              </a:spcAft>
              <a:buSzPts val="2000"/>
              <a:buChar char="●"/>
            </a:pPr>
            <a:r>
              <a:rPr lang="en" dirty="0"/>
              <a:t>The new gradient replacement no longer points into the direction of steepest descent on a particular instance any longer but rather in the direction of a weighted average of past gradients. </a:t>
            </a:r>
            <a:endParaRPr dirty="0"/>
          </a:p>
        </p:txBody>
      </p:sp>
      <p:sp>
        <p:nvSpPr>
          <p:cNvPr id="430" name="Google Shape;430;p64"/>
          <p:cNvSpPr txBox="1">
            <a:spLocks noGrp="1"/>
          </p:cNvSpPr>
          <p:nvPr>
            <p:ph type="sldNum" idx="12"/>
          </p:nvPr>
        </p:nvSpPr>
        <p:spPr>
          <a:xfrm>
            <a:off x="8484550" y="4863199"/>
            <a:ext cx="548700" cy="310800"/>
          </a:xfrm>
          <a:prstGeom prst="rect">
            <a:avLst/>
          </a:prstGeom>
        </p:spPr>
        <p:txBody>
          <a:bodyPr spcFirstLastPara="1" wrap="square" lIns="91425" tIns="91425" rIns="91425" bIns="91425" anchor="ctr" anchorCtr="0">
            <a:normAutofit fontScale="92500"/>
          </a:bodyPr>
          <a:lstStyle/>
          <a:p>
            <a:pPr marL="0" lvl="0" indent="0" algn="r" rtl="0">
              <a:spcBef>
                <a:spcPts val="0"/>
              </a:spcBef>
              <a:spcAft>
                <a:spcPts val="0"/>
              </a:spcAft>
              <a:buNone/>
            </a:pPr>
            <a:fld id="{00000000-1234-1234-1234-123412341234}" type="slidenum">
              <a:rPr lang="en"/>
              <a:t>50</a:t>
            </a:fld>
            <a:endParaRPr/>
          </a:p>
        </p:txBody>
      </p:sp>
      <p:pic>
        <p:nvPicPr>
          <p:cNvPr id="431" name="Google Shape;431;p64"/>
          <p:cNvPicPr preferRelativeResize="0"/>
          <p:nvPr/>
        </p:nvPicPr>
        <p:blipFill>
          <a:blip r:embed="rId3">
            <a:alphaModFix/>
          </a:blip>
          <a:stretch>
            <a:fillRect/>
          </a:stretch>
        </p:blipFill>
        <p:spPr>
          <a:xfrm>
            <a:off x="2938450" y="1377750"/>
            <a:ext cx="2543675" cy="463750"/>
          </a:xfrm>
          <a:prstGeom prst="rect">
            <a:avLst/>
          </a:prstGeom>
          <a:noFill/>
          <a:ln>
            <a:noFill/>
          </a:ln>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435"/>
        <p:cNvGrpSpPr/>
        <p:nvPr/>
      </p:nvGrpSpPr>
      <p:grpSpPr>
        <a:xfrm>
          <a:off x="0" y="0"/>
          <a:ext cx="0" cy="0"/>
          <a:chOff x="0" y="0"/>
          <a:chExt cx="0" cy="0"/>
        </a:xfrm>
      </p:grpSpPr>
      <p:sp>
        <p:nvSpPr>
          <p:cNvPr id="436" name="Google Shape;436;p65"/>
          <p:cNvSpPr txBox="1">
            <a:spLocks noGrp="1"/>
          </p:cNvSpPr>
          <p:nvPr>
            <p:ph type="title"/>
          </p:nvPr>
        </p:nvSpPr>
        <p:spPr>
          <a:xfrm>
            <a:off x="311700" y="14245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Momentum Algorithm</a:t>
            </a:r>
            <a:endParaRPr/>
          </a:p>
        </p:txBody>
      </p:sp>
      <p:sp>
        <p:nvSpPr>
          <p:cNvPr id="437" name="Google Shape;437;p65"/>
          <p:cNvSpPr txBox="1">
            <a:spLocks noGrp="1"/>
          </p:cNvSpPr>
          <p:nvPr>
            <p:ph type="sldNum" idx="12"/>
          </p:nvPr>
        </p:nvSpPr>
        <p:spPr>
          <a:xfrm>
            <a:off x="8484550" y="4863199"/>
            <a:ext cx="548700" cy="310800"/>
          </a:xfrm>
          <a:prstGeom prst="rect">
            <a:avLst/>
          </a:prstGeom>
        </p:spPr>
        <p:txBody>
          <a:bodyPr spcFirstLastPara="1" wrap="square" lIns="91425" tIns="91425" rIns="91425" bIns="91425" anchor="ctr" anchorCtr="0">
            <a:normAutofit fontScale="92500"/>
          </a:bodyPr>
          <a:lstStyle/>
          <a:p>
            <a:pPr marL="0" lvl="0" indent="0" algn="r" rtl="0">
              <a:spcBef>
                <a:spcPts val="0"/>
              </a:spcBef>
              <a:spcAft>
                <a:spcPts val="0"/>
              </a:spcAft>
              <a:buNone/>
            </a:pPr>
            <a:fld id="{00000000-1234-1234-1234-123412341234}" type="slidenum">
              <a:rPr lang="en"/>
              <a:t>51</a:t>
            </a:fld>
            <a:endParaRPr/>
          </a:p>
        </p:txBody>
      </p:sp>
      <p:pic>
        <p:nvPicPr>
          <p:cNvPr id="438" name="Google Shape;438;p65"/>
          <p:cNvPicPr preferRelativeResize="0"/>
          <p:nvPr/>
        </p:nvPicPr>
        <p:blipFill>
          <a:blip r:embed="rId3">
            <a:alphaModFix/>
          </a:blip>
          <a:stretch>
            <a:fillRect/>
          </a:stretch>
        </p:blipFill>
        <p:spPr>
          <a:xfrm>
            <a:off x="311688" y="1062025"/>
            <a:ext cx="7038975" cy="3019425"/>
          </a:xfrm>
          <a:prstGeom prst="rect">
            <a:avLst/>
          </a:prstGeom>
          <a:noFill/>
          <a:ln>
            <a:noFill/>
          </a:ln>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442"/>
        <p:cNvGrpSpPr/>
        <p:nvPr/>
      </p:nvGrpSpPr>
      <p:grpSpPr>
        <a:xfrm>
          <a:off x="0" y="0"/>
          <a:ext cx="0" cy="0"/>
          <a:chOff x="0" y="0"/>
          <a:chExt cx="0" cy="0"/>
        </a:xfrm>
      </p:grpSpPr>
      <p:sp>
        <p:nvSpPr>
          <p:cNvPr id="443" name="Google Shape;443;p66"/>
          <p:cNvSpPr txBox="1">
            <a:spLocks noGrp="1"/>
          </p:cNvSpPr>
          <p:nvPr>
            <p:ph type="title"/>
          </p:nvPr>
        </p:nvSpPr>
        <p:spPr>
          <a:xfrm>
            <a:off x="311700" y="14245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Momentum Method Example</a:t>
            </a:r>
            <a:endParaRPr/>
          </a:p>
        </p:txBody>
      </p:sp>
      <p:sp>
        <p:nvSpPr>
          <p:cNvPr id="444" name="Google Shape;444;p66"/>
          <p:cNvSpPr txBox="1">
            <a:spLocks noGrp="1"/>
          </p:cNvSpPr>
          <p:nvPr>
            <p:ph type="body" idx="1"/>
          </p:nvPr>
        </p:nvSpPr>
        <p:spPr>
          <a:xfrm>
            <a:off x="311700" y="715150"/>
            <a:ext cx="8520600" cy="1124400"/>
          </a:xfrm>
          <a:prstGeom prst="rect">
            <a:avLst/>
          </a:prstGeom>
        </p:spPr>
        <p:txBody>
          <a:bodyPr spcFirstLastPara="1" wrap="square" lIns="91425" tIns="91425" rIns="91425" bIns="91425" anchor="t" anchorCtr="0">
            <a:normAutofit/>
          </a:bodyPr>
          <a:lstStyle/>
          <a:p>
            <a:pPr marL="457200" lvl="0" indent="-355600" algn="l" rtl="0">
              <a:spcBef>
                <a:spcPts val="0"/>
              </a:spcBef>
              <a:spcAft>
                <a:spcPts val="0"/>
              </a:spcAft>
              <a:buSzPts val="2000"/>
              <a:buChar char="●"/>
            </a:pPr>
            <a:r>
              <a:rPr lang="en"/>
              <a:t>Consider a moderately distorted ellipsoid objective</a:t>
            </a:r>
            <a:endParaRPr/>
          </a:p>
          <a:p>
            <a:pPr marL="457200" lvl="0" indent="-355600" algn="l" rtl="0">
              <a:spcBef>
                <a:spcPts val="0"/>
              </a:spcBef>
              <a:spcAft>
                <a:spcPts val="0"/>
              </a:spcAft>
              <a:buSzPts val="2000"/>
              <a:buChar char="●"/>
            </a:pPr>
            <a:r>
              <a:rPr lang="en"/>
              <a:t>f has its minimum at (0, 0). This function is very flat in x1 direction.</a:t>
            </a:r>
            <a:endParaRPr/>
          </a:p>
        </p:txBody>
      </p:sp>
      <p:sp>
        <p:nvSpPr>
          <p:cNvPr id="445" name="Google Shape;445;p66"/>
          <p:cNvSpPr txBox="1">
            <a:spLocks noGrp="1"/>
          </p:cNvSpPr>
          <p:nvPr>
            <p:ph type="sldNum" idx="12"/>
          </p:nvPr>
        </p:nvSpPr>
        <p:spPr>
          <a:xfrm>
            <a:off x="8484550" y="4863199"/>
            <a:ext cx="548700" cy="310800"/>
          </a:xfrm>
          <a:prstGeom prst="rect">
            <a:avLst/>
          </a:prstGeom>
        </p:spPr>
        <p:txBody>
          <a:bodyPr spcFirstLastPara="1" wrap="square" lIns="91425" tIns="91425" rIns="91425" bIns="91425" anchor="ctr" anchorCtr="0">
            <a:normAutofit fontScale="92500"/>
          </a:bodyPr>
          <a:lstStyle/>
          <a:p>
            <a:pPr marL="0" lvl="0" indent="0" algn="r" rtl="0">
              <a:spcBef>
                <a:spcPts val="0"/>
              </a:spcBef>
              <a:spcAft>
                <a:spcPts val="0"/>
              </a:spcAft>
              <a:buNone/>
            </a:pPr>
            <a:fld id="{00000000-1234-1234-1234-123412341234}" type="slidenum">
              <a:rPr lang="en"/>
              <a:t>52</a:t>
            </a:fld>
            <a:endParaRPr/>
          </a:p>
        </p:txBody>
      </p:sp>
      <p:pic>
        <p:nvPicPr>
          <p:cNvPr id="446" name="Google Shape;446;p66"/>
          <p:cNvPicPr preferRelativeResize="0"/>
          <p:nvPr/>
        </p:nvPicPr>
        <p:blipFill>
          <a:blip r:embed="rId3">
            <a:alphaModFix/>
          </a:blip>
          <a:stretch>
            <a:fillRect/>
          </a:stretch>
        </p:blipFill>
        <p:spPr>
          <a:xfrm>
            <a:off x="6632763" y="742900"/>
            <a:ext cx="2066925" cy="457200"/>
          </a:xfrm>
          <a:prstGeom prst="rect">
            <a:avLst/>
          </a:prstGeom>
          <a:noFill/>
          <a:ln>
            <a:noFill/>
          </a:ln>
        </p:spPr>
      </p:pic>
      <p:pic>
        <p:nvPicPr>
          <p:cNvPr id="447" name="Google Shape;447;p66"/>
          <p:cNvPicPr preferRelativeResize="0"/>
          <p:nvPr/>
        </p:nvPicPr>
        <p:blipFill>
          <a:blip r:embed="rId4">
            <a:alphaModFix/>
          </a:blip>
          <a:stretch>
            <a:fillRect/>
          </a:stretch>
        </p:blipFill>
        <p:spPr>
          <a:xfrm>
            <a:off x="1031702" y="1685213"/>
            <a:ext cx="3005800" cy="2207925"/>
          </a:xfrm>
          <a:prstGeom prst="rect">
            <a:avLst/>
          </a:prstGeom>
          <a:noFill/>
          <a:ln>
            <a:noFill/>
          </a:ln>
        </p:spPr>
      </p:pic>
      <p:sp>
        <p:nvSpPr>
          <p:cNvPr id="448" name="Google Shape;448;p66"/>
          <p:cNvSpPr txBox="1"/>
          <p:nvPr/>
        </p:nvSpPr>
        <p:spPr>
          <a:xfrm>
            <a:off x="513100" y="3973925"/>
            <a:ext cx="3524400" cy="808500"/>
          </a:xfrm>
          <a:prstGeom prst="rect">
            <a:avLst/>
          </a:prstGeom>
          <a:noFill/>
          <a:ln>
            <a:noFill/>
          </a:ln>
        </p:spPr>
        <p:txBody>
          <a:bodyPr spcFirstLastPara="1" wrap="square" lIns="91425" tIns="91425" rIns="91425" bIns="91425" anchor="t" anchorCtr="0">
            <a:noAutofit/>
          </a:bodyPr>
          <a:lstStyle/>
          <a:p>
            <a:pPr marL="457200" lvl="0" indent="-317500" algn="l" rtl="0">
              <a:lnSpc>
                <a:spcPct val="115000"/>
              </a:lnSpc>
              <a:spcBef>
                <a:spcPts val="0"/>
              </a:spcBef>
              <a:spcAft>
                <a:spcPts val="0"/>
              </a:spcAft>
              <a:buClr>
                <a:schemeClr val="dk1"/>
              </a:buClr>
              <a:buSzPts val="1400"/>
              <a:buChar char="●"/>
            </a:pPr>
            <a:r>
              <a:rPr lang="en">
                <a:solidFill>
                  <a:schemeClr val="dk1"/>
                </a:solidFill>
              </a:rPr>
              <a:t>For eta = 0.4. Without momentum</a:t>
            </a:r>
            <a:endParaRPr>
              <a:solidFill>
                <a:schemeClr val="dk1"/>
              </a:solidFill>
            </a:endParaRPr>
          </a:p>
          <a:p>
            <a:pPr marL="457200" lvl="0" indent="-317500" algn="l" rtl="0">
              <a:lnSpc>
                <a:spcPct val="115000"/>
              </a:lnSpc>
              <a:spcBef>
                <a:spcPts val="0"/>
              </a:spcBef>
              <a:spcAft>
                <a:spcPts val="0"/>
              </a:spcAft>
              <a:buClr>
                <a:schemeClr val="dk1"/>
              </a:buClr>
              <a:buSzPts val="1400"/>
              <a:buChar char="●"/>
            </a:pPr>
            <a:r>
              <a:rPr lang="en">
                <a:solidFill>
                  <a:schemeClr val="dk1"/>
                </a:solidFill>
              </a:rPr>
              <a:t>The gradient in the x2 direction oscillates than in the horizontal x1 direction.</a:t>
            </a:r>
            <a:endParaRPr/>
          </a:p>
        </p:txBody>
      </p:sp>
      <p:pic>
        <p:nvPicPr>
          <p:cNvPr id="449" name="Google Shape;449;p66"/>
          <p:cNvPicPr preferRelativeResize="0"/>
          <p:nvPr/>
        </p:nvPicPr>
        <p:blipFill>
          <a:blip r:embed="rId5">
            <a:alphaModFix/>
          </a:blip>
          <a:stretch>
            <a:fillRect/>
          </a:stretch>
        </p:blipFill>
        <p:spPr>
          <a:xfrm>
            <a:off x="5350147" y="1685213"/>
            <a:ext cx="3291053" cy="2207925"/>
          </a:xfrm>
          <a:prstGeom prst="rect">
            <a:avLst/>
          </a:prstGeom>
          <a:noFill/>
          <a:ln>
            <a:noFill/>
          </a:ln>
        </p:spPr>
      </p:pic>
      <p:sp>
        <p:nvSpPr>
          <p:cNvPr id="450" name="Google Shape;450;p66"/>
          <p:cNvSpPr txBox="1"/>
          <p:nvPr/>
        </p:nvSpPr>
        <p:spPr>
          <a:xfrm>
            <a:off x="5350150" y="3973925"/>
            <a:ext cx="3482100" cy="808500"/>
          </a:xfrm>
          <a:prstGeom prst="rect">
            <a:avLst/>
          </a:prstGeom>
          <a:noFill/>
          <a:ln>
            <a:noFill/>
          </a:ln>
        </p:spPr>
        <p:txBody>
          <a:bodyPr spcFirstLastPara="1" wrap="square" lIns="91425" tIns="91425" rIns="91425" bIns="91425" anchor="t" anchorCtr="0">
            <a:noAutofit/>
          </a:bodyPr>
          <a:lstStyle/>
          <a:p>
            <a:pPr marL="457200" lvl="0" indent="-317500" algn="l" rtl="0">
              <a:lnSpc>
                <a:spcPct val="115000"/>
              </a:lnSpc>
              <a:spcBef>
                <a:spcPts val="0"/>
              </a:spcBef>
              <a:spcAft>
                <a:spcPts val="0"/>
              </a:spcAft>
              <a:buClr>
                <a:schemeClr val="dk1"/>
              </a:buClr>
              <a:buSzPts val="1400"/>
              <a:buChar char="●"/>
            </a:pPr>
            <a:r>
              <a:rPr lang="en">
                <a:solidFill>
                  <a:schemeClr val="dk1"/>
                </a:solidFill>
              </a:rPr>
              <a:t>For eta = 0.6. Without momentum</a:t>
            </a:r>
            <a:endParaRPr>
              <a:solidFill>
                <a:schemeClr val="dk1"/>
              </a:solidFill>
            </a:endParaRPr>
          </a:p>
          <a:p>
            <a:pPr marL="457200" lvl="0" indent="-317500" algn="l" rtl="0">
              <a:lnSpc>
                <a:spcPct val="115000"/>
              </a:lnSpc>
              <a:spcBef>
                <a:spcPts val="0"/>
              </a:spcBef>
              <a:spcAft>
                <a:spcPts val="0"/>
              </a:spcAft>
              <a:buClr>
                <a:schemeClr val="dk1"/>
              </a:buClr>
              <a:buSzPts val="1400"/>
              <a:buChar char="●"/>
            </a:pPr>
            <a:r>
              <a:rPr lang="en">
                <a:solidFill>
                  <a:schemeClr val="dk1"/>
                </a:solidFill>
              </a:rPr>
              <a:t>Convergence in the x1 direction improves but the overall solution quality is diverging.</a:t>
            </a:r>
            <a:endParaRPr>
              <a:solidFill>
                <a:schemeClr val="dk1"/>
              </a:solidFill>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454"/>
        <p:cNvGrpSpPr/>
        <p:nvPr/>
      </p:nvGrpSpPr>
      <p:grpSpPr>
        <a:xfrm>
          <a:off x="0" y="0"/>
          <a:ext cx="0" cy="0"/>
          <a:chOff x="0" y="0"/>
          <a:chExt cx="0" cy="0"/>
        </a:xfrm>
      </p:grpSpPr>
      <p:sp>
        <p:nvSpPr>
          <p:cNvPr id="455" name="Google Shape;455;p67"/>
          <p:cNvSpPr txBox="1">
            <a:spLocks noGrp="1"/>
          </p:cNvSpPr>
          <p:nvPr>
            <p:ph type="title"/>
          </p:nvPr>
        </p:nvSpPr>
        <p:spPr>
          <a:xfrm>
            <a:off x="311700" y="14245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Momentum Method Example</a:t>
            </a:r>
            <a:endParaRPr/>
          </a:p>
        </p:txBody>
      </p:sp>
      <p:sp>
        <p:nvSpPr>
          <p:cNvPr id="456" name="Google Shape;456;p67"/>
          <p:cNvSpPr txBox="1">
            <a:spLocks noGrp="1"/>
          </p:cNvSpPr>
          <p:nvPr>
            <p:ph type="body" idx="1"/>
          </p:nvPr>
        </p:nvSpPr>
        <p:spPr>
          <a:xfrm>
            <a:off x="311700" y="715150"/>
            <a:ext cx="8520600" cy="1124400"/>
          </a:xfrm>
          <a:prstGeom prst="rect">
            <a:avLst/>
          </a:prstGeom>
        </p:spPr>
        <p:txBody>
          <a:bodyPr spcFirstLastPara="1" wrap="square" lIns="91425" tIns="91425" rIns="91425" bIns="91425" anchor="t" anchorCtr="0">
            <a:normAutofit/>
          </a:bodyPr>
          <a:lstStyle/>
          <a:p>
            <a:pPr marL="457200" lvl="0" indent="-355600" algn="l" rtl="0">
              <a:spcBef>
                <a:spcPts val="0"/>
              </a:spcBef>
              <a:spcAft>
                <a:spcPts val="0"/>
              </a:spcAft>
              <a:buSzPts val="2000"/>
              <a:buChar char="●"/>
            </a:pPr>
            <a:r>
              <a:rPr lang="en"/>
              <a:t>Consider a moderately distorted ellipsoid objective</a:t>
            </a:r>
            <a:endParaRPr/>
          </a:p>
          <a:p>
            <a:pPr marL="457200" lvl="0" indent="-355600" algn="l" rtl="0">
              <a:spcBef>
                <a:spcPts val="0"/>
              </a:spcBef>
              <a:spcAft>
                <a:spcPts val="0"/>
              </a:spcAft>
              <a:buSzPts val="2000"/>
              <a:buChar char="●"/>
            </a:pPr>
            <a:r>
              <a:rPr lang="en"/>
              <a:t>Apply momentum for eta = 0.6</a:t>
            </a:r>
            <a:endParaRPr/>
          </a:p>
        </p:txBody>
      </p:sp>
      <p:sp>
        <p:nvSpPr>
          <p:cNvPr id="457" name="Google Shape;457;p67"/>
          <p:cNvSpPr txBox="1">
            <a:spLocks noGrp="1"/>
          </p:cNvSpPr>
          <p:nvPr>
            <p:ph type="sldNum" idx="12"/>
          </p:nvPr>
        </p:nvSpPr>
        <p:spPr>
          <a:xfrm>
            <a:off x="8484550" y="4863199"/>
            <a:ext cx="548700" cy="310800"/>
          </a:xfrm>
          <a:prstGeom prst="rect">
            <a:avLst/>
          </a:prstGeom>
        </p:spPr>
        <p:txBody>
          <a:bodyPr spcFirstLastPara="1" wrap="square" lIns="91425" tIns="91425" rIns="91425" bIns="91425" anchor="ctr" anchorCtr="0">
            <a:normAutofit fontScale="92500"/>
          </a:bodyPr>
          <a:lstStyle/>
          <a:p>
            <a:pPr marL="0" lvl="0" indent="0" algn="r" rtl="0">
              <a:spcBef>
                <a:spcPts val="0"/>
              </a:spcBef>
              <a:spcAft>
                <a:spcPts val="0"/>
              </a:spcAft>
              <a:buNone/>
            </a:pPr>
            <a:fld id="{00000000-1234-1234-1234-123412341234}" type="slidenum">
              <a:rPr lang="en"/>
              <a:t>53</a:t>
            </a:fld>
            <a:endParaRPr/>
          </a:p>
        </p:txBody>
      </p:sp>
      <p:pic>
        <p:nvPicPr>
          <p:cNvPr id="458" name="Google Shape;458;p67"/>
          <p:cNvPicPr preferRelativeResize="0"/>
          <p:nvPr/>
        </p:nvPicPr>
        <p:blipFill>
          <a:blip r:embed="rId3">
            <a:alphaModFix/>
          </a:blip>
          <a:stretch>
            <a:fillRect/>
          </a:stretch>
        </p:blipFill>
        <p:spPr>
          <a:xfrm>
            <a:off x="6632763" y="742900"/>
            <a:ext cx="2066925" cy="457200"/>
          </a:xfrm>
          <a:prstGeom prst="rect">
            <a:avLst/>
          </a:prstGeom>
          <a:noFill/>
          <a:ln>
            <a:noFill/>
          </a:ln>
        </p:spPr>
      </p:pic>
      <p:sp>
        <p:nvSpPr>
          <p:cNvPr id="459" name="Google Shape;459;p67"/>
          <p:cNvSpPr txBox="1"/>
          <p:nvPr/>
        </p:nvSpPr>
        <p:spPr>
          <a:xfrm>
            <a:off x="513100" y="3973925"/>
            <a:ext cx="3524400" cy="808500"/>
          </a:xfrm>
          <a:prstGeom prst="rect">
            <a:avLst/>
          </a:prstGeom>
          <a:noFill/>
          <a:ln>
            <a:noFill/>
          </a:ln>
        </p:spPr>
        <p:txBody>
          <a:bodyPr spcFirstLastPara="1" wrap="square" lIns="91425" tIns="91425" rIns="91425" bIns="91425" anchor="t" anchorCtr="0">
            <a:noAutofit/>
          </a:bodyPr>
          <a:lstStyle/>
          <a:p>
            <a:pPr marL="457200" lvl="0" indent="-317500" algn="l" rtl="0">
              <a:lnSpc>
                <a:spcPct val="115000"/>
              </a:lnSpc>
              <a:spcBef>
                <a:spcPts val="0"/>
              </a:spcBef>
              <a:spcAft>
                <a:spcPts val="0"/>
              </a:spcAft>
              <a:buClr>
                <a:schemeClr val="dk1"/>
              </a:buClr>
              <a:buSzPts val="1400"/>
              <a:buChar char="●"/>
            </a:pPr>
            <a:r>
              <a:rPr lang="en">
                <a:solidFill>
                  <a:schemeClr val="dk1"/>
                </a:solidFill>
              </a:rPr>
              <a:t>For beta = 0.5. </a:t>
            </a:r>
            <a:endParaRPr>
              <a:solidFill>
                <a:schemeClr val="dk1"/>
              </a:solidFill>
            </a:endParaRPr>
          </a:p>
          <a:p>
            <a:pPr marL="457200" lvl="0" indent="-317500" algn="l" rtl="0">
              <a:lnSpc>
                <a:spcPct val="115000"/>
              </a:lnSpc>
              <a:spcBef>
                <a:spcPts val="0"/>
              </a:spcBef>
              <a:spcAft>
                <a:spcPts val="0"/>
              </a:spcAft>
              <a:buClr>
                <a:schemeClr val="dk1"/>
              </a:buClr>
              <a:buSzPts val="1400"/>
              <a:buChar char="●"/>
            </a:pPr>
            <a:r>
              <a:rPr lang="en">
                <a:solidFill>
                  <a:schemeClr val="dk1"/>
                </a:solidFill>
              </a:rPr>
              <a:t>Converges well. Lesser oscillations. Larger steps in x1 direction.</a:t>
            </a:r>
            <a:endParaRPr/>
          </a:p>
        </p:txBody>
      </p:sp>
      <p:sp>
        <p:nvSpPr>
          <p:cNvPr id="460" name="Google Shape;460;p67"/>
          <p:cNvSpPr txBox="1"/>
          <p:nvPr/>
        </p:nvSpPr>
        <p:spPr>
          <a:xfrm>
            <a:off x="5350150" y="3973925"/>
            <a:ext cx="3482100" cy="808500"/>
          </a:xfrm>
          <a:prstGeom prst="rect">
            <a:avLst/>
          </a:prstGeom>
          <a:noFill/>
          <a:ln>
            <a:noFill/>
          </a:ln>
        </p:spPr>
        <p:txBody>
          <a:bodyPr spcFirstLastPara="1" wrap="square" lIns="91425" tIns="91425" rIns="91425" bIns="91425" anchor="t" anchorCtr="0">
            <a:noAutofit/>
          </a:bodyPr>
          <a:lstStyle/>
          <a:p>
            <a:pPr marL="457200" lvl="0" indent="-317500" algn="l" rtl="0">
              <a:lnSpc>
                <a:spcPct val="115000"/>
              </a:lnSpc>
              <a:spcBef>
                <a:spcPts val="0"/>
              </a:spcBef>
              <a:spcAft>
                <a:spcPts val="0"/>
              </a:spcAft>
              <a:buClr>
                <a:schemeClr val="dk1"/>
              </a:buClr>
              <a:buSzPts val="1400"/>
              <a:buChar char="●"/>
            </a:pPr>
            <a:r>
              <a:rPr lang="en">
                <a:solidFill>
                  <a:schemeClr val="dk1"/>
                </a:solidFill>
              </a:rPr>
              <a:t>For beta = 0.25.</a:t>
            </a:r>
            <a:endParaRPr>
              <a:solidFill>
                <a:schemeClr val="dk1"/>
              </a:solidFill>
            </a:endParaRPr>
          </a:p>
          <a:p>
            <a:pPr marL="457200" lvl="0" indent="-317500" algn="l" rtl="0">
              <a:lnSpc>
                <a:spcPct val="115000"/>
              </a:lnSpc>
              <a:spcBef>
                <a:spcPts val="0"/>
              </a:spcBef>
              <a:spcAft>
                <a:spcPts val="0"/>
              </a:spcAft>
              <a:buClr>
                <a:schemeClr val="dk1"/>
              </a:buClr>
              <a:buSzPts val="1400"/>
              <a:buChar char="●"/>
            </a:pPr>
            <a:r>
              <a:rPr lang="en">
                <a:solidFill>
                  <a:schemeClr val="dk1"/>
                </a:solidFill>
              </a:rPr>
              <a:t>Reduced convergence. More oscillations.  Larger magnitude of oscillations.</a:t>
            </a:r>
            <a:endParaRPr>
              <a:solidFill>
                <a:schemeClr val="dk1"/>
              </a:solidFill>
            </a:endParaRPr>
          </a:p>
        </p:txBody>
      </p:sp>
      <p:pic>
        <p:nvPicPr>
          <p:cNvPr id="461" name="Google Shape;461;p67"/>
          <p:cNvPicPr preferRelativeResize="0"/>
          <p:nvPr/>
        </p:nvPicPr>
        <p:blipFill>
          <a:blip r:embed="rId4">
            <a:alphaModFix/>
          </a:blip>
          <a:stretch>
            <a:fillRect/>
          </a:stretch>
        </p:blipFill>
        <p:spPr>
          <a:xfrm>
            <a:off x="758232" y="1625100"/>
            <a:ext cx="3034130" cy="2207900"/>
          </a:xfrm>
          <a:prstGeom prst="rect">
            <a:avLst/>
          </a:prstGeom>
          <a:noFill/>
          <a:ln>
            <a:noFill/>
          </a:ln>
        </p:spPr>
      </p:pic>
      <p:pic>
        <p:nvPicPr>
          <p:cNvPr id="462" name="Google Shape;462;p67"/>
          <p:cNvPicPr preferRelativeResize="0"/>
          <p:nvPr/>
        </p:nvPicPr>
        <p:blipFill>
          <a:blip r:embed="rId5">
            <a:alphaModFix/>
          </a:blip>
          <a:stretch>
            <a:fillRect/>
          </a:stretch>
        </p:blipFill>
        <p:spPr>
          <a:xfrm>
            <a:off x="5559686" y="1625097"/>
            <a:ext cx="3063024" cy="2207900"/>
          </a:xfrm>
          <a:prstGeom prst="rect">
            <a:avLst/>
          </a:prstGeom>
          <a:noFill/>
          <a:ln>
            <a:noFill/>
          </a:ln>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466"/>
        <p:cNvGrpSpPr/>
        <p:nvPr/>
      </p:nvGrpSpPr>
      <p:grpSpPr>
        <a:xfrm>
          <a:off x="0" y="0"/>
          <a:ext cx="0" cy="0"/>
          <a:chOff x="0" y="0"/>
          <a:chExt cx="0" cy="0"/>
        </a:xfrm>
      </p:grpSpPr>
      <p:sp>
        <p:nvSpPr>
          <p:cNvPr id="467" name="Google Shape;467;p68"/>
          <p:cNvSpPr txBox="1">
            <a:spLocks noGrp="1"/>
          </p:cNvSpPr>
          <p:nvPr>
            <p:ph type="title"/>
          </p:nvPr>
        </p:nvSpPr>
        <p:spPr>
          <a:xfrm>
            <a:off x="311700" y="14245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Momentum method: Summary</a:t>
            </a:r>
            <a:endParaRPr/>
          </a:p>
        </p:txBody>
      </p:sp>
      <p:sp>
        <p:nvSpPr>
          <p:cNvPr id="468" name="Google Shape;468;p68"/>
          <p:cNvSpPr txBox="1">
            <a:spLocks noGrp="1"/>
          </p:cNvSpPr>
          <p:nvPr>
            <p:ph type="body" idx="1"/>
          </p:nvPr>
        </p:nvSpPr>
        <p:spPr>
          <a:xfrm>
            <a:off x="311700" y="715150"/>
            <a:ext cx="8520600" cy="4147800"/>
          </a:xfrm>
          <a:prstGeom prst="rect">
            <a:avLst/>
          </a:prstGeom>
        </p:spPr>
        <p:txBody>
          <a:bodyPr spcFirstLastPara="1" wrap="square" lIns="91425" tIns="91425" rIns="91425" bIns="91425" anchor="t" anchorCtr="0">
            <a:normAutofit/>
          </a:bodyPr>
          <a:lstStyle/>
          <a:p>
            <a:pPr marL="457200" lvl="0" indent="-355600" algn="just" rtl="0">
              <a:lnSpc>
                <a:spcPct val="150000"/>
              </a:lnSpc>
              <a:spcBef>
                <a:spcPts val="0"/>
              </a:spcBef>
              <a:spcAft>
                <a:spcPts val="0"/>
              </a:spcAft>
              <a:buSzPts val="2000"/>
              <a:buChar char="●"/>
            </a:pPr>
            <a:r>
              <a:rPr lang="en" dirty="0"/>
              <a:t>Momentum replaces gradients with a leaky average over past gradients. This accelerates convergence significantly.</a:t>
            </a:r>
            <a:endParaRPr dirty="0"/>
          </a:p>
          <a:p>
            <a:pPr marL="457200" lvl="0" indent="-355600" algn="just" rtl="0">
              <a:lnSpc>
                <a:spcPct val="150000"/>
              </a:lnSpc>
              <a:spcBef>
                <a:spcPts val="0"/>
              </a:spcBef>
              <a:spcAft>
                <a:spcPts val="0"/>
              </a:spcAft>
              <a:buSzPts val="2000"/>
              <a:buChar char="●"/>
            </a:pPr>
            <a:r>
              <a:rPr lang="en" dirty="0"/>
              <a:t>Momentum prevents stalling of the optimization process that is much more likely to occur for stochastic gradient descent.</a:t>
            </a:r>
            <a:endParaRPr dirty="0"/>
          </a:p>
          <a:p>
            <a:pPr marL="457200" lvl="0" indent="-355600" algn="just" rtl="0">
              <a:lnSpc>
                <a:spcPct val="150000"/>
              </a:lnSpc>
              <a:spcBef>
                <a:spcPts val="0"/>
              </a:spcBef>
              <a:spcAft>
                <a:spcPts val="0"/>
              </a:spcAft>
              <a:buSzPts val="2000"/>
              <a:buChar char="●"/>
            </a:pPr>
            <a:r>
              <a:rPr lang="en" dirty="0"/>
              <a:t>The effective number of gradients is given by 1/ (1−β ) due to exponentiated downweighting of past data.</a:t>
            </a:r>
            <a:endParaRPr dirty="0"/>
          </a:p>
          <a:p>
            <a:pPr marL="457200" lvl="0" indent="-355600" algn="just" rtl="0">
              <a:lnSpc>
                <a:spcPct val="150000"/>
              </a:lnSpc>
              <a:spcBef>
                <a:spcPts val="0"/>
              </a:spcBef>
              <a:spcAft>
                <a:spcPts val="0"/>
              </a:spcAft>
              <a:buSzPts val="2000"/>
              <a:buChar char="●"/>
            </a:pPr>
            <a:r>
              <a:rPr lang="en" dirty="0"/>
              <a:t>Implementation is quite straightforward but it requires us to store an additional state vector (momentum v).</a:t>
            </a:r>
            <a:endParaRPr dirty="0"/>
          </a:p>
        </p:txBody>
      </p:sp>
      <p:sp>
        <p:nvSpPr>
          <p:cNvPr id="469" name="Google Shape;469;p68"/>
          <p:cNvSpPr txBox="1">
            <a:spLocks noGrp="1"/>
          </p:cNvSpPr>
          <p:nvPr>
            <p:ph type="sldNum" idx="12"/>
          </p:nvPr>
        </p:nvSpPr>
        <p:spPr>
          <a:xfrm>
            <a:off x="8484550" y="4863199"/>
            <a:ext cx="548700" cy="310800"/>
          </a:xfrm>
          <a:prstGeom prst="rect">
            <a:avLst/>
          </a:prstGeom>
        </p:spPr>
        <p:txBody>
          <a:bodyPr spcFirstLastPara="1" wrap="square" lIns="91425" tIns="91425" rIns="91425" bIns="91425" anchor="ctr" anchorCtr="0">
            <a:normAutofit fontScale="92500"/>
          </a:bodyPr>
          <a:lstStyle/>
          <a:p>
            <a:pPr marL="0" lvl="0" indent="0" algn="r" rtl="0">
              <a:spcBef>
                <a:spcPts val="0"/>
              </a:spcBef>
              <a:spcAft>
                <a:spcPts val="0"/>
              </a:spcAft>
              <a:buNone/>
            </a:pPr>
            <a:fld id="{00000000-1234-1234-1234-123412341234}" type="slidenum">
              <a:rPr lang="en"/>
              <a:t>54</a:t>
            </a:fld>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473"/>
        <p:cNvGrpSpPr/>
        <p:nvPr/>
      </p:nvGrpSpPr>
      <p:grpSpPr>
        <a:xfrm>
          <a:off x="0" y="0"/>
          <a:ext cx="0" cy="0"/>
          <a:chOff x="0" y="0"/>
          <a:chExt cx="0" cy="0"/>
        </a:xfrm>
      </p:grpSpPr>
      <p:sp>
        <p:nvSpPr>
          <p:cNvPr id="474" name="Google Shape;474;p69"/>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r>
              <a:rPr lang="en"/>
              <a:t>Adagrad</a:t>
            </a:r>
            <a:endParaRPr/>
          </a:p>
        </p:txBody>
      </p:sp>
      <p:sp>
        <p:nvSpPr>
          <p:cNvPr id="475" name="Google Shape;475;p6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55</a:t>
            </a:fld>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479"/>
        <p:cNvGrpSpPr/>
        <p:nvPr/>
      </p:nvGrpSpPr>
      <p:grpSpPr>
        <a:xfrm>
          <a:off x="0" y="0"/>
          <a:ext cx="0" cy="0"/>
          <a:chOff x="0" y="0"/>
          <a:chExt cx="0" cy="0"/>
        </a:xfrm>
      </p:grpSpPr>
      <p:sp>
        <p:nvSpPr>
          <p:cNvPr id="480" name="Google Shape;480;p70"/>
          <p:cNvSpPr txBox="1">
            <a:spLocks noGrp="1"/>
          </p:cNvSpPr>
          <p:nvPr>
            <p:ph type="title"/>
          </p:nvPr>
        </p:nvSpPr>
        <p:spPr>
          <a:xfrm>
            <a:off x="311700" y="14245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Adagrad</a:t>
            </a:r>
            <a:endParaRPr/>
          </a:p>
        </p:txBody>
      </p:sp>
      <p:sp>
        <p:nvSpPr>
          <p:cNvPr id="481" name="Google Shape;481;p70"/>
          <p:cNvSpPr txBox="1">
            <a:spLocks noGrp="1"/>
          </p:cNvSpPr>
          <p:nvPr>
            <p:ph type="body" idx="1"/>
          </p:nvPr>
        </p:nvSpPr>
        <p:spPr>
          <a:xfrm>
            <a:off x="311700" y="715150"/>
            <a:ext cx="8520600" cy="4147800"/>
          </a:xfrm>
          <a:prstGeom prst="rect">
            <a:avLst/>
          </a:prstGeom>
        </p:spPr>
        <p:txBody>
          <a:bodyPr spcFirstLastPara="1" wrap="square" lIns="91425" tIns="91425" rIns="91425" bIns="91425" anchor="t" anchorCtr="0">
            <a:normAutofit/>
          </a:bodyPr>
          <a:lstStyle/>
          <a:p>
            <a:pPr marL="457200" lvl="0" indent="-355600" algn="just" rtl="0">
              <a:lnSpc>
                <a:spcPct val="150000"/>
              </a:lnSpc>
              <a:spcBef>
                <a:spcPts val="0"/>
              </a:spcBef>
              <a:spcAft>
                <a:spcPts val="0"/>
              </a:spcAft>
              <a:buSzPts val="2000"/>
              <a:buChar char="●"/>
            </a:pPr>
            <a:r>
              <a:rPr lang="en" dirty="0"/>
              <a:t>Used for  features that occur infrequently (sparse features)</a:t>
            </a:r>
            <a:endParaRPr dirty="0"/>
          </a:p>
          <a:p>
            <a:pPr marL="457200" lvl="0" indent="-355600" algn="just" rtl="0">
              <a:lnSpc>
                <a:spcPct val="150000"/>
              </a:lnSpc>
              <a:spcBef>
                <a:spcPts val="0"/>
              </a:spcBef>
              <a:spcAft>
                <a:spcPts val="0"/>
              </a:spcAft>
              <a:buSzPts val="2000"/>
              <a:buChar char="●"/>
            </a:pPr>
            <a:r>
              <a:rPr lang="en" dirty="0"/>
              <a:t>Adagrad uses aggregate of the squares of previously observed gradients. </a:t>
            </a:r>
            <a:endParaRPr dirty="0"/>
          </a:p>
        </p:txBody>
      </p:sp>
      <p:sp>
        <p:nvSpPr>
          <p:cNvPr id="482" name="Google Shape;482;p70"/>
          <p:cNvSpPr txBox="1">
            <a:spLocks noGrp="1"/>
          </p:cNvSpPr>
          <p:nvPr>
            <p:ph type="sldNum" idx="12"/>
          </p:nvPr>
        </p:nvSpPr>
        <p:spPr>
          <a:xfrm>
            <a:off x="8484550" y="4863199"/>
            <a:ext cx="548700" cy="310800"/>
          </a:xfrm>
          <a:prstGeom prst="rect">
            <a:avLst/>
          </a:prstGeom>
        </p:spPr>
        <p:txBody>
          <a:bodyPr spcFirstLastPara="1" wrap="square" lIns="91425" tIns="91425" rIns="91425" bIns="91425" anchor="ctr" anchorCtr="0">
            <a:normAutofit fontScale="92500"/>
          </a:bodyPr>
          <a:lstStyle/>
          <a:p>
            <a:pPr marL="0" lvl="0" indent="0" algn="r" rtl="0">
              <a:spcBef>
                <a:spcPts val="0"/>
              </a:spcBef>
              <a:spcAft>
                <a:spcPts val="0"/>
              </a:spcAft>
              <a:buNone/>
            </a:pPr>
            <a:fld id="{00000000-1234-1234-1234-123412341234}" type="slidenum">
              <a:rPr lang="en"/>
              <a:t>56</a:t>
            </a:fld>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486"/>
        <p:cNvGrpSpPr/>
        <p:nvPr/>
      </p:nvGrpSpPr>
      <p:grpSpPr>
        <a:xfrm>
          <a:off x="0" y="0"/>
          <a:ext cx="0" cy="0"/>
          <a:chOff x="0" y="0"/>
          <a:chExt cx="0" cy="0"/>
        </a:xfrm>
      </p:grpSpPr>
      <p:sp>
        <p:nvSpPr>
          <p:cNvPr id="487" name="Google Shape;487;p71"/>
          <p:cNvSpPr txBox="1">
            <a:spLocks noGrp="1"/>
          </p:cNvSpPr>
          <p:nvPr>
            <p:ph type="title"/>
          </p:nvPr>
        </p:nvSpPr>
        <p:spPr>
          <a:xfrm>
            <a:off x="311700" y="14245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Adagrad Algorithm</a:t>
            </a:r>
            <a:endParaRPr/>
          </a:p>
        </p:txBody>
      </p:sp>
      <p:sp>
        <p:nvSpPr>
          <p:cNvPr id="488" name="Google Shape;488;p71"/>
          <p:cNvSpPr txBox="1">
            <a:spLocks noGrp="1"/>
          </p:cNvSpPr>
          <p:nvPr>
            <p:ph type="body" idx="1"/>
          </p:nvPr>
        </p:nvSpPr>
        <p:spPr>
          <a:xfrm>
            <a:off x="311700" y="715150"/>
            <a:ext cx="8520600" cy="4147800"/>
          </a:xfrm>
          <a:prstGeom prst="rect">
            <a:avLst/>
          </a:prstGeom>
        </p:spPr>
        <p:txBody>
          <a:bodyPr spcFirstLastPara="1" wrap="square" lIns="91425" tIns="91425" rIns="91425" bIns="91425" anchor="t" anchorCtr="0">
            <a:normAutofit/>
          </a:bodyPr>
          <a:lstStyle/>
          <a:p>
            <a:pPr marL="457200" lvl="0" indent="-355600" algn="l" rtl="0">
              <a:spcBef>
                <a:spcPts val="0"/>
              </a:spcBef>
              <a:spcAft>
                <a:spcPts val="0"/>
              </a:spcAft>
              <a:buSzPts val="2000"/>
              <a:buChar char="●"/>
            </a:pPr>
            <a:r>
              <a:rPr lang="en"/>
              <a:t>Variable s</a:t>
            </a:r>
            <a:r>
              <a:rPr lang="en" baseline="-25000"/>
              <a:t>t</a:t>
            </a:r>
            <a:r>
              <a:rPr lang="en"/>
              <a:t> to accumulate past gradient variance.</a:t>
            </a:r>
            <a:endParaRPr/>
          </a:p>
          <a:p>
            <a:pPr marL="457200" lvl="0" indent="0" algn="l" rtl="0">
              <a:spcBef>
                <a:spcPts val="1200"/>
              </a:spcBef>
              <a:spcAft>
                <a:spcPts val="0"/>
              </a:spcAft>
              <a:buNone/>
            </a:pPr>
            <a:endParaRPr/>
          </a:p>
          <a:p>
            <a:pPr marL="457200" lvl="0" indent="0" algn="l" rtl="0">
              <a:spcBef>
                <a:spcPts val="1200"/>
              </a:spcBef>
              <a:spcAft>
                <a:spcPts val="0"/>
              </a:spcAft>
              <a:buNone/>
            </a:pPr>
            <a:endParaRPr/>
          </a:p>
          <a:p>
            <a:pPr marL="457200" lvl="0" indent="0" algn="l" rtl="0">
              <a:spcBef>
                <a:spcPts val="1200"/>
              </a:spcBef>
              <a:spcAft>
                <a:spcPts val="0"/>
              </a:spcAft>
              <a:buNone/>
            </a:pPr>
            <a:endParaRPr/>
          </a:p>
          <a:p>
            <a:pPr marL="457200" lvl="0" indent="-355600" algn="l" rtl="0">
              <a:spcBef>
                <a:spcPts val="1200"/>
              </a:spcBef>
              <a:spcAft>
                <a:spcPts val="0"/>
              </a:spcAft>
              <a:buSzPts val="2000"/>
              <a:buChar char="●"/>
            </a:pPr>
            <a:r>
              <a:rPr lang="en"/>
              <a:t>Operation are applied coordinate wise. √ (1 / v) has entries √( 1/ v</a:t>
            </a:r>
            <a:r>
              <a:rPr lang="en" baseline="-25000"/>
              <a:t>i</a:t>
            </a:r>
            <a:r>
              <a:rPr lang="en"/>
              <a:t>) and u · v has entries u</a:t>
            </a:r>
            <a:r>
              <a:rPr lang="en" baseline="-25000"/>
              <a:t>i</a:t>
            </a:r>
            <a:r>
              <a:rPr lang="en"/>
              <a:t> v</a:t>
            </a:r>
            <a:r>
              <a:rPr lang="en" baseline="-25000"/>
              <a:t>i</a:t>
            </a:r>
            <a:r>
              <a:rPr lang="en"/>
              <a:t>. η is the learning rate and ε is an additive constant that ensures that we do not divide by 0. </a:t>
            </a:r>
            <a:endParaRPr/>
          </a:p>
          <a:p>
            <a:pPr marL="457200" lvl="0" indent="-355600" algn="l" rtl="0">
              <a:spcBef>
                <a:spcPts val="0"/>
              </a:spcBef>
              <a:spcAft>
                <a:spcPts val="0"/>
              </a:spcAft>
              <a:buSzPts val="2000"/>
              <a:buChar char="●"/>
            </a:pPr>
            <a:r>
              <a:rPr lang="en"/>
              <a:t>Initialize s0 = 0.</a:t>
            </a:r>
            <a:endParaRPr/>
          </a:p>
        </p:txBody>
      </p:sp>
      <p:sp>
        <p:nvSpPr>
          <p:cNvPr id="489" name="Google Shape;489;p71"/>
          <p:cNvSpPr txBox="1">
            <a:spLocks noGrp="1"/>
          </p:cNvSpPr>
          <p:nvPr>
            <p:ph type="sldNum" idx="12"/>
          </p:nvPr>
        </p:nvSpPr>
        <p:spPr>
          <a:xfrm>
            <a:off x="8484550" y="4863199"/>
            <a:ext cx="548700" cy="310800"/>
          </a:xfrm>
          <a:prstGeom prst="rect">
            <a:avLst/>
          </a:prstGeom>
        </p:spPr>
        <p:txBody>
          <a:bodyPr spcFirstLastPara="1" wrap="square" lIns="91425" tIns="91425" rIns="91425" bIns="91425" anchor="ctr" anchorCtr="0">
            <a:normAutofit fontScale="92500"/>
          </a:bodyPr>
          <a:lstStyle/>
          <a:p>
            <a:pPr marL="0" lvl="0" indent="0" algn="r" rtl="0">
              <a:spcBef>
                <a:spcPts val="0"/>
              </a:spcBef>
              <a:spcAft>
                <a:spcPts val="0"/>
              </a:spcAft>
              <a:buNone/>
            </a:pPr>
            <a:fld id="{00000000-1234-1234-1234-123412341234}" type="slidenum">
              <a:rPr lang="en"/>
              <a:t>57</a:t>
            </a:fld>
            <a:endParaRPr/>
          </a:p>
        </p:txBody>
      </p:sp>
      <p:pic>
        <p:nvPicPr>
          <p:cNvPr id="490" name="Google Shape;490;p71"/>
          <p:cNvPicPr preferRelativeResize="0"/>
          <p:nvPr/>
        </p:nvPicPr>
        <p:blipFill>
          <a:blip r:embed="rId3">
            <a:alphaModFix/>
          </a:blip>
          <a:stretch>
            <a:fillRect/>
          </a:stretch>
        </p:blipFill>
        <p:spPr>
          <a:xfrm>
            <a:off x="3018475" y="1298875"/>
            <a:ext cx="3107025" cy="1403175"/>
          </a:xfrm>
          <a:prstGeom prst="rect">
            <a:avLst/>
          </a:prstGeom>
          <a:noFill/>
          <a:ln>
            <a:noFill/>
          </a:ln>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494"/>
        <p:cNvGrpSpPr/>
        <p:nvPr/>
      </p:nvGrpSpPr>
      <p:grpSpPr>
        <a:xfrm>
          <a:off x="0" y="0"/>
          <a:ext cx="0" cy="0"/>
          <a:chOff x="0" y="0"/>
          <a:chExt cx="0" cy="0"/>
        </a:xfrm>
      </p:grpSpPr>
      <p:sp>
        <p:nvSpPr>
          <p:cNvPr id="495" name="Google Shape;495;p72"/>
          <p:cNvSpPr txBox="1">
            <a:spLocks noGrp="1"/>
          </p:cNvSpPr>
          <p:nvPr>
            <p:ph type="title"/>
          </p:nvPr>
        </p:nvSpPr>
        <p:spPr>
          <a:xfrm>
            <a:off x="311700" y="14245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Adagrad: Summary</a:t>
            </a:r>
            <a:endParaRPr/>
          </a:p>
        </p:txBody>
      </p:sp>
      <p:sp>
        <p:nvSpPr>
          <p:cNvPr id="496" name="Google Shape;496;p72"/>
          <p:cNvSpPr txBox="1">
            <a:spLocks noGrp="1"/>
          </p:cNvSpPr>
          <p:nvPr>
            <p:ph type="body" idx="1"/>
          </p:nvPr>
        </p:nvSpPr>
        <p:spPr>
          <a:xfrm>
            <a:off x="311700" y="715150"/>
            <a:ext cx="8520600" cy="4147800"/>
          </a:xfrm>
          <a:prstGeom prst="rect">
            <a:avLst/>
          </a:prstGeom>
        </p:spPr>
        <p:txBody>
          <a:bodyPr spcFirstLastPara="1" wrap="square" lIns="91425" tIns="91425" rIns="91425" bIns="91425" anchor="t" anchorCtr="0">
            <a:normAutofit fontScale="85000" lnSpcReduction="10000"/>
          </a:bodyPr>
          <a:lstStyle/>
          <a:p>
            <a:pPr marL="457200" lvl="0" indent="-355600" algn="just" rtl="0">
              <a:lnSpc>
                <a:spcPct val="150000"/>
              </a:lnSpc>
              <a:spcBef>
                <a:spcPts val="0"/>
              </a:spcBef>
              <a:spcAft>
                <a:spcPts val="0"/>
              </a:spcAft>
              <a:buSzPts val="2000"/>
              <a:buChar char="●"/>
            </a:pPr>
            <a:r>
              <a:rPr lang="en" dirty="0"/>
              <a:t>Adagrad decreases the learning rate dynamically on a per-coordinate basis.</a:t>
            </a:r>
            <a:endParaRPr dirty="0"/>
          </a:p>
          <a:p>
            <a:pPr marL="457200" lvl="0" indent="-355600" algn="just" rtl="0">
              <a:lnSpc>
                <a:spcPct val="150000"/>
              </a:lnSpc>
              <a:spcBef>
                <a:spcPts val="0"/>
              </a:spcBef>
              <a:spcAft>
                <a:spcPts val="0"/>
              </a:spcAft>
              <a:buSzPts val="2000"/>
              <a:buChar char="●"/>
            </a:pPr>
            <a:r>
              <a:rPr lang="en" dirty="0"/>
              <a:t>It uses the magnitude of the gradient as a means of adjusting how quickly progress is achieved - coordinates with large gradients are compensated with a smaller learning rate.</a:t>
            </a:r>
            <a:endParaRPr dirty="0"/>
          </a:p>
          <a:p>
            <a:pPr marL="457200" lvl="0" indent="-355600" algn="just" rtl="0">
              <a:lnSpc>
                <a:spcPct val="150000"/>
              </a:lnSpc>
              <a:spcBef>
                <a:spcPts val="0"/>
              </a:spcBef>
              <a:spcAft>
                <a:spcPts val="0"/>
              </a:spcAft>
              <a:buSzPts val="2000"/>
              <a:buChar char="●"/>
            </a:pPr>
            <a:r>
              <a:rPr lang="en" dirty="0"/>
              <a:t>If the optimization problem has a rather uneven structure Adagrad can help mitigate the distortion.</a:t>
            </a:r>
            <a:endParaRPr dirty="0"/>
          </a:p>
          <a:p>
            <a:pPr marL="457200" lvl="0" indent="-355600" algn="just" rtl="0">
              <a:lnSpc>
                <a:spcPct val="150000"/>
              </a:lnSpc>
              <a:spcBef>
                <a:spcPts val="0"/>
              </a:spcBef>
              <a:spcAft>
                <a:spcPts val="0"/>
              </a:spcAft>
              <a:buSzPts val="2000"/>
              <a:buChar char="●"/>
            </a:pPr>
            <a:r>
              <a:rPr lang="en" dirty="0"/>
              <a:t>Adagrad is particularly effective for sparse features where the learning rate needs to decrease more slowly for infrequently occurring terms.</a:t>
            </a:r>
            <a:endParaRPr dirty="0"/>
          </a:p>
          <a:p>
            <a:pPr marL="457200" lvl="0" indent="-355600" algn="just" rtl="0">
              <a:lnSpc>
                <a:spcPct val="150000"/>
              </a:lnSpc>
              <a:spcBef>
                <a:spcPts val="0"/>
              </a:spcBef>
              <a:spcAft>
                <a:spcPts val="0"/>
              </a:spcAft>
              <a:buSzPts val="2000"/>
              <a:buChar char="●"/>
            </a:pPr>
            <a:r>
              <a:rPr lang="en" dirty="0"/>
              <a:t>On deep learning problems Adagrad can sometimes be too aggressive in reducing learning rates. </a:t>
            </a:r>
            <a:endParaRPr dirty="0"/>
          </a:p>
        </p:txBody>
      </p:sp>
      <p:sp>
        <p:nvSpPr>
          <p:cNvPr id="497" name="Google Shape;497;p72"/>
          <p:cNvSpPr txBox="1">
            <a:spLocks noGrp="1"/>
          </p:cNvSpPr>
          <p:nvPr>
            <p:ph type="sldNum" idx="12"/>
          </p:nvPr>
        </p:nvSpPr>
        <p:spPr>
          <a:xfrm>
            <a:off x="8484550" y="4863199"/>
            <a:ext cx="548700" cy="310800"/>
          </a:xfrm>
          <a:prstGeom prst="rect">
            <a:avLst/>
          </a:prstGeom>
        </p:spPr>
        <p:txBody>
          <a:bodyPr spcFirstLastPara="1" wrap="square" lIns="91425" tIns="91425" rIns="91425" bIns="91425" anchor="ctr" anchorCtr="0">
            <a:normAutofit fontScale="92500"/>
          </a:bodyPr>
          <a:lstStyle/>
          <a:p>
            <a:pPr marL="0" lvl="0" indent="0" algn="r" rtl="0">
              <a:spcBef>
                <a:spcPts val="0"/>
              </a:spcBef>
              <a:spcAft>
                <a:spcPts val="0"/>
              </a:spcAft>
              <a:buNone/>
            </a:pPr>
            <a:fld id="{00000000-1234-1234-1234-123412341234}" type="slidenum">
              <a:rPr lang="en"/>
              <a:t>58</a:t>
            </a:fld>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501"/>
        <p:cNvGrpSpPr/>
        <p:nvPr/>
      </p:nvGrpSpPr>
      <p:grpSpPr>
        <a:xfrm>
          <a:off x="0" y="0"/>
          <a:ext cx="0" cy="0"/>
          <a:chOff x="0" y="0"/>
          <a:chExt cx="0" cy="0"/>
        </a:xfrm>
      </p:grpSpPr>
      <p:sp>
        <p:nvSpPr>
          <p:cNvPr id="502" name="Google Shape;502;p7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r>
              <a:rPr lang="en"/>
              <a:t>RMSProp</a:t>
            </a:r>
            <a:endParaRPr/>
          </a:p>
        </p:txBody>
      </p:sp>
      <p:sp>
        <p:nvSpPr>
          <p:cNvPr id="503" name="Google Shape;503;p7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59</a:t>
            </a:fld>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507"/>
        <p:cNvGrpSpPr/>
        <p:nvPr/>
      </p:nvGrpSpPr>
      <p:grpSpPr>
        <a:xfrm>
          <a:off x="0" y="0"/>
          <a:ext cx="0" cy="0"/>
          <a:chOff x="0" y="0"/>
          <a:chExt cx="0" cy="0"/>
        </a:xfrm>
      </p:grpSpPr>
      <p:sp>
        <p:nvSpPr>
          <p:cNvPr id="508" name="Google Shape;508;p74"/>
          <p:cNvSpPr txBox="1">
            <a:spLocks noGrp="1"/>
          </p:cNvSpPr>
          <p:nvPr>
            <p:ph type="title"/>
          </p:nvPr>
        </p:nvSpPr>
        <p:spPr>
          <a:xfrm>
            <a:off x="311700" y="14245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RMSProp</a:t>
            </a:r>
            <a:endParaRPr/>
          </a:p>
        </p:txBody>
      </p:sp>
      <p:sp>
        <p:nvSpPr>
          <p:cNvPr id="509" name="Google Shape;509;p74"/>
          <p:cNvSpPr txBox="1">
            <a:spLocks noGrp="1"/>
          </p:cNvSpPr>
          <p:nvPr>
            <p:ph type="body" idx="1"/>
          </p:nvPr>
        </p:nvSpPr>
        <p:spPr>
          <a:xfrm>
            <a:off x="311700" y="715150"/>
            <a:ext cx="8520600" cy="4147800"/>
          </a:xfrm>
          <a:prstGeom prst="rect">
            <a:avLst/>
          </a:prstGeom>
        </p:spPr>
        <p:txBody>
          <a:bodyPr spcFirstLastPara="1" wrap="square" lIns="91425" tIns="91425" rIns="91425" bIns="91425" anchor="t" anchorCtr="0">
            <a:normAutofit/>
          </a:bodyPr>
          <a:lstStyle/>
          <a:p>
            <a:pPr marL="457200" lvl="0" indent="-355600" algn="just" rtl="0">
              <a:lnSpc>
                <a:spcPct val="150000"/>
              </a:lnSpc>
              <a:spcBef>
                <a:spcPts val="0"/>
              </a:spcBef>
              <a:spcAft>
                <a:spcPts val="0"/>
              </a:spcAft>
              <a:buSzPts val="2000"/>
              <a:buChar char="●"/>
            </a:pPr>
            <a:r>
              <a:rPr lang="en" dirty="0"/>
              <a:t>Adagrad use learning rate that decreases at a predefined schedule of effectively O(t</a:t>
            </a:r>
            <a:r>
              <a:rPr lang="en" baseline="30000" dirty="0"/>
              <a:t>− 1/2</a:t>
            </a:r>
            <a:r>
              <a:rPr lang="en" dirty="0"/>
              <a:t> ). </a:t>
            </a:r>
            <a:endParaRPr dirty="0"/>
          </a:p>
          <a:p>
            <a:pPr marL="457200" lvl="0" indent="-355600" algn="just" rtl="0">
              <a:lnSpc>
                <a:spcPct val="150000"/>
              </a:lnSpc>
              <a:spcBef>
                <a:spcPts val="0"/>
              </a:spcBef>
              <a:spcAft>
                <a:spcPts val="0"/>
              </a:spcAft>
              <a:buSzPts val="2000"/>
              <a:buChar char="●"/>
            </a:pPr>
            <a:r>
              <a:rPr lang="en" dirty="0"/>
              <a:t>RMSProp algorithm decouples rate scheduling from coordinate-adaptive learning rates. This is essential for non-convex optimization.</a:t>
            </a:r>
            <a:endParaRPr dirty="0"/>
          </a:p>
        </p:txBody>
      </p:sp>
      <p:sp>
        <p:nvSpPr>
          <p:cNvPr id="510" name="Google Shape;510;p74"/>
          <p:cNvSpPr txBox="1">
            <a:spLocks noGrp="1"/>
          </p:cNvSpPr>
          <p:nvPr>
            <p:ph type="sldNum" idx="12"/>
          </p:nvPr>
        </p:nvSpPr>
        <p:spPr>
          <a:xfrm>
            <a:off x="8484550" y="4863199"/>
            <a:ext cx="548700" cy="310800"/>
          </a:xfrm>
          <a:prstGeom prst="rect">
            <a:avLst/>
          </a:prstGeom>
        </p:spPr>
        <p:txBody>
          <a:bodyPr spcFirstLastPara="1" wrap="square" lIns="91425" tIns="91425" rIns="91425" bIns="91425" anchor="ctr" anchorCtr="0">
            <a:normAutofit fontScale="92500"/>
          </a:bodyPr>
          <a:lstStyle/>
          <a:p>
            <a:pPr marL="0" lvl="0" indent="0" algn="r" rtl="0">
              <a:spcBef>
                <a:spcPts val="0"/>
              </a:spcBef>
              <a:spcAft>
                <a:spcPts val="0"/>
              </a:spcAft>
              <a:buNone/>
            </a:pPr>
            <a:fld id="{00000000-1234-1234-1234-123412341234}" type="slidenum">
              <a:rPr lang="en"/>
              <a:t>60</a:t>
            </a:fld>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514"/>
        <p:cNvGrpSpPr/>
        <p:nvPr/>
      </p:nvGrpSpPr>
      <p:grpSpPr>
        <a:xfrm>
          <a:off x="0" y="0"/>
          <a:ext cx="0" cy="0"/>
          <a:chOff x="0" y="0"/>
          <a:chExt cx="0" cy="0"/>
        </a:xfrm>
      </p:grpSpPr>
      <p:sp>
        <p:nvSpPr>
          <p:cNvPr id="515" name="Google Shape;515;p75"/>
          <p:cNvSpPr txBox="1">
            <a:spLocks noGrp="1"/>
          </p:cNvSpPr>
          <p:nvPr>
            <p:ph type="title"/>
          </p:nvPr>
        </p:nvSpPr>
        <p:spPr>
          <a:xfrm>
            <a:off x="311700" y="14245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RMSProp Algorithm</a:t>
            </a:r>
            <a:endParaRPr/>
          </a:p>
        </p:txBody>
      </p:sp>
      <p:sp>
        <p:nvSpPr>
          <p:cNvPr id="516" name="Google Shape;516;p75"/>
          <p:cNvSpPr txBox="1">
            <a:spLocks noGrp="1"/>
          </p:cNvSpPr>
          <p:nvPr>
            <p:ph type="body" idx="1"/>
          </p:nvPr>
        </p:nvSpPr>
        <p:spPr>
          <a:xfrm>
            <a:off x="311700" y="715150"/>
            <a:ext cx="8520600" cy="4147800"/>
          </a:xfrm>
          <a:prstGeom prst="rect">
            <a:avLst/>
          </a:prstGeom>
        </p:spPr>
        <p:txBody>
          <a:bodyPr spcFirstLastPara="1" wrap="square" lIns="91425" tIns="91425" rIns="91425" bIns="91425" anchor="t" anchorCtr="0">
            <a:normAutofit/>
          </a:bodyPr>
          <a:lstStyle/>
          <a:p>
            <a:pPr marL="457200" lvl="0" indent="-355600" algn="l" rtl="0">
              <a:spcBef>
                <a:spcPts val="0"/>
              </a:spcBef>
              <a:spcAft>
                <a:spcPts val="0"/>
              </a:spcAft>
              <a:buSzPts val="2000"/>
              <a:buChar char="●"/>
            </a:pPr>
            <a:r>
              <a:rPr lang="en" dirty="0"/>
              <a:t>Use leaky average to accumulate past gradient variance. </a:t>
            </a:r>
            <a:endParaRPr dirty="0"/>
          </a:p>
          <a:p>
            <a:pPr marL="0" lvl="0" indent="0" algn="l" rtl="0">
              <a:spcBef>
                <a:spcPts val="1200"/>
              </a:spcBef>
              <a:spcAft>
                <a:spcPts val="0"/>
              </a:spcAft>
              <a:buNone/>
            </a:pPr>
            <a:endParaRPr dirty="0"/>
          </a:p>
          <a:p>
            <a:pPr marL="0" lvl="0" indent="0" algn="l" rtl="0">
              <a:spcBef>
                <a:spcPts val="1200"/>
              </a:spcBef>
              <a:spcAft>
                <a:spcPts val="0"/>
              </a:spcAft>
              <a:buNone/>
            </a:pPr>
            <a:endParaRPr dirty="0"/>
          </a:p>
          <a:p>
            <a:pPr marL="457200" lvl="0" indent="-355600" algn="l" rtl="0">
              <a:lnSpc>
                <a:spcPct val="150000"/>
              </a:lnSpc>
              <a:spcBef>
                <a:spcPts val="1200"/>
              </a:spcBef>
              <a:spcAft>
                <a:spcPts val="0"/>
              </a:spcAft>
              <a:buSzPts val="2000"/>
              <a:buChar char="●"/>
            </a:pPr>
            <a:r>
              <a:rPr lang="en" dirty="0"/>
              <a:t>Parameter gamma &gt; 0.  </a:t>
            </a:r>
            <a:endParaRPr dirty="0"/>
          </a:p>
          <a:p>
            <a:pPr marL="457200" lvl="0" indent="-355600" algn="l" rtl="0">
              <a:lnSpc>
                <a:spcPct val="150000"/>
              </a:lnSpc>
              <a:spcBef>
                <a:spcPts val="0"/>
              </a:spcBef>
              <a:spcAft>
                <a:spcPts val="0"/>
              </a:spcAft>
              <a:buSzPts val="2000"/>
              <a:buChar char="●"/>
            </a:pPr>
            <a:r>
              <a:rPr lang="en" dirty="0"/>
              <a:t>The constant ε &gt; 0 is set to 10</a:t>
            </a:r>
            <a:r>
              <a:rPr lang="en" baseline="30000" dirty="0"/>
              <a:t>−6</a:t>
            </a:r>
            <a:r>
              <a:rPr lang="en" dirty="0"/>
              <a:t> to ensure that we do not suffer from division by zero or overly large step sizes. </a:t>
            </a:r>
            <a:endParaRPr dirty="0"/>
          </a:p>
        </p:txBody>
      </p:sp>
      <p:sp>
        <p:nvSpPr>
          <p:cNvPr id="517" name="Google Shape;517;p75"/>
          <p:cNvSpPr txBox="1">
            <a:spLocks noGrp="1"/>
          </p:cNvSpPr>
          <p:nvPr>
            <p:ph type="sldNum" idx="12"/>
          </p:nvPr>
        </p:nvSpPr>
        <p:spPr>
          <a:xfrm>
            <a:off x="8484550" y="4863199"/>
            <a:ext cx="548700" cy="310800"/>
          </a:xfrm>
          <a:prstGeom prst="rect">
            <a:avLst/>
          </a:prstGeom>
        </p:spPr>
        <p:txBody>
          <a:bodyPr spcFirstLastPara="1" wrap="square" lIns="91425" tIns="91425" rIns="91425" bIns="91425" anchor="ctr" anchorCtr="0">
            <a:normAutofit fontScale="92500"/>
          </a:bodyPr>
          <a:lstStyle/>
          <a:p>
            <a:pPr marL="0" lvl="0" indent="0" algn="r" rtl="0">
              <a:spcBef>
                <a:spcPts val="0"/>
              </a:spcBef>
              <a:spcAft>
                <a:spcPts val="0"/>
              </a:spcAft>
              <a:buNone/>
            </a:pPr>
            <a:fld id="{00000000-1234-1234-1234-123412341234}" type="slidenum">
              <a:rPr lang="en"/>
              <a:t>61</a:t>
            </a:fld>
            <a:endParaRPr/>
          </a:p>
        </p:txBody>
      </p:sp>
      <p:pic>
        <p:nvPicPr>
          <p:cNvPr id="518" name="Google Shape;518;p75"/>
          <p:cNvPicPr preferRelativeResize="0"/>
          <p:nvPr/>
        </p:nvPicPr>
        <p:blipFill>
          <a:blip r:embed="rId3">
            <a:alphaModFix/>
          </a:blip>
          <a:stretch>
            <a:fillRect/>
          </a:stretch>
        </p:blipFill>
        <p:spPr>
          <a:xfrm>
            <a:off x="2954479" y="1189729"/>
            <a:ext cx="3235025" cy="1086850"/>
          </a:xfrm>
          <a:prstGeom prst="rect">
            <a:avLst/>
          </a:prstGeom>
          <a:noFill/>
          <a:ln>
            <a:noFill/>
          </a:ln>
        </p:spPr>
      </p:pic>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522"/>
        <p:cNvGrpSpPr/>
        <p:nvPr/>
      </p:nvGrpSpPr>
      <p:grpSpPr>
        <a:xfrm>
          <a:off x="0" y="0"/>
          <a:ext cx="0" cy="0"/>
          <a:chOff x="0" y="0"/>
          <a:chExt cx="0" cy="0"/>
        </a:xfrm>
      </p:grpSpPr>
      <p:sp>
        <p:nvSpPr>
          <p:cNvPr id="523" name="Google Shape;523;p76"/>
          <p:cNvSpPr txBox="1">
            <a:spLocks noGrp="1"/>
          </p:cNvSpPr>
          <p:nvPr>
            <p:ph type="title"/>
          </p:nvPr>
        </p:nvSpPr>
        <p:spPr>
          <a:xfrm>
            <a:off x="311700" y="14245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RMSProp Algorithm</a:t>
            </a:r>
            <a:endParaRPr/>
          </a:p>
        </p:txBody>
      </p:sp>
      <p:sp>
        <p:nvSpPr>
          <p:cNvPr id="524" name="Google Shape;524;p76"/>
          <p:cNvSpPr txBox="1">
            <a:spLocks noGrp="1"/>
          </p:cNvSpPr>
          <p:nvPr>
            <p:ph type="sldNum" idx="12"/>
          </p:nvPr>
        </p:nvSpPr>
        <p:spPr>
          <a:xfrm>
            <a:off x="8484550" y="4863199"/>
            <a:ext cx="548700" cy="310800"/>
          </a:xfrm>
          <a:prstGeom prst="rect">
            <a:avLst/>
          </a:prstGeom>
        </p:spPr>
        <p:txBody>
          <a:bodyPr spcFirstLastPara="1" wrap="square" lIns="91425" tIns="91425" rIns="91425" bIns="91425" anchor="ctr" anchorCtr="0">
            <a:normAutofit fontScale="92500"/>
          </a:bodyPr>
          <a:lstStyle/>
          <a:p>
            <a:pPr marL="0" lvl="0" indent="0" algn="r" rtl="0">
              <a:spcBef>
                <a:spcPts val="0"/>
              </a:spcBef>
              <a:spcAft>
                <a:spcPts val="0"/>
              </a:spcAft>
              <a:buNone/>
            </a:pPr>
            <a:fld id="{00000000-1234-1234-1234-123412341234}" type="slidenum">
              <a:rPr lang="en"/>
              <a:t>62</a:t>
            </a:fld>
            <a:endParaRPr/>
          </a:p>
        </p:txBody>
      </p:sp>
      <p:pic>
        <p:nvPicPr>
          <p:cNvPr id="525" name="Google Shape;525;p76"/>
          <p:cNvPicPr preferRelativeResize="0"/>
          <p:nvPr/>
        </p:nvPicPr>
        <p:blipFill>
          <a:blip r:embed="rId3">
            <a:alphaModFix/>
          </a:blip>
          <a:stretch>
            <a:fillRect/>
          </a:stretch>
        </p:blipFill>
        <p:spPr>
          <a:xfrm>
            <a:off x="311700" y="955488"/>
            <a:ext cx="6953250" cy="3667125"/>
          </a:xfrm>
          <a:prstGeom prst="rect">
            <a:avLst/>
          </a:prstGeom>
          <a:noFill/>
          <a:ln>
            <a:noFill/>
          </a:ln>
        </p:spPr>
      </p:pic>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529"/>
        <p:cNvGrpSpPr/>
        <p:nvPr/>
      </p:nvGrpSpPr>
      <p:grpSpPr>
        <a:xfrm>
          <a:off x="0" y="0"/>
          <a:ext cx="0" cy="0"/>
          <a:chOff x="0" y="0"/>
          <a:chExt cx="0" cy="0"/>
        </a:xfrm>
      </p:grpSpPr>
      <p:sp>
        <p:nvSpPr>
          <p:cNvPr id="530" name="Google Shape;530;p77"/>
          <p:cNvSpPr txBox="1">
            <a:spLocks noGrp="1"/>
          </p:cNvSpPr>
          <p:nvPr>
            <p:ph type="title"/>
          </p:nvPr>
        </p:nvSpPr>
        <p:spPr>
          <a:xfrm>
            <a:off x="311700" y="14245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RMSProp Example</a:t>
            </a:r>
            <a:endParaRPr/>
          </a:p>
        </p:txBody>
      </p:sp>
      <p:sp>
        <p:nvSpPr>
          <p:cNvPr id="531" name="Google Shape;531;p77"/>
          <p:cNvSpPr txBox="1">
            <a:spLocks noGrp="1"/>
          </p:cNvSpPr>
          <p:nvPr>
            <p:ph type="sldNum" idx="12"/>
          </p:nvPr>
        </p:nvSpPr>
        <p:spPr>
          <a:xfrm>
            <a:off x="8484550" y="4863199"/>
            <a:ext cx="548700" cy="310800"/>
          </a:xfrm>
          <a:prstGeom prst="rect">
            <a:avLst/>
          </a:prstGeom>
        </p:spPr>
        <p:txBody>
          <a:bodyPr spcFirstLastPara="1" wrap="square" lIns="91425" tIns="91425" rIns="91425" bIns="91425" anchor="ctr" anchorCtr="0">
            <a:normAutofit fontScale="92500"/>
          </a:bodyPr>
          <a:lstStyle/>
          <a:p>
            <a:pPr marL="0" lvl="0" indent="0" algn="r" rtl="0">
              <a:spcBef>
                <a:spcPts val="0"/>
              </a:spcBef>
              <a:spcAft>
                <a:spcPts val="0"/>
              </a:spcAft>
              <a:buNone/>
            </a:pPr>
            <a:fld id="{00000000-1234-1234-1234-123412341234}" type="slidenum">
              <a:rPr lang="en"/>
              <a:t>63</a:t>
            </a:fld>
            <a:endParaRPr/>
          </a:p>
        </p:txBody>
      </p:sp>
      <p:sp>
        <p:nvSpPr>
          <p:cNvPr id="532" name="Google Shape;532;p77"/>
          <p:cNvSpPr txBox="1"/>
          <p:nvPr/>
        </p:nvSpPr>
        <p:spPr>
          <a:xfrm>
            <a:off x="311700" y="715150"/>
            <a:ext cx="5282400" cy="2689800"/>
          </a:xfrm>
          <a:prstGeom prst="rect">
            <a:avLst/>
          </a:prstGeom>
          <a:noFill/>
          <a:ln>
            <a:noFill/>
          </a:ln>
        </p:spPr>
        <p:txBody>
          <a:bodyPr spcFirstLastPara="1" wrap="square" lIns="91425" tIns="91425" rIns="91425" bIns="91425" anchor="t" anchorCtr="0">
            <a:spAutoFit/>
          </a:bodyPr>
          <a:lstStyle/>
          <a:p>
            <a:pPr marL="0" lvl="0" indent="0" algn="l" rtl="0">
              <a:lnSpc>
                <a:spcPct val="135714"/>
              </a:lnSpc>
              <a:spcBef>
                <a:spcPts val="0"/>
              </a:spcBef>
              <a:spcAft>
                <a:spcPts val="0"/>
              </a:spcAft>
              <a:buNone/>
            </a:pPr>
            <a:r>
              <a:rPr lang="en" sz="1550">
                <a:solidFill>
                  <a:srgbClr val="0000FF"/>
                </a:solidFill>
                <a:highlight>
                  <a:srgbClr val="F7F7F7"/>
                </a:highlight>
                <a:latin typeface="Courier New"/>
                <a:ea typeface="Courier New"/>
                <a:cs typeface="Courier New"/>
                <a:sym typeface="Courier New"/>
              </a:rPr>
              <a:t>ef</a:t>
            </a:r>
            <a:r>
              <a:rPr lang="en" sz="1550">
                <a:solidFill>
                  <a:schemeClr val="dk1"/>
                </a:solidFill>
                <a:highlight>
                  <a:srgbClr val="F7F7F7"/>
                </a:highlight>
                <a:latin typeface="Courier New"/>
                <a:ea typeface="Courier New"/>
                <a:cs typeface="Courier New"/>
                <a:sym typeface="Courier New"/>
              </a:rPr>
              <a:t> </a:t>
            </a:r>
            <a:r>
              <a:rPr lang="en" sz="1550">
                <a:solidFill>
                  <a:srgbClr val="795E26"/>
                </a:solidFill>
                <a:highlight>
                  <a:srgbClr val="F7F7F7"/>
                </a:highlight>
                <a:latin typeface="Courier New"/>
                <a:ea typeface="Courier New"/>
                <a:cs typeface="Courier New"/>
                <a:sym typeface="Courier New"/>
              </a:rPr>
              <a:t>rmsprop_2d</a:t>
            </a:r>
            <a:r>
              <a:rPr lang="en" sz="1550">
                <a:solidFill>
                  <a:schemeClr val="dk1"/>
                </a:solidFill>
                <a:highlight>
                  <a:srgbClr val="F7F7F7"/>
                </a:highlight>
                <a:latin typeface="Courier New"/>
                <a:ea typeface="Courier New"/>
                <a:cs typeface="Courier New"/>
                <a:sym typeface="Courier New"/>
              </a:rPr>
              <a:t>(</a:t>
            </a:r>
            <a:r>
              <a:rPr lang="en" sz="1550">
                <a:solidFill>
                  <a:srgbClr val="001080"/>
                </a:solidFill>
                <a:highlight>
                  <a:srgbClr val="F7F7F7"/>
                </a:highlight>
                <a:latin typeface="Courier New"/>
                <a:ea typeface="Courier New"/>
                <a:cs typeface="Courier New"/>
                <a:sym typeface="Courier New"/>
              </a:rPr>
              <a:t>x1</a:t>
            </a:r>
            <a:r>
              <a:rPr lang="en" sz="1550">
                <a:solidFill>
                  <a:schemeClr val="dk1"/>
                </a:solidFill>
                <a:highlight>
                  <a:srgbClr val="F7F7F7"/>
                </a:highlight>
                <a:latin typeface="Courier New"/>
                <a:ea typeface="Courier New"/>
                <a:cs typeface="Courier New"/>
                <a:sym typeface="Courier New"/>
              </a:rPr>
              <a:t>, </a:t>
            </a:r>
            <a:r>
              <a:rPr lang="en" sz="1550">
                <a:solidFill>
                  <a:srgbClr val="001080"/>
                </a:solidFill>
                <a:highlight>
                  <a:srgbClr val="F7F7F7"/>
                </a:highlight>
                <a:latin typeface="Courier New"/>
                <a:ea typeface="Courier New"/>
                <a:cs typeface="Courier New"/>
                <a:sym typeface="Courier New"/>
              </a:rPr>
              <a:t>x2</a:t>
            </a:r>
            <a:r>
              <a:rPr lang="en" sz="1550">
                <a:solidFill>
                  <a:schemeClr val="dk1"/>
                </a:solidFill>
                <a:highlight>
                  <a:srgbClr val="F7F7F7"/>
                </a:highlight>
                <a:latin typeface="Courier New"/>
                <a:ea typeface="Courier New"/>
                <a:cs typeface="Courier New"/>
                <a:sym typeface="Courier New"/>
              </a:rPr>
              <a:t>, </a:t>
            </a:r>
            <a:r>
              <a:rPr lang="en" sz="1550">
                <a:solidFill>
                  <a:srgbClr val="001080"/>
                </a:solidFill>
                <a:highlight>
                  <a:srgbClr val="F7F7F7"/>
                </a:highlight>
                <a:latin typeface="Courier New"/>
                <a:ea typeface="Courier New"/>
                <a:cs typeface="Courier New"/>
                <a:sym typeface="Courier New"/>
              </a:rPr>
              <a:t>s1</a:t>
            </a:r>
            <a:r>
              <a:rPr lang="en" sz="1550">
                <a:solidFill>
                  <a:schemeClr val="dk1"/>
                </a:solidFill>
                <a:highlight>
                  <a:srgbClr val="F7F7F7"/>
                </a:highlight>
                <a:latin typeface="Courier New"/>
                <a:ea typeface="Courier New"/>
                <a:cs typeface="Courier New"/>
                <a:sym typeface="Courier New"/>
              </a:rPr>
              <a:t>, </a:t>
            </a:r>
            <a:r>
              <a:rPr lang="en" sz="1550">
                <a:solidFill>
                  <a:srgbClr val="001080"/>
                </a:solidFill>
                <a:highlight>
                  <a:srgbClr val="F7F7F7"/>
                </a:highlight>
                <a:latin typeface="Courier New"/>
                <a:ea typeface="Courier New"/>
                <a:cs typeface="Courier New"/>
                <a:sym typeface="Courier New"/>
              </a:rPr>
              <a:t>s2</a:t>
            </a:r>
            <a:r>
              <a:rPr lang="en" sz="1550">
                <a:solidFill>
                  <a:schemeClr val="dk1"/>
                </a:solidFill>
                <a:highlight>
                  <a:srgbClr val="F7F7F7"/>
                </a:highlight>
                <a:latin typeface="Courier New"/>
                <a:ea typeface="Courier New"/>
                <a:cs typeface="Courier New"/>
                <a:sym typeface="Courier New"/>
              </a:rPr>
              <a:t>):</a:t>
            </a:r>
            <a:endParaRPr sz="1550">
              <a:solidFill>
                <a:schemeClr val="dk1"/>
              </a:solidFill>
              <a:highlight>
                <a:srgbClr val="F7F7F7"/>
              </a:highlight>
              <a:latin typeface="Courier New"/>
              <a:ea typeface="Courier New"/>
              <a:cs typeface="Courier New"/>
              <a:sym typeface="Courier New"/>
            </a:endParaRPr>
          </a:p>
          <a:p>
            <a:pPr marL="0" lvl="0" indent="0" algn="l" rtl="0">
              <a:lnSpc>
                <a:spcPct val="135714"/>
              </a:lnSpc>
              <a:spcBef>
                <a:spcPts val="0"/>
              </a:spcBef>
              <a:spcAft>
                <a:spcPts val="0"/>
              </a:spcAft>
              <a:buNone/>
            </a:pPr>
            <a:r>
              <a:rPr lang="en" sz="1550">
                <a:solidFill>
                  <a:schemeClr val="dk1"/>
                </a:solidFill>
                <a:highlight>
                  <a:srgbClr val="F7F7F7"/>
                </a:highlight>
                <a:latin typeface="Courier New"/>
                <a:ea typeface="Courier New"/>
                <a:cs typeface="Courier New"/>
                <a:sym typeface="Courier New"/>
              </a:rPr>
              <a:t> g1, g2, eps = </a:t>
            </a:r>
            <a:r>
              <a:rPr lang="en" sz="1550">
                <a:solidFill>
                  <a:srgbClr val="098156"/>
                </a:solidFill>
                <a:highlight>
                  <a:srgbClr val="F7F7F7"/>
                </a:highlight>
                <a:latin typeface="Courier New"/>
                <a:ea typeface="Courier New"/>
                <a:cs typeface="Courier New"/>
                <a:sym typeface="Courier New"/>
              </a:rPr>
              <a:t>0.2</a:t>
            </a:r>
            <a:r>
              <a:rPr lang="en" sz="1550">
                <a:solidFill>
                  <a:schemeClr val="dk1"/>
                </a:solidFill>
                <a:highlight>
                  <a:srgbClr val="F7F7F7"/>
                </a:highlight>
                <a:latin typeface="Courier New"/>
                <a:ea typeface="Courier New"/>
                <a:cs typeface="Courier New"/>
                <a:sym typeface="Courier New"/>
              </a:rPr>
              <a:t> * x1, </a:t>
            </a:r>
            <a:r>
              <a:rPr lang="en" sz="1550">
                <a:solidFill>
                  <a:srgbClr val="098156"/>
                </a:solidFill>
                <a:highlight>
                  <a:srgbClr val="F7F7F7"/>
                </a:highlight>
                <a:latin typeface="Courier New"/>
                <a:ea typeface="Courier New"/>
                <a:cs typeface="Courier New"/>
                <a:sym typeface="Courier New"/>
              </a:rPr>
              <a:t>4</a:t>
            </a:r>
            <a:r>
              <a:rPr lang="en" sz="1550">
                <a:solidFill>
                  <a:schemeClr val="dk1"/>
                </a:solidFill>
                <a:highlight>
                  <a:srgbClr val="F7F7F7"/>
                </a:highlight>
                <a:latin typeface="Courier New"/>
                <a:ea typeface="Courier New"/>
                <a:cs typeface="Courier New"/>
                <a:sym typeface="Courier New"/>
              </a:rPr>
              <a:t> * x2, </a:t>
            </a:r>
            <a:r>
              <a:rPr lang="en" sz="1550">
                <a:solidFill>
                  <a:srgbClr val="098156"/>
                </a:solidFill>
                <a:highlight>
                  <a:srgbClr val="F7F7F7"/>
                </a:highlight>
                <a:latin typeface="Courier New"/>
                <a:ea typeface="Courier New"/>
                <a:cs typeface="Courier New"/>
                <a:sym typeface="Courier New"/>
              </a:rPr>
              <a:t>1e-6</a:t>
            </a:r>
            <a:endParaRPr sz="1550">
              <a:solidFill>
                <a:srgbClr val="098156"/>
              </a:solidFill>
              <a:highlight>
                <a:srgbClr val="F7F7F7"/>
              </a:highlight>
              <a:latin typeface="Courier New"/>
              <a:ea typeface="Courier New"/>
              <a:cs typeface="Courier New"/>
              <a:sym typeface="Courier New"/>
            </a:endParaRPr>
          </a:p>
          <a:p>
            <a:pPr marL="0" lvl="0" indent="0" algn="l" rtl="0">
              <a:lnSpc>
                <a:spcPct val="135714"/>
              </a:lnSpc>
              <a:spcBef>
                <a:spcPts val="0"/>
              </a:spcBef>
              <a:spcAft>
                <a:spcPts val="0"/>
              </a:spcAft>
              <a:buNone/>
            </a:pPr>
            <a:r>
              <a:rPr lang="en" sz="1550">
                <a:solidFill>
                  <a:schemeClr val="dk1"/>
                </a:solidFill>
                <a:highlight>
                  <a:srgbClr val="F7F7F7"/>
                </a:highlight>
                <a:latin typeface="Courier New"/>
                <a:ea typeface="Courier New"/>
                <a:cs typeface="Courier New"/>
                <a:sym typeface="Courier New"/>
              </a:rPr>
              <a:t> s1 = gamma * s1 + (</a:t>
            </a:r>
            <a:r>
              <a:rPr lang="en" sz="1550">
                <a:solidFill>
                  <a:srgbClr val="098156"/>
                </a:solidFill>
                <a:highlight>
                  <a:srgbClr val="F7F7F7"/>
                </a:highlight>
                <a:latin typeface="Courier New"/>
                <a:ea typeface="Courier New"/>
                <a:cs typeface="Courier New"/>
                <a:sym typeface="Courier New"/>
              </a:rPr>
              <a:t>1</a:t>
            </a:r>
            <a:r>
              <a:rPr lang="en" sz="1550">
                <a:solidFill>
                  <a:schemeClr val="dk1"/>
                </a:solidFill>
                <a:highlight>
                  <a:srgbClr val="F7F7F7"/>
                </a:highlight>
                <a:latin typeface="Courier New"/>
                <a:ea typeface="Courier New"/>
                <a:cs typeface="Courier New"/>
                <a:sym typeface="Courier New"/>
              </a:rPr>
              <a:t> - gamma) * g1 ** </a:t>
            </a:r>
            <a:r>
              <a:rPr lang="en" sz="1550">
                <a:solidFill>
                  <a:srgbClr val="098156"/>
                </a:solidFill>
                <a:highlight>
                  <a:srgbClr val="F7F7F7"/>
                </a:highlight>
                <a:latin typeface="Courier New"/>
                <a:ea typeface="Courier New"/>
                <a:cs typeface="Courier New"/>
                <a:sym typeface="Courier New"/>
              </a:rPr>
              <a:t>2</a:t>
            </a:r>
            <a:endParaRPr sz="1550">
              <a:solidFill>
                <a:srgbClr val="098156"/>
              </a:solidFill>
              <a:highlight>
                <a:srgbClr val="F7F7F7"/>
              </a:highlight>
              <a:latin typeface="Courier New"/>
              <a:ea typeface="Courier New"/>
              <a:cs typeface="Courier New"/>
              <a:sym typeface="Courier New"/>
            </a:endParaRPr>
          </a:p>
          <a:p>
            <a:pPr marL="0" lvl="0" indent="0" algn="l" rtl="0">
              <a:lnSpc>
                <a:spcPct val="135714"/>
              </a:lnSpc>
              <a:spcBef>
                <a:spcPts val="0"/>
              </a:spcBef>
              <a:spcAft>
                <a:spcPts val="0"/>
              </a:spcAft>
              <a:buNone/>
            </a:pPr>
            <a:r>
              <a:rPr lang="en" sz="1550">
                <a:solidFill>
                  <a:schemeClr val="dk1"/>
                </a:solidFill>
                <a:highlight>
                  <a:srgbClr val="F7F7F7"/>
                </a:highlight>
                <a:latin typeface="Courier New"/>
                <a:ea typeface="Courier New"/>
                <a:cs typeface="Courier New"/>
                <a:sym typeface="Courier New"/>
              </a:rPr>
              <a:t> s2 = gamma * s2 + (</a:t>
            </a:r>
            <a:r>
              <a:rPr lang="en" sz="1550">
                <a:solidFill>
                  <a:srgbClr val="098156"/>
                </a:solidFill>
                <a:highlight>
                  <a:srgbClr val="F7F7F7"/>
                </a:highlight>
                <a:latin typeface="Courier New"/>
                <a:ea typeface="Courier New"/>
                <a:cs typeface="Courier New"/>
                <a:sym typeface="Courier New"/>
              </a:rPr>
              <a:t>1</a:t>
            </a:r>
            <a:r>
              <a:rPr lang="en" sz="1550">
                <a:solidFill>
                  <a:schemeClr val="dk1"/>
                </a:solidFill>
                <a:highlight>
                  <a:srgbClr val="F7F7F7"/>
                </a:highlight>
                <a:latin typeface="Courier New"/>
                <a:ea typeface="Courier New"/>
                <a:cs typeface="Courier New"/>
                <a:sym typeface="Courier New"/>
              </a:rPr>
              <a:t> - gamma) * g2 ** </a:t>
            </a:r>
            <a:r>
              <a:rPr lang="en" sz="1550">
                <a:solidFill>
                  <a:srgbClr val="098156"/>
                </a:solidFill>
                <a:highlight>
                  <a:srgbClr val="F7F7F7"/>
                </a:highlight>
                <a:latin typeface="Courier New"/>
                <a:ea typeface="Courier New"/>
                <a:cs typeface="Courier New"/>
                <a:sym typeface="Courier New"/>
              </a:rPr>
              <a:t>2</a:t>
            </a:r>
            <a:endParaRPr sz="1550">
              <a:solidFill>
                <a:srgbClr val="098156"/>
              </a:solidFill>
              <a:highlight>
                <a:srgbClr val="F7F7F7"/>
              </a:highlight>
              <a:latin typeface="Courier New"/>
              <a:ea typeface="Courier New"/>
              <a:cs typeface="Courier New"/>
              <a:sym typeface="Courier New"/>
            </a:endParaRPr>
          </a:p>
          <a:p>
            <a:pPr marL="0" lvl="0" indent="0" algn="l" rtl="0">
              <a:lnSpc>
                <a:spcPct val="135714"/>
              </a:lnSpc>
              <a:spcBef>
                <a:spcPts val="0"/>
              </a:spcBef>
              <a:spcAft>
                <a:spcPts val="0"/>
              </a:spcAft>
              <a:buNone/>
            </a:pPr>
            <a:r>
              <a:rPr lang="en" sz="1550">
                <a:solidFill>
                  <a:schemeClr val="dk1"/>
                </a:solidFill>
                <a:highlight>
                  <a:srgbClr val="F7F7F7"/>
                </a:highlight>
                <a:latin typeface="Courier New"/>
                <a:ea typeface="Courier New"/>
                <a:cs typeface="Courier New"/>
                <a:sym typeface="Courier New"/>
              </a:rPr>
              <a:t> x1 -= eta / math.sqrt(s1 + eps) * g1</a:t>
            </a:r>
            <a:endParaRPr sz="1550">
              <a:solidFill>
                <a:schemeClr val="dk1"/>
              </a:solidFill>
              <a:highlight>
                <a:srgbClr val="F7F7F7"/>
              </a:highlight>
              <a:latin typeface="Courier New"/>
              <a:ea typeface="Courier New"/>
              <a:cs typeface="Courier New"/>
              <a:sym typeface="Courier New"/>
            </a:endParaRPr>
          </a:p>
          <a:p>
            <a:pPr marL="0" lvl="0" indent="0" algn="l" rtl="0">
              <a:lnSpc>
                <a:spcPct val="135714"/>
              </a:lnSpc>
              <a:spcBef>
                <a:spcPts val="0"/>
              </a:spcBef>
              <a:spcAft>
                <a:spcPts val="0"/>
              </a:spcAft>
              <a:buNone/>
            </a:pPr>
            <a:r>
              <a:rPr lang="en" sz="1550">
                <a:solidFill>
                  <a:schemeClr val="dk1"/>
                </a:solidFill>
                <a:highlight>
                  <a:srgbClr val="F7F7F7"/>
                </a:highlight>
                <a:latin typeface="Courier New"/>
                <a:ea typeface="Courier New"/>
                <a:cs typeface="Courier New"/>
                <a:sym typeface="Courier New"/>
              </a:rPr>
              <a:t> x2 -= eta / math.sqrt(s2 + eps) * g2</a:t>
            </a:r>
            <a:endParaRPr sz="1550">
              <a:solidFill>
                <a:schemeClr val="dk1"/>
              </a:solidFill>
              <a:highlight>
                <a:srgbClr val="F7F7F7"/>
              </a:highlight>
              <a:latin typeface="Courier New"/>
              <a:ea typeface="Courier New"/>
              <a:cs typeface="Courier New"/>
              <a:sym typeface="Courier New"/>
            </a:endParaRPr>
          </a:p>
          <a:p>
            <a:pPr marL="0" lvl="0" indent="0" algn="l" rtl="0">
              <a:lnSpc>
                <a:spcPct val="135714"/>
              </a:lnSpc>
              <a:spcBef>
                <a:spcPts val="0"/>
              </a:spcBef>
              <a:spcAft>
                <a:spcPts val="0"/>
              </a:spcAft>
              <a:buNone/>
            </a:pPr>
            <a:r>
              <a:rPr lang="en" sz="1550">
                <a:solidFill>
                  <a:schemeClr val="dk1"/>
                </a:solidFill>
                <a:highlight>
                  <a:srgbClr val="F7F7F7"/>
                </a:highlight>
                <a:latin typeface="Courier New"/>
                <a:ea typeface="Courier New"/>
                <a:cs typeface="Courier New"/>
                <a:sym typeface="Courier New"/>
              </a:rPr>
              <a:t> </a:t>
            </a:r>
            <a:r>
              <a:rPr lang="en" sz="1550">
                <a:solidFill>
                  <a:srgbClr val="AF00DB"/>
                </a:solidFill>
                <a:highlight>
                  <a:srgbClr val="F7F7F7"/>
                </a:highlight>
                <a:latin typeface="Courier New"/>
                <a:ea typeface="Courier New"/>
                <a:cs typeface="Courier New"/>
                <a:sym typeface="Courier New"/>
              </a:rPr>
              <a:t>return</a:t>
            </a:r>
            <a:r>
              <a:rPr lang="en" sz="1550">
                <a:solidFill>
                  <a:schemeClr val="dk1"/>
                </a:solidFill>
                <a:highlight>
                  <a:srgbClr val="F7F7F7"/>
                </a:highlight>
                <a:latin typeface="Courier New"/>
                <a:ea typeface="Courier New"/>
                <a:cs typeface="Courier New"/>
                <a:sym typeface="Courier New"/>
              </a:rPr>
              <a:t> x1, x2, s1, s2</a:t>
            </a:r>
            <a:endParaRPr sz="1550">
              <a:solidFill>
                <a:schemeClr val="dk1"/>
              </a:solidFill>
              <a:highlight>
                <a:srgbClr val="F7F7F7"/>
              </a:highlight>
              <a:latin typeface="Courier New"/>
              <a:ea typeface="Courier New"/>
              <a:cs typeface="Courier New"/>
              <a:sym typeface="Courier New"/>
            </a:endParaRPr>
          </a:p>
          <a:p>
            <a:pPr marL="0" lvl="0" indent="0" algn="l" rtl="0">
              <a:lnSpc>
                <a:spcPct val="135714"/>
              </a:lnSpc>
              <a:spcBef>
                <a:spcPts val="0"/>
              </a:spcBef>
              <a:spcAft>
                <a:spcPts val="0"/>
              </a:spcAft>
              <a:buNone/>
            </a:pPr>
            <a:endParaRPr sz="1550">
              <a:solidFill>
                <a:schemeClr val="dk1"/>
              </a:solidFill>
              <a:highlight>
                <a:srgbClr val="F7F7F7"/>
              </a:highlight>
              <a:latin typeface="Courier New"/>
              <a:ea typeface="Courier New"/>
              <a:cs typeface="Courier New"/>
              <a:sym typeface="Courier New"/>
            </a:endParaRPr>
          </a:p>
        </p:txBody>
      </p:sp>
      <p:pic>
        <p:nvPicPr>
          <p:cNvPr id="533" name="Google Shape;533;p77"/>
          <p:cNvPicPr preferRelativeResize="0"/>
          <p:nvPr/>
        </p:nvPicPr>
        <p:blipFill>
          <a:blip r:embed="rId3">
            <a:alphaModFix/>
          </a:blip>
          <a:stretch>
            <a:fillRect/>
          </a:stretch>
        </p:blipFill>
        <p:spPr>
          <a:xfrm>
            <a:off x="5353799" y="2173400"/>
            <a:ext cx="3679451" cy="2689800"/>
          </a:xfrm>
          <a:prstGeom prst="rect">
            <a:avLst/>
          </a:prstGeom>
          <a:noFill/>
          <a:ln>
            <a:noFill/>
          </a:ln>
        </p:spPr>
      </p:pic>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537"/>
        <p:cNvGrpSpPr/>
        <p:nvPr/>
      </p:nvGrpSpPr>
      <p:grpSpPr>
        <a:xfrm>
          <a:off x="0" y="0"/>
          <a:ext cx="0" cy="0"/>
          <a:chOff x="0" y="0"/>
          <a:chExt cx="0" cy="0"/>
        </a:xfrm>
      </p:grpSpPr>
      <p:sp>
        <p:nvSpPr>
          <p:cNvPr id="538" name="Google Shape;538;p78"/>
          <p:cNvSpPr txBox="1">
            <a:spLocks noGrp="1"/>
          </p:cNvSpPr>
          <p:nvPr>
            <p:ph type="title"/>
          </p:nvPr>
        </p:nvSpPr>
        <p:spPr>
          <a:xfrm>
            <a:off x="311700" y="14245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dirty="0"/>
              <a:t>RMS Prop: Summary</a:t>
            </a:r>
            <a:endParaRPr dirty="0"/>
          </a:p>
        </p:txBody>
      </p:sp>
      <p:sp>
        <p:nvSpPr>
          <p:cNvPr id="539" name="Google Shape;539;p78"/>
          <p:cNvSpPr txBox="1">
            <a:spLocks noGrp="1"/>
          </p:cNvSpPr>
          <p:nvPr>
            <p:ph type="body" idx="1"/>
          </p:nvPr>
        </p:nvSpPr>
        <p:spPr>
          <a:xfrm>
            <a:off x="311700" y="715150"/>
            <a:ext cx="8520600" cy="4147800"/>
          </a:xfrm>
          <a:prstGeom prst="rect">
            <a:avLst/>
          </a:prstGeom>
        </p:spPr>
        <p:txBody>
          <a:bodyPr spcFirstLastPara="1" wrap="square" lIns="91425" tIns="91425" rIns="91425" bIns="91425" anchor="t" anchorCtr="0">
            <a:normAutofit lnSpcReduction="10000"/>
          </a:bodyPr>
          <a:lstStyle/>
          <a:p>
            <a:pPr marL="457200" lvl="0" indent="-355600" algn="just" rtl="0">
              <a:lnSpc>
                <a:spcPct val="150000"/>
              </a:lnSpc>
              <a:spcBef>
                <a:spcPts val="0"/>
              </a:spcBef>
              <a:spcAft>
                <a:spcPts val="0"/>
              </a:spcAft>
              <a:buSzPts val="2000"/>
              <a:buChar char="●"/>
            </a:pPr>
            <a:r>
              <a:rPr lang="en" dirty="0"/>
              <a:t>RMSProp is very similar to Adagrad as both use the square of the gradient to scale coefficients.</a:t>
            </a:r>
            <a:endParaRPr dirty="0"/>
          </a:p>
          <a:p>
            <a:pPr marL="457200" lvl="0" indent="-355600" algn="just" rtl="0">
              <a:lnSpc>
                <a:spcPct val="150000"/>
              </a:lnSpc>
              <a:spcBef>
                <a:spcPts val="0"/>
              </a:spcBef>
              <a:spcAft>
                <a:spcPts val="0"/>
              </a:spcAft>
              <a:buSzPts val="2000"/>
              <a:buChar char="●"/>
            </a:pPr>
            <a:r>
              <a:rPr lang="en" dirty="0"/>
              <a:t>RMSProp shares with momentum the leaky averaging. However, RMSProp uses the technique to adjust the coefficient-wise preconditioner.</a:t>
            </a:r>
            <a:endParaRPr dirty="0"/>
          </a:p>
          <a:p>
            <a:pPr marL="457200" lvl="0" indent="-355600" algn="just" rtl="0">
              <a:lnSpc>
                <a:spcPct val="150000"/>
              </a:lnSpc>
              <a:spcBef>
                <a:spcPts val="0"/>
              </a:spcBef>
              <a:spcAft>
                <a:spcPts val="0"/>
              </a:spcAft>
              <a:buSzPts val="2000"/>
              <a:buChar char="●"/>
            </a:pPr>
            <a:r>
              <a:rPr lang="en" dirty="0"/>
              <a:t>The learning rate needs to be scheduled by the experimenter in practice.</a:t>
            </a:r>
            <a:endParaRPr dirty="0"/>
          </a:p>
          <a:p>
            <a:pPr marL="457200" lvl="0" indent="-355600" algn="just" rtl="0">
              <a:lnSpc>
                <a:spcPct val="150000"/>
              </a:lnSpc>
              <a:spcBef>
                <a:spcPts val="0"/>
              </a:spcBef>
              <a:spcAft>
                <a:spcPts val="0"/>
              </a:spcAft>
              <a:buSzPts val="2000"/>
              <a:buChar char="●"/>
            </a:pPr>
            <a:r>
              <a:rPr lang="en" dirty="0"/>
              <a:t>The coefficient γ (gamma) determines how long the history is when adjusting the per-coordinate scale.</a:t>
            </a:r>
            <a:endParaRPr dirty="0"/>
          </a:p>
        </p:txBody>
      </p:sp>
      <p:sp>
        <p:nvSpPr>
          <p:cNvPr id="540" name="Google Shape;540;p78"/>
          <p:cNvSpPr txBox="1">
            <a:spLocks noGrp="1"/>
          </p:cNvSpPr>
          <p:nvPr>
            <p:ph type="sldNum" idx="12"/>
          </p:nvPr>
        </p:nvSpPr>
        <p:spPr>
          <a:xfrm>
            <a:off x="8484550" y="4863199"/>
            <a:ext cx="548700" cy="310800"/>
          </a:xfrm>
          <a:prstGeom prst="rect">
            <a:avLst/>
          </a:prstGeom>
        </p:spPr>
        <p:txBody>
          <a:bodyPr spcFirstLastPara="1" wrap="square" lIns="91425" tIns="91425" rIns="91425" bIns="91425" anchor="ctr" anchorCtr="0">
            <a:normAutofit fontScale="92500"/>
          </a:bodyPr>
          <a:lstStyle/>
          <a:p>
            <a:pPr marL="0" lvl="0" indent="0" algn="r" rtl="0">
              <a:spcBef>
                <a:spcPts val="0"/>
              </a:spcBef>
              <a:spcAft>
                <a:spcPts val="0"/>
              </a:spcAft>
              <a:buNone/>
            </a:pPr>
            <a:fld id="{00000000-1234-1234-1234-123412341234}" type="slidenum">
              <a:rPr lang="en"/>
              <a:t>64</a:t>
            </a:fld>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Shape 544"/>
        <p:cNvGrpSpPr/>
        <p:nvPr/>
      </p:nvGrpSpPr>
      <p:grpSpPr>
        <a:xfrm>
          <a:off x="0" y="0"/>
          <a:ext cx="0" cy="0"/>
          <a:chOff x="0" y="0"/>
          <a:chExt cx="0" cy="0"/>
        </a:xfrm>
      </p:grpSpPr>
      <p:sp>
        <p:nvSpPr>
          <p:cNvPr id="545" name="Google Shape;545;p79"/>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r>
              <a:rPr lang="en"/>
              <a:t>Adam</a:t>
            </a:r>
            <a:endParaRPr/>
          </a:p>
        </p:txBody>
      </p:sp>
      <p:sp>
        <p:nvSpPr>
          <p:cNvPr id="546" name="Google Shape;546;p7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65</a:t>
            </a:fld>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Shape 550"/>
        <p:cNvGrpSpPr/>
        <p:nvPr/>
      </p:nvGrpSpPr>
      <p:grpSpPr>
        <a:xfrm>
          <a:off x="0" y="0"/>
          <a:ext cx="0" cy="0"/>
          <a:chOff x="0" y="0"/>
          <a:chExt cx="0" cy="0"/>
        </a:xfrm>
      </p:grpSpPr>
      <p:sp>
        <p:nvSpPr>
          <p:cNvPr id="551" name="Google Shape;551;p80"/>
          <p:cNvSpPr txBox="1">
            <a:spLocks noGrp="1"/>
          </p:cNvSpPr>
          <p:nvPr>
            <p:ph type="title"/>
          </p:nvPr>
        </p:nvSpPr>
        <p:spPr>
          <a:xfrm>
            <a:off x="311700" y="14245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Review of techniques learned so far</a:t>
            </a:r>
            <a:endParaRPr/>
          </a:p>
        </p:txBody>
      </p:sp>
      <p:sp>
        <p:nvSpPr>
          <p:cNvPr id="552" name="Google Shape;552;p80"/>
          <p:cNvSpPr txBox="1">
            <a:spLocks noGrp="1"/>
          </p:cNvSpPr>
          <p:nvPr>
            <p:ph type="body" idx="1"/>
          </p:nvPr>
        </p:nvSpPr>
        <p:spPr>
          <a:xfrm>
            <a:off x="311700" y="715150"/>
            <a:ext cx="8520600" cy="4147800"/>
          </a:xfrm>
          <a:prstGeom prst="rect">
            <a:avLst/>
          </a:prstGeom>
        </p:spPr>
        <p:txBody>
          <a:bodyPr spcFirstLastPara="1" wrap="square" lIns="91425" tIns="91425" rIns="91425" bIns="91425" anchor="t" anchorCtr="0">
            <a:normAutofit lnSpcReduction="10000"/>
          </a:bodyPr>
          <a:lstStyle/>
          <a:p>
            <a:pPr marL="457200" lvl="0" indent="-355600" algn="l" rtl="0">
              <a:spcBef>
                <a:spcPts val="0"/>
              </a:spcBef>
              <a:spcAft>
                <a:spcPts val="0"/>
              </a:spcAft>
              <a:buSzPts val="2000"/>
              <a:buAutoNum type="arabicPeriod"/>
            </a:pPr>
            <a:r>
              <a:rPr lang="en"/>
              <a:t>Stochastic gradient descent</a:t>
            </a:r>
            <a:endParaRPr/>
          </a:p>
          <a:p>
            <a:pPr marL="914400" lvl="1" indent="-330200" algn="l" rtl="0">
              <a:spcBef>
                <a:spcPts val="0"/>
              </a:spcBef>
              <a:spcAft>
                <a:spcPts val="0"/>
              </a:spcAft>
              <a:buSzPts val="1600"/>
              <a:buChar char="○"/>
            </a:pPr>
            <a:r>
              <a:rPr lang="en"/>
              <a:t>more effective than Gradient Descent when solving optimization problems, e.g., due to its inherent resilience to redundant data.</a:t>
            </a:r>
            <a:endParaRPr/>
          </a:p>
          <a:p>
            <a:pPr marL="457200" lvl="0" indent="-355600" algn="l" rtl="0">
              <a:spcBef>
                <a:spcPts val="0"/>
              </a:spcBef>
              <a:spcAft>
                <a:spcPts val="0"/>
              </a:spcAft>
              <a:buSzPts val="2000"/>
              <a:buAutoNum type="arabicPeriod"/>
            </a:pPr>
            <a:r>
              <a:rPr lang="en"/>
              <a:t>Minibatch Stochastic gradient descent</a:t>
            </a:r>
            <a:endParaRPr/>
          </a:p>
          <a:p>
            <a:pPr marL="914400" lvl="1" indent="-330200" algn="l" rtl="0">
              <a:spcBef>
                <a:spcPts val="0"/>
              </a:spcBef>
              <a:spcAft>
                <a:spcPts val="0"/>
              </a:spcAft>
              <a:buSzPts val="1600"/>
              <a:buChar char="○"/>
            </a:pPr>
            <a:r>
              <a:rPr lang="en"/>
              <a:t>affords significant additional efficiency arising from vectorization, using larger sets of observations in one minibatch. This is the key to efficient multi-machine, multi-GPU and overall parallel processing.</a:t>
            </a:r>
            <a:endParaRPr/>
          </a:p>
          <a:p>
            <a:pPr marL="457200" lvl="0" indent="-355600" algn="l" rtl="0">
              <a:spcBef>
                <a:spcPts val="0"/>
              </a:spcBef>
              <a:spcAft>
                <a:spcPts val="0"/>
              </a:spcAft>
              <a:buSzPts val="2000"/>
              <a:buAutoNum type="arabicPeriod"/>
            </a:pPr>
            <a:r>
              <a:rPr lang="en"/>
              <a:t>Momentum</a:t>
            </a:r>
            <a:endParaRPr/>
          </a:p>
          <a:p>
            <a:pPr marL="914400" lvl="1" indent="-330200" algn="l" rtl="0">
              <a:spcBef>
                <a:spcPts val="0"/>
              </a:spcBef>
              <a:spcAft>
                <a:spcPts val="0"/>
              </a:spcAft>
              <a:buSzPts val="1600"/>
              <a:buChar char="○"/>
            </a:pPr>
            <a:r>
              <a:rPr lang="en"/>
              <a:t>added a mechanism for aggregating a history of past gradients to accelerate convergence.</a:t>
            </a:r>
            <a:endParaRPr/>
          </a:p>
          <a:p>
            <a:pPr marL="457200" lvl="0" indent="-355600" algn="l" rtl="0">
              <a:spcBef>
                <a:spcPts val="0"/>
              </a:spcBef>
              <a:spcAft>
                <a:spcPts val="0"/>
              </a:spcAft>
              <a:buSzPts val="2000"/>
              <a:buAutoNum type="arabicPeriod"/>
            </a:pPr>
            <a:r>
              <a:rPr lang="en"/>
              <a:t>Adagrad</a:t>
            </a:r>
            <a:endParaRPr/>
          </a:p>
          <a:p>
            <a:pPr marL="914400" lvl="1" indent="-330200" algn="l" rtl="0">
              <a:spcBef>
                <a:spcPts val="0"/>
              </a:spcBef>
              <a:spcAft>
                <a:spcPts val="0"/>
              </a:spcAft>
              <a:buSzPts val="1600"/>
              <a:buChar char="○"/>
            </a:pPr>
            <a:r>
              <a:rPr lang="en"/>
              <a:t>used per-coordinate scaling to allow for a computationally efficient preconditioner.</a:t>
            </a:r>
            <a:endParaRPr/>
          </a:p>
          <a:p>
            <a:pPr marL="457200" lvl="0" indent="-355600" algn="l" rtl="0">
              <a:spcBef>
                <a:spcPts val="0"/>
              </a:spcBef>
              <a:spcAft>
                <a:spcPts val="0"/>
              </a:spcAft>
              <a:buSzPts val="2000"/>
              <a:buAutoNum type="arabicPeriod"/>
            </a:pPr>
            <a:r>
              <a:rPr lang="en"/>
              <a:t>RMSProp</a:t>
            </a:r>
            <a:endParaRPr/>
          </a:p>
          <a:p>
            <a:pPr marL="914400" lvl="1" indent="-330200" algn="l" rtl="0">
              <a:spcBef>
                <a:spcPts val="0"/>
              </a:spcBef>
              <a:spcAft>
                <a:spcPts val="0"/>
              </a:spcAft>
              <a:buSzPts val="1600"/>
              <a:buChar char="○"/>
            </a:pPr>
            <a:r>
              <a:rPr lang="en"/>
              <a:t>decoupled per-coordinate scaling from a learning rate adjustment.</a:t>
            </a:r>
            <a:endParaRPr/>
          </a:p>
        </p:txBody>
      </p:sp>
      <p:sp>
        <p:nvSpPr>
          <p:cNvPr id="553" name="Google Shape;553;p80"/>
          <p:cNvSpPr txBox="1">
            <a:spLocks noGrp="1"/>
          </p:cNvSpPr>
          <p:nvPr>
            <p:ph type="sldNum" idx="12"/>
          </p:nvPr>
        </p:nvSpPr>
        <p:spPr>
          <a:xfrm>
            <a:off x="8484550" y="4863199"/>
            <a:ext cx="548700" cy="310800"/>
          </a:xfrm>
          <a:prstGeom prst="rect">
            <a:avLst/>
          </a:prstGeom>
        </p:spPr>
        <p:txBody>
          <a:bodyPr spcFirstLastPara="1" wrap="square" lIns="91425" tIns="91425" rIns="91425" bIns="91425" anchor="ctr" anchorCtr="0">
            <a:normAutofit fontScale="92500"/>
          </a:bodyPr>
          <a:lstStyle/>
          <a:p>
            <a:pPr marL="0" lvl="0" indent="0" algn="r" rtl="0">
              <a:spcBef>
                <a:spcPts val="0"/>
              </a:spcBef>
              <a:spcAft>
                <a:spcPts val="0"/>
              </a:spcAft>
              <a:buNone/>
            </a:pPr>
            <a:fld id="{00000000-1234-1234-1234-123412341234}" type="slidenum">
              <a:rPr lang="en"/>
              <a:t>66</a:t>
            </a:fld>
            <a:endParaRP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Shape 557"/>
        <p:cNvGrpSpPr/>
        <p:nvPr/>
      </p:nvGrpSpPr>
      <p:grpSpPr>
        <a:xfrm>
          <a:off x="0" y="0"/>
          <a:ext cx="0" cy="0"/>
          <a:chOff x="0" y="0"/>
          <a:chExt cx="0" cy="0"/>
        </a:xfrm>
      </p:grpSpPr>
      <p:sp>
        <p:nvSpPr>
          <p:cNvPr id="558" name="Google Shape;558;p81"/>
          <p:cNvSpPr txBox="1">
            <a:spLocks noGrp="1"/>
          </p:cNvSpPr>
          <p:nvPr>
            <p:ph type="title"/>
          </p:nvPr>
        </p:nvSpPr>
        <p:spPr>
          <a:xfrm>
            <a:off x="311700" y="14245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Adam</a:t>
            </a:r>
            <a:endParaRPr/>
          </a:p>
        </p:txBody>
      </p:sp>
      <p:sp>
        <p:nvSpPr>
          <p:cNvPr id="559" name="Google Shape;559;p81"/>
          <p:cNvSpPr txBox="1">
            <a:spLocks noGrp="1"/>
          </p:cNvSpPr>
          <p:nvPr>
            <p:ph type="body" idx="1"/>
          </p:nvPr>
        </p:nvSpPr>
        <p:spPr>
          <a:xfrm>
            <a:off x="311700" y="715150"/>
            <a:ext cx="8520600" cy="4147800"/>
          </a:xfrm>
          <a:prstGeom prst="rect">
            <a:avLst/>
          </a:prstGeom>
        </p:spPr>
        <p:txBody>
          <a:bodyPr spcFirstLastPara="1" wrap="square" lIns="91425" tIns="91425" rIns="91425" bIns="91425" anchor="t" anchorCtr="0">
            <a:normAutofit/>
          </a:bodyPr>
          <a:lstStyle/>
          <a:p>
            <a:pPr marL="457200" lvl="0" indent="-355600" algn="just" rtl="0">
              <a:lnSpc>
                <a:spcPct val="150000"/>
              </a:lnSpc>
              <a:spcBef>
                <a:spcPts val="0"/>
              </a:spcBef>
              <a:spcAft>
                <a:spcPts val="0"/>
              </a:spcAft>
              <a:buSzPts val="2000"/>
              <a:buChar char="●"/>
            </a:pPr>
            <a:r>
              <a:rPr lang="en" dirty="0"/>
              <a:t>Adam combines all these techniques into one efficient learning algorithm.</a:t>
            </a:r>
            <a:endParaRPr dirty="0"/>
          </a:p>
          <a:p>
            <a:pPr marL="457200" lvl="0" indent="-355600" algn="just" rtl="0">
              <a:lnSpc>
                <a:spcPct val="150000"/>
              </a:lnSpc>
              <a:spcBef>
                <a:spcPts val="0"/>
              </a:spcBef>
              <a:spcAft>
                <a:spcPts val="0"/>
              </a:spcAft>
              <a:buSzPts val="2000"/>
              <a:buChar char="●"/>
            </a:pPr>
            <a:r>
              <a:rPr lang="en" dirty="0"/>
              <a:t>More robust and effective optimization algorithms to use in deep learning. </a:t>
            </a:r>
            <a:endParaRPr dirty="0"/>
          </a:p>
          <a:p>
            <a:pPr marL="457200" lvl="0" indent="-355600" algn="just" rtl="0">
              <a:lnSpc>
                <a:spcPct val="150000"/>
              </a:lnSpc>
              <a:spcBef>
                <a:spcPts val="0"/>
              </a:spcBef>
              <a:spcAft>
                <a:spcPts val="0"/>
              </a:spcAft>
              <a:buSzPts val="2000"/>
              <a:buChar char="●"/>
            </a:pPr>
            <a:r>
              <a:rPr lang="en" dirty="0"/>
              <a:t>Adam can diverge due to poor variance control. (disadvantage)</a:t>
            </a:r>
            <a:endParaRPr dirty="0"/>
          </a:p>
          <a:p>
            <a:pPr marL="457200" lvl="0" indent="-355600" algn="just" rtl="0">
              <a:lnSpc>
                <a:spcPct val="150000"/>
              </a:lnSpc>
              <a:spcBef>
                <a:spcPts val="0"/>
              </a:spcBef>
              <a:spcAft>
                <a:spcPts val="0"/>
              </a:spcAft>
              <a:buSzPts val="2000"/>
              <a:buChar char="●"/>
            </a:pPr>
            <a:r>
              <a:rPr lang="en" dirty="0"/>
              <a:t>Adam uses exponential weighted moving averages (also known as leaky averaging) to obtain an estimate of both the momentum and also the second moment of the gradient. </a:t>
            </a:r>
            <a:endParaRPr dirty="0"/>
          </a:p>
          <a:p>
            <a:pPr marL="0" lvl="0" indent="0" algn="l" rtl="0">
              <a:spcBef>
                <a:spcPts val="1200"/>
              </a:spcBef>
              <a:spcAft>
                <a:spcPts val="0"/>
              </a:spcAft>
              <a:buNone/>
            </a:pPr>
            <a:endParaRPr dirty="0"/>
          </a:p>
          <a:p>
            <a:pPr marL="0" lvl="0" indent="0" algn="l" rtl="0">
              <a:spcBef>
                <a:spcPts val="1200"/>
              </a:spcBef>
              <a:spcAft>
                <a:spcPts val="1200"/>
              </a:spcAft>
              <a:buNone/>
            </a:pPr>
            <a:endParaRPr dirty="0"/>
          </a:p>
        </p:txBody>
      </p:sp>
      <p:sp>
        <p:nvSpPr>
          <p:cNvPr id="560" name="Google Shape;560;p81"/>
          <p:cNvSpPr txBox="1">
            <a:spLocks noGrp="1"/>
          </p:cNvSpPr>
          <p:nvPr>
            <p:ph type="sldNum" idx="12"/>
          </p:nvPr>
        </p:nvSpPr>
        <p:spPr>
          <a:xfrm>
            <a:off x="8484550" y="4863199"/>
            <a:ext cx="548700" cy="310800"/>
          </a:xfrm>
          <a:prstGeom prst="rect">
            <a:avLst/>
          </a:prstGeom>
        </p:spPr>
        <p:txBody>
          <a:bodyPr spcFirstLastPara="1" wrap="square" lIns="91425" tIns="91425" rIns="91425" bIns="91425" anchor="ctr" anchorCtr="0">
            <a:normAutofit fontScale="92500"/>
          </a:bodyPr>
          <a:lstStyle/>
          <a:p>
            <a:pPr marL="0" lvl="0" indent="0" algn="r" rtl="0">
              <a:spcBef>
                <a:spcPts val="0"/>
              </a:spcBef>
              <a:spcAft>
                <a:spcPts val="0"/>
              </a:spcAft>
              <a:buNone/>
            </a:pPr>
            <a:fld id="{00000000-1234-1234-1234-123412341234}" type="slidenum">
              <a:rPr lang="en"/>
              <a:t>67</a:t>
            </a:fld>
            <a:endParaRP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Shape 564"/>
        <p:cNvGrpSpPr/>
        <p:nvPr/>
      </p:nvGrpSpPr>
      <p:grpSpPr>
        <a:xfrm>
          <a:off x="0" y="0"/>
          <a:ext cx="0" cy="0"/>
          <a:chOff x="0" y="0"/>
          <a:chExt cx="0" cy="0"/>
        </a:xfrm>
      </p:grpSpPr>
      <p:sp>
        <p:nvSpPr>
          <p:cNvPr id="565" name="Google Shape;565;p82"/>
          <p:cNvSpPr txBox="1">
            <a:spLocks noGrp="1"/>
          </p:cNvSpPr>
          <p:nvPr>
            <p:ph type="title"/>
          </p:nvPr>
        </p:nvSpPr>
        <p:spPr>
          <a:xfrm>
            <a:off x="311700" y="14245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Adam Algorithm</a:t>
            </a:r>
            <a:endParaRPr/>
          </a:p>
        </p:txBody>
      </p:sp>
      <p:sp>
        <p:nvSpPr>
          <p:cNvPr id="566" name="Google Shape;566;p82"/>
          <p:cNvSpPr txBox="1">
            <a:spLocks noGrp="1"/>
          </p:cNvSpPr>
          <p:nvPr>
            <p:ph type="body" idx="1"/>
          </p:nvPr>
        </p:nvSpPr>
        <p:spPr>
          <a:xfrm>
            <a:off x="311700" y="715150"/>
            <a:ext cx="8520600" cy="4147800"/>
          </a:xfrm>
          <a:prstGeom prst="rect">
            <a:avLst/>
          </a:prstGeom>
        </p:spPr>
        <p:txBody>
          <a:bodyPr spcFirstLastPara="1" wrap="square" lIns="91425" tIns="91425" rIns="91425" bIns="91425" anchor="t" anchorCtr="0">
            <a:normAutofit/>
          </a:bodyPr>
          <a:lstStyle/>
          <a:p>
            <a:pPr marL="457200" lvl="0" indent="-355600" algn="l" rtl="0">
              <a:spcBef>
                <a:spcPts val="0"/>
              </a:spcBef>
              <a:spcAft>
                <a:spcPts val="0"/>
              </a:spcAft>
              <a:buSzPts val="2000"/>
              <a:buChar char="●"/>
            </a:pPr>
            <a:r>
              <a:rPr lang="en" dirty="0"/>
              <a:t>State variables</a:t>
            </a:r>
            <a:endParaRPr dirty="0"/>
          </a:p>
          <a:p>
            <a:pPr marL="0" lvl="0" indent="0" algn="l" rtl="0">
              <a:spcBef>
                <a:spcPts val="1200"/>
              </a:spcBef>
              <a:spcAft>
                <a:spcPts val="0"/>
              </a:spcAft>
              <a:buNone/>
            </a:pPr>
            <a:endParaRPr dirty="0"/>
          </a:p>
          <a:p>
            <a:pPr marL="457200" lvl="0" indent="-355600" algn="just" rtl="0">
              <a:spcBef>
                <a:spcPts val="1200"/>
              </a:spcBef>
              <a:spcAft>
                <a:spcPts val="0"/>
              </a:spcAft>
              <a:buSzPts val="2000"/>
              <a:buChar char="●"/>
            </a:pPr>
            <a:r>
              <a:rPr lang="en" dirty="0"/>
              <a:t>β1 and β2 are nonnegative weighting parameters. Common choices for them are β1 = 0.9 and β2 = 0.999. That is, the variance estimate moves much more slowly than the momentum term.</a:t>
            </a:r>
            <a:endParaRPr dirty="0"/>
          </a:p>
          <a:p>
            <a:pPr marL="457200" lvl="0" indent="-355600" algn="just" rtl="0">
              <a:spcBef>
                <a:spcPts val="0"/>
              </a:spcBef>
              <a:spcAft>
                <a:spcPts val="0"/>
              </a:spcAft>
              <a:buSzPts val="2000"/>
              <a:buChar char="●"/>
            </a:pPr>
            <a:r>
              <a:rPr lang="en" dirty="0"/>
              <a:t>Initialize v0 = s0 = 0</a:t>
            </a:r>
            <a:endParaRPr dirty="0"/>
          </a:p>
          <a:p>
            <a:pPr marL="457200" lvl="0" indent="-355600" algn="l" rtl="0">
              <a:spcBef>
                <a:spcPts val="0"/>
              </a:spcBef>
              <a:spcAft>
                <a:spcPts val="0"/>
              </a:spcAft>
              <a:buSzPts val="2000"/>
              <a:buChar char="●"/>
            </a:pPr>
            <a:r>
              <a:rPr lang="en" dirty="0"/>
              <a:t>Normalize the state variables </a:t>
            </a:r>
            <a:endParaRPr dirty="0"/>
          </a:p>
          <a:p>
            <a:pPr marL="457200" lvl="0" indent="0" algn="l" rtl="0">
              <a:spcBef>
                <a:spcPts val="1200"/>
              </a:spcBef>
              <a:spcAft>
                <a:spcPts val="1200"/>
              </a:spcAft>
              <a:buNone/>
            </a:pPr>
            <a:endParaRPr dirty="0"/>
          </a:p>
        </p:txBody>
      </p:sp>
      <p:sp>
        <p:nvSpPr>
          <p:cNvPr id="567" name="Google Shape;567;p82"/>
          <p:cNvSpPr txBox="1">
            <a:spLocks noGrp="1"/>
          </p:cNvSpPr>
          <p:nvPr>
            <p:ph type="sldNum" idx="12"/>
          </p:nvPr>
        </p:nvSpPr>
        <p:spPr>
          <a:xfrm>
            <a:off x="8484550" y="4863199"/>
            <a:ext cx="548700" cy="310800"/>
          </a:xfrm>
          <a:prstGeom prst="rect">
            <a:avLst/>
          </a:prstGeom>
        </p:spPr>
        <p:txBody>
          <a:bodyPr spcFirstLastPara="1" wrap="square" lIns="91425" tIns="91425" rIns="91425" bIns="91425" anchor="ctr" anchorCtr="0">
            <a:normAutofit fontScale="92500"/>
          </a:bodyPr>
          <a:lstStyle/>
          <a:p>
            <a:pPr marL="0" lvl="0" indent="0" algn="r" rtl="0">
              <a:spcBef>
                <a:spcPts val="0"/>
              </a:spcBef>
              <a:spcAft>
                <a:spcPts val="0"/>
              </a:spcAft>
              <a:buNone/>
            </a:pPr>
            <a:fld id="{00000000-1234-1234-1234-123412341234}" type="slidenum">
              <a:rPr lang="en"/>
              <a:t>68</a:t>
            </a:fld>
            <a:endParaRPr/>
          </a:p>
        </p:txBody>
      </p:sp>
      <p:pic>
        <p:nvPicPr>
          <p:cNvPr id="568" name="Google Shape;568;p82"/>
          <p:cNvPicPr preferRelativeResize="0"/>
          <p:nvPr/>
        </p:nvPicPr>
        <p:blipFill>
          <a:blip r:embed="rId3">
            <a:alphaModFix/>
          </a:blip>
          <a:stretch>
            <a:fillRect/>
          </a:stretch>
        </p:blipFill>
        <p:spPr>
          <a:xfrm>
            <a:off x="2846775" y="780700"/>
            <a:ext cx="3220900" cy="871225"/>
          </a:xfrm>
          <a:prstGeom prst="rect">
            <a:avLst/>
          </a:prstGeom>
          <a:noFill/>
          <a:ln>
            <a:noFill/>
          </a:ln>
        </p:spPr>
      </p:pic>
      <p:pic>
        <p:nvPicPr>
          <p:cNvPr id="569" name="Google Shape;569;p82"/>
          <p:cNvPicPr preferRelativeResize="0"/>
          <p:nvPr/>
        </p:nvPicPr>
        <p:blipFill>
          <a:blip r:embed="rId4">
            <a:alphaModFix/>
          </a:blip>
          <a:stretch>
            <a:fillRect/>
          </a:stretch>
        </p:blipFill>
        <p:spPr>
          <a:xfrm>
            <a:off x="2917500" y="3517850"/>
            <a:ext cx="3079450" cy="791859"/>
          </a:xfrm>
          <a:prstGeom prst="rect">
            <a:avLst/>
          </a:prstGeom>
          <a:noFill/>
          <a:ln>
            <a:noFill/>
          </a:ln>
        </p:spPr>
      </p:pic>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Shape 573"/>
        <p:cNvGrpSpPr/>
        <p:nvPr/>
      </p:nvGrpSpPr>
      <p:grpSpPr>
        <a:xfrm>
          <a:off x="0" y="0"/>
          <a:ext cx="0" cy="0"/>
          <a:chOff x="0" y="0"/>
          <a:chExt cx="0" cy="0"/>
        </a:xfrm>
      </p:grpSpPr>
      <p:sp>
        <p:nvSpPr>
          <p:cNvPr id="574" name="Google Shape;574;p83"/>
          <p:cNvSpPr txBox="1">
            <a:spLocks noGrp="1"/>
          </p:cNvSpPr>
          <p:nvPr>
            <p:ph type="title"/>
          </p:nvPr>
        </p:nvSpPr>
        <p:spPr>
          <a:xfrm>
            <a:off x="311700" y="14245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Adam Algorithm</a:t>
            </a:r>
            <a:endParaRPr/>
          </a:p>
        </p:txBody>
      </p:sp>
      <p:sp>
        <p:nvSpPr>
          <p:cNvPr id="575" name="Google Shape;575;p83"/>
          <p:cNvSpPr txBox="1">
            <a:spLocks noGrp="1"/>
          </p:cNvSpPr>
          <p:nvPr>
            <p:ph type="body" idx="1"/>
          </p:nvPr>
        </p:nvSpPr>
        <p:spPr>
          <a:xfrm>
            <a:off x="311700" y="715150"/>
            <a:ext cx="8520600" cy="4147800"/>
          </a:xfrm>
          <a:prstGeom prst="rect">
            <a:avLst/>
          </a:prstGeom>
        </p:spPr>
        <p:txBody>
          <a:bodyPr spcFirstLastPara="1" wrap="square" lIns="91425" tIns="91425" rIns="91425" bIns="91425" anchor="t" anchorCtr="0">
            <a:normAutofit/>
          </a:bodyPr>
          <a:lstStyle/>
          <a:p>
            <a:pPr marL="457200" lvl="0" indent="-355600" algn="l" rtl="0">
              <a:spcBef>
                <a:spcPts val="0"/>
              </a:spcBef>
              <a:spcAft>
                <a:spcPts val="0"/>
              </a:spcAft>
              <a:buSzPts val="2000"/>
              <a:buChar char="●"/>
            </a:pPr>
            <a:r>
              <a:rPr lang="en"/>
              <a:t>Rescale the gradient </a:t>
            </a:r>
            <a:endParaRPr/>
          </a:p>
          <a:p>
            <a:pPr marL="457200" lvl="0" indent="0" algn="l" rtl="0">
              <a:spcBef>
                <a:spcPts val="1200"/>
              </a:spcBef>
              <a:spcAft>
                <a:spcPts val="0"/>
              </a:spcAft>
              <a:buNone/>
            </a:pPr>
            <a:endParaRPr/>
          </a:p>
          <a:p>
            <a:pPr marL="457200" lvl="0" indent="-355600" algn="l" rtl="0">
              <a:spcBef>
                <a:spcPts val="1200"/>
              </a:spcBef>
              <a:spcAft>
                <a:spcPts val="0"/>
              </a:spcAft>
              <a:buSzPts val="2000"/>
              <a:buChar char="●"/>
            </a:pPr>
            <a:r>
              <a:rPr lang="en"/>
              <a:t>Compute updates</a:t>
            </a:r>
            <a:endParaRPr/>
          </a:p>
          <a:p>
            <a:pPr marL="457200" lvl="0" indent="0" algn="l" rtl="0">
              <a:spcBef>
                <a:spcPts val="1200"/>
              </a:spcBef>
              <a:spcAft>
                <a:spcPts val="1200"/>
              </a:spcAft>
              <a:buNone/>
            </a:pPr>
            <a:endParaRPr/>
          </a:p>
        </p:txBody>
      </p:sp>
      <p:sp>
        <p:nvSpPr>
          <p:cNvPr id="576" name="Google Shape;576;p83"/>
          <p:cNvSpPr txBox="1">
            <a:spLocks noGrp="1"/>
          </p:cNvSpPr>
          <p:nvPr>
            <p:ph type="sldNum" idx="12"/>
          </p:nvPr>
        </p:nvSpPr>
        <p:spPr>
          <a:xfrm>
            <a:off x="8484550" y="4863199"/>
            <a:ext cx="548700" cy="310800"/>
          </a:xfrm>
          <a:prstGeom prst="rect">
            <a:avLst/>
          </a:prstGeom>
        </p:spPr>
        <p:txBody>
          <a:bodyPr spcFirstLastPara="1" wrap="square" lIns="91425" tIns="91425" rIns="91425" bIns="91425" anchor="ctr" anchorCtr="0">
            <a:normAutofit fontScale="92500"/>
          </a:bodyPr>
          <a:lstStyle/>
          <a:p>
            <a:pPr marL="0" lvl="0" indent="0" algn="r" rtl="0">
              <a:spcBef>
                <a:spcPts val="0"/>
              </a:spcBef>
              <a:spcAft>
                <a:spcPts val="0"/>
              </a:spcAft>
              <a:buNone/>
            </a:pPr>
            <a:fld id="{00000000-1234-1234-1234-123412341234}" type="slidenum">
              <a:rPr lang="en"/>
              <a:t>69</a:t>
            </a:fld>
            <a:endParaRPr/>
          </a:p>
        </p:txBody>
      </p:sp>
      <p:pic>
        <p:nvPicPr>
          <p:cNvPr id="577" name="Google Shape;577;p83"/>
          <p:cNvPicPr preferRelativeResize="0"/>
          <p:nvPr/>
        </p:nvPicPr>
        <p:blipFill>
          <a:blip r:embed="rId3">
            <a:alphaModFix/>
          </a:blip>
          <a:stretch>
            <a:fillRect/>
          </a:stretch>
        </p:blipFill>
        <p:spPr>
          <a:xfrm>
            <a:off x="3227177" y="1091802"/>
            <a:ext cx="1703600" cy="778450"/>
          </a:xfrm>
          <a:prstGeom prst="rect">
            <a:avLst/>
          </a:prstGeom>
          <a:noFill/>
          <a:ln>
            <a:noFill/>
          </a:ln>
        </p:spPr>
      </p:pic>
      <p:pic>
        <p:nvPicPr>
          <p:cNvPr id="578" name="Google Shape;578;p83"/>
          <p:cNvPicPr preferRelativeResize="0"/>
          <p:nvPr/>
        </p:nvPicPr>
        <p:blipFill>
          <a:blip r:embed="rId4">
            <a:alphaModFix/>
          </a:blip>
          <a:stretch>
            <a:fillRect/>
          </a:stretch>
        </p:blipFill>
        <p:spPr>
          <a:xfrm>
            <a:off x="3064663" y="2246905"/>
            <a:ext cx="2028625" cy="493800"/>
          </a:xfrm>
          <a:prstGeom prst="rect">
            <a:avLst/>
          </a:prstGeom>
          <a:noFill/>
          <a:ln>
            <a:noFill/>
          </a:ln>
        </p:spPr>
      </p:pic>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Shape 582"/>
        <p:cNvGrpSpPr/>
        <p:nvPr/>
      </p:nvGrpSpPr>
      <p:grpSpPr>
        <a:xfrm>
          <a:off x="0" y="0"/>
          <a:ext cx="0" cy="0"/>
          <a:chOff x="0" y="0"/>
          <a:chExt cx="0" cy="0"/>
        </a:xfrm>
      </p:grpSpPr>
      <p:sp>
        <p:nvSpPr>
          <p:cNvPr id="583" name="Google Shape;583;p84"/>
          <p:cNvSpPr txBox="1">
            <a:spLocks noGrp="1"/>
          </p:cNvSpPr>
          <p:nvPr>
            <p:ph type="title"/>
          </p:nvPr>
        </p:nvSpPr>
        <p:spPr>
          <a:xfrm>
            <a:off x="311700" y="14245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Adam Algorithm</a:t>
            </a:r>
            <a:endParaRPr/>
          </a:p>
        </p:txBody>
      </p:sp>
      <p:sp>
        <p:nvSpPr>
          <p:cNvPr id="584" name="Google Shape;584;p84"/>
          <p:cNvSpPr txBox="1">
            <a:spLocks noGrp="1"/>
          </p:cNvSpPr>
          <p:nvPr>
            <p:ph type="sldNum" idx="12"/>
          </p:nvPr>
        </p:nvSpPr>
        <p:spPr>
          <a:xfrm>
            <a:off x="8484550" y="4863199"/>
            <a:ext cx="548700" cy="310800"/>
          </a:xfrm>
          <a:prstGeom prst="rect">
            <a:avLst/>
          </a:prstGeom>
        </p:spPr>
        <p:txBody>
          <a:bodyPr spcFirstLastPara="1" wrap="square" lIns="91425" tIns="91425" rIns="91425" bIns="91425" anchor="ctr" anchorCtr="0">
            <a:normAutofit fontScale="92500"/>
          </a:bodyPr>
          <a:lstStyle/>
          <a:p>
            <a:pPr marL="0" lvl="0" indent="0" algn="r" rtl="0">
              <a:spcBef>
                <a:spcPts val="0"/>
              </a:spcBef>
              <a:spcAft>
                <a:spcPts val="0"/>
              </a:spcAft>
              <a:buNone/>
            </a:pPr>
            <a:fld id="{00000000-1234-1234-1234-123412341234}" type="slidenum">
              <a:rPr lang="en"/>
              <a:t>70</a:t>
            </a:fld>
            <a:endParaRPr/>
          </a:p>
        </p:txBody>
      </p:sp>
      <p:pic>
        <p:nvPicPr>
          <p:cNvPr id="585" name="Google Shape;585;p84"/>
          <p:cNvPicPr preferRelativeResize="0"/>
          <p:nvPr/>
        </p:nvPicPr>
        <p:blipFill>
          <a:blip r:embed="rId3">
            <a:alphaModFix/>
          </a:blip>
          <a:stretch>
            <a:fillRect/>
          </a:stretch>
        </p:blipFill>
        <p:spPr>
          <a:xfrm>
            <a:off x="311688" y="888800"/>
            <a:ext cx="7972425" cy="3800475"/>
          </a:xfrm>
          <a:prstGeom prst="rect">
            <a:avLst/>
          </a:prstGeom>
          <a:noFill/>
          <a:ln>
            <a:noFill/>
          </a:ln>
        </p:spPr>
      </p:pic>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Shape 589"/>
        <p:cNvGrpSpPr/>
        <p:nvPr/>
      </p:nvGrpSpPr>
      <p:grpSpPr>
        <a:xfrm>
          <a:off x="0" y="0"/>
          <a:ext cx="0" cy="0"/>
          <a:chOff x="0" y="0"/>
          <a:chExt cx="0" cy="0"/>
        </a:xfrm>
      </p:grpSpPr>
      <p:sp>
        <p:nvSpPr>
          <p:cNvPr id="590" name="Google Shape;590;p85"/>
          <p:cNvSpPr txBox="1">
            <a:spLocks noGrp="1"/>
          </p:cNvSpPr>
          <p:nvPr>
            <p:ph type="title"/>
          </p:nvPr>
        </p:nvSpPr>
        <p:spPr>
          <a:xfrm>
            <a:off x="311700" y="14245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Adam: Summary</a:t>
            </a:r>
            <a:endParaRPr/>
          </a:p>
        </p:txBody>
      </p:sp>
      <p:sp>
        <p:nvSpPr>
          <p:cNvPr id="591" name="Google Shape;591;p85"/>
          <p:cNvSpPr txBox="1">
            <a:spLocks noGrp="1"/>
          </p:cNvSpPr>
          <p:nvPr>
            <p:ph type="body" idx="1"/>
          </p:nvPr>
        </p:nvSpPr>
        <p:spPr>
          <a:xfrm>
            <a:off x="311700" y="715150"/>
            <a:ext cx="8520600" cy="4147800"/>
          </a:xfrm>
          <a:prstGeom prst="rect">
            <a:avLst/>
          </a:prstGeom>
        </p:spPr>
        <p:txBody>
          <a:bodyPr spcFirstLastPara="1" wrap="square" lIns="91425" tIns="91425" rIns="91425" bIns="91425" anchor="t" anchorCtr="0">
            <a:normAutofit/>
          </a:bodyPr>
          <a:lstStyle/>
          <a:p>
            <a:pPr marL="457200" lvl="0" indent="-355600" algn="just" rtl="0">
              <a:lnSpc>
                <a:spcPct val="150000"/>
              </a:lnSpc>
              <a:spcBef>
                <a:spcPts val="0"/>
              </a:spcBef>
              <a:spcAft>
                <a:spcPts val="0"/>
              </a:spcAft>
              <a:buSzPts val="2000"/>
              <a:buChar char="●"/>
            </a:pPr>
            <a:r>
              <a:rPr lang="en" dirty="0"/>
              <a:t>Adam combines features of many optimization algorithms into a fairly robust update rule.</a:t>
            </a:r>
            <a:endParaRPr dirty="0"/>
          </a:p>
          <a:p>
            <a:pPr marL="457200" lvl="0" indent="-355600" algn="just" rtl="0">
              <a:lnSpc>
                <a:spcPct val="150000"/>
              </a:lnSpc>
              <a:spcBef>
                <a:spcPts val="0"/>
              </a:spcBef>
              <a:spcAft>
                <a:spcPts val="0"/>
              </a:spcAft>
              <a:buSzPts val="2000"/>
              <a:buChar char="●"/>
            </a:pPr>
            <a:r>
              <a:rPr lang="en" dirty="0"/>
              <a:t>Adam uses bias correction to adjust for a slow startup when estimating momentum and a second moment.</a:t>
            </a:r>
            <a:endParaRPr dirty="0"/>
          </a:p>
          <a:p>
            <a:pPr marL="457200" lvl="0" indent="-355600" algn="just" rtl="0">
              <a:lnSpc>
                <a:spcPct val="150000"/>
              </a:lnSpc>
              <a:spcBef>
                <a:spcPts val="0"/>
              </a:spcBef>
              <a:spcAft>
                <a:spcPts val="0"/>
              </a:spcAft>
              <a:buSzPts val="2000"/>
              <a:buChar char="●"/>
            </a:pPr>
            <a:r>
              <a:rPr lang="en" dirty="0"/>
              <a:t>For gradients with significant variance we may encounter issues with convergence. They can be amended by using larger minibatches or by switching to an improved estimate for state variables. Yogi algorithm offers such an alternative.</a:t>
            </a:r>
            <a:endParaRPr dirty="0"/>
          </a:p>
        </p:txBody>
      </p:sp>
      <p:sp>
        <p:nvSpPr>
          <p:cNvPr id="592" name="Google Shape;592;p85"/>
          <p:cNvSpPr txBox="1">
            <a:spLocks noGrp="1"/>
          </p:cNvSpPr>
          <p:nvPr>
            <p:ph type="sldNum" idx="12"/>
          </p:nvPr>
        </p:nvSpPr>
        <p:spPr>
          <a:xfrm>
            <a:off x="8484550" y="4863199"/>
            <a:ext cx="548700" cy="310800"/>
          </a:xfrm>
          <a:prstGeom prst="rect">
            <a:avLst/>
          </a:prstGeom>
        </p:spPr>
        <p:txBody>
          <a:bodyPr spcFirstLastPara="1" wrap="square" lIns="91425" tIns="91425" rIns="91425" bIns="91425" anchor="ctr" anchorCtr="0">
            <a:normAutofit fontScale="92500"/>
          </a:bodyPr>
          <a:lstStyle/>
          <a:p>
            <a:pPr marL="0" lvl="0" indent="0" algn="r" rtl="0">
              <a:spcBef>
                <a:spcPts val="0"/>
              </a:spcBef>
              <a:spcAft>
                <a:spcPts val="0"/>
              </a:spcAft>
              <a:buNone/>
            </a:pPr>
            <a:fld id="{00000000-1234-1234-1234-123412341234}" type="slidenum">
              <a:rPr lang="en"/>
              <a:t>71</a:t>
            </a:fld>
            <a:endParaRP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Shape 596"/>
        <p:cNvGrpSpPr/>
        <p:nvPr/>
      </p:nvGrpSpPr>
      <p:grpSpPr>
        <a:xfrm>
          <a:off x="0" y="0"/>
          <a:ext cx="0" cy="0"/>
          <a:chOff x="0" y="0"/>
          <a:chExt cx="0" cy="0"/>
        </a:xfrm>
      </p:grpSpPr>
      <p:sp>
        <p:nvSpPr>
          <p:cNvPr id="597" name="Google Shape;597;p86"/>
          <p:cNvSpPr txBox="1">
            <a:spLocks noGrp="1"/>
          </p:cNvSpPr>
          <p:nvPr>
            <p:ph type="title"/>
          </p:nvPr>
        </p:nvSpPr>
        <p:spPr>
          <a:xfrm>
            <a:off x="311700" y="14245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Learning Rate: Summary</a:t>
            </a:r>
            <a:endParaRPr/>
          </a:p>
        </p:txBody>
      </p:sp>
      <p:sp>
        <p:nvSpPr>
          <p:cNvPr id="598" name="Google Shape;598;p86"/>
          <p:cNvSpPr txBox="1">
            <a:spLocks noGrp="1"/>
          </p:cNvSpPr>
          <p:nvPr>
            <p:ph type="body" idx="1"/>
          </p:nvPr>
        </p:nvSpPr>
        <p:spPr>
          <a:xfrm>
            <a:off x="311700" y="715150"/>
            <a:ext cx="8520600" cy="4147800"/>
          </a:xfrm>
          <a:prstGeom prst="rect">
            <a:avLst/>
          </a:prstGeom>
        </p:spPr>
        <p:txBody>
          <a:bodyPr spcFirstLastPara="1" wrap="square" lIns="91425" tIns="91425" rIns="91425" bIns="91425" anchor="t" anchorCtr="0">
            <a:normAutofit fontScale="85000" lnSpcReduction="10000"/>
          </a:bodyPr>
          <a:lstStyle/>
          <a:p>
            <a:pPr marL="457200" lvl="0" indent="-355600" algn="just" rtl="0">
              <a:lnSpc>
                <a:spcPct val="160000"/>
              </a:lnSpc>
              <a:spcBef>
                <a:spcPts val="0"/>
              </a:spcBef>
              <a:spcAft>
                <a:spcPts val="0"/>
              </a:spcAft>
              <a:buSzPts val="2000"/>
              <a:buAutoNum type="arabicPeriod"/>
            </a:pPr>
            <a:r>
              <a:rPr lang="en" dirty="0"/>
              <a:t>Adjusting the learning rate is often just as important as the actual algorithm. </a:t>
            </a:r>
            <a:endParaRPr dirty="0"/>
          </a:p>
          <a:p>
            <a:pPr marL="457200" lvl="0" indent="-355600" algn="just" rtl="0">
              <a:lnSpc>
                <a:spcPct val="160000"/>
              </a:lnSpc>
              <a:spcBef>
                <a:spcPts val="0"/>
              </a:spcBef>
              <a:spcAft>
                <a:spcPts val="0"/>
              </a:spcAft>
              <a:buSzPts val="2000"/>
              <a:buAutoNum type="arabicPeriod"/>
            </a:pPr>
            <a:r>
              <a:rPr lang="en" dirty="0"/>
              <a:t>Magnitude of the learning rate matters. If it is too large, optimization diverges, if it is too small, it takes too long to train or we end up with a suboptimal result. Momentum algo helps.</a:t>
            </a:r>
            <a:endParaRPr dirty="0"/>
          </a:p>
          <a:p>
            <a:pPr marL="457200" lvl="0" indent="-355600" algn="just" rtl="0">
              <a:lnSpc>
                <a:spcPct val="160000"/>
              </a:lnSpc>
              <a:spcBef>
                <a:spcPts val="0"/>
              </a:spcBef>
              <a:spcAft>
                <a:spcPts val="0"/>
              </a:spcAft>
              <a:buSzPts val="2000"/>
              <a:buAutoNum type="arabicPeriod"/>
            </a:pPr>
            <a:r>
              <a:rPr lang="en" dirty="0"/>
              <a:t>The rate of decay is just as important. If the learning rate remains large we may simply end up bouncing around the minimum and thus not reach optimality.  We want the rate to decay, but probably more slowly than O(t</a:t>
            </a:r>
            <a:r>
              <a:rPr lang="en" baseline="30000" dirty="0"/>
              <a:t>− 1/ 2</a:t>
            </a:r>
            <a:r>
              <a:rPr lang="en" dirty="0"/>
              <a:t> ) .</a:t>
            </a:r>
            <a:endParaRPr dirty="0"/>
          </a:p>
          <a:p>
            <a:pPr marL="457200" lvl="0" indent="-355600" algn="just" rtl="0">
              <a:lnSpc>
                <a:spcPct val="160000"/>
              </a:lnSpc>
              <a:spcBef>
                <a:spcPts val="0"/>
              </a:spcBef>
              <a:spcAft>
                <a:spcPts val="0"/>
              </a:spcAft>
              <a:buSzPts val="2000"/>
              <a:buAutoNum type="arabicPeriod"/>
            </a:pPr>
            <a:r>
              <a:rPr lang="en" dirty="0"/>
              <a:t>Initialization pertains both to how the parameters are set initially and also how they evolve initially. This is known as </a:t>
            </a:r>
            <a:r>
              <a:rPr lang="en" b="1" dirty="0"/>
              <a:t>warmup</a:t>
            </a:r>
            <a:r>
              <a:rPr lang="en" dirty="0"/>
              <a:t>, i.e., how rapidly we start moving towards the solution initially. </a:t>
            </a:r>
            <a:endParaRPr dirty="0"/>
          </a:p>
        </p:txBody>
      </p:sp>
      <p:sp>
        <p:nvSpPr>
          <p:cNvPr id="599" name="Google Shape;599;p86"/>
          <p:cNvSpPr txBox="1">
            <a:spLocks noGrp="1"/>
          </p:cNvSpPr>
          <p:nvPr>
            <p:ph type="sldNum" idx="12"/>
          </p:nvPr>
        </p:nvSpPr>
        <p:spPr>
          <a:xfrm>
            <a:off x="8484550" y="4863199"/>
            <a:ext cx="548700" cy="310800"/>
          </a:xfrm>
          <a:prstGeom prst="rect">
            <a:avLst/>
          </a:prstGeom>
        </p:spPr>
        <p:txBody>
          <a:bodyPr spcFirstLastPara="1" wrap="square" lIns="91425" tIns="91425" rIns="91425" bIns="91425" anchor="ctr" anchorCtr="0">
            <a:normAutofit fontScale="92500"/>
          </a:bodyPr>
          <a:lstStyle/>
          <a:p>
            <a:pPr marL="0" lvl="0" indent="0" algn="r" rtl="0">
              <a:spcBef>
                <a:spcPts val="0"/>
              </a:spcBef>
              <a:spcAft>
                <a:spcPts val="0"/>
              </a:spcAft>
              <a:buNone/>
            </a:pPr>
            <a:fld id="{00000000-1234-1234-1234-123412341234}" type="slidenum">
              <a:rPr lang="en"/>
              <a:t>72</a:t>
            </a:fld>
            <a:endParaRP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Shape 603"/>
        <p:cNvGrpSpPr/>
        <p:nvPr/>
      </p:nvGrpSpPr>
      <p:grpSpPr>
        <a:xfrm>
          <a:off x="0" y="0"/>
          <a:ext cx="0" cy="0"/>
          <a:chOff x="0" y="0"/>
          <a:chExt cx="0" cy="0"/>
        </a:xfrm>
      </p:grpSpPr>
      <p:sp>
        <p:nvSpPr>
          <p:cNvPr id="604" name="Google Shape;604;p87"/>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r>
              <a:rPr lang="en"/>
              <a:t>Numerical Problems</a:t>
            </a:r>
            <a:endParaRPr/>
          </a:p>
        </p:txBody>
      </p:sp>
      <p:sp>
        <p:nvSpPr>
          <p:cNvPr id="605" name="Google Shape;605;p8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73</a:t>
            </a:fld>
            <a:endParaRP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Shape 609"/>
        <p:cNvGrpSpPr/>
        <p:nvPr/>
      </p:nvGrpSpPr>
      <p:grpSpPr>
        <a:xfrm>
          <a:off x="0" y="0"/>
          <a:ext cx="0" cy="0"/>
          <a:chOff x="0" y="0"/>
          <a:chExt cx="0" cy="0"/>
        </a:xfrm>
      </p:grpSpPr>
      <p:sp>
        <p:nvSpPr>
          <p:cNvPr id="610" name="Google Shape;610;p88"/>
          <p:cNvSpPr txBox="1">
            <a:spLocks noGrp="1"/>
          </p:cNvSpPr>
          <p:nvPr>
            <p:ph type="title"/>
          </p:nvPr>
        </p:nvSpPr>
        <p:spPr>
          <a:xfrm>
            <a:off x="311700" y="14245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Question with Solution</a:t>
            </a:r>
            <a:endParaRPr/>
          </a:p>
        </p:txBody>
      </p:sp>
      <p:sp>
        <p:nvSpPr>
          <p:cNvPr id="611" name="Google Shape;611;p88"/>
          <p:cNvSpPr txBox="1">
            <a:spLocks noGrp="1"/>
          </p:cNvSpPr>
          <p:nvPr>
            <p:ph type="sldNum" idx="12"/>
          </p:nvPr>
        </p:nvSpPr>
        <p:spPr>
          <a:xfrm>
            <a:off x="8484550" y="4863199"/>
            <a:ext cx="548700" cy="310800"/>
          </a:xfrm>
          <a:prstGeom prst="rect">
            <a:avLst/>
          </a:prstGeom>
        </p:spPr>
        <p:txBody>
          <a:bodyPr spcFirstLastPara="1" wrap="square" lIns="91425" tIns="91425" rIns="91425" bIns="91425" anchor="ctr" anchorCtr="0">
            <a:normAutofit fontScale="92500"/>
          </a:bodyPr>
          <a:lstStyle/>
          <a:p>
            <a:pPr marL="0" lvl="0" indent="0" algn="r" rtl="0">
              <a:spcBef>
                <a:spcPts val="0"/>
              </a:spcBef>
              <a:spcAft>
                <a:spcPts val="0"/>
              </a:spcAft>
              <a:buNone/>
            </a:pPr>
            <a:fld id="{00000000-1234-1234-1234-123412341234}" type="slidenum">
              <a:rPr lang="en"/>
              <a:t>74</a:t>
            </a:fld>
            <a:endParaRPr/>
          </a:p>
        </p:txBody>
      </p:sp>
      <p:pic>
        <p:nvPicPr>
          <p:cNvPr id="612" name="Google Shape;612;p88"/>
          <p:cNvPicPr preferRelativeResize="0"/>
          <p:nvPr/>
        </p:nvPicPr>
        <p:blipFill>
          <a:blip r:embed="rId3">
            <a:alphaModFix/>
          </a:blip>
          <a:stretch>
            <a:fillRect/>
          </a:stretch>
        </p:blipFill>
        <p:spPr>
          <a:xfrm>
            <a:off x="311700" y="715150"/>
            <a:ext cx="7800721" cy="4278175"/>
          </a:xfrm>
          <a:prstGeom prst="rect">
            <a:avLst/>
          </a:prstGeom>
          <a:noFill/>
          <a:ln>
            <a:noFill/>
          </a:ln>
        </p:spPr>
      </p:pic>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Shape 616"/>
        <p:cNvGrpSpPr/>
        <p:nvPr/>
      </p:nvGrpSpPr>
      <p:grpSpPr>
        <a:xfrm>
          <a:off x="0" y="0"/>
          <a:ext cx="0" cy="0"/>
          <a:chOff x="0" y="0"/>
          <a:chExt cx="0" cy="0"/>
        </a:xfrm>
      </p:grpSpPr>
      <p:sp>
        <p:nvSpPr>
          <p:cNvPr id="617" name="Google Shape;617;p89"/>
          <p:cNvSpPr txBox="1">
            <a:spLocks noGrp="1"/>
          </p:cNvSpPr>
          <p:nvPr>
            <p:ph type="title"/>
          </p:nvPr>
        </p:nvSpPr>
        <p:spPr>
          <a:xfrm>
            <a:off x="311700" y="14245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Question</a:t>
            </a:r>
            <a:endParaRPr/>
          </a:p>
        </p:txBody>
      </p:sp>
      <p:sp>
        <p:nvSpPr>
          <p:cNvPr id="618" name="Google Shape;618;p89"/>
          <p:cNvSpPr txBox="1">
            <a:spLocks noGrp="1"/>
          </p:cNvSpPr>
          <p:nvPr>
            <p:ph type="body" idx="1"/>
          </p:nvPr>
        </p:nvSpPr>
        <p:spPr>
          <a:xfrm>
            <a:off x="311700" y="2667425"/>
            <a:ext cx="8520600" cy="2195400"/>
          </a:xfrm>
          <a:prstGeom prst="rect">
            <a:avLst/>
          </a:prstGeom>
        </p:spPr>
        <p:txBody>
          <a:bodyPr spcFirstLastPara="1" wrap="square" lIns="91425" tIns="91425" rIns="91425" bIns="91425" anchor="t" anchorCtr="0">
            <a:normAutofit fontScale="92500" lnSpcReduction="20000"/>
          </a:bodyPr>
          <a:lstStyle/>
          <a:p>
            <a:pPr marL="457200" lvl="0" indent="-346075" algn="l" rtl="0">
              <a:spcBef>
                <a:spcPts val="0"/>
              </a:spcBef>
              <a:spcAft>
                <a:spcPts val="0"/>
              </a:spcAft>
              <a:buSzPct val="100000"/>
              <a:buAutoNum type="arabicPeriod"/>
            </a:pPr>
            <a:r>
              <a:rPr lang="en"/>
              <a:t>Compute the value that minimizes (w1 , w2). Compute the minimum possible value of error.</a:t>
            </a:r>
            <a:endParaRPr/>
          </a:p>
          <a:p>
            <a:pPr marL="457200" lvl="0" indent="-346075" algn="l" rtl="0">
              <a:spcBef>
                <a:spcPts val="0"/>
              </a:spcBef>
              <a:spcAft>
                <a:spcPts val="0"/>
              </a:spcAft>
              <a:buSzPct val="100000"/>
              <a:buAutoNum type="arabicPeriod"/>
            </a:pPr>
            <a:r>
              <a:rPr lang="en"/>
              <a:t>What will be value of (w1 , w2 ) at time (t + 1) if standard gradient descent is used?</a:t>
            </a:r>
            <a:endParaRPr/>
          </a:p>
          <a:p>
            <a:pPr marL="457200" lvl="0" indent="-346075" algn="l" rtl="0">
              <a:spcBef>
                <a:spcPts val="0"/>
              </a:spcBef>
              <a:spcAft>
                <a:spcPts val="0"/>
              </a:spcAft>
              <a:buSzPct val="100000"/>
              <a:buAutoNum type="arabicPeriod"/>
            </a:pPr>
            <a:r>
              <a:rPr lang="en"/>
              <a:t>What will be value of (w1 , w2 ) at time (t + 1) if momentum is used?</a:t>
            </a:r>
            <a:endParaRPr/>
          </a:p>
          <a:p>
            <a:pPr marL="457200" lvl="0" indent="-346075" algn="l" rtl="0">
              <a:spcBef>
                <a:spcPts val="0"/>
              </a:spcBef>
              <a:spcAft>
                <a:spcPts val="0"/>
              </a:spcAft>
              <a:buSzPct val="100000"/>
              <a:buAutoNum type="arabicPeriod"/>
            </a:pPr>
            <a:r>
              <a:rPr lang="en"/>
              <a:t>What will be value of (w1 , w2 ) at time (t + 1) if RMSPRop is used?</a:t>
            </a:r>
            <a:endParaRPr/>
          </a:p>
          <a:p>
            <a:pPr marL="457200" lvl="0" indent="-346075" algn="l" rtl="0">
              <a:spcBef>
                <a:spcPts val="0"/>
              </a:spcBef>
              <a:spcAft>
                <a:spcPts val="0"/>
              </a:spcAft>
              <a:buSzPct val="100000"/>
              <a:buAutoNum type="arabicPeriod"/>
            </a:pPr>
            <a:r>
              <a:rPr lang="en"/>
              <a:t>What will be value of (w1 , w2 ) at time (t + 1) if Adam is used?</a:t>
            </a:r>
            <a:endParaRPr/>
          </a:p>
        </p:txBody>
      </p:sp>
      <p:sp>
        <p:nvSpPr>
          <p:cNvPr id="619" name="Google Shape;619;p89"/>
          <p:cNvSpPr txBox="1">
            <a:spLocks noGrp="1"/>
          </p:cNvSpPr>
          <p:nvPr>
            <p:ph type="sldNum" idx="12"/>
          </p:nvPr>
        </p:nvSpPr>
        <p:spPr>
          <a:xfrm>
            <a:off x="8484550" y="4863199"/>
            <a:ext cx="548700" cy="310800"/>
          </a:xfrm>
          <a:prstGeom prst="rect">
            <a:avLst/>
          </a:prstGeom>
        </p:spPr>
        <p:txBody>
          <a:bodyPr spcFirstLastPara="1" wrap="square" lIns="91425" tIns="91425" rIns="91425" bIns="91425" anchor="ctr" anchorCtr="0">
            <a:normAutofit fontScale="92500"/>
          </a:bodyPr>
          <a:lstStyle/>
          <a:p>
            <a:pPr marL="0" lvl="0" indent="0" algn="r" rtl="0">
              <a:spcBef>
                <a:spcPts val="0"/>
              </a:spcBef>
              <a:spcAft>
                <a:spcPts val="0"/>
              </a:spcAft>
              <a:buNone/>
            </a:pPr>
            <a:fld id="{00000000-1234-1234-1234-123412341234}" type="slidenum">
              <a:rPr lang="en"/>
              <a:t>75</a:t>
            </a:fld>
            <a:endParaRPr/>
          </a:p>
        </p:txBody>
      </p:sp>
      <p:pic>
        <p:nvPicPr>
          <p:cNvPr id="620" name="Google Shape;620;p89"/>
          <p:cNvPicPr preferRelativeResize="0"/>
          <p:nvPr/>
        </p:nvPicPr>
        <p:blipFill>
          <a:blip r:embed="rId3">
            <a:alphaModFix/>
          </a:blip>
          <a:stretch>
            <a:fillRect/>
          </a:stretch>
        </p:blipFill>
        <p:spPr>
          <a:xfrm>
            <a:off x="311700" y="740950"/>
            <a:ext cx="8172850" cy="1926471"/>
          </a:xfrm>
          <a:prstGeom prst="rect">
            <a:avLst/>
          </a:prstGeom>
          <a:noFill/>
          <a:ln>
            <a:noFill/>
          </a:ln>
        </p:spPr>
      </p:pic>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Shape 624"/>
        <p:cNvGrpSpPr/>
        <p:nvPr/>
      </p:nvGrpSpPr>
      <p:grpSpPr>
        <a:xfrm>
          <a:off x="0" y="0"/>
          <a:ext cx="0" cy="0"/>
          <a:chOff x="0" y="0"/>
          <a:chExt cx="0" cy="0"/>
        </a:xfrm>
      </p:grpSpPr>
      <p:sp>
        <p:nvSpPr>
          <p:cNvPr id="625" name="Google Shape;625;p90"/>
          <p:cNvSpPr txBox="1">
            <a:spLocks noGrp="1"/>
          </p:cNvSpPr>
          <p:nvPr>
            <p:ph type="title"/>
          </p:nvPr>
        </p:nvSpPr>
        <p:spPr>
          <a:xfrm>
            <a:off x="311700" y="14245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Solution</a:t>
            </a:r>
            <a:endParaRPr/>
          </a:p>
        </p:txBody>
      </p:sp>
      <p:sp>
        <p:nvSpPr>
          <p:cNvPr id="626" name="Google Shape;626;p90"/>
          <p:cNvSpPr txBox="1">
            <a:spLocks noGrp="1"/>
          </p:cNvSpPr>
          <p:nvPr>
            <p:ph type="body" idx="1"/>
          </p:nvPr>
        </p:nvSpPr>
        <p:spPr>
          <a:xfrm>
            <a:off x="311700" y="715150"/>
            <a:ext cx="8520600" cy="41478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endParaRPr/>
          </a:p>
        </p:txBody>
      </p:sp>
      <p:sp>
        <p:nvSpPr>
          <p:cNvPr id="627" name="Google Shape;627;p90"/>
          <p:cNvSpPr txBox="1">
            <a:spLocks noGrp="1"/>
          </p:cNvSpPr>
          <p:nvPr>
            <p:ph type="sldNum" idx="12"/>
          </p:nvPr>
        </p:nvSpPr>
        <p:spPr>
          <a:xfrm>
            <a:off x="8484550" y="4863199"/>
            <a:ext cx="548700" cy="310800"/>
          </a:xfrm>
          <a:prstGeom prst="rect">
            <a:avLst/>
          </a:prstGeom>
        </p:spPr>
        <p:txBody>
          <a:bodyPr spcFirstLastPara="1" wrap="square" lIns="91425" tIns="91425" rIns="91425" bIns="91425" anchor="ctr" anchorCtr="0">
            <a:normAutofit fontScale="92500"/>
          </a:bodyPr>
          <a:lstStyle/>
          <a:p>
            <a:pPr marL="0" lvl="0" indent="0" algn="r" rtl="0">
              <a:spcBef>
                <a:spcPts val="0"/>
              </a:spcBef>
              <a:spcAft>
                <a:spcPts val="0"/>
              </a:spcAft>
              <a:buNone/>
            </a:pPr>
            <a:fld id="{00000000-1234-1234-1234-123412341234}" type="slidenum">
              <a:rPr lang="en"/>
              <a:t>76</a:t>
            </a:fld>
            <a:endParaRPr/>
          </a:p>
        </p:txBody>
      </p:sp>
      <p:pic>
        <p:nvPicPr>
          <p:cNvPr id="628" name="Google Shape;628;p90"/>
          <p:cNvPicPr preferRelativeResize="0"/>
          <p:nvPr/>
        </p:nvPicPr>
        <p:blipFill>
          <a:blip r:embed="rId3">
            <a:alphaModFix/>
          </a:blip>
          <a:stretch>
            <a:fillRect/>
          </a:stretch>
        </p:blipFill>
        <p:spPr>
          <a:xfrm>
            <a:off x="311703" y="715150"/>
            <a:ext cx="8172850" cy="2906419"/>
          </a:xfrm>
          <a:prstGeom prst="rect">
            <a:avLst/>
          </a:prstGeom>
          <a:noFill/>
          <a:ln>
            <a:noFill/>
          </a:ln>
        </p:spPr>
      </p:pic>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Shape 632"/>
        <p:cNvGrpSpPr/>
        <p:nvPr/>
      </p:nvGrpSpPr>
      <p:grpSpPr>
        <a:xfrm>
          <a:off x="0" y="0"/>
          <a:ext cx="0" cy="0"/>
          <a:chOff x="0" y="0"/>
          <a:chExt cx="0" cy="0"/>
        </a:xfrm>
      </p:grpSpPr>
      <p:sp>
        <p:nvSpPr>
          <p:cNvPr id="633" name="Google Shape;633;p91"/>
          <p:cNvSpPr txBox="1">
            <a:spLocks noGrp="1"/>
          </p:cNvSpPr>
          <p:nvPr>
            <p:ph type="title"/>
          </p:nvPr>
        </p:nvSpPr>
        <p:spPr>
          <a:xfrm>
            <a:off x="311700" y="14245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Solution</a:t>
            </a:r>
            <a:endParaRPr/>
          </a:p>
        </p:txBody>
      </p:sp>
      <p:sp>
        <p:nvSpPr>
          <p:cNvPr id="634" name="Google Shape;634;p91"/>
          <p:cNvSpPr txBox="1">
            <a:spLocks noGrp="1"/>
          </p:cNvSpPr>
          <p:nvPr>
            <p:ph type="body" idx="1"/>
          </p:nvPr>
        </p:nvSpPr>
        <p:spPr>
          <a:xfrm>
            <a:off x="311700" y="715150"/>
            <a:ext cx="8520600" cy="41478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endParaRPr/>
          </a:p>
        </p:txBody>
      </p:sp>
      <p:sp>
        <p:nvSpPr>
          <p:cNvPr id="635" name="Google Shape;635;p91"/>
          <p:cNvSpPr txBox="1">
            <a:spLocks noGrp="1"/>
          </p:cNvSpPr>
          <p:nvPr>
            <p:ph type="sldNum" idx="12"/>
          </p:nvPr>
        </p:nvSpPr>
        <p:spPr>
          <a:xfrm>
            <a:off x="8484550" y="4863199"/>
            <a:ext cx="548700" cy="310800"/>
          </a:xfrm>
          <a:prstGeom prst="rect">
            <a:avLst/>
          </a:prstGeom>
        </p:spPr>
        <p:txBody>
          <a:bodyPr spcFirstLastPara="1" wrap="square" lIns="91425" tIns="91425" rIns="91425" bIns="91425" anchor="ctr" anchorCtr="0">
            <a:normAutofit fontScale="92500"/>
          </a:bodyPr>
          <a:lstStyle/>
          <a:p>
            <a:pPr marL="0" lvl="0" indent="0" algn="r" rtl="0">
              <a:spcBef>
                <a:spcPts val="0"/>
              </a:spcBef>
              <a:spcAft>
                <a:spcPts val="0"/>
              </a:spcAft>
              <a:buNone/>
            </a:pPr>
            <a:fld id="{00000000-1234-1234-1234-123412341234}" type="slidenum">
              <a:rPr lang="en"/>
              <a:t>77</a:t>
            </a:fld>
            <a:endParaRPr/>
          </a:p>
        </p:txBody>
      </p:sp>
      <p:pic>
        <p:nvPicPr>
          <p:cNvPr id="636" name="Google Shape;636;p91"/>
          <p:cNvPicPr preferRelativeResize="0"/>
          <p:nvPr/>
        </p:nvPicPr>
        <p:blipFill>
          <a:blip r:embed="rId3">
            <a:alphaModFix/>
          </a:blip>
          <a:stretch>
            <a:fillRect/>
          </a:stretch>
        </p:blipFill>
        <p:spPr>
          <a:xfrm>
            <a:off x="311703" y="715150"/>
            <a:ext cx="8172851" cy="3645444"/>
          </a:xfrm>
          <a:prstGeom prst="rect">
            <a:avLst/>
          </a:prstGeom>
          <a:noFill/>
          <a:ln>
            <a:noFill/>
          </a:ln>
        </p:spPr>
      </p:pic>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Shape 640"/>
        <p:cNvGrpSpPr/>
        <p:nvPr/>
      </p:nvGrpSpPr>
      <p:grpSpPr>
        <a:xfrm>
          <a:off x="0" y="0"/>
          <a:ext cx="0" cy="0"/>
          <a:chOff x="0" y="0"/>
          <a:chExt cx="0" cy="0"/>
        </a:xfrm>
      </p:grpSpPr>
      <p:sp>
        <p:nvSpPr>
          <p:cNvPr id="641" name="Google Shape;641;p92"/>
          <p:cNvSpPr txBox="1">
            <a:spLocks noGrp="1"/>
          </p:cNvSpPr>
          <p:nvPr>
            <p:ph type="title"/>
          </p:nvPr>
        </p:nvSpPr>
        <p:spPr>
          <a:xfrm>
            <a:off x="311700" y="14245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Solution</a:t>
            </a:r>
            <a:endParaRPr/>
          </a:p>
        </p:txBody>
      </p:sp>
      <p:sp>
        <p:nvSpPr>
          <p:cNvPr id="642" name="Google Shape;642;p92"/>
          <p:cNvSpPr txBox="1">
            <a:spLocks noGrp="1"/>
          </p:cNvSpPr>
          <p:nvPr>
            <p:ph type="body" idx="1"/>
          </p:nvPr>
        </p:nvSpPr>
        <p:spPr>
          <a:xfrm>
            <a:off x="311700" y="715150"/>
            <a:ext cx="8520600" cy="41478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endParaRPr/>
          </a:p>
        </p:txBody>
      </p:sp>
      <p:sp>
        <p:nvSpPr>
          <p:cNvPr id="643" name="Google Shape;643;p92"/>
          <p:cNvSpPr txBox="1">
            <a:spLocks noGrp="1"/>
          </p:cNvSpPr>
          <p:nvPr>
            <p:ph type="sldNum" idx="12"/>
          </p:nvPr>
        </p:nvSpPr>
        <p:spPr>
          <a:xfrm>
            <a:off x="8484550" y="4863199"/>
            <a:ext cx="548700" cy="310800"/>
          </a:xfrm>
          <a:prstGeom prst="rect">
            <a:avLst/>
          </a:prstGeom>
        </p:spPr>
        <p:txBody>
          <a:bodyPr spcFirstLastPara="1" wrap="square" lIns="91425" tIns="91425" rIns="91425" bIns="91425" anchor="ctr" anchorCtr="0">
            <a:normAutofit fontScale="92500"/>
          </a:bodyPr>
          <a:lstStyle/>
          <a:p>
            <a:pPr marL="0" lvl="0" indent="0" algn="r" rtl="0">
              <a:spcBef>
                <a:spcPts val="0"/>
              </a:spcBef>
              <a:spcAft>
                <a:spcPts val="0"/>
              </a:spcAft>
              <a:buNone/>
            </a:pPr>
            <a:fld id="{00000000-1234-1234-1234-123412341234}" type="slidenum">
              <a:rPr lang="en"/>
              <a:t>78</a:t>
            </a:fld>
            <a:endParaRPr/>
          </a:p>
        </p:txBody>
      </p:sp>
      <p:pic>
        <p:nvPicPr>
          <p:cNvPr id="644" name="Google Shape;644;p92"/>
          <p:cNvPicPr preferRelativeResize="0"/>
          <p:nvPr/>
        </p:nvPicPr>
        <p:blipFill>
          <a:blip r:embed="rId3">
            <a:alphaModFix/>
          </a:blip>
          <a:stretch>
            <a:fillRect/>
          </a:stretch>
        </p:blipFill>
        <p:spPr>
          <a:xfrm>
            <a:off x="311702" y="715150"/>
            <a:ext cx="7735976" cy="4147800"/>
          </a:xfrm>
          <a:prstGeom prst="rect">
            <a:avLst/>
          </a:prstGeom>
          <a:noFill/>
          <a:ln>
            <a:noFill/>
          </a:ln>
        </p:spPr>
      </p:pic>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Shape 648"/>
        <p:cNvGrpSpPr/>
        <p:nvPr/>
      </p:nvGrpSpPr>
      <p:grpSpPr>
        <a:xfrm>
          <a:off x="0" y="0"/>
          <a:ext cx="0" cy="0"/>
          <a:chOff x="0" y="0"/>
          <a:chExt cx="0" cy="0"/>
        </a:xfrm>
      </p:grpSpPr>
      <p:sp>
        <p:nvSpPr>
          <p:cNvPr id="649" name="Google Shape;649;p9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fontScale="90000"/>
          </a:bodyPr>
          <a:lstStyle/>
          <a:p>
            <a:pPr marL="0" lvl="0" indent="0" algn="l" rtl="0">
              <a:spcBef>
                <a:spcPts val="0"/>
              </a:spcBef>
              <a:spcAft>
                <a:spcPts val="0"/>
              </a:spcAft>
              <a:buNone/>
            </a:pPr>
            <a:r>
              <a:rPr lang="en"/>
              <a:t>Ref TB Dive into Deep Learning</a:t>
            </a:r>
            <a:endParaRPr/>
          </a:p>
          <a:p>
            <a:pPr marL="457200" lvl="0" indent="-434340" algn="l" rtl="0">
              <a:spcBef>
                <a:spcPts val="0"/>
              </a:spcBef>
              <a:spcAft>
                <a:spcPts val="0"/>
              </a:spcAft>
              <a:buSzPct val="100000"/>
              <a:buChar char="●"/>
            </a:pPr>
            <a:r>
              <a:rPr lang="en"/>
              <a:t>Chapter 12 (online version)</a:t>
            </a:r>
            <a:endParaRPr/>
          </a:p>
        </p:txBody>
      </p:sp>
      <p:sp>
        <p:nvSpPr>
          <p:cNvPr id="650" name="Google Shape;650;p9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79</a:t>
            </a:fld>
            <a:endParaRP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Shape 654"/>
        <p:cNvGrpSpPr/>
        <p:nvPr/>
      </p:nvGrpSpPr>
      <p:grpSpPr>
        <a:xfrm>
          <a:off x="0" y="0"/>
          <a:ext cx="0" cy="0"/>
          <a:chOff x="0" y="0"/>
          <a:chExt cx="0" cy="0"/>
        </a:xfrm>
      </p:grpSpPr>
      <p:sp>
        <p:nvSpPr>
          <p:cNvPr id="655" name="Google Shape;655;p94"/>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fontScale="90000"/>
          </a:bodyPr>
          <a:lstStyle/>
          <a:p>
            <a:pPr marL="0" lvl="0" indent="0" algn="ctr" rtl="0">
              <a:spcBef>
                <a:spcPts val="0"/>
              </a:spcBef>
              <a:spcAft>
                <a:spcPts val="0"/>
              </a:spcAft>
              <a:buNone/>
            </a:pPr>
            <a:r>
              <a:rPr lang="en"/>
              <a:t>Next Session:</a:t>
            </a:r>
            <a:endParaRPr/>
          </a:p>
          <a:p>
            <a:pPr marL="0" lvl="0" indent="0" algn="ctr" rtl="0">
              <a:spcBef>
                <a:spcPts val="0"/>
              </a:spcBef>
              <a:spcAft>
                <a:spcPts val="0"/>
              </a:spcAft>
              <a:buNone/>
            </a:pPr>
            <a:r>
              <a:rPr lang="en"/>
              <a:t>Regularization</a:t>
            </a:r>
            <a:endParaRPr/>
          </a:p>
        </p:txBody>
      </p:sp>
      <p:sp>
        <p:nvSpPr>
          <p:cNvPr id="656" name="Google Shape;656;p9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80</a:t>
            </a:fld>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76</TotalTime>
  <Words>3043</Words>
  <Application>Microsoft Office PowerPoint</Application>
  <PresentationFormat>On-screen Show (16:9)</PresentationFormat>
  <Paragraphs>384</Paragraphs>
  <Slides>80</Slides>
  <Notes>80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80</vt:i4>
      </vt:variant>
    </vt:vector>
  </HeadingPairs>
  <TitlesOfParts>
    <vt:vector size="84" baseType="lpstr">
      <vt:lpstr>Arial</vt:lpstr>
      <vt:lpstr>Courier New</vt:lpstr>
      <vt:lpstr>Wingdings</vt:lpstr>
      <vt:lpstr>Simple Light</vt:lpstr>
      <vt:lpstr>Deep Neural Network</vt:lpstr>
      <vt:lpstr>Optimization</vt:lpstr>
      <vt:lpstr>What we Learn…. </vt:lpstr>
      <vt:lpstr>Optimization Algorithms</vt:lpstr>
      <vt:lpstr>Optimization Algorithm</vt:lpstr>
      <vt:lpstr>Optimization</vt:lpstr>
      <vt:lpstr>Why Optimization Algorithm?</vt:lpstr>
      <vt:lpstr>Optimization Challenges in Deep Learning</vt:lpstr>
      <vt:lpstr>Local Minima</vt:lpstr>
      <vt:lpstr>Finding Minimum of a Function</vt:lpstr>
      <vt:lpstr>Finding Minimum of a Function</vt:lpstr>
      <vt:lpstr>Derivatives of a Function</vt:lpstr>
      <vt:lpstr>Saddle points</vt:lpstr>
      <vt:lpstr>Derivatives at Saddle (Inflection) Point</vt:lpstr>
      <vt:lpstr>Derivatives at Saddle (Inflection) Point </vt:lpstr>
      <vt:lpstr>Functions of Multiple Variables</vt:lpstr>
      <vt:lpstr>Gradient of a Scalar Function</vt:lpstr>
      <vt:lpstr>Gradient of a Scalar Function with multiple variables</vt:lpstr>
      <vt:lpstr>Hessian</vt:lpstr>
      <vt:lpstr>Gradient of a Scalar Function with multiple variables </vt:lpstr>
      <vt:lpstr>Solution of Unconstrained Minimization</vt:lpstr>
      <vt:lpstr>Example</vt:lpstr>
      <vt:lpstr>Example</vt:lpstr>
      <vt:lpstr>Example</vt:lpstr>
      <vt:lpstr>Vanishing gradients</vt:lpstr>
      <vt:lpstr>Gradient Descent</vt:lpstr>
      <vt:lpstr>How to find Global Minima?</vt:lpstr>
      <vt:lpstr>Find Global Minima Iteratively</vt:lpstr>
      <vt:lpstr>Approach of Gradient Descent</vt:lpstr>
      <vt:lpstr>Approach of Gradient Descent</vt:lpstr>
      <vt:lpstr>Approach of Gradient Descent</vt:lpstr>
      <vt:lpstr>Approach of Gradient Descent </vt:lpstr>
      <vt:lpstr>Effect of Learning Rate on Gradient Descent</vt:lpstr>
      <vt:lpstr>Learning Rate</vt:lpstr>
      <vt:lpstr>Learning rate and Gradient Descent</vt:lpstr>
      <vt:lpstr>Stochastic Gradient Descent</vt:lpstr>
      <vt:lpstr>Stochastic Gradient Descent  </vt:lpstr>
      <vt:lpstr>SGD with Constant Learning Rate</vt:lpstr>
      <vt:lpstr> Dynamic Learning Rate</vt:lpstr>
      <vt:lpstr>Dynamic Learning Rate</vt:lpstr>
      <vt:lpstr>Dynamic Learning Rate</vt:lpstr>
      <vt:lpstr>Exponential Decay</vt:lpstr>
      <vt:lpstr>Polynomial decay </vt:lpstr>
      <vt:lpstr>Review</vt:lpstr>
      <vt:lpstr>Minibatch Stochastic Gradient Descent</vt:lpstr>
      <vt:lpstr>Minibatch Stochastic Gradient Descent  </vt:lpstr>
      <vt:lpstr>Minibatch Stochastic Gradient Descent Algorithm  </vt:lpstr>
      <vt:lpstr>SGD Algorithm</vt:lpstr>
      <vt:lpstr>Momentum</vt:lpstr>
      <vt:lpstr>Leaky Average in Minibatch SGD</vt:lpstr>
      <vt:lpstr>Momentum Algorithm</vt:lpstr>
      <vt:lpstr>Momentum Method Example</vt:lpstr>
      <vt:lpstr>Momentum Method Example</vt:lpstr>
      <vt:lpstr>Momentum method: Summary</vt:lpstr>
      <vt:lpstr>Adagrad</vt:lpstr>
      <vt:lpstr>Adagrad</vt:lpstr>
      <vt:lpstr>Adagrad Algorithm</vt:lpstr>
      <vt:lpstr>Adagrad: Summary</vt:lpstr>
      <vt:lpstr>RMSProp</vt:lpstr>
      <vt:lpstr>RMSProp</vt:lpstr>
      <vt:lpstr>RMSProp Algorithm</vt:lpstr>
      <vt:lpstr>RMSProp Algorithm</vt:lpstr>
      <vt:lpstr>RMSProp Example</vt:lpstr>
      <vt:lpstr>RMS Prop: Summary</vt:lpstr>
      <vt:lpstr>Adam</vt:lpstr>
      <vt:lpstr>Review of techniques learned so far</vt:lpstr>
      <vt:lpstr>Adam</vt:lpstr>
      <vt:lpstr>Adam Algorithm</vt:lpstr>
      <vt:lpstr>Adam Algorithm</vt:lpstr>
      <vt:lpstr>Adam Algorithm</vt:lpstr>
      <vt:lpstr>Adam: Summary</vt:lpstr>
      <vt:lpstr>Learning Rate: Summary</vt:lpstr>
      <vt:lpstr>Numerical Problems</vt:lpstr>
      <vt:lpstr>Question with Solution</vt:lpstr>
      <vt:lpstr>Question</vt:lpstr>
      <vt:lpstr>Solution</vt:lpstr>
      <vt:lpstr>Solution</vt:lpstr>
      <vt:lpstr>Solution</vt:lpstr>
      <vt:lpstr>Ref TB Dive into Deep Learning Chapter 12 (online version)</vt:lpstr>
      <vt:lpstr>Next Session: Regularization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Deep Neural Network</dc:title>
  <dc:creator>YVK</dc:creator>
  <cp:lastModifiedBy>Manish Mishra</cp:lastModifiedBy>
  <cp:revision>5</cp:revision>
  <dcterms:modified xsi:type="dcterms:W3CDTF">2024-07-20T11:26:15Z</dcterms:modified>
</cp:coreProperties>
</file>